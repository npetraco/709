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6"/>
  </p:notesMasterIdLst>
  <p:sldIdLst>
    <p:sldId id="256" r:id="rId2"/>
    <p:sldId id="259" r:id="rId3"/>
    <p:sldId id="261" r:id="rId4"/>
    <p:sldId id="266" r:id="rId5"/>
    <p:sldId id="267" r:id="rId6"/>
    <p:sldId id="270" r:id="rId7"/>
    <p:sldId id="263" r:id="rId8"/>
    <p:sldId id="281" r:id="rId9"/>
    <p:sldId id="283" r:id="rId10"/>
    <p:sldId id="284" r:id="rId11"/>
    <p:sldId id="285" r:id="rId12"/>
    <p:sldId id="289" r:id="rId13"/>
    <p:sldId id="269" r:id="rId14"/>
    <p:sldId id="330" r:id="rId15"/>
    <p:sldId id="333" r:id="rId16"/>
    <p:sldId id="332" r:id="rId17"/>
    <p:sldId id="334" r:id="rId18"/>
    <p:sldId id="271" r:id="rId19"/>
    <p:sldId id="272" r:id="rId20"/>
    <p:sldId id="273" r:id="rId21"/>
    <p:sldId id="277" r:id="rId22"/>
    <p:sldId id="288" r:id="rId23"/>
    <p:sldId id="290" r:id="rId24"/>
    <p:sldId id="274" r:id="rId25"/>
    <p:sldId id="279" r:id="rId26"/>
    <p:sldId id="292" r:id="rId27"/>
    <p:sldId id="293" r:id="rId28"/>
    <p:sldId id="294" r:id="rId29"/>
    <p:sldId id="295" r:id="rId30"/>
    <p:sldId id="296" r:id="rId31"/>
    <p:sldId id="306" r:id="rId32"/>
    <p:sldId id="308" r:id="rId33"/>
    <p:sldId id="309" r:id="rId34"/>
    <p:sldId id="297" r:id="rId35"/>
    <p:sldId id="299" r:id="rId36"/>
    <p:sldId id="300" r:id="rId37"/>
    <p:sldId id="298" r:id="rId38"/>
    <p:sldId id="304" r:id="rId39"/>
    <p:sldId id="262" r:id="rId40"/>
    <p:sldId id="302" r:id="rId41"/>
    <p:sldId id="313" r:id="rId42"/>
    <p:sldId id="303" r:id="rId43"/>
    <p:sldId id="301" r:id="rId44"/>
    <p:sldId id="305" r:id="rId45"/>
    <p:sldId id="331" r:id="rId46"/>
    <p:sldId id="342" r:id="rId47"/>
    <p:sldId id="335" r:id="rId48"/>
    <p:sldId id="337" r:id="rId49"/>
    <p:sldId id="339" r:id="rId50"/>
    <p:sldId id="338" r:id="rId51"/>
    <p:sldId id="340" r:id="rId52"/>
    <p:sldId id="341" r:id="rId53"/>
    <p:sldId id="336" r:id="rId54"/>
    <p:sldId id="316" r:id="rId55"/>
    <p:sldId id="317" r:id="rId56"/>
    <p:sldId id="322" r:id="rId57"/>
    <p:sldId id="314" r:id="rId58"/>
    <p:sldId id="326" r:id="rId59"/>
    <p:sldId id="318" r:id="rId60"/>
    <p:sldId id="325" r:id="rId61"/>
    <p:sldId id="319" r:id="rId62"/>
    <p:sldId id="327" r:id="rId63"/>
    <p:sldId id="328" r:id="rId64"/>
    <p:sldId id="329" r:id="rId6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12"/>
    <p:restoredTop sz="94930"/>
  </p:normalViewPr>
  <p:slideViewPr>
    <p:cSldViewPr snapToGrid="0" snapToObjects="1">
      <p:cViewPr varScale="1">
        <p:scale>
          <a:sx n="112" d="100"/>
          <a:sy n="112" d="100"/>
        </p:scale>
        <p:origin x="53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46B109-0D56-8E43-A81F-56B632D51715}" type="datetimeFigureOut">
              <a:rPr lang="en-US" smtClean="0"/>
              <a:t>3/20/26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17D025-4741-664C-B5D8-4EF7D097EA45}" type="slidenum">
              <a:rPr lang="en-US" smtClean="0"/>
              <a:t>‹#›</a:t>
            </a:fld>
            <a:endParaRPr lang="en-US"/>
          </a:p>
        </p:txBody>
      </p:sp>
    </p:spTree>
    <p:extLst>
      <p:ext uri="{BB962C8B-B14F-4D97-AF65-F5344CB8AC3E}">
        <p14:creationId xmlns:p14="http://schemas.microsoft.com/office/powerpoint/2010/main" val="298530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17D025-4741-664C-B5D8-4EF7D097EA45}" type="slidenum">
              <a:rPr lang="en-US" smtClean="0"/>
              <a:t>8</a:t>
            </a:fld>
            <a:endParaRPr lang="en-US"/>
          </a:p>
        </p:txBody>
      </p:sp>
    </p:spTree>
    <p:extLst>
      <p:ext uri="{BB962C8B-B14F-4D97-AF65-F5344CB8AC3E}">
        <p14:creationId xmlns:p14="http://schemas.microsoft.com/office/powerpoint/2010/main" val="4274283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E69C00A-86F1-BB4D-B9C1-4F399E63CB08}" type="slidenum">
              <a:rPr lang="en-US" smtClean="0"/>
              <a:t>13</a:t>
            </a:fld>
            <a:endParaRPr lang="en-US"/>
          </a:p>
        </p:txBody>
      </p:sp>
    </p:spTree>
    <p:extLst>
      <p:ext uri="{BB962C8B-B14F-4D97-AF65-F5344CB8AC3E}">
        <p14:creationId xmlns:p14="http://schemas.microsoft.com/office/powerpoint/2010/main" val="3364549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E69C00A-86F1-BB4D-B9C1-4F399E63CB08}" type="slidenum">
              <a:rPr lang="en-US" smtClean="0"/>
              <a:t>18</a:t>
            </a:fld>
            <a:endParaRPr lang="en-US"/>
          </a:p>
        </p:txBody>
      </p:sp>
    </p:spTree>
    <p:extLst>
      <p:ext uri="{BB962C8B-B14F-4D97-AF65-F5344CB8AC3E}">
        <p14:creationId xmlns:p14="http://schemas.microsoft.com/office/powerpoint/2010/main" val="7534077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E69C00A-86F1-BB4D-B9C1-4F399E63CB08}" type="slidenum">
              <a:rPr lang="en-US" smtClean="0"/>
              <a:t>19</a:t>
            </a:fld>
            <a:endParaRPr lang="en-US"/>
          </a:p>
        </p:txBody>
      </p:sp>
    </p:spTree>
    <p:extLst>
      <p:ext uri="{BB962C8B-B14F-4D97-AF65-F5344CB8AC3E}">
        <p14:creationId xmlns:p14="http://schemas.microsoft.com/office/powerpoint/2010/main" val="2782943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E69C00A-86F1-BB4D-B9C1-4F399E63CB08}" type="slidenum">
              <a:rPr lang="en-US" smtClean="0"/>
              <a:t>20</a:t>
            </a:fld>
            <a:endParaRPr lang="en-US"/>
          </a:p>
        </p:txBody>
      </p:sp>
    </p:spTree>
    <p:extLst>
      <p:ext uri="{BB962C8B-B14F-4D97-AF65-F5344CB8AC3E}">
        <p14:creationId xmlns:p14="http://schemas.microsoft.com/office/powerpoint/2010/main" val="37726638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17D025-4741-664C-B5D8-4EF7D097EA45}" type="slidenum">
              <a:rPr lang="en-US" smtClean="0"/>
              <a:t>38</a:t>
            </a:fld>
            <a:endParaRPr lang="en-US"/>
          </a:p>
        </p:txBody>
      </p:sp>
    </p:spTree>
    <p:extLst>
      <p:ext uri="{BB962C8B-B14F-4D97-AF65-F5344CB8AC3E}">
        <p14:creationId xmlns:p14="http://schemas.microsoft.com/office/powerpoint/2010/main" val="3625082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D267360-3271-BA44-98E6-3DB931501606}" type="datetimeFigureOut">
              <a:rPr lang="en-US" smtClean="0"/>
              <a:t>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3469870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267360-3271-BA44-98E6-3DB931501606}" type="datetimeFigureOut">
              <a:rPr lang="en-US" smtClean="0"/>
              <a:t>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3776025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267360-3271-BA44-98E6-3DB931501606}" type="datetimeFigureOut">
              <a:rPr lang="en-US" smtClean="0"/>
              <a:t>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2223737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D267360-3271-BA44-98E6-3DB931501606}" type="datetimeFigureOut">
              <a:rPr lang="en-US" smtClean="0"/>
              <a:t>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177922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D267360-3271-BA44-98E6-3DB931501606}" type="datetimeFigureOut">
              <a:rPr lang="en-US" smtClean="0"/>
              <a:t>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636599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D267360-3271-BA44-98E6-3DB931501606}" type="datetimeFigureOut">
              <a:rPr lang="en-US" smtClean="0"/>
              <a:t>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4108507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D267360-3271-BA44-98E6-3DB931501606}" type="datetimeFigureOut">
              <a:rPr lang="en-US" smtClean="0"/>
              <a:t>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12735335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D267360-3271-BA44-98E6-3DB931501606}" type="datetimeFigureOut">
              <a:rPr lang="en-US" smtClean="0"/>
              <a:t>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30982903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D267360-3271-BA44-98E6-3DB931501606}" type="datetimeFigureOut">
              <a:rPr lang="en-US" smtClean="0"/>
              <a:t>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18709106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267360-3271-BA44-98E6-3DB931501606}" type="datetimeFigureOut">
              <a:rPr lang="en-US" smtClean="0"/>
              <a:t>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9785093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267360-3271-BA44-98E6-3DB931501606}" type="datetimeFigureOut">
              <a:rPr lang="en-US" smtClean="0"/>
              <a:t>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7192BF6-7DB8-794F-B134-DD74F1575A83}" type="slidenum">
              <a:rPr lang="en-US" smtClean="0"/>
              <a:t>‹#›</a:t>
            </a:fld>
            <a:endParaRPr lang="en-US"/>
          </a:p>
        </p:txBody>
      </p:sp>
    </p:spTree>
    <p:extLst>
      <p:ext uri="{BB962C8B-B14F-4D97-AF65-F5344CB8AC3E}">
        <p14:creationId xmlns:p14="http://schemas.microsoft.com/office/powerpoint/2010/main" val="3405852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D267360-3271-BA44-98E6-3DB931501606}" type="datetimeFigureOut">
              <a:rPr lang="en-US" smtClean="0"/>
              <a:t>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92BF6-7DB8-794F-B134-DD74F1575A83}" type="slidenum">
              <a:rPr lang="en-US" smtClean="0"/>
              <a:t>‹#›</a:t>
            </a:fld>
            <a:endParaRPr lang="en-US"/>
          </a:p>
        </p:txBody>
      </p:sp>
    </p:spTree>
    <p:extLst>
      <p:ext uri="{BB962C8B-B14F-4D97-AF65-F5344CB8AC3E}">
        <p14:creationId xmlns:p14="http://schemas.microsoft.com/office/powerpoint/2010/main" val="20066599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opentextbc.ca/researchmethods/" TargetMode="External"/><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emf"/><Relationship Id="rId5" Type="http://schemas.openxmlformats.org/officeDocument/2006/relationships/image" Target="../media/image5.emf"/><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emf"/><Relationship Id="rId4" Type="http://schemas.openxmlformats.org/officeDocument/2006/relationships/image" Target="../media/image8.emf"/></Relationships>
</file>

<file path=ppt/slides/_rels/slide5.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1.emf"/></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1.emf"/><Relationship Id="rId4" Type="http://schemas.openxmlformats.org/officeDocument/2006/relationships/image" Target="../media/image10.emf"/></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6.emf"/><Relationship Id="rId3" Type="http://schemas.openxmlformats.org/officeDocument/2006/relationships/image" Target="../media/image12.png"/><Relationship Id="rId7" Type="http://schemas.openxmlformats.org/officeDocument/2006/relationships/image" Target="../media/image15.emf"/><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8" Type="http://schemas.openxmlformats.org/officeDocument/2006/relationships/image" Target="../media/image19.emf"/><Relationship Id="rId3" Type="http://schemas.openxmlformats.org/officeDocument/2006/relationships/image" Target="../media/image12.png"/><Relationship Id="rId7" Type="http://schemas.openxmlformats.org/officeDocument/2006/relationships/image" Target="../media/image18.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emf"/><Relationship Id="rId5" Type="http://schemas.openxmlformats.org/officeDocument/2006/relationships/image" Target="../media/image16.emf"/><Relationship Id="rId10" Type="http://schemas.openxmlformats.org/officeDocument/2006/relationships/image" Target="../media/image21.emf"/><Relationship Id="rId4" Type="http://schemas.openxmlformats.org/officeDocument/2006/relationships/image" Target="../media/image14.emf"/><Relationship Id="rId9" Type="http://schemas.openxmlformats.org/officeDocument/2006/relationships/image" Target="../media/image20.emf"/></Relationships>
</file>

<file path=ppt/slides/_rels/slide10.xml.rels><?xml version="1.0" encoding="UTF-8" standalone="yes"?>
<Relationships xmlns="http://schemas.openxmlformats.org/package/2006/relationships"><Relationship Id="rId8" Type="http://schemas.openxmlformats.org/officeDocument/2006/relationships/image" Target="../media/image22.emf"/><Relationship Id="rId3" Type="http://schemas.openxmlformats.org/officeDocument/2006/relationships/image" Target="../media/image12.png"/><Relationship Id="rId7" Type="http://schemas.openxmlformats.org/officeDocument/2006/relationships/image" Target="../media/image19.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emf"/><Relationship Id="rId5" Type="http://schemas.openxmlformats.org/officeDocument/2006/relationships/image" Target="../media/image16.emf"/><Relationship Id="rId10" Type="http://schemas.openxmlformats.org/officeDocument/2006/relationships/image" Target="../media/image21.emf"/><Relationship Id="rId4" Type="http://schemas.openxmlformats.org/officeDocument/2006/relationships/image" Target="../media/image14.emf"/><Relationship Id="rId9" Type="http://schemas.openxmlformats.org/officeDocument/2006/relationships/image" Target="../media/image20.emf"/></Relationships>
</file>

<file path=ppt/slides/_rels/slide11.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image" Target="../media/image12.png"/><Relationship Id="rId7" Type="http://schemas.openxmlformats.org/officeDocument/2006/relationships/image" Target="../media/image19.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emf"/><Relationship Id="rId5" Type="http://schemas.openxmlformats.org/officeDocument/2006/relationships/image" Target="../media/image16.emf"/><Relationship Id="rId10" Type="http://schemas.openxmlformats.org/officeDocument/2006/relationships/image" Target="../media/image25.emf"/><Relationship Id="rId4" Type="http://schemas.openxmlformats.org/officeDocument/2006/relationships/image" Target="../media/image14.emf"/><Relationship Id="rId9" Type="http://schemas.openxmlformats.org/officeDocument/2006/relationships/image" Target="../media/image24.emf"/></Relationships>
</file>

<file path=ppt/slides/_rels/slide12.xml.rels><?xml version="1.0" encoding="UTF-8" standalone="yes"?>
<Relationships xmlns="http://schemas.openxmlformats.org/package/2006/relationships"><Relationship Id="rId8" Type="http://schemas.openxmlformats.org/officeDocument/2006/relationships/image" Target="../media/image26.emf"/><Relationship Id="rId3" Type="http://schemas.openxmlformats.org/officeDocument/2006/relationships/image" Target="../media/image12.png"/><Relationship Id="rId7" Type="http://schemas.openxmlformats.org/officeDocument/2006/relationships/image" Target="../media/image19.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7.emf"/><Relationship Id="rId5" Type="http://schemas.openxmlformats.org/officeDocument/2006/relationships/image" Target="../media/image16.emf"/><Relationship Id="rId10" Type="http://schemas.openxmlformats.org/officeDocument/2006/relationships/image" Target="../media/image28.emf"/><Relationship Id="rId4" Type="http://schemas.openxmlformats.org/officeDocument/2006/relationships/image" Target="../media/image14.emf"/><Relationship Id="rId9" Type="http://schemas.openxmlformats.org/officeDocument/2006/relationships/image" Target="../media/image27.emf"/></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npetraco/709/blob/main/R/script_bucket/hand_tst_ex1.R"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npetraco/709/blob/main/R/script_bucket/hand_ostl_ex1.R"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npetraco/709/blob/main/R/script_bucket/hand_ostu_ex1.R"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github.com/npetraco/709/blob/main/R/script_bucket/hyp_test_twoside.R"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github.com/npetraco/709/blob/main/R/script_bucket/hyp_test_less.R"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github.com/npetraco/709/blob/main/R/script_bucket/hyp_test_greater.R"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34.emf"/><Relationship Id="rId5" Type="http://schemas.openxmlformats.org/officeDocument/2006/relationships/image" Target="../media/image33.emf"/><Relationship Id="rId4" Type="http://schemas.openxmlformats.org/officeDocument/2006/relationships/image" Target="../media/image32.emf"/></Relationships>
</file>

<file path=ppt/slides/_rels/slide22.xml.rels><?xml version="1.0" encoding="UTF-8" standalone="yes"?>
<Relationships xmlns="http://schemas.openxmlformats.org/package/2006/relationships"><Relationship Id="rId8" Type="http://schemas.openxmlformats.org/officeDocument/2006/relationships/image" Target="../media/image40.emf"/><Relationship Id="rId3" Type="http://schemas.openxmlformats.org/officeDocument/2006/relationships/image" Target="../media/image36.png"/><Relationship Id="rId7" Type="http://schemas.openxmlformats.org/officeDocument/2006/relationships/image" Target="../media/image39.emf"/><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8.emf"/><Relationship Id="rId5" Type="http://schemas.openxmlformats.org/officeDocument/2006/relationships/image" Target="../media/image37.emf"/><Relationship Id="rId4" Type="http://schemas.openxmlformats.org/officeDocument/2006/relationships/image" Target="../media/image2.png"/><Relationship Id="rId9" Type="http://schemas.openxmlformats.org/officeDocument/2006/relationships/image" Target="../media/image41.emf"/></Relationships>
</file>

<file path=ppt/slides/_rels/slide23.xml.rels><?xml version="1.0" encoding="UTF-8" standalone="yes"?>
<Relationships xmlns="http://schemas.openxmlformats.org/package/2006/relationships"><Relationship Id="rId8" Type="http://schemas.openxmlformats.org/officeDocument/2006/relationships/image" Target="../media/image44.emf"/><Relationship Id="rId3" Type="http://schemas.openxmlformats.org/officeDocument/2006/relationships/image" Target="../media/image2.png"/><Relationship Id="rId7" Type="http://schemas.openxmlformats.org/officeDocument/2006/relationships/image" Target="../media/image43.png"/><Relationship Id="rId2" Type="http://schemas.openxmlformats.org/officeDocument/2006/relationships/image" Target="../media/image36.png"/><Relationship Id="rId1" Type="http://schemas.openxmlformats.org/officeDocument/2006/relationships/slideLayout" Target="../slideLayouts/slideLayout7.xml"/><Relationship Id="rId6" Type="http://schemas.openxmlformats.org/officeDocument/2006/relationships/image" Target="../media/image42.emf"/><Relationship Id="rId5" Type="http://schemas.openxmlformats.org/officeDocument/2006/relationships/image" Target="../media/image39.emf"/><Relationship Id="rId4" Type="http://schemas.openxmlformats.org/officeDocument/2006/relationships/image" Target="../media/image38.emf"/><Relationship Id="rId9" Type="http://schemas.openxmlformats.org/officeDocument/2006/relationships/image" Target="../media/image45.emf"/></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npetraco/709/blob/main/R/script_bucket/hyp_test_two_samp.R"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6.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npetraco/709/blob/main/R/script_bucket/hyp_test_two_samp_paired.R" TargetMode="External"/><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npetraco/709/blob/main/R/script_bucket/hyp_test_nonparametric.R" TargetMode="External"/><Relationship Id="rId4" Type="http://schemas.openxmlformats.org/officeDocument/2006/relationships/image" Target="../media/image52.png"/></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4.emf"/><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55.emf"/></Relationships>
</file>

<file path=ppt/slides/_rels/slide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github.com/npetraco/709/blob/main/R/script_bucket/chi_square_test.R" TargetMode="External"/><Relationship Id="rId4" Type="http://schemas.openxmlformats.org/officeDocument/2006/relationships/image" Target="../media/image56.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npetraco/709/blob/main/R/script_bucket/fisher_test.R"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1.emf"/><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hyperlink" Target="https://enfsi.eu/wp-content/uploads/2017/06/DWG-SGL-002-vers001_Hypgergeometric_CalculationBackground_And_Validation_2012-12-07.pdf"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npetraco/709/blob/main/R/script_bucket/hypergeometric_hyp_test_ex1.R"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enfsi.eu/wp-content/uploads/2017/06/DWG-SGL-002-vers001_Hypgergeometric_CalculationBackground_And_Validation_2012-12-07.pdf" TargetMode="External"/><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www.swgdrug.org/Documents/ENFSI%20DWG%202nd%20edition%20Qualitative%20Sampling%20Guidelines.pdf"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npetraco/709/blob/main/R/script_bucket/hypergeometric_samp_size_ex1.R"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5.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hyperlink" Target="https://www.swgdrug.org/" TargetMode="External"/><Relationship Id="rId5" Type="http://schemas.openxmlformats.org/officeDocument/2006/relationships/hyperlink" Target="https://swgdrug.org/Documents/Drug_App_Documentation_Approved.pdf" TargetMode="External"/><Relationship Id="rId4" Type="http://schemas.openxmlformats.org/officeDocument/2006/relationships/hyperlink" Target="https://pages.nist.gov/seized-material-sampling-app/"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67.emf"/><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8.emf"/></Relationships>
</file>

<file path=ppt/slides/_rels/slide55.xml.rels><?xml version="1.0" encoding="UTF-8" standalone="yes"?>
<Relationships xmlns="http://schemas.openxmlformats.org/package/2006/relationships"><Relationship Id="rId3" Type="http://schemas.openxmlformats.org/officeDocument/2006/relationships/image" Target="../media/image69.emf"/><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1.emf"/><Relationship Id="rId4" Type="http://schemas.openxmlformats.org/officeDocument/2006/relationships/image" Target="../media/image70.emf"/></Relationships>
</file>

<file path=ppt/slides/_rels/slide56.xml.rels><?xml version="1.0" encoding="UTF-8" standalone="yes"?>
<Relationships xmlns="http://schemas.openxmlformats.org/package/2006/relationships"><Relationship Id="rId8" Type="http://schemas.openxmlformats.org/officeDocument/2006/relationships/image" Target="../media/image77.emf"/><Relationship Id="rId3" Type="http://schemas.openxmlformats.org/officeDocument/2006/relationships/image" Target="../media/image72.emf"/><Relationship Id="rId7" Type="http://schemas.openxmlformats.org/officeDocument/2006/relationships/image" Target="../media/image76.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75.emf"/><Relationship Id="rId5" Type="http://schemas.openxmlformats.org/officeDocument/2006/relationships/image" Target="../media/image74.emf"/><Relationship Id="rId4" Type="http://schemas.openxmlformats.org/officeDocument/2006/relationships/image" Target="../media/image73.emf"/><Relationship Id="rId9" Type="http://schemas.openxmlformats.org/officeDocument/2006/relationships/image" Target="../media/image78.emf"/></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hyperlink" Target="https://github.com/npetraco/709/blob/main/R/script_bucket/bhyp_test_one_samp.R"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hyperlink" Target="https://github.com/npetraco/709/blob/main/R/script_bucket/bhyp_test_one_samp.R" TargetMode="External"/><Relationship Id="rId4" Type="http://schemas.openxmlformats.org/officeDocument/2006/relationships/image" Target="../media/image81.png"/></Relationships>
</file>

<file path=ppt/slides/_rels/slide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82.emf"/><Relationship Id="rId7" Type="http://schemas.openxmlformats.org/officeDocument/2006/relationships/image" Target="../media/image86.emf"/><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5.emf"/><Relationship Id="rId11" Type="http://schemas.openxmlformats.org/officeDocument/2006/relationships/image" Target="../media/image90.emf"/><Relationship Id="rId5" Type="http://schemas.openxmlformats.org/officeDocument/2006/relationships/image" Target="../media/image84.emf"/><Relationship Id="rId10" Type="http://schemas.openxmlformats.org/officeDocument/2006/relationships/image" Target="../media/image89.emf"/><Relationship Id="rId4" Type="http://schemas.openxmlformats.org/officeDocument/2006/relationships/image" Target="../media/image83.emf"/><Relationship Id="rId9" Type="http://schemas.openxmlformats.org/officeDocument/2006/relationships/image" Target="../media/image88.emf"/></Relationships>
</file>

<file path=ppt/slides/_rels/slide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hyperlink" Target="https://github.com/npetraco/709/blob/main/R/script_bucket/bhyp_test_two_samp.R"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6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9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441152" y="1255341"/>
            <a:ext cx="8250052" cy="4169710"/>
          </a:xfrm>
          <a:prstGeom prst="rect">
            <a:avLst/>
          </a:prstGeom>
        </p:spPr>
      </p:pic>
      <p:sp>
        <p:nvSpPr>
          <p:cNvPr id="5" name="Rectangle 4"/>
          <p:cNvSpPr/>
          <p:nvPr/>
        </p:nvSpPr>
        <p:spPr>
          <a:xfrm>
            <a:off x="5751540" y="5148052"/>
            <a:ext cx="2775119" cy="276999"/>
          </a:xfrm>
          <a:prstGeom prst="rect">
            <a:avLst/>
          </a:prstGeom>
        </p:spPr>
        <p:txBody>
          <a:bodyPr wrap="none">
            <a:spAutoFit/>
          </a:bodyPr>
          <a:lstStyle/>
          <a:p>
            <a:r>
              <a:rPr lang="en-US" sz="1200" dirty="0">
                <a:hlinkClick r:id="rId3"/>
              </a:rPr>
              <a:t>https://opentextbc.ca/researchmethods/</a:t>
            </a:r>
            <a:endParaRPr lang="en-US" sz="1200" dirty="0"/>
          </a:p>
        </p:txBody>
      </p:sp>
      <p:sp>
        <p:nvSpPr>
          <p:cNvPr id="6" name="Rectangle 1"/>
          <p:cNvSpPr>
            <a:spLocks noChangeArrowheads="1"/>
          </p:cNvSpPr>
          <p:nvPr/>
        </p:nvSpPr>
        <p:spPr bwMode="auto">
          <a:xfrm>
            <a:off x="28113" y="342993"/>
            <a:ext cx="9104312" cy="871324"/>
          </a:xfrm>
          <a:prstGeom prst="rect">
            <a:avLst/>
          </a:prstGeom>
          <a:noFill/>
          <a:ln w="9525">
            <a:noFill/>
            <a:round/>
            <a:headEnd/>
            <a:tailEnd/>
          </a:ln>
        </p:spPr>
        <p:txBody>
          <a:bodyPr lIns="0" tIns="0" rIns="0" bIns="0" anchor="ctr"/>
          <a:lstStyle/>
          <a:p>
            <a:pPr algn="ctr" hangingPunct="0">
              <a:lnSpc>
                <a:spcPct val="98000"/>
              </a:lnSpc>
              <a:buSzPct val="45000"/>
              <a:buFont typeface="Wingdings"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4400" dirty="0">
                <a:solidFill>
                  <a:schemeClr val="tx1"/>
                </a:solidFill>
                <a:latin typeface="Times New Roman" pitchFamily="18" charset="0"/>
                <a:cs typeface="Times New Roman" pitchFamily="18" charset="0"/>
              </a:rPr>
              <a:t>Introduction to Hypothesis Testing</a:t>
            </a:r>
          </a:p>
        </p:txBody>
      </p:sp>
      <p:pic>
        <p:nvPicPr>
          <p:cNvPr id="7" name="Picture 2"/>
          <p:cNvPicPr>
            <a:picLocks noChangeAspect="1" noChangeArrowheads="1"/>
          </p:cNvPicPr>
          <p:nvPr/>
        </p:nvPicPr>
        <p:blipFill>
          <a:blip r:embed="rId4" cstate="print"/>
          <a:srcRect/>
          <a:stretch>
            <a:fillRect/>
          </a:stretch>
        </p:blipFill>
        <p:spPr bwMode="auto">
          <a:xfrm>
            <a:off x="484188" y="76200"/>
            <a:ext cx="8202612" cy="239712"/>
          </a:xfrm>
          <a:prstGeom prst="rect">
            <a:avLst/>
          </a:prstGeom>
          <a:noFill/>
          <a:ln w="9525">
            <a:noFill/>
            <a:round/>
            <a:headEnd/>
            <a:tailEnd/>
          </a:ln>
        </p:spPr>
      </p:pic>
      <p:pic>
        <p:nvPicPr>
          <p:cNvPr id="8" name="Picture 2"/>
          <p:cNvPicPr>
            <a:picLocks noChangeAspect="1" noChangeArrowheads="1"/>
          </p:cNvPicPr>
          <p:nvPr/>
        </p:nvPicPr>
        <p:blipFill>
          <a:blip r:embed="rId4" cstate="print"/>
          <a:srcRect/>
          <a:stretch>
            <a:fillRect/>
          </a:stretch>
        </p:blipFill>
        <p:spPr bwMode="auto">
          <a:xfrm>
            <a:off x="482943" y="6553200"/>
            <a:ext cx="8202612" cy="239712"/>
          </a:xfrm>
          <a:prstGeom prst="rect">
            <a:avLst/>
          </a:prstGeom>
          <a:noFill/>
          <a:ln w="9525">
            <a:noFill/>
            <a:round/>
            <a:headEnd/>
            <a:tailEnd/>
          </a:ln>
        </p:spPr>
      </p:pic>
    </p:spTree>
    <p:extLst>
      <p:ext uri="{BB962C8B-B14F-4D97-AF65-F5344CB8AC3E}">
        <p14:creationId xmlns:p14="http://schemas.microsoft.com/office/powerpoint/2010/main" val="4266995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p:spPr>
      </p:pic>
      <p:sp>
        <p:nvSpPr>
          <p:cNvPr id="30" name="Rectangle 1"/>
          <p:cNvSpPr>
            <a:spLocks noChangeArrowheads="1"/>
          </p:cNvSpPr>
          <p:nvPr/>
        </p:nvSpPr>
        <p:spPr bwMode="auto">
          <a:xfrm>
            <a:off x="32948" y="325072"/>
            <a:ext cx="9104312" cy="871324"/>
          </a:xfrm>
          <a:prstGeom prst="rect">
            <a:avLst/>
          </a:prstGeom>
          <a:noFill/>
          <a:ln w="9525">
            <a:noFill/>
            <a:round/>
            <a:headEnd/>
            <a:tailEnd/>
          </a:ln>
        </p:spPr>
        <p:txBody>
          <a:bodyPr lIns="0" tIns="0" rIns="0" bIns="0" anchor="ctr"/>
          <a:lstStyle/>
          <a:p>
            <a:pPr algn="ctr" hangingPunct="0">
              <a:lnSpc>
                <a:spcPct val="98000"/>
              </a:lnSpc>
              <a:buSzPct val="45000"/>
              <a:buFont typeface="Wingdings"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3200" dirty="0">
                <a:solidFill>
                  <a:schemeClr val="tx1"/>
                </a:solidFill>
                <a:latin typeface="Times New Roman" pitchFamily="18" charset="0"/>
                <a:cs typeface="Times New Roman" pitchFamily="18" charset="0"/>
              </a:rPr>
              <a:t>The Basic Idea of Hypothesis Testing</a:t>
            </a:r>
          </a:p>
        </p:txBody>
      </p:sp>
      <p:sp>
        <p:nvSpPr>
          <p:cNvPr id="2" name="TextBox 1"/>
          <p:cNvSpPr txBox="1"/>
          <p:nvPr/>
        </p:nvSpPr>
        <p:spPr>
          <a:xfrm>
            <a:off x="227059" y="1196395"/>
            <a:ext cx="8107316" cy="707886"/>
          </a:xfrm>
          <a:prstGeom prst="rect">
            <a:avLst/>
          </a:prstGeom>
          <a:noFill/>
        </p:spPr>
        <p:txBody>
          <a:bodyPr wrap="square" rtlCol="0">
            <a:spAutoFit/>
          </a:bodyPr>
          <a:lstStyle/>
          <a:p>
            <a:pPr marL="342900" indent="-342900">
              <a:buFont typeface="Arial"/>
              <a:buChar char="•"/>
            </a:pPr>
            <a:r>
              <a:rPr lang="en-US" sz="2000" dirty="0">
                <a:latin typeface="Times New Roman"/>
                <a:cs typeface="Times New Roman"/>
              </a:rPr>
              <a:t>A private tox lab is contracted to check an agency’s employees blood levels for Heroin metabolite.</a:t>
            </a:r>
          </a:p>
        </p:txBody>
      </p:sp>
      <p:sp>
        <p:nvSpPr>
          <p:cNvPr id="35" name="TextBox 34"/>
          <p:cNvSpPr txBox="1"/>
          <p:nvPr/>
        </p:nvSpPr>
        <p:spPr>
          <a:xfrm>
            <a:off x="436196" y="3207930"/>
            <a:ext cx="8107316" cy="1631216"/>
          </a:xfrm>
          <a:prstGeom prst="rect">
            <a:avLst/>
          </a:prstGeom>
          <a:noFill/>
        </p:spPr>
        <p:txBody>
          <a:bodyPr wrap="square" rtlCol="0">
            <a:spAutoFit/>
          </a:bodyPr>
          <a:lstStyle/>
          <a:p>
            <a:pPr marL="342900" indent="-342900">
              <a:buFont typeface="Arial"/>
              <a:buChar char="•"/>
            </a:pPr>
            <a:r>
              <a:rPr lang="en-US" sz="2000" dirty="0">
                <a:latin typeface="Times New Roman"/>
                <a:cs typeface="Times New Roman"/>
              </a:rPr>
              <a:t>Because estimates for the mean concentration can vary from sample to sample, we want to be 95% confident</a:t>
            </a:r>
          </a:p>
          <a:p>
            <a:pPr marL="800100" lvl="1" indent="-342900">
              <a:buFont typeface="Arial"/>
              <a:buChar char="•"/>
            </a:pPr>
            <a:r>
              <a:rPr lang="en-US" sz="2000" dirty="0">
                <a:latin typeface="Times New Roman"/>
                <a:cs typeface="Times New Roman"/>
              </a:rPr>
              <a:t>After extensive QC (quality control), the agency establishes that the sample size should be 20 and that an acceptable specification for the uncertainty in the concentration determination </a:t>
            </a:r>
            <a:r>
              <a:rPr lang="en-US" sz="2000" i="1" u="sng" dirty="0">
                <a:latin typeface="Times New Roman"/>
                <a:cs typeface="Times New Roman"/>
              </a:rPr>
              <a:t>is</a:t>
            </a:r>
            <a:r>
              <a:rPr lang="en-US" sz="2000" dirty="0">
                <a:latin typeface="Times New Roman"/>
                <a:cs typeface="Times New Roman"/>
              </a:rPr>
              <a:t> </a:t>
            </a:r>
            <a:r>
              <a:rPr lang="en-US" sz="2000" dirty="0" err="1">
                <a:latin typeface="Symbol" charset="2"/>
                <a:cs typeface="Symbol" charset="2"/>
              </a:rPr>
              <a:t>s</a:t>
            </a:r>
            <a:r>
              <a:rPr lang="en-US" sz="2000" baseline="-25000" dirty="0" err="1">
                <a:latin typeface="Times New Roman" panose="02020603050405020304" pitchFamily="18" charset="0"/>
                <a:cs typeface="Times New Roman" panose="02020603050405020304" pitchFamily="18" charset="0"/>
              </a:rPr>
              <a:t>X</a:t>
            </a:r>
            <a:r>
              <a:rPr lang="en-US" sz="2000" dirty="0">
                <a:latin typeface="Times New Roman"/>
                <a:cs typeface="Times New Roman"/>
              </a:rPr>
              <a:t> = 0.5 </a:t>
            </a:r>
            <a:r>
              <a:rPr lang="en-US" sz="2000" dirty="0" err="1">
                <a:latin typeface="Times New Roman"/>
                <a:cs typeface="Times New Roman"/>
              </a:rPr>
              <a:t>nM.</a:t>
            </a:r>
            <a:endParaRPr lang="en-US" sz="2000" dirty="0">
              <a:latin typeface="Times New Roman"/>
              <a:cs typeface="Times New Roman"/>
            </a:endParaRPr>
          </a:p>
        </p:txBody>
      </p:sp>
      <p:sp>
        <p:nvSpPr>
          <p:cNvPr id="36" name="TextBox 35"/>
          <p:cNvSpPr txBox="1"/>
          <p:nvPr/>
        </p:nvSpPr>
        <p:spPr>
          <a:xfrm>
            <a:off x="427579" y="2065315"/>
            <a:ext cx="8107316" cy="1015663"/>
          </a:xfrm>
          <a:prstGeom prst="rect">
            <a:avLst/>
          </a:prstGeom>
          <a:noFill/>
        </p:spPr>
        <p:txBody>
          <a:bodyPr wrap="square" rtlCol="0">
            <a:spAutoFit/>
          </a:bodyPr>
          <a:lstStyle/>
          <a:p>
            <a:pPr marL="342900" indent="-342900">
              <a:buFont typeface="Arial"/>
              <a:buChar char="•"/>
            </a:pPr>
            <a:r>
              <a:rPr lang="en-US" sz="2000" dirty="0">
                <a:latin typeface="Times New Roman"/>
                <a:cs typeface="Times New Roman"/>
              </a:rPr>
              <a:t>The agency has a policy that if a </a:t>
            </a:r>
            <a:r>
              <a:rPr lang="en-US" sz="2000" i="1" u="sng" dirty="0">
                <a:latin typeface="Times New Roman"/>
                <a:cs typeface="Times New Roman"/>
              </a:rPr>
              <a:t>mean</a:t>
            </a:r>
            <a:r>
              <a:rPr lang="en-US" sz="2000" dirty="0">
                <a:latin typeface="Times New Roman"/>
                <a:cs typeface="Times New Roman"/>
              </a:rPr>
              <a:t> level greater than 3 </a:t>
            </a:r>
            <a:r>
              <a:rPr lang="en-US" sz="2000" dirty="0" err="1">
                <a:latin typeface="Times New Roman"/>
                <a:cs typeface="Times New Roman"/>
              </a:rPr>
              <a:t>nM</a:t>
            </a:r>
            <a:r>
              <a:rPr lang="en-US" sz="2000" dirty="0">
                <a:latin typeface="Times New Roman"/>
                <a:cs typeface="Times New Roman"/>
              </a:rPr>
              <a:t> are detected the employee is subject to summary dismissal and potential prosecution.</a:t>
            </a:r>
          </a:p>
        </p:txBody>
      </p:sp>
      <p:sp>
        <p:nvSpPr>
          <p:cNvPr id="37" name="TextBox 36"/>
          <p:cNvSpPr txBox="1"/>
          <p:nvPr/>
        </p:nvSpPr>
        <p:spPr>
          <a:xfrm>
            <a:off x="440947" y="4936943"/>
            <a:ext cx="8107316" cy="1015663"/>
          </a:xfrm>
          <a:prstGeom prst="rect">
            <a:avLst/>
          </a:prstGeom>
          <a:noFill/>
        </p:spPr>
        <p:txBody>
          <a:bodyPr wrap="square" rtlCol="0">
            <a:spAutoFit/>
          </a:bodyPr>
          <a:lstStyle/>
          <a:p>
            <a:pPr marL="342900" indent="-342900">
              <a:buFont typeface="Arial"/>
              <a:buChar char="•"/>
            </a:pPr>
            <a:r>
              <a:rPr lang="en-US" sz="2000" dirty="0">
                <a:latin typeface="Times New Roman"/>
                <a:cs typeface="Times New Roman"/>
              </a:rPr>
              <a:t>Question: Assuming the (mean) concentration of Heroin in an employee’s blood is less than or equal to 3 </a:t>
            </a:r>
            <a:r>
              <a:rPr lang="en-US" sz="2000" dirty="0" err="1">
                <a:latin typeface="Times New Roman"/>
                <a:cs typeface="Times New Roman"/>
              </a:rPr>
              <a:t>nM</a:t>
            </a:r>
            <a:r>
              <a:rPr lang="en-US" sz="2000" dirty="0">
                <a:latin typeface="Times New Roman"/>
                <a:cs typeface="Times New Roman"/>
              </a:rPr>
              <a:t>, can we detect evidence in a sample to </a:t>
            </a:r>
            <a:r>
              <a:rPr lang="en-US" sz="2000" i="1" u="sng" dirty="0">
                <a:latin typeface="Times New Roman"/>
                <a:cs typeface="Times New Roman"/>
              </a:rPr>
              <a:t>reject</a:t>
            </a:r>
            <a:r>
              <a:rPr lang="en-US" sz="2000" dirty="0">
                <a:latin typeface="Times New Roman"/>
                <a:cs typeface="Times New Roman"/>
              </a:rPr>
              <a:t> this assumption?</a:t>
            </a:r>
          </a:p>
        </p:txBody>
      </p:sp>
      <p:sp>
        <p:nvSpPr>
          <p:cNvPr id="3" name="Rectangle 2"/>
          <p:cNvSpPr/>
          <p:nvPr/>
        </p:nvSpPr>
        <p:spPr>
          <a:xfrm>
            <a:off x="2329614" y="5977003"/>
            <a:ext cx="4575740" cy="430887"/>
          </a:xfrm>
          <a:prstGeom prst="rect">
            <a:avLst/>
          </a:prstGeom>
        </p:spPr>
        <p:txBody>
          <a:bodyPr wrap="none">
            <a:spAutoFit/>
          </a:bodyPr>
          <a:lstStyle/>
          <a:p>
            <a:r>
              <a:rPr lang="en-US" sz="2200" i="1" u="sng" dirty="0">
                <a:latin typeface="Times New Roman"/>
                <a:cs typeface="Times New Roman"/>
              </a:rPr>
              <a:t>Mathematically</a:t>
            </a:r>
            <a:r>
              <a:rPr lang="en-US" sz="2200" dirty="0">
                <a:latin typeface="Times New Roman"/>
                <a:cs typeface="Times New Roman"/>
              </a:rPr>
              <a:t>: Assume H</a:t>
            </a:r>
            <a:r>
              <a:rPr lang="en-US" sz="2200" baseline="-25000" dirty="0">
                <a:latin typeface="Times New Roman"/>
                <a:cs typeface="Times New Roman"/>
              </a:rPr>
              <a:t>0</a:t>
            </a:r>
            <a:r>
              <a:rPr lang="en-US" sz="2200" dirty="0">
                <a:latin typeface="Times New Roman"/>
                <a:cs typeface="Times New Roman"/>
              </a:rPr>
              <a:t>: </a:t>
            </a:r>
            <a:r>
              <a:rPr lang="en-US" sz="2200" dirty="0">
                <a:latin typeface="Symbol" charset="2"/>
                <a:cs typeface="Symbol" charset="2"/>
              </a:rPr>
              <a:t>m</a:t>
            </a:r>
            <a:r>
              <a:rPr lang="en-US" sz="2200" dirty="0">
                <a:latin typeface="Times New Roman"/>
                <a:cs typeface="Times New Roman"/>
              </a:rPr>
              <a:t> ≤ 3 </a:t>
            </a:r>
            <a:r>
              <a:rPr lang="en-US" sz="2200" dirty="0" err="1">
                <a:latin typeface="Times New Roman"/>
                <a:cs typeface="Times New Roman"/>
              </a:rPr>
              <a:t>nM</a:t>
            </a:r>
            <a:endParaRPr lang="en-US" sz="2200" dirty="0">
              <a:latin typeface="Times New Roman"/>
              <a:cs typeface="Times New Roman"/>
            </a:endParaRPr>
          </a:p>
        </p:txBody>
      </p:sp>
      <p:sp>
        <p:nvSpPr>
          <p:cNvPr id="4" name="TextBox 3"/>
          <p:cNvSpPr txBox="1"/>
          <p:nvPr/>
        </p:nvSpPr>
        <p:spPr>
          <a:xfrm>
            <a:off x="1398285" y="6354002"/>
            <a:ext cx="6316153" cy="430887"/>
          </a:xfrm>
          <a:prstGeom prst="rect">
            <a:avLst/>
          </a:prstGeom>
          <a:noFill/>
        </p:spPr>
        <p:txBody>
          <a:bodyPr wrap="none" rtlCol="0">
            <a:spAutoFit/>
          </a:bodyPr>
          <a:lstStyle/>
          <a:p>
            <a:r>
              <a:rPr lang="en-US" sz="2200" dirty="0">
                <a:latin typeface="Times New Roman"/>
                <a:cs typeface="Times New Roman"/>
              </a:rPr>
              <a:t>Is there evidence in a sample to reject this hypothesis?</a:t>
            </a:r>
          </a:p>
        </p:txBody>
      </p:sp>
    </p:spTree>
    <p:extLst>
      <p:ext uri="{BB962C8B-B14F-4D97-AF65-F5344CB8AC3E}">
        <p14:creationId xmlns:p14="http://schemas.microsoft.com/office/powerpoint/2010/main" val="3605011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ppt_x"/>
                                          </p:val>
                                        </p:tav>
                                        <p:tav tm="100000">
                                          <p:val>
                                            <p:strVal val="#ppt_x"/>
                                          </p:val>
                                        </p:tav>
                                      </p:tavLst>
                                    </p:anim>
                                    <p:anim calcmode="lin" valueType="num">
                                      <p:cBhvr additive="base">
                                        <p:cTn id="8"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5"/>
                                        </p:tgtEl>
                                        <p:attrNameLst>
                                          <p:attrName>style.visibility</p:attrName>
                                        </p:attrNameLst>
                                      </p:cBhvr>
                                      <p:to>
                                        <p:strVal val="visible"/>
                                      </p:to>
                                    </p:set>
                                    <p:anim calcmode="lin" valueType="num">
                                      <p:cBhvr additive="base">
                                        <p:cTn id="13" dur="500" fill="hold"/>
                                        <p:tgtEl>
                                          <p:spTgt spid="35"/>
                                        </p:tgtEl>
                                        <p:attrNameLst>
                                          <p:attrName>ppt_x</p:attrName>
                                        </p:attrNameLst>
                                      </p:cBhvr>
                                      <p:tavLst>
                                        <p:tav tm="0">
                                          <p:val>
                                            <p:strVal val="#ppt_x"/>
                                          </p:val>
                                        </p:tav>
                                        <p:tav tm="100000">
                                          <p:val>
                                            <p:strVal val="#ppt_x"/>
                                          </p:val>
                                        </p:tav>
                                      </p:tavLst>
                                    </p:anim>
                                    <p:anim calcmode="lin" valueType="num">
                                      <p:cBhvr additive="base">
                                        <p:cTn id="14" dur="500" fill="hold"/>
                                        <p:tgtEl>
                                          <p:spTgt spid="3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7"/>
                                        </p:tgtEl>
                                        <p:attrNameLst>
                                          <p:attrName>style.visibility</p:attrName>
                                        </p:attrNameLst>
                                      </p:cBhvr>
                                      <p:to>
                                        <p:strVal val="visible"/>
                                      </p:to>
                                    </p:set>
                                    <p:anim calcmode="lin" valueType="num">
                                      <p:cBhvr additive="base">
                                        <p:cTn id="19" dur="500" fill="hold"/>
                                        <p:tgtEl>
                                          <p:spTgt spid="37"/>
                                        </p:tgtEl>
                                        <p:attrNameLst>
                                          <p:attrName>ppt_x</p:attrName>
                                        </p:attrNameLst>
                                      </p:cBhvr>
                                      <p:tavLst>
                                        <p:tav tm="0">
                                          <p:val>
                                            <p:strVal val="#ppt_x"/>
                                          </p:val>
                                        </p:tav>
                                        <p:tav tm="100000">
                                          <p:val>
                                            <p:strVal val="#ppt_x"/>
                                          </p:val>
                                        </p:tav>
                                      </p:tavLst>
                                    </p:anim>
                                    <p:anim calcmode="lin" valueType="num">
                                      <p:cBhvr additive="base">
                                        <p:cTn id="20"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anim calcmode="lin" valueType="num">
                                      <p:cBhvr additive="base">
                                        <p:cTn id="29" dur="500" fill="hold"/>
                                        <p:tgtEl>
                                          <p:spTgt spid="4"/>
                                        </p:tgtEl>
                                        <p:attrNameLst>
                                          <p:attrName>ppt_x</p:attrName>
                                        </p:attrNameLst>
                                      </p:cBhvr>
                                      <p:tavLst>
                                        <p:tav tm="0">
                                          <p:val>
                                            <p:strVal val="#ppt_x"/>
                                          </p:val>
                                        </p:tav>
                                        <p:tav tm="100000">
                                          <p:val>
                                            <p:strVal val="#ppt_x"/>
                                          </p:val>
                                        </p:tav>
                                      </p:tavLst>
                                    </p:anim>
                                    <p:anim calcmode="lin" valueType="num">
                                      <p:cBhvr additive="base">
                                        <p:cTn id="3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P spid="3"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 name="Picture 2"/>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p:spPr>
      </p:pic>
      <p:sp>
        <p:nvSpPr>
          <p:cNvPr id="59" name="Rectangle 1"/>
          <p:cNvSpPr>
            <a:spLocks noChangeArrowheads="1"/>
          </p:cNvSpPr>
          <p:nvPr/>
        </p:nvSpPr>
        <p:spPr bwMode="auto">
          <a:xfrm>
            <a:off x="32948" y="325072"/>
            <a:ext cx="9104312" cy="871324"/>
          </a:xfrm>
          <a:prstGeom prst="rect">
            <a:avLst/>
          </a:prstGeom>
          <a:noFill/>
          <a:ln w="9525">
            <a:noFill/>
            <a:round/>
            <a:headEnd/>
            <a:tailEnd/>
          </a:ln>
        </p:spPr>
        <p:txBody>
          <a:bodyPr lIns="0" tIns="0" rIns="0" bIns="0" anchor="ctr"/>
          <a:lstStyle/>
          <a:p>
            <a:pPr algn="ctr" hangingPunct="0">
              <a:lnSpc>
                <a:spcPct val="98000"/>
              </a:lnSpc>
              <a:buSzPct val="45000"/>
              <a:buFont typeface="Wingdings"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US" sz="3200" dirty="0">
                <a:solidFill>
                  <a:schemeClr val="tx1"/>
                </a:solidFill>
                <a:latin typeface="Times New Roman" pitchFamily="18" charset="0"/>
                <a:cs typeface="Times New Roman" pitchFamily="18" charset="0"/>
              </a:rPr>
              <a:t>The Basic Idea of Hypothesis Testing</a:t>
            </a:r>
          </a:p>
        </p:txBody>
      </p:sp>
      <p:pic>
        <p:nvPicPr>
          <p:cNvPr id="68" name="Picture 67"/>
          <p:cNvPicPr>
            <a:picLocks noChangeAspect="1"/>
          </p:cNvPicPr>
          <p:nvPr/>
        </p:nvPicPr>
        <p:blipFill rotWithShape="1">
          <a:blip r:embed="rId3"/>
          <a:srcRect l="11211" t="12281" r="6668" b="14815"/>
          <a:stretch/>
        </p:blipFill>
        <p:spPr>
          <a:xfrm>
            <a:off x="3172877" y="1405939"/>
            <a:ext cx="4137275" cy="3070120"/>
          </a:xfrm>
          <a:prstGeom prst="rect">
            <a:avLst/>
          </a:prstGeom>
          <a:effectLst/>
        </p:spPr>
      </p:pic>
      <p:cxnSp>
        <p:nvCxnSpPr>
          <p:cNvPr id="69" name="Straight Connector 68"/>
          <p:cNvCxnSpPr/>
          <p:nvPr/>
        </p:nvCxnSpPr>
        <p:spPr>
          <a:xfrm>
            <a:off x="1526462" y="4573215"/>
            <a:ext cx="5868745" cy="53474"/>
          </a:xfrm>
          <a:prstGeom prst="line">
            <a:avLst/>
          </a:prstGeom>
          <a:ln w="57150" cmpd="sng">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5207561" y="4426162"/>
            <a:ext cx="334210" cy="320842"/>
          </a:xfrm>
          <a:prstGeom prst="ellipse">
            <a:avLst/>
          </a:prstGeom>
          <a:solidFill>
            <a:srgbClr val="C0504D"/>
          </a:solidFill>
          <a:ln>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Multiply 70"/>
          <p:cNvSpPr/>
          <p:nvPr/>
        </p:nvSpPr>
        <p:spPr>
          <a:xfrm>
            <a:off x="6257287" y="4366479"/>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Multiply 71"/>
          <p:cNvSpPr/>
          <p:nvPr/>
        </p:nvSpPr>
        <p:spPr>
          <a:xfrm>
            <a:off x="5138106" y="438735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Multiply 72"/>
          <p:cNvSpPr/>
          <p:nvPr/>
        </p:nvSpPr>
        <p:spPr>
          <a:xfrm>
            <a:off x="5039682" y="4394031"/>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Multiply 73"/>
          <p:cNvSpPr/>
          <p:nvPr/>
        </p:nvSpPr>
        <p:spPr>
          <a:xfrm>
            <a:off x="6055454" y="439053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Multiply 74"/>
          <p:cNvSpPr/>
          <p:nvPr/>
        </p:nvSpPr>
        <p:spPr>
          <a:xfrm>
            <a:off x="5791523" y="4393286"/>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6" name="Multiply 75"/>
          <p:cNvSpPr/>
          <p:nvPr/>
        </p:nvSpPr>
        <p:spPr>
          <a:xfrm>
            <a:off x="6166023" y="4395296"/>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7" name="Multiply 76"/>
          <p:cNvSpPr/>
          <p:nvPr/>
        </p:nvSpPr>
        <p:spPr>
          <a:xfrm>
            <a:off x="5791522" y="4416797"/>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Multiply 77"/>
          <p:cNvSpPr/>
          <p:nvPr/>
        </p:nvSpPr>
        <p:spPr>
          <a:xfrm>
            <a:off x="5296901" y="439822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9" name="Multiply 78"/>
          <p:cNvSpPr/>
          <p:nvPr/>
        </p:nvSpPr>
        <p:spPr>
          <a:xfrm>
            <a:off x="6446361" y="4403305"/>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0" name="Multiply 79"/>
          <p:cNvSpPr/>
          <p:nvPr/>
        </p:nvSpPr>
        <p:spPr>
          <a:xfrm>
            <a:off x="5589690" y="4393286"/>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Multiply 80"/>
          <p:cNvSpPr/>
          <p:nvPr/>
        </p:nvSpPr>
        <p:spPr>
          <a:xfrm>
            <a:off x="5211583" y="441573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2" name="Multiply 81"/>
          <p:cNvSpPr/>
          <p:nvPr/>
        </p:nvSpPr>
        <p:spPr>
          <a:xfrm>
            <a:off x="5498734" y="4409616"/>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Multiply 82"/>
          <p:cNvSpPr/>
          <p:nvPr/>
        </p:nvSpPr>
        <p:spPr>
          <a:xfrm>
            <a:off x="5993355" y="4404531"/>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4" name="Multiply 83"/>
          <p:cNvSpPr/>
          <p:nvPr/>
        </p:nvSpPr>
        <p:spPr>
          <a:xfrm>
            <a:off x="6367856" y="439852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Multiply 84"/>
          <p:cNvSpPr/>
          <p:nvPr/>
        </p:nvSpPr>
        <p:spPr>
          <a:xfrm>
            <a:off x="4837850" y="4393286"/>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Multiply 85"/>
          <p:cNvSpPr/>
          <p:nvPr/>
        </p:nvSpPr>
        <p:spPr>
          <a:xfrm>
            <a:off x="5700566" y="4404531"/>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Multiply 86"/>
          <p:cNvSpPr/>
          <p:nvPr/>
        </p:nvSpPr>
        <p:spPr>
          <a:xfrm>
            <a:off x="5387858" y="4398228"/>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Multiply 87"/>
          <p:cNvSpPr/>
          <p:nvPr/>
        </p:nvSpPr>
        <p:spPr>
          <a:xfrm>
            <a:off x="4946450" y="4411121"/>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Multiply 88"/>
          <p:cNvSpPr/>
          <p:nvPr/>
        </p:nvSpPr>
        <p:spPr>
          <a:xfrm>
            <a:off x="5885864" y="4406057"/>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0" name="Multiply 89"/>
          <p:cNvSpPr/>
          <p:nvPr/>
        </p:nvSpPr>
        <p:spPr>
          <a:xfrm>
            <a:off x="4893236" y="4400097"/>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Multiply 90"/>
          <p:cNvSpPr/>
          <p:nvPr/>
        </p:nvSpPr>
        <p:spPr>
          <a:xfrm>
            <a:off x="5788561" y="4407050"/>
            <a:ext cx="403665" cy="413472"/>
          </a:xfrm>
          <a:prstGeom prst="mathMultiply">
            <a:avLst>
              <a:gd name="adj1" fmla="val 521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2" name="TextBox 91"/>
          <p:cNvSpPr txBox="1"/>
          <p:nvPr/>
        </p:nvSpPr>
        <p:spPr>
          <a:xfrm>
            <a:off x="5014428" y="5355474"/>
            <a:ext cx="1077639" cy="369332"/>
          </a:xfrm>
          <a:prstGeom prst="rect">
            <a:avLst/>
          </a:prstGeom>
          <a:noFill/>
          <a:effectLst/>
        </p:spPr>
        <p:txBody>
          <a:bodyPr wrap="none" rtlCol="0">
            <a:spAutoFit/>
          </a:bodyPr>
          <a:lstStyle/>
          <a:p>
            <a:r>
              <a:rPr lang="en-US" i="1" dirty="0">
                <a:latin typeface="Symbol" charset="2"/>
                <a:cs typeface="Symbol" charset="2"/>
              </a:rPr>
              <a:t>m</a:t>
            </a:r>
            <a:r>
              <a:rPr lang="en-US" dirty="0">
                <a:latin typeface="Symbol" charset="2"/>
                <a:cs typeface="Symbol" charset="2"/>
              </a:rPr>
              <a:t> = 3</a:t>
            </a:r>
            <a:r>
              <a:rPr lang="en-US" dirty="0">
                <a:latin typeface="Times New Roman"/>
                <a:cs typeface="Times New Roman"/>
              </a:rPr>
              <a:t> </a:t>
            </a:r>
            <a:r>
              <a:rPr lang="en-US" dirty="0" err="1">
                <a:latin typeface="Times New Roman"/>
                <a:cs typeface="Times New Roman"/>
              </a:rPr>
              <a:t>nM</a:t>
            </a:r>
            <a:endParaRPr lang="en-US" dirty="0">
              <a:latin typeface="Times New Roman"/>
              <a:cs typeface="Times New Roman"/>
            </a:endParaRPr>
          </a:p>
        </p:txBody>
      </p:sp>
      <p:sp>
        <p:nvSpPr>
          <p:cNvPr id="93" name="Rectangle 92"/>
          <p:cNvSpPr/>
          <p:nvPr/>
        </p:nvSpPr>
        <p:spPr>
          <a:xfrm>
            <a:off x="2214817" y="3337228"/>
            <a:ext cx="2716609" cy="646331"/>
          </a:xfrm>
          <a:prstGeom prst="rect">
            <a:avLst/>
          </a:prstGeom>
          <a:effectLst/>
        </p:spPr>
        <p:txBody>
          <a:bodyPr wrap="none">
            <a:spAutoFit/>
          </a:bodyPr>
          <a:lstStyle/>
          <a:p>
            <a:r>
              <a:rPr lang="en-US" dirty="0">
                <a:latin typeface="Times New Roman"/>
                <a:cs typeface="Times New Roman"/>
              </a:rPr>
              <a:t>Obtain a sample:</a:t>
            </a:r>
          </a:p>
          <a:p>
            <a:r>
              <a:rPr lang="en-US" dirty="0">
                <a:latin typeface="Times New Roman"/>
                <a:cs typeface="Times New Roman"/>
              </a:rPr>
              <a:t>Measure the conc. 20 times</a:t>
            </a:r>
            <a:endParaRPr lang="en-US" dirty="0"/>
          </a:p>
        </p:txBody>
      </p:sp>
      <p:sp>
        <p:nvSpPr>
          <p:cNvPr id="94" name="Rectangle 93"/>
          <p:cNvSpPr/>
          <p:nvPr/>
        </p:nvSpPr>
        <p:spPr>
          <a:xfrm>
            <a:off x="1522480" y="5082474"/>
            <a:ext cx="2581919" cy="369332"/>
          </a:xfrm>
          <a:prstGeom prst="rect">
            <a:avLst/>
          </a:prstGeom>
          <a:effectLst/>
        </p:spPr>
        <p:txBody>
          <a:bodyPr wrap="none">
            <a:spAutoFit/>
          </a:bodyPr>
          <a:lstStyle/>
          <a:p>
            <a:r>
              <a:rPr lang="en-US" dirty="0">
                <a:latin typeface="Times New Roman"/>
                <a:cs typeface="Times New Roman"/>
              </a:rPr>
              <a:t>Compute sample average:</a:t>
            </a:r>
            <a:endParaRPr lang="en-US" dirty="0"/>
          </a:p>
        </p:txBody>
      </p:sp>
      <p:pic>
        <p:nvPicPr>
          <p:cNvPr id="95" name="Picture 94"/>
          <p:cNvPicPr>
            <a:picLocks noChangeAspect="1"/>
          </p:cNvPicPr>
          <p:nvPr/>
        </p:nvPicPr>
        <p:blipFill>
          <a:blip r:embed="rId4"/>
          <a:stretch>
            <a:fillRect/>
          </a:stretch>
        </p:blipFill>
        <p:spPr>
          <a:xfrm>
            <a:off x="4030723" y="5082474"/>
            <a:ext cx="217419" cy="358744"/>
          </a:xfrm>
          <a:prstGeom prst="rect">
            <a:avLst/>
          </a:prstGeom>
          <a:effectLst/>
        </p:spPr>
      </p:pic>
      <p:cxnSp>
        <p:nvCxnSpPr>
          <p:cNvPr id="96" name="Straight Arrow Connector 95"/>
          <p:cNvCxnSpPr/>
          <p:nvPr/>
        </p:nvCxnSpPr>
        <p:spPr>
          <a:xfrm>
            <a:off x="4916610" y="3820027"/>
            <a:ext cx="922039" cy="550515"/>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cxnSp>
        <p:nvCxnSpPr>
          <p:cNvPr id="97" name="Straight Arrow Connector 96"/>
          <p:cNvCxnSpPr/>
          <p:nvPr/>
        </p:nvCxnSpPr>
        <p:spPr>
          <a:xfrm flipV="1">
            <a:off x="4297838" y="4609172"/>
            <a:ext cx="1646975" cy="642903"/>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3261302" y="6113242"/>
            <a:ext cx="3944710" cy="461665"/>
          </a:xfrm>
          <a:prstGeom prst="rect">
            <a:avLst/>
          </a:prstGeom>
          <a:effectLst/>
        </p:spPr>
        <p:txBody>
          <a:bodyPr wrap="none">
            <a:spAutoFit/>
          </a:bodyPr>
          <a:lstStyle/>
          <a:p>
            <a:r>
              <a:rPr lang="en-US" sz="2400" dirty="0">
                <a:latin typeface="Times New Roman"/>
                <a:cs typeface="Times New Roman"/>
              </a:rPr>
              <a:t>Is the employee in trouble????</a:t>
            </a:r>
            <a:endParaRPr lang="en-US" sz="2400" dirty="0"/>
          </a:p>
        </p:txBody>
      </p:sp>
      <p:sp>
        <p:nvSpPr>
          <p:cNvPr id="99" name="Right Brace 98"/>
          <p:cNvSpPr/>
          <p:nvPr/>
        </p:nvSpPr>
        <p:spPr>
          <a:xfrm rot="16200000">
            <a:off x="5396904" y="4048497"/>
            <a:ext cx="427790" cy="521368"/>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100" name="Picture 99"/>
          <p:cNvPicPr>
            <a:picLocks noChangeAspect="1"/>
          </p:cNvPicPr>
          <p:nvPr/>
        </p:nvPicPr>
        <p:blipFill>
          <a:blip r:embed="rId5"/>
          <a:stretch>
            <a:fillRect/>
          </a:stretch>
        </p:blipFill>
        <p:spPr>
          <a:xfrm>
            <a:off x="5557780" y="3730227"/>
            <a:ext cx="1752278" cy="365058"/>
          </a:xfrm>
          <a:prstGeom prst="rect">
            <a:avLst/>
          </a:prstGeom>
          <a:effectLst/>
        </p:spPr>
      </p:pic>
      <p:sp>
        <p:nvSpPr>
          <p:cNvPr id="101" name="TextBox 100"/>
          <p:cNvSpPr txBox="1"/>
          <p:nvPr/>
        </p:nvSpPr>
        <p:spPr>
          <a:xfrm>
            <a:off x="5523280" y="4925405"/>
            <a:ext cx="787633" cy="369332"/>
          </a:xfrm>
          <a:prstGeom prst="rect">
            <a:avLst/>
          </a:prstGeom>
          <a:noFill/>
          <a:effectLst/>
        </p:spPr>
        <p:txBody>
          <a:bodyPr wrap="none" rtlCol="0">
            <a:spAutoFit/>
          </a:bodyPr>
          <a:lstStyle/>
          <a:p>
            <a:r>
              <a:rPr lang="en-US" dirty="0">
                <a:latin typeface="Times New Roman"/>
                <a:cs typeface="Times New Roman"/>
              </a:rPr>
              <a:t>1.6 </a:t>
            </a:r>
            <a:r>
              <a:rPr lang="en-US" i="1" dirty="0" err="1">
                <a:latin typeface="Symbol" charset="2"/>
                <a:cs typeface="Symbol" charset="2"/>
              </a:rPr>
              <a:t>s</a:t>
            </a:r>
            <a:r>
              <a:rPr lang="en-US" i="1" baseline="-25000" dirty="0" err="1">
                <a:latin typeface="Symbol" charset="2"/>
                <a:cs typeface="Symbol" charset="2"/>
              </a:rPr>
              <a:t>m</a:t>
            </a:r>
            <a:endParaRPr lang="en-US" i="1" baseline="-25000" dirty="0">
              <a:latin typeface="Symbol" charset="2"/>
              <a:cs typeface="Symbol" charset="2"/>
            </a:endParaRPr>
          </a:p>
        </p:txBody>
      </p:sp>
      <p:sp>
        <p:nvSpPr>
          <p:cNvPr id="102" name="Right Brace 101"/>
          <p:cNvSpPr/>
          <p:nvPr/>
        </p:nvSpPr>
        <p:spPr>
          <a:xfrm rot="5400000">
            <a:off x="5710113" y="4221810"/>
            <a:ext cx="427790" cy="1147786"/>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03" name="Straight Arrow Connector 102"/>
          <p:cNvCxnSpPr/>
          <p:nvPr/>
        </p:nvCxnSpPr>
        <p:spPr>
          <a:xfrm flipV="1">
            <a:off x="5354023" y="4779951"/>
            <a:ext cx="0" cy="714401"/>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484188" y="1569077"/>
            <a:ext cx="2934882" cy="1200328"/>
          </a:xfrm>
          <a:prstGeom prst="rect">
            <a:avLst/>
          </a:prstGeom>
          <a:noFill/>
          <a:effectLst/>
        </p:spPr>
        <p:txBody>
          <a:bodyPr wrap="square" rtlCol="0">
            <a:spAutoFit/>
          </a:bodyPr>
          <a:lstStyle/>
          <a:p>
            <a:r>
              <a:rPr lang="en-US" sz="2400" dirty="0">
                <a:latin typeface="Times New Roman"/>
                <a:cs typeface="Times New Roman"/>
              </a:rPr>
              <a:t>Sampling distribution for a known mean </a:t>
            </a:r>
            <a:r>
              <a:rPr lang="en-US" sz="2400" i="1" dirty="0">
                <a:latin typeface="Symbol" charset="2"/>
                <a:cs typeface="Symbol" charset="2"/>
              </a:rPr>
              <a:t>m</a:t>
            </a:r>
            <a:r>
              <a:rPr lang="en-US" sz="2400" dirty="0">
                <a:latin typeface="Times New Roman"/>
                <a:cs typeface="Times New Roman"/>
              </a:rPr>
              <a:t> and known </a:t>
            </a:r>
            <a:r>
              <a:rPr lang="en-US" sz="2400" dirty="0" err="1">
                <a:latin typeface="Times New Roman"/>
                <a:cs typeface="Times New Roman"/>
              </a:rPr>
              <a:t>sd</a:t>
            </a:r>
            <a:r>
              <a:rPr lang="en-US" sz="2400" dirty="0">
                <a:latin typeface="Times New Roman"/>
                <a:cs typeface="Times New Roman"/>
              </a:rPr>
              <a:t> </a:t>
            </a:r>
            <a:r>
              <a:rPr lang="en-US" sz="2400" i="1" dirty="0" err="1">
                <a:latin typeface="Symbol" charset="2"/>
                <a:cs typeface="Symbol" charset="2"/>
              </a:rPr>
              <a:t>s</a:t>
            </a:r>
            <a:r>
              <a:rPr lang="en-US" sz="2400" i="1" baseline="-25000" dirty="0" err="1">
                <a:latin typeface="Symbol" charset="2"/>
                <a:cs typeface="Symbol" charset="2"/>
              </a:rPr>
              <a:t>m</a:t>
            </a:r>
            <a:r>
              <a:rPr lang="en-US" sz="2400" dirty="0">
                <a:latin typeface="Times New Roman"/>
                <a:cs typeface="Times New Roman"/>
              </a:rPr>
              <a:t>= is:</a:t>
            </a:r>
          </a:p>
        </p:txBody>
      </p:sp>
      <p:cxnSp>
        <p:nvCxnSpPr>
          <p:cNvPr id="105" name="Straight Arrow Connector 104"/>
          <p:cNvCxnSpPr/>
          <p:nvPr/>
        </p:nvCxnSpPr>
        <p:spPr>
          <a:xfrm flipV="1">
            <a:off x="3261302" y="3034617"/>
            <a:ext cx="1078363" cy="13368"/>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pic>
        <p:nvPicPr>
          <p:cNvPr id="106" name="Picture 105"/>
          <p:cNvPicPr>
            <a:picLocks noChangeAspect="1"/>
          </p:cNvPicPr>
          <p:nvPr/>
        </p:nvPicPr>
        <p:blipFill>
          <a:blip r:embed="rId6"/>
          <a:stretch>
            <a:fillRect/>
          </a:stretch>
        </p:blipFill>
        <p:spPr>
          <a:xfrm>
            <a:off x="1243308" y="2869490"/>
            <a:ext cx="1858127" cy="346122"/>
          </a:xfrm>
          <a:prstGeom prst="rect">
            <a:avLst/>
          </a:prstGeom>
          <a:effectLst/>
        </p:spPr>
      </p:pic>
      <p:cxnSp>
        <p:nvCxnSpPr>
          <p:cNvPr id="108" name="Straight Connector 107"/>
          <p:cNvCxnSpPr/>
          <p:nvPr/>
        </p:nvCxnSpPr>
        <p:spPr>
          <a:xfrm flipV="1">
            <a:off x="6498357" y="4070245"/>
            <a:ext cx="0" cy="514324"/>
          </a:xfrm>
          <a:prstGeom prst="line">
            <a:avLst/>
          </a:prstGeom>
          <a:effectLst/>
        </p:spPr>
        <p:style>
          <a:lnRef idx="2">
            <a:schemeClr val="accent1"/>
          </a:lnRef>
          <a:fillRef idx="0">
            <a:schemeClr val="accent1"/>
          </a:fillRef>
          <a:effectRef idx="1">
            <a:schemeClr val="accent1"/>
          </a:effectRef>
          <a:fontRef idx="minor">
            <a:schemeClr val="tx1"/>
          </a:fontRef>
        </p:style>
      </p:cxnSp>
      <p:cxnSp>
        <p:nvCxnSpPr>
          <p:cNvPr id="109" name="Straight Arrow Connector 108"/>
          <p:cNvCxnSpPr/>
          <p:nvPr/>
        </p:nvCxnSpPr>
        <p:spPr>
          <a:xfrm flipH="1">
            <a:off x="5475475" y="1980668"/>
            <a:ext cx="1345427" cy="1577474"/>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6777790" y="1513301"/>
            <a:ext cx="1818104" cy="646331"/>
          </a:xfrm>
          <a:prstGeom prst="rect">
            <a:avLst/>
          </a:prstGeom>
          <a:noFill/>
          <a:effectLst/>
        </p:spPr>
        <p:txBody>
          <a:bodyPr wrap="square" rtlCol="0">
            <a:spAutoFit/>
          </a:bodyPr>
          <a:lstStyle/>
          <a:p>
            <a:r>
              <a:rPr lang="en-US" dirty="0">
                <a:latin typeface="Times New Roman"/>
                <a:cs typeface="Times New Roman"/>
              </a:rPr>
              <a:t>Area from -∞ to 1.6 </a:t>
            </a:r>
            <a:r>
              <a:rPr lang="en-US" i="1" dirty="0" err="1">
                <a:latin typeface="Symbol" charset="2"/>
                <a:cs typeface="Symbol" charset="2"/>
              </a:rPr>
              <a:t>s</a:t>
            </a:r>
            <a:r>
              <a:rPr lang="en-US" i="1" baseline="-25000" dirty="0" err="1">
                <a:latin typeface="Symbol" charset="2"/>
                <a:cs typeface="Symbol" charset="2"/>
              </a:rPr>
              <a:t>m</a:t>
            </a:r>
            <a:r>
              <a:rPr lang="en-US" dirty="0">
                <a:latin typeface="Times New Roman"/>
                <a:cs typeface="Times New Roman"/>
              </a:rPr>
              <a:t>  is 95%</a:t>
            </a:r>
          </a:p>
        </p:txBody>
      </p:sp>
      <p:cxnSp>
        <p:nvCxnSpPr>
          <p:cNvPr id="112" name="Straight Arrow Connector 111"/>
          <p:cNvCxnSpPr/>
          <p:nvPr/>
        </p:nvCxnSpPr>
        <p:spPr>
          <a:xfrm flipH="1">
            <a:off x="3411610" y="4130607"/>
            <a:ext cx="3026020" cy="13367"/>
          </a:xfrm>
          <a:prstGeom prst="straightConnector1">
            <a:avLst/>
          </a:prstGeom>
          <a:ln>
            <a:headEnd type="arrow"/>
            <a:tailEnd type="none"/>
          </a:ln>
          <a:effectLst/>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67500" y="3942355"/>
            <a:ext cx="3419526" cy="353943"/>
          </a:xfrm>
          <a:prstGeom prst="rect">
            <a:avLst/>
          </a:prstGeom>
          <a:noFill/>
          <a:effectLst/>
        </p:spPr>
        <p:txBody>
          <a:bodyPr wrap="none" rtlCol="0">
            <a:spAutoFit/>
          </a:bodyPr>
          <a:lstStyle/>
          <a:p>
            <a:r>
              <a:rPr lang="en-US" sz="1700" dirty="0">
                <a:latin typeface="Times New Roman"/>
                <a:cs typeface="Times New Roman"/>
              </a:rPr>
              <a:t>95% upper limit-CI for H</a:t>
            </a:r>
            <a:r>
              <a:rPr lang="en-US" sz="1700" baseline="-25000" dirty="0">
                <a:latin typeface="Times New Roman"/>
                <a:cs typeface="Times New Roman"/>
              </a:rPr>
              <a:t>0</a:t>
            </a:r>
            <a:r>
              <a:rPr lang="en-US" sz="1700" dirty="0">
                <a:latin typeface="Times New Roman"/>
                <a:cs typeface="Times New Roman"/>
              </a:rPr>
              <a:t>: </a:t>
            </a:r>
            <a:r>
              <a:rPr lang="en-US" sz="1700" dirty="0">
                <a:latin typeface="Symbol" charset="2"/>
                <a:cs typeface="Symbol" charset="2"/>
              </a:rPr>
              <a:t>m</a:t>
            </a:r>
            <a:r>
              <a:rPr lang="en-US" sz="1700" dirty="0">
                <a:latin typeface="Times New Roman"/>
                <a:cs typeface="Times New Roman"/>
              </a:rPr>
              <a:t> ≤ 3 </a:t>
            </a:r>
            <a:r>
              <a:rPr lang="en-US" sz="1700" dirty="0" err="1">
                <a:latin typeface="Times New Roman"/>
                <a:cs typeface="Times New Roman"/>
              </a:rPr>
              <a:t>nM</a:t>
            </a:r>
            <a:endParaRPr lang="en-US" sz="1700" dirty="0">
              <a:latin typeface="Times New Roman"/>
              <a:cs typeface="Times New Roman"/>
            </a:endParaRPr>
          </a:p>
        </p:txBody>
      </p:sp>
      <p:sp>
        <p:nvSpPr>
          <p:cNvPr id="48" name="TextBox 47"/>
          <p:cNvSpPr txBox="1"/>
          <p:nvPr/>
        </p:nvSpPr>
        <p:spPr>
          <a:xfrm>
            <a:off x="6649896" y="2523209"/>
            <a:ext cx="2408219" cy="1477328"/>
          </a:xfrm>
          <a:prstGeom prst="rect">
            <a:avLst/>
          </a:prstGeom>
          <a:noFill/>
        </p:spPr>
        <p:txBody>
          <a:bodyPr wrap="square" rtlCol="0">
            <a:spAutoFit/>
          </a:bodyPr>
          <a:lstStyle/>
          <a:p>
            <a:r>
              <a:rPr lang="en-US" dirty="0">
                <a:latin typeface="Times"/>
                <a:cs typeface="Times"/>
              </a:rPr>
              <a:t>So: </a:t>
            </a:r>
            <a:r>
              <a:rPr lang="en-US" b="1" dirty="0">
                <a:latin typeface="Times"/>
                <a:cs typeface="Times"/>
              </a:rPr>
              <a:t>IF</a:t>
            </a:r>
            <a:r>
              <a:rPr lang="en-US" dirty="0">
                <a:latin typeface="Times"/>
                <a:cs typeface="Times"/>
              </a:rPr>
              <a:t> the mean </a:t>
            </a:r>
            <a:r>
              <a:rPr lang="en-US" dirty="0" err="1">
                <a:latin typeface="Times"/>
                <a:cs typeface="Times"/>
              </a:rPr>
              <a:t>conc</a:t>
            </a:r>
            <a:r>
              <a:rPr lang="en-US" dirty="0">
                <a:latin typeface="Times"/>
                <a:cs typeface="Times"/>
              </a:rPr>
              <a:t> is really less than 3 </a:t>
            </a:r>
            <a:r>
              <a:rPr lang="en-US" dirty="0" err="1">
                <a:latin typeface="Times"/>
                <a:cs typeface="Times"/>
              </a:rPr>
              <a:t>nM</a:t>
            </a:r>
            <a:r>
              <a:rPr lang="en-US" dirty="0">
                <a:latin typeface="Times"/>
                <a:cs typeface="Times"/>
              </a:rPr>
              <a:t>, then we could (95%) plausibly measure it up to here</a:t>
            </a:r>
          </a:p>
        </p:txBody>
      </p:sp>
      <p:cxnSp>
        <p:nvCxnSpPr>
          <p:cNvPr id="49" name="Straight Arrow Connector 48"/>
          <p:cNvCxnSpPr/>
          <p:nvPr/>
        </p:nvCxnSpPr>
        <p:spPr>
          <a:xfrm flipH="1">
            <a:off x="6569688" y="3931750"/>
            <a:ext cx="740370" cy="434729"/>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3356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
                                        </p:tgtEl>
                                        <p:attrNameLst>
                                          <p:attrName>style.visibility</p:attrName>
                                        </p:attrNameLst>
                                      </p:cBhvr>
                                      <p:to>
                                        <p:strVal val="visible"/>
                                      </p:to>
                                    </p:set>
                                    <p:anim calcmode="lin" valueType="num">
                                      <p:cBhvr additive="base">
                                        <p:cTn id="7" dur="500" fill="hold"/>
                                        <p:tgtEl>
                                          <p:spTgt spid="70"/>
                                        </p:tgtEl>
                                        <p:attrNameLst>
                                          <p:attrName>ppt_x</p:attrName>
                                        </p:attrNameLst>
                                      </p:cBhvr>
                                      <p:tavLst>
                                        <p:tav tm="0">
                                          <p:val>
                                            <p:strVal val="#ppt_x"/>
                                          </p:val>
                                        </p:tav>
                                        <p:tav tm="100000">
                                          <p:val>
                                            <p:strVal val="#ppt_x"/>
                                          </p:val>
                                        </p:tav>
                                      </p:tavLst>
                                    </p:anim>
                                    <p:anim calcmode="lin" valueType="num">
                                      <p:cBhvr additive="base">
                                        <p:cTn id="8" dur="500" fill="hold"/>
                                        <p:tgtEl>
                                          <p:spTgt spid="70"/>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3"/>
                                        </p:tgtEl>
                                        <p:attrNameLst>
                                          <p:attrName>style.visibility</p:attrName>
                                        </p:attrNameLst>
                                      </p:cBhvr>
                                      <p:to>
                                        <p:strVal val="visible"/>
                                      </p:to>
                                    </p:set>
                                    <p:anim calcmode="lin" valueType="num">
                                      <p:cBhvr additive="base">
                                        <p:cTn id="11" dur="500" fill="hold"/>
                                        <p:tgtEl>
                                          <p:spTgt spid="103"/>
                                        </p:tgtEl>
                                        <p:attrNameLst>
                                          <p:attrName>ppt_x</p:attrName>
                                        </p:attrNameLst>
                                      </p:cBhvr>
                                      <p:tavLst>
                                        <p:tav tm="0">
                                          <p:val>
                                            <p:strVal val="#ppt_x"/>
                                          </p:val>
                                        </p:tav>
                                        <p:tav tm="100000">
                                          <p:val>
                                            <p:strVal val="#ppt_x"/>
                                          </p:val>
                                        </p:tav>
                                      </p:tavLst>
                                    </p:anim>
                                    <p:anim calcmode="lin" valueType="num">
                                      <p:cBhvr additive="base">
                                        <p:cTn id="12" dur="500" fill="hold"/>
                                        <p:tgtEl>
                                          <p:spTgt spid="103"/>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2"/>
                                        </p:tgtEl>
                                        <p:attrNameLst>
                                          <p:attrName>style.visibility</p:attrName>
                                        </p:attrNameLst>
                                      </p:cBhvr>
                                      <p:to>
                                        <p:strVal val="visible"/>
                                      </p:to>
                                    </p:set>
                                    <p:anim calcmode="lin" valueType="num">
                                      <p:cBhvr additive="base">
                                        <p:cTn id="15" dur="500" fill="hold"/>
                                        <p:tgtEl>
                                          <p:spTgt spid="92"/>
                                        </p:tgtEl>
                                        <p:attrNameLst>
                                          <p:attrName>ppt_x</p:attrName>
                                        </p:attrNameLst>
                                      </p:cBhvr>
                                      <p:tavLst>
                                        <p:tav tm="0">
                                          <p:val>
                                            <p:strVal val="#ppt_x"/>
                                          </p:val>
                                        </p:tav>
                                        <p:tav tm="100000">
                                          <p:val>
                                            <p:strVal val="#ppt_x"/>
                                          </p:val>
                                        </p:tav>
                                      </p:tavLst>
                                    </p:anim>
                                    <p:anim calcmode="lin" valueType="num">
                                      <p:cBhvr additive="base">
                                        <p:cTn id="16" dur="500" fill="hold"/>
                                        <p:tgtEl>
                                          <p:spTgt spid="92"/>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93"/>
                                        </p:tgtEl>
                                        <p:attrNameLst>
                                          <p:attrName>style.visibility</p:attrName>
                                        </p:attrNameLst>
                                      </p:cBhvr>
                                      <p:to>
                                        <p:strVal val="visible"/>
                                      </p:to>
                                    </p:set>
                                    <p:anim calcmode="lin" valueType="num">
                                      <p:cBhvr additive="base">
                                        <p:cTn id="21" dur="500" fill="hold"/>
                                        <p:tgtEl>
                                          <p:spTgt spid="93"/>
                                        </p:tgtEl>
                                        <p:attrNameLst>
                                          <p:attrName>ppt_x</p:attrName>
                                        </p:attrNameLst>
                                      </p:cBhvr>
                                      <p:tavLst>
                                        <p:tav tm="0">
                                          <p:val>
                                            <p:strVal val="#ppt_x"/>
                                          </p:val>
                                        </p:tav>
                                        <p:tav tm="100000">
                                          <p:val>
                                            <p:strVal val="#ppt_x"/>
                                          </p:val>
                                        </p:tav>
                                      </p:tavLst>
                                    </p:anim>
                                    <p:anim calcmode="lin" valueType="num">
                                      <p:cBhvr additive="base">
                                        <p:cTn id="22" dur="500" fill="hold"/>
                                        <p:tgtEl>
                                          <p:spTgt spid="93"/>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96"/>
                                        </p:tgtEl>
                                        <p:attrNameLst>
                                          <p:attrName>style.visibility</p:attrName>
                                        </p:attrNameLst>
                                      </p:cBhvr>
                                      <p:to>
                                        <p:strVal val="visible"/>
                                      </p:to>
                                    </p:set>
                                    <p:anim calcmode="lin" valueType="num">
                                      <p:cBhvr additive="base">
                                        <p:cTn id="25" dur="500" fill="hold"/>
                                        <p:tgtEl>
                                          <p:spTgt spid="96"/>
                                        </p:tgtEl>
                                        <p:attrNameLst>
                                          <p:attrName>ppt_x</p:attrName>
                                        </p:attrNameLst>
                                      </p:cBhvr>
                                      <p:tavLst>
                                        <p:tav tm="0">
                                          <p:val>
                                            <p:strVal val="#ppt_x"/>
                                          </p:val>
                                        </p:tav>
                                        <p:tav tm="100000">
                                          <p:val>
                                            <p:strVal val="#ppt_x"/>
                                          </p:val>
                                        </p:tav>
                                      </p:tavLst>
                                    </p:anim>
                                    <p:anim calcmode="lin" valueType="num">
                                      <p:cBhvr additive="base">
                                        <p:cTn id="26" dur="500" fill="hold"/>
                                        <p:tgtEl>
                                          <p:spTgt spid="96"/>
                                        </p:tgtEl>
                                        <p:attrNameLst>
                                          <p:attrName>ppt_y</p:attrName>
                                        </p:attrNameLst>
                                      </p:cBhvr>
                                      <p:tavLst>
                                        <p:tav tm="0">
                                          <p:val>
                                            <p:strVal val="1+#ppt_h/2"/>
                                          </p:val>
                                        </p:tav>
                                        <p:tav tm="100000">
                                          <p:val>
                                            <p:strVal val="#ppt_y"/>
                                          </p:val>
                                        </p:tav>
                                      </p:tavLst>
                                    </p:anim>
                                  </p:childTnLst>
                                </p:cTn>
                              </p:par>
                            </p:childTnLst>
                          </p:cTn>
                        </p:par>
                        <p:par>
                          <p:cTn id="27" fill="hold">
                            <p:stCondLst>
                              <p:cond delay="500"/>
                            </p:stCondLst>
                            <p:childTnLst>
                              <p:par>
                                <p:cTn id="28" presetID="2" presetClass="entr" presetSubtype="4" fill="hold" grpId="0" nodeType="afterEffect">
                                  <p:stCondLst>
                                    <p:cond delay="0"/>
                                  </p:stCondLst>
                                  <p:childTnLst>
                                    <p:set>
                                      <p:cBhvr>
                                        <p:cTn id="29" dur="1" fill="hold">
                                          <p:stCondLst>
                                            <p:cond delay="0"/>
                                          </p:stCondLst>
                                        </p:cTn>
                                        <p:tgtEl>
                                          <p:spTgt spid="71"/>
                                        </p:tgtEl>
                                        <p:attrNameLst>
                                          <p:attrName>style.visibility</p:attrName>
                                        </p:attrNameLst>
                                      </p:cBhvr>
                                      <p:to>
                                        <p:strVal val="visible"/>
                                      </p:to>
                                    </p:set>
                                    <p:anim calcmode="lin" valueType="num">
                                      <p:cBhvr additive="base">
                                        <p:cTn id="30" dur="500" fill="hold"/>
                                        <p:tgtEl>
                                          <p:spTgt spid="71"/>
                                        </p:tgtEl>
                                        <p:attrNameLst>
                                          <p:attrName>ppt_x</p:attrName>
                                        </p:attrNameLst>
                                      </p:cBhvr>
                                      <p:tavLst>
                                        <p:tav tm="0">
                                          <p:val>
                                            <p:strVal val="#ppt_x"/>
                                          </p:val>
                                        </p:tav>
                                        <p:tav tm="100000">
                                          <p:val>
                                            <p:strVal val="#ppt_x"/>
                                          </p:val>
                                        </p:tav>
                                      </p:tavLst>
                                    </p:anim>
                                    <p:anim calcmode="lin" valueType="num">
                                      <p:cBhvr additive="base">
                                        <p:cTn id="31" dur="500" fill="hold"/>
                                        <p:tgtEl>
                                          <p:spTgt spid="71"/>
                                        </p:tgtEl>
                                        <p:attrNameLst>
                                          <p:attrName>ppt_y</p:attrName>
                                        </p:attrNameLst>
                                      </p:cBhvr>
                                      <p:tavLst>
                                        <p:tav tm="0">
                                          <p:val>
                                            <p:strVal val="1+#ppt_h/2"/>
                                          </p:val>
                                        </p:tav>
                                        <p:tav tm="100000">
                                          <p:val>
                                            <p:strVal val="#ppt_y"/>
                                          </p:val>
                                        </p:tav>
                                      </p:tavLst>
                                    </p:anim>
                                  </p:childTnLst>
                                </p:cTn>
                              </p:par>
                            </p:childTnLst>
                          </p:cTn>
                        </p:par>
                        <p:par>
                          <p:cTn id="32" fill="hold">
                            <p:stCondLst>
                              <p:cond delay="1000"/>
                            </p:stCondLst>
                            <p:childTnLst>
                              <p:par>
                                <p:cTn id="33" presetID="2" presetClass="entr" presetSubtype="4" fill="hold" grpId="0" nodeType="afterEffect">
                                  <p:stCondLst>
                                    <p:cond delay="0"/>
                                  </p:stCondLst>
                                  <p:childTnLst>
                                    <p:set>
                                      <p:cBhvr>
                                        <p:cTn id="34" dur="1" fill="hold">
                                          <p:stCondLst>
                                            <p:cond delay="0"/>
                                          </p:stCondLst>
                                        </p:cTn>
                                        <p:tgtEl>
                                          <p:spTgt spid="72"/>
                                        </p:tgtEl>
                                        <p:attrNameLst>
                                          <p:attrName>style.visibility</p:attrName>
                                        </p:attrNameLst>
                                      </p:cBhvr>
                                      <p:to>
                                        <p:strVal val="visible"/>
                                      </p:to>
                                    </p:set>
                                    <p:anim calcmode="lin" valueType="num">
                                      <p:cBhvr additive="base">
                                        <p:cTn id="35" dur="500" fill="hold"/>
                                        <p:tgtEl>
                                          <p:spTgt spid="72"/>
                                        </p:tgtEl>
                                        <p:attrNameLst>
                                          <p:attrName>ppt_x</p:attrName>
                                        </p:attrNameLst>
                                      </p:cBhvr>
                                      <p:tavLst>
                                        <p:tav tm="0">
                                          <p:val>
                                            <p:strVal val="#ppt_x"/>
                                          </p:val>
                                        </p:tav>
                                        <p:tav tm="100000">
                                          <p:val>
                                            <p:strVal val="#ppt_x"/>
                                          </p:val>
                                        </p:tav>
                                      </p:tavLst>
                                    </p:anim>
                                    <p:anim calcmode="lin" valueType="num">
                                      <p:cBhvr additive="base">
                                        <p:cTn id="36" dur="500" fill="hold"/>
                                        <p:tgtEl>
                                          <p:spTgt spid="72"/>
                                        </p:tgtEl>
                                        <p:attrNameLst>
                                          <p:attrName>ppt_y</p:attrName>
                                        </p:attrNameLst>
                                      </p:cBhvr>
                                      <p:tavLst>
                                        <p:tav tm="0">
                                          <p:val>
                                            <p:strVal val="1+#ppt_h/2"/>
                                          </p:val>
                                        </p:tav>
                                        <p:tav tm="100000">
                                          <p:val>
                                            <p:strVal val="#ppt_y"/>
                                          </p:val>
                                        </p:tav>
                                      </p:tavLst>
                                    </p:anim>
                                  </p:childTnLst>
                                </p:cTn>
                              </p:par>
                            </p:childTnLst>
                          </p:cTn>
                        </p:par>
                        <p:par>
                          <p:cTn id="37" fill="hold">
                            <p:stCondLst>
                              <p:cond delay="1500"/>
                            </p:stCondLst>
                            <p:childTnLst>
                              <p:par>
                                <p:cTn id="38" presetID="2" presetClass="entr" presetSubtype="4" fill="hold" grpId="0" nodeType="afterEffect">
                                  <p:stCondLst>
                                    <p:cond delay="0"/>
                                  </p:stCondLst>
                                  <p:childTnLst>
                                    <p:set>
                                      <p:cBhvr>
                                        <p:cTn id="39" dur="1" fill="hold">
                                          <p:stCondLst>
                                            <p:cond delay="0"/>
                                          </p:stCondLst>
                                        </p:cTn>
                                        <p:tgtEl>
                                          <p:spTgt spid="73"/>
                                        </p:tgtEl>
                                        <p:attrNameLst>
                                          <p:attrName>style.visibility</p:attrName>
                                        </p:attrNameLst>
                                      </p:cBhvr>
                                      <p:to>
                                        <p:strVal val="visible"/>
                                      </p:to>
                                    </p:set>
                                    <p:anim calcmode="lin" valueType="num">
                                      <p:cBhvr additive="base">
                                        <p:cTn id="40" dur="500" fill="hold"/>
                                        <p:tgtEl>
                                          <p:spTgt spid="73"/>
                                        </p:tgtEl>
                                        <p:attrNameLst>
                                          <p:attrName>ppt_x</p:attrName>
                                        </p:attrNameLst>
                                      </p:cBhvr>
                                      <p:tavLst>
                                        <p:tav tm="0">
                                          <p:val>
                                            <p:strVal val="#ppt_x"/>
                                          </p:val>
                                        </p:tav>
                                        <p:tav tm="100000">
                                          <p:val>
                                            <p:strVal val="#ppt_x"/>
                                          </p:val>
                                        </p:tav>
                                      </p:tavLst>
                                    </p:anim>
                                    <p:anim calcmode="lin" valueType="num">
                                      <p:cBhvr additive="base">
                                        <p:cTn id="41" dur="500" fill="hold"/>
                                        <p:tgtEl>
                                          <p:spTgt spid="73"/>
                                        </p:tgtEl>
                                        <p:attrNameLst>
                                          <p:attrName>ppt_y</p:attrName>
                                        </p:attrNameLst>
                                      </p:cBhvr>
                                      <p:tavLst>
                                        <p:tav tm="0">
                                          <p:val>
                                            <p:strVal val="1+#ppt_h/2"/>
                                          </p:val>
                                        </p:tav>
                                        <p:tav tm="100000">
                                          <p:val>
                                            <p:strVal val="#ppt_y"/>
                                          </p:val>
                                        </p:tav>
                                      </p:tavLst>
                                    </p:anim>
                                  </p:childTnLst>
                                </p:cTn>
                              </p:par>
                            </p:childTnLst>
                          </p:cTn>
                        </p:par>
                        <p:par>
                          <p:cTn id="42" fill="hold">
                            <p:stCondLst>
                              <p:cond delay="2000"/>
                            </p:stCondLst>
                            <p:childTnLst>
                              <p:par>
                                <p:cTn id="43" presetID="2" presetClass="entr" presetSubtype="4" fill="hold" grpId="0" nodeType="afterEffect">
                                  <p:stCondLst>
                                    <p:cond delay="0"/>
                                  </p:stCondLst>
                                  <p:childTnLst>
                                    <p:set>
                                      <p:cBhvr>
                                        <p:cTn id="44" dur="1" fill="hold">
                                          <p:stCondLst>
                                            <p:cond delay="0"/>
                                          </p:stCondLst>
                                        </p:cTn>
                                        <p:tgtEl>
                                          <p:spTgt spid="74"/>
                                        </p:tgtEl>
                                        <p:attrNameLst>
                                          <p:attrName>style.visibility</p:attrName>
                                        </p:attrNameLst>
                                      </p:cBhvr>
                                      <p:to>
                                        <p:strVal val="visible"/>
                                      </p:to>
                                    </p:set>
                                    <p:anim calcmode="lin" valueType="num">
                                      <p:cBhvr additive="base">
                                        <p:cTn id="45" dur="500" fill="hold"/>
                                        <p:tgtEl>
                                          <p:spTgt spid="74"/>
                                        </p:tgtEl>
                                        <p:attrNameLst>
                                          <p:attrName>ppt_x</p:attrName>
                                        </p:attrNameLst>
                                      </p:cBhvr>
                                      <p:tavLst>
                                        <p:tav tm="0">
                                          <p:val>
                                            <p:strVal val="#ppt_x"/>
                                          </p:val>
                                        </p:tav>
                                        <p:tav tm="100000">
                                          <p:val>
                                            <p:strVal val="#ppt_x"/>
                                          </p:val>
                                        </p:tav>
                                      </p:tavLst>
                                    </p:anim>
                                    <p:anim calcmode="lin" valueType="num">
                                      <p:cBhvr additive="base">
                                        <p:cTn id="46" dur="500" fill="hold"/>
                                        <p:tgtEl>
                                          <p:spTgt spid="74"/>
                                        </p:tgtEl>
                                        <p:attrNameLst>
                                          <p:attrName>ppt_y</p:attrName>
                                        </p:attrNameLst>
                                      </p:cBhvr>
                                      <p:tavLst>
                                        <p:tav tm="0">
                                          <p:val>
                                            <p:strVal val="1+#ppt_h/2"/>
                                          </p:val>
                                        </p:tav>
                                        <p:tav tm="100000">
                                          <p:val>
                                            <p:strVal val="#ppt_y"/>
                                          </p:val>
                                        </p:tav>
                                      </p:tavLst>
                                    </p:anim>
                                  </p:childTnLst>
                                </p:cTn>
                              </p:par>
                            </p:childTnLst>
                          </p:cTn>
                        </p:par>
                        <p:par>
                          <p:cTn id="47" fill="hold">
                            <p:stCondLst>
                              <p:cond delay="2500"/>
                            </p:stCondLst>
                            <p:childTnLst>
                              <p:par>
                                <p:cTn id="48" presetID="2" presetClass="entr" presetSubtype="4" fill="hold" grpId="0" nodeType="afterEffect">
                                  <p:stCondLst>
                                    <p:cond delay="0"/>
                                  </p:stCondLst>
                                  <p:childTnLst>
                                    <p:set>
                                      <p:cBhvr>
                                        <p:cTn id="49" dur="1" fill="hold">
                                          <p:stCondLst>
                                            <p:cond delay="0"/>
                                          </p:stCondLst>
                                        </p:cTn>
                                        <p:tgtEl>
                                          <p:spTgt spid="75"/>
                                        </p:tgtEl>
                                        <p:attrNameLst>
                                          <p:attrName>style.visibility</p:attrName>
                                        </p:attrNameLst>
                                      </p:cBhvr>
                                      <p:to>
                                        <p:strVal val="visible"/>
                                      </p:to>
                                    </p:set>
                                    <p:anim calcmode="lin" valueType="num">
                                      <p:cBhvr additive="base">
                                        <p:cTn id="50" dur="500" fill="hold"/>
                                        <p:tgtEl>
                                          <p:spTgt spid="75"/>
                                        </p:tgtEl>
                                        <p:attrNameLst>
                                          <p:attrName>ppt_x</p:attrName>
                                        </p:attrNameLst>
                                      </p:cBhvr>
                                      <p:tavLst>
                                        <p:tav tm="0">
                                          <p:val>
                                            <p:strVal val="#ppt_x"/>
                                          </p:val>
                                        </p:tav>
                                        <p:tav tm="100000">
                                          <p:val>
                                            <p:strVal val="#ppt_x"/>
                                          </p:val>
                                        </p:tav>
                                      </p:tavLst>
                                    </p:anim>
                                    <p:anim calcmode="lin" valueType="num">
                                      <p:cBhvr additive="base">
                                        <p:cTn id="51" dur="500" fill="hold"/>
                                        <p:tgtEl>
                                          <p:spTgt spid="75"/>
                                        </p:tgtEl>
                                        <p:attrNameLst>
                                          <p:attrName>ppt_y</p:attrName>
                                        </p:attrNameLst>
                                      </p:cBhvr>
                                      <p:tavLst>
                                        <p:tav tm="0">
                                          <p:val>
                                            <p:strVal val="1+#ppt_h/2"/>
                                          </p:val>
                                        </p:tav>
                                        <p:tav tm="100000">
                                          <p:val>
                                            <p:strVal val="#ppt_y"/>
                                          </p:val>
                                        </p:tav>
                                      </p:tavLst>
                                    </p:anim>
                                  </p:childTnLst>
                                </p:cTn>
                              </p:par>
                            </p:childTnLst>
                          </p:cTn>
                        </p:par>
                        <p:par>
                          <p:cTn id="52" fill="hold">
                            <p:stCondLst>
                              <p:cond delay="3000"/>
                            </p:stCondLst>
                            <p:childTnLst>
                              <p:par>
                                <p:cTn id="53" presetID="2" presetClass="entr" presetSubtype="4" fill="hold" grpId="0" nodeType="afterEffect">
                                  <p:stCondLst>
                                    <p:cond delay="0"/>
                                  </p:stCondLst>
                                  <p:childTnLst>
                                    <p:set>
                                      <p:cBhvr>
                                        <p:cTn id="54" dur="1" fill="hold">
                                          <p:stCondLst>
                                            <p:cond delay="0"/>
                                          </p:stCondLst>
                                        </p:cTn>
                                        <p:tgtEl>
                                          <p:spTgt spid="76"/>
                                        </p:tgtEl>
                                        <p:attrNameLst>
                                          <p:attrName>style.visibility</p:attrName>
                                        </p:attrNameLst>
                                      </p:cBhvr>
                                      <p:to>
                                        <p:strVal val="visible"/>
                                      </p:to>
                                    </p:set>
                                    <p:anim calcmode="lin" valueType="num">
                                      <p:cBhvr additive="base">
                                        <p:cTn id="55" dur="500" fill="hold"/>
                                        <p:tgtEl>
                                          <p:spTgt spid="76"/>
                                        </p:tgtEl>
                                        <p:attrNameLst>
                                          <p:attrName>ppt_x</p:attrName>
                                        </p:attrNameLst>
                                      </p:cBhvr>
                                      <p:tavLst>
                                        <p:tav tm="0">
                                          <p:val>
                                            <p:strVal val="#ppt_x"/>
                                          </p:val>
                                        </p:tav>
                                        <p:tav tm="100000">
                                          <p:val>
                                            <p:strVal val="#ppt_x"/>
                                          </p:val>
                                        </p:tav>
                                      </p:tavLst>
                                    </p:anim>
                                    <p:anim calcmode="lin" valueType="num">
                                      <p:cBhvr additive="base">
                                        <p:cTn id="56" dur="500" fill="hold"/>
                                        <p:tgtEl>
                                          <p:spTgt spid="76"/>
                                        </p:tgtEl>
                                        <p:attrNameLst>
                                          <p:attrName>ppt_y</p:attrName>
                                        </p:attrNameLst>
                                      </p:cBhvr>
                                      <p:tavLst>
                                        <p:tav tm="0">
                                          <p:val>
                                            <p:strVal val="1+#ppt_h/2"/>
                                          </p:val>
                                        </p:tav>
                                        <p:tav tm="100000">
                                          <p:val>
                                            <p:strVal val="#ppt_y"/>
                                          </p:val>
                                        </p:tav>
                                      </p:tavLst>
                                    </p:anim>
                                  </p:childTnLst>
                                </p:cTn>
                              </p:par>
                            </p:childTnLst>
                          </p:cTn>
                        </p:par>
                        <p:par>
                          <p:cTn id="57" fill="hold">
                            <p:stCondLst>
                              <p:cond delay="3500"/>
                            </p:stCondLst>
                            <p:childTnLst>
                              <p:par>
                                <p:cTn id="58" presetID="2" presetClass="entr" presetSubtype="4" fill="hold" grpId="0" nodeType="afterEffect">
                                  <p:stCondLst>
                                    <p:cond delay="0"/>
                                  </p:stCondLst>
                                  <p:childTnLst>
                                    <p:set>
                                      <p:cBhvr>
                                        <p:cTn id="59" dur="1" fill="hold">
                                          <p:stCondLst>
                                            <p:cond delay="0"/>
                                          </p:stCondLst>
                                        </p:cTn>
                                        <p:tgtEl>
                                          <p:spTgt spid="77"/>
                                        </p:tgtEl>
                                        <p:attrNameLst>
                                          <p:attrName>style.visibility</p:attrName>
                                        </p:attrNameLst>
                                      </p:cBhvr>
                                      <p:to>
                                        <p:strVal val="visible"/>
                                      </p:to>
                                    </p:set>
                                    <p:anim calcmode="lin" valueType="num">
                                      <p:cBhvr additive="base">
                                        <p:cTn id="60" dur="500" fill="hold"/>
                                        <p:tgtEl>
                                          <p:spTgt spid="77"/>
                                        </p:tgtEl>
                                        <p:attrNameLst>
                                          <p:attrName>ppt_x</p:attrName>
                                        </p:attrNameLst>
                                      </p:cBhvr>
                                      <p:tavLst>
                                        <p:tav tm="0">
                                          <p:val>
                                            <p:strVal val="#ppt_x"/>
                                          </p:val>
                                        </p:tav>
                                        <p:tav tm="100000">
                                          <p:val>
                                            <p:strVal val="#ppt_x"/>
                                          </p:val>
                                        </p:tav>
                                      </p:tavLst>
                                    </p:anim>
                                    <p:anim calcmode="lin" valueType="num">
                                      <p:cBhvr additive="base">
                                        <p:cTn id="61" dur="500" fill="hold"/>
                                        <p:tgtEl>
                                          <p:spTgt spid="77"/>
                                        </p:tgtEl>
                                        <p:attrNameLst>
                                          <p:attrName>ppt_y</p:attrName>
                                        </p:attrNameLst>
                                      </p:cBhvr>
                                      <p:tavLst>
                                        <p:tav tm="0">
                                          <p:val>
                                            <p:strVal val="1+#ppt_h/2"/>
                                          </p:val>
                                        </p:tav>
                                        <p:tav tm="100000">
                                          <p:val>
                                            <p:strVal val="#ppt_y"/>
                                          </p:val>
                                        </p:tav>
                                      </p:tavLst>
                                    </p:anim>
                                  </p:childTnLst>
                                </p:cTn>
                              </p:par>
                            </p:childTnLst>
                          </p:cTn>
                        </p:par>
                        <p:par>
                          <p:cTn id="62" fill="hold">
                            <p:stCondLst>
                              <p:cond delay="4000"/>
                            </p:stCondLst>
                            <p:childTnLst>
                              <p:par>
                                <p:cTn id="63" presetID="2" presetClass="entr" presetSubtype="4" fill="hold" grpId="0" nodeType="afterEffect">
                                  <p:stCondLst>
                                    <p:cond delay="0"/>
                                  </p:stCondLst>
                                  <p:childTnLst>
                                    <p:set>
                                      <p:cBhvr>
                                        <p:cTn id="64" dur="1" fill="hold">
                                          <p:stCondLst>
                                            <p:cond delay="0"/>
                                          </p:stCondLst>
                                        </p:cTn>
                                        <p:tgtEl>
                                          <p:spTgt spid="78"/>
                                        </p:tgtEl>
                                        <p:attrNameLst>
                                          <p:attrName>style.visibility</p:attrName>
                                        </p:attrNameLst>
                                      </p:cBhvr>
                                      <p:to>
                                        <p:strVal val="visible"/>
                                      </p:to>
                                    </p:set>
                                    <p:anim calcmode="lin" valueType="num">
                                      <p:cBhvr additive="base">
                                        <p:cTn id="65" dur="500" fill="hold"/>
                                        <p:tgtEl>
                                          <p:spTgt spid="78"/>
                                        </p:tgtEl>
                                        <p:attrNameLst>
                                          <p:attrName>ppt_x</p:attrName>
                                        </p:attrNameLst>
                                      </p:cBhvr>
                                      <p:tavLst>
                                        <p:tav tm="0">
                                          <p:val>
                                            <p:strVal val="#ppt_x"/>
                                          </p:val>
                                        </p:tav>
                                        <p:tav tm="100000">
                                          <p:val>
                                            <p:strVal val="#ppt_x"/>
                                          </p:val>
                                        </p:tav>
                                      </p:tavLst>
                                    </p:anim>
                                    <p:anim calcmode="lin" valueType="num">
                                      <p:cBhvr additive="base">
                                        <p:cTn id="66" dur="500" fill="hold"/>
                                        <p:tgtEl>
                                          <p:spTgt spid="78"/>
                                        </p:tgtEl>
                                        <p:attrNameLst>
                                          <p:attrName>ppt_y</p:attrName>
                                        </p:attrNameLst>
                                      </p:cBhvr>
                                      <p:tavLst>
                                        <p:tav tm="0">
                                          <p:val>
                                            <p:strVal val="1+#ppt_h/2"/>
                                          </p:val>
                                        </p:tav>
                                        <p:tav tm="100000">
                                          <p:val>
                                            <p:strVal val="#ppt_y"/>
                                          </p:val>
                                        </p:tav>
                                      </p:tavLst>
                                    </p:anim>
                                  </p:childTnLst>
                                </p:cTn>
                              </p:par>
                            </p:childTnLst>
                          </p:cTn>
                        </p:par>
                        <p:par>
                          <p:cTn id="67" fill="hold">
                            <p:stCondLst>
                              <p:cond delay="4500"/>
                            </p:stCondLst>
                            <p:childTnLst>
                              <p:par>
                                <p:cTn id="68" presetID="2" presetClass="entr" presetSubtype="4" fill="hold" grpId="0" nodeType="afterEffect">
                                  <p:stCondLst>
                                    <p:cond delay="0"/>
                                  </p:stCondLst>
                                  <p:childTnLst>
                                    <p:set>
                                      <p:cBhvr>
                                        <p:cTn id="69" dur="1" fill="hold">
                                          <p:stCondLst>
                                            <p:cond delay="0"/>
                                          </p:stCondLst>
                                        </p:cTn>
                                        <p:tgtEl>
                                          <p:spTgt spid="79"/>
                                        </p:tgtEl>
                                        <p:attrNameLst>
                                          <p:attrName>style.visibility</p:attrName>
                                        </p:attrNameLst>
                                      </p:cBhvr>
                                      <p:to>
                                        <p:strVal val="visible"/>
                                      </p:to>
                                    </p:set>
                                    <p:anim calcmode="lin" valueType="num">
                                      <p:cBhvr additive="base">
                                        <p:cTn id="70" dur="500" fill="hold"/>
                                        <p:tgtEl>
                                          <p:spTgt spid="79"/>
                                        </p:tgtEl>
                                        <p:attrNameLst>
                                          <p:attrName>ppt_x</p:attrName>
                                        </p:attrNameLst>
                                      </p:cBhvr>
                                      <p:tavLst>
                                        <p:tav tm="0">
                                          <p:val>
                                            <p:strVal val="#ppt_x"/>
                                          </p:val>
                                        </p:tav>
                                        <p:tav tm="100000">
                                          <p:val>
                                            <p:strVal val="#ppt_x"/>
                                          </p:val>
                                        </p:tav>
                                      </p:tavLst>
                                    </p:anim>
                                    <p:anim calcmode="lin" valueType="num">
                                      <p:cBhvr additive="base">
                                        <p:cTn id="71" dur="500" fill="hold"/>
                                        <p:tgtEl>
                                          <p:spTgt spid="79"/>
                                        </p:tgtEl>
                                        <p:attrNameLst>
                                          <p:attrName>ppt_y</p:attrName>
                                        </p:attrNameLst>
                                      </p:cBhvr>
                                      <p:tavLst>
                                        <p:tav tm="0">
                                          <p:val>
                                            <p:strVal val="1+#ppt_h/2"/>
                                          </p:val>
                                        </p:tav>
                                        <p:tav tm="100000">
                                          <p:val>
                                            <p:strVal val="#ppt_y"/>
                                          </p:val>
                                        </p:tav>
                                      </p:tavLst>
                                    </p:anim>
                                  </p:childTnLst>
                                </p:cTn>
                              </p:par>
                            </p:childTnLst>
                          </p:cTn>
                        </p:par>
                        <p:par>
                          <p:cTn id="72" fill="hold">
                            <p:stCondLst>
                              <p:cond delay="5000"/>
                            </p:stCondLst>
                            <p:childTnLst>
                              <p:par>
                                <p:cTn id="73" presetID="2" presetClass="entr" presetSubtype="4" fill="hold" grpId="0" nodeType="afterEffect">
                                  <p:stCondLst>
                                    <p:cond delay="0"/>
                                  </p:stCondLst>
                                  <p:childTnLst>
                                    <p:set>
                                      <p:cBhvr>
                                        <p:cTn id="74" dur="1" fill="hold">
                                          <p:stCondLst>
                                            <p:cond delay="0"/>
                                          </p:stCondLst>
                                        </p:cTn>
                                        <p:tgtEl>
                                          <p:spTgt spid="80"/>
                                        </p:tgtEl>
                                        <p:attrNameLst>
                                          <p:attrName>style.visibility</p:attrName>
                                        </p:attrNameLst>
                                      </p:cBhvr>
                                      <p:to>
                                        <p:strVal val="visible"/>
                                      </p:to>
                                    </p:set>
                                    <p:anim calcmode="lin" valueType="num">
                                      <p:cBhvr additive="base">
                                        <p:cTn id="75" dur="500" fill="hold"/>
                                        <p:tgtEl>
                                          <p:spTgt spid="80"/>
                                        </p:tgtEl>
                                        <p:attrNameLst>
                                          <p:attrName>ppt_x</p:attrName>
                                        </p:attrNameLst>
                                      </p:cBhvr>
                                      <p:tavLst>
                                        <p:tav tm="0">
                                          <p:val>
                                            <p:strVal val="#ppt_x"/>
                                          </p:val>
                                        </p:tav>
                                        <p:tav tm="100000">
                                          <p:val>
                                            <p:strVal val="#ppt_x"/>
                                          </p:val>
                                        </p:tav>
                                      </p:tavLst>
                                    </p:anim>
                                    <p:anim calcmode="lin" valueType="num">
                                      <p:cBhvr additive="base">
                                        <p:cTn id="76" dur="500" fill="hold"/>
                                        <p:tgtEl>
                                          <p:spTgt spid="80"/>
                                        </p:tgtEl>
                                        <p:attrNameLst>
                                          <p:attrName>ppt_y</p:attrName>
                                        </p:attrNameLst>
                                      </p:cBhvr>
                                      <p:tavLst>
                                        <p:tav tm="0">
                                          <p:val>
                                            <p:strVal val="1+#ppt_h/2"/>
                                          </p:val>
                                        </p:tav>
                                        <p:tav tm="100000">
                                          <p:val>
                                            <p:strVal val="#ppt_y"/>
                                          </p:val>
                                        </p:tav>
                                      </p:tavLst>
                                    </p:anim>
                                  </p:childTnLst>
                                </p:cTn>
                              </p:par>
                            </p:childTnLst>
                          </p:cTn>
                        </p:par>
                        <p:par>
                          <p:cTn id="77" fill="hold">
                            <p:stCondLst>
                              <p:cond delay="5500"/>
                            </p:stCondLst>
                            <p:childTnLst>
                              <p:par>
                                <p:cTn id="78" presetID="2" presetClass="entr" presetSubtype="4" fill="hold" grpId="0" nodeType="afterEffect">
                                  <p:stCondLst>
                                    <p:cond delay="0"/>
                                  </p:stCondLst>
                                  <p:childTnLst>
                                    <p:set>
                                      <p:cBhvr>
                                        <p:cTn id="79" dur="1" fill="hold">
                                          <p:stCondLst>
                                            <p:cond delay="0"/>
                                          </p:stCondLst>
                                        </p:cTn>
                                        <p:tgtEl>
                                          <p:spTgt spid="81"/>
                                        </p:tgtEl>
                                        <p:attrNameLst>
                                          <p:attrName>style.visibility</p:attrName>
                                        </p:attrNameLst>
                                      </p:cBhvr>
                                      <p:to>
                                        <p:strVal val="visible"/>
                                      </p:to>
                                    </p:set>
                                    <p:anim calcmode="lin" valueType="num">
                                      <p:cBhvr additive="base">
                                        <p:cTn id="80" dur="500" fill="hold"/>
                                        <p:tgtEl>
                                          <p:spTgt spid="81"/>
                                        </p:tgtEl>
                                        <p:attrNameLst>
                                          <p:attrName>ppt_x</p:attrName>
                                        </p:attrNameLst>
                                      </p:cBhvr>
                                      <p:tavLst>
                                        <p:tav tm="0">
                                          <p:val>
                                            <p:strVal val="#ppt_x"/>
                                          </p:val>
                                        </p:tav>
                                        <p:tav tm="100000">
                                          <p:val>
                                            <p:strVal val="#ppt_x"/>
                                          </p:val>
                                        </p:tav>
                                      </p:tavLst>
                                    </p:anim>
                                    <p:anim calcmode="lin" valueType="num">
                                      <p:cBhvr additive="base">
                                        <p:cTn id="81" dur="500" fill="hold"/>
                                        <p:tgtEl>
                                          <p:spTgt spid="81"/>
                                        </p:tgtEl>
                                        <p:attrNameLst>
                                          <p:attrName>ppt_y</p:attrName>
                                        </p:attrNameLst>
                                      </p:cBhvr>
                                      <p:tavLst>
                                        <p:tav tm="0">
                                          <p:val>
                                            <p:strVal val="1+#ppt_h/2"/>
                                          </p:val>
                                        </p:tav>
                                        <p:tav tm="100000">
                                          <p:val>
                                            <p:strVal val="#ppt_y"/>
                                          </p:val>
                                        </p:tav>
                                      </p:tavLst>
                                    </p:anim>
                                  </p:childTnLst>
                                </p:cTn>
                              </p:par>
                            </p:childTnLst>
                          </p:cTn>
                        </p:par>
                        <p:par>
                          <p:cTn id="82" fill="hold">
                            <p:stCondLst>
                              <p:cond delay="6000"/>
                            </p:stCondLst>
                            <p:childTnLst>
                              <p:par>
                                <p:cTn id="83" presetID="2" presetClass="entr" presetSubtype="4" fill="hold" grpId="0" nodeType="afterEffect">
                                  <p:stCondLst>
                                    <p:cond delay="0"/>
                                  </p:stCondLst>
                                  <p:childTnLst>
                                    <p:set>
                                      <p:cBhvr>
                                        <p:cTn id="84" dur="1" fill="hold">
                                          <p:stCondLst>
                                            <p:cond delay="0"/>
                                          </p:stCondLst>
                                        </p:cTn>
                                        <p:tgtEl>
                                          <p:spTgt spid="82"/>
                                        </p:tgtEl>
                                        <p:attrNameLst>
                                          <p:attrName>style.visibility</p:attrName>
                                        </p:attrNameLst>
                                      </p:cBhvr>
                                      <p:to>
                                        <p:strVal val="visible"/>
                                      </p:to>
                                    </p:set>
                                    <p:anim calcmode="lin" valueType="num">
                                      <p:cBhvr additive="base">
                                        <p:cTn id="85" dur="500" fill="hold"/>
                                        <p:tgtEl>
                                          <p:spTgt spid="82"/>
                                        </p:tgtEl>
                                        <p:attrNameLst>
                                          <p:attrName>ppt_x</p:attrName>
                                        </p:attrNameLst>
                                      </p:cBhvr>
                                      <p:tavLst>
                                        <p:tav tm="0">
                                          <p:val>
                                            <p:strVal val="#ppt_x"/>
                                          </p:val>
                                        </p:tav>
                                        <p:tav tm="100000">
                                          <p:val>
                                            <p:strVal val="#ppt_x"/>
                                          </p:val>
                                        </p:tav>
                                      </p:tavLst>
                                    </p:anim>
                                    <p:anim calcmode="lin" valueType="num">
                                      <p:cBhvr additive="base">
                                        <p:cTn id="86" dur="500" fill="hold"/>
                                        <p:tgtEl>
                                          <p:spTgt spid="82"/>
                                        </p:tgtEl>
                                        <p:attrNameLst>
                                          <p:attrName>ppt_y</p:attrName>
                                        </p:attrNameLst>
                                      </p:cBhvr>
                                      <p:tavLst>
                                        <p:tav tm="0">
                                          <p:val>
                                            <p:strVal val="1+#ppt_h/2"/>
                                          </p:val>
                                        </p:tav>
                                        <p:tav tm="100000">
                                          <p:val>
                                            <p:strVal val="#ppt_y"/>
                                          </p:val>
                                        </p:tav>
                                      </p:tavLst>
                                    </p:anim>
                                  </p:childTnLst>
                                </p:cTn>
                              </p:par>
                            </p:childTnLst>
                          </p:cTn>
                        </p:par>
                        <p:par>
                          <p:cTn id="87" fill="hold">
                            <p:stCondLst>
                              <p:cond delay="6500"/>
                            </p:stCondLst>
                            <p:childTnLst>
                              <p:par>
                                <p:cTn id="88" presetID="2" presetClass="entr" presetSubtype="4" fill="hold" grpId="0" nodeType="afterEffect">
                                  <p:stCondLst>
                                    <p:cond delay="0"/>
                                  </p:stCondLst>
                                  <p:childTnLst>
                                    <p:set>
                                      <p:cBhvr>
                                        <p:cTn id="89" dur="1" fill="hold">
                                          <p:stCondLst>
                                            <p:cond delay="0"/>
                                          </p:stCondLst>
                                        </p:cTn>
                                        <p:tgtEl>
                                          <p:spTgt spid="83"/>
                                        </p:tgtEl>
                                        <p:attrNameLst>
                                          <p:attrName>style.visibility</p:attrName>
                                        </p:attrNameLst>
                                      </p:cBhvr>
                                      <p:to>
                                        <p:strVal val="visible"/>
                                      </p:to>
                                    </p:set>
                                    <p:anim calcmode="lin" valueType="num">
                                      <p:cBhvr additive="base">
                                        <p:cTn id="90" dur="500" fill="hold"/>
                                        <p:tgtEl>
                                          <p:spTgt spid="83"/>
                                        </p:tgtEl>
                                        <p:attrNameLst>
                                          <p:attrName>ppt_x</p:attrName>
                                        </p:attrNameLst>
                                      </p:cBhvr>
                                      <p:tavLst>
                                        <p:tav tm="0">
                                          <p:val>
                                            <p:strVal val="#ppt_x"/>
                                          </p:val>
                                        </p:tav>
                                        <p:tav tm="100000">
                                          <p:val>
                                            <p:strVal val="#ppt_x"/>
                                          </p:val>
                                        </p:tav>
                                      </p:tavLst>
                                    </p:anim>
                                    <p:anim calcmode="lin" valueType="num">
                                      <p:cBhvr additive="base">
                                        <p:cTn id="91" dur="500" fill="hold"/>
                                        <p:tgtEl>
                                          <p:spTgt spid="83"/>
                                        </p:tgtEl>
                                        <p:attrNameLst>
                                          <p:attrName>ppt_y</p:attrName>
                                        </p:attrNameLst>
                                      </p:cBhvr>
                                      <p:tavLst>
                                        <p:tav tm="0">
                                          <p:val>
                                            <p:strVal val="1+#ppt_h/2"/>
                                          </p:val>
                                        </p:tav>
                                        <p:tav tm="100000">
                                          <p:val>
                                            <p:strVal val="#ppt_y"/>
                                          </p:val>
                                        </p:tav>
                                      </p:tavLst>
                                    </p:anim>
                                  </p:childTnLst>
                                </p:cTn>
                              </p:par>
                            </p:childTnLst>
                          </p:cTn>
                        </p:par>
                        <p:par>
                          <p:cTn id="92" fill="hold">
                            <p:stCondLst>
                              <p:cond delay="7000"/>
                            </p:stCondLst>
                            <p:childTnLst>
                              <p:par>
                                <p:cTn id="93" presetID="2" presetClass="entr" presetSubtype="4" fill="hold" grpId="0" nodeType="afterEffect">
                                  <p:stCondLst>
                                    <p:cond delay="0"/>
                                  </p:stCondLst>
                                  <p:childTnLst>
                                    <p:set>
                                      <p:cBhvr>
                                        <p:cTn id="94" dur="1" fill="hold">
                                          <p:stCondLst>
                                            <p:cond delay="0"/>
                                          </p:stCondLst>
                                        </p:cTn>
                                        <p:tgtEl>
                                          <p:spTgt spid="84"/>
                                        </p:tgtEl>
                                        <p:attrNameLst>
                                          <p:attrName>style.visibility</p:attrName>
                                        </p:attrNameLst>
                                      </p:cBhvr>
                                      <p:to>
                                        <p:strVal val="visible"/>
                                      </p:to>
                                    </p:set>
                                    <p:anim calcmode="lin" valueType="num">
                                      <p:cBhvr additive="base">
                                        <p:cTn id="95" dur="500" fill="hold"/>
                                        <p:tgtEl>
                                          <p:spTgt spid="84"/>
                                        </p:tgtEl>
                                        <p:attrNameLst>
                                          <p:attrName>ppt_x</p:attrName>
                                        </p:attrNameLst>
                                      </p:cBhvr>
                                      <p:tavLst>
                                        <p:tav tm="0">
                                          <p:val>
                                            <p:strVal val="#ppt_x"/>
                                          </p:val>
                                        </p:tav>
                                        <p:tav tm="100000">
                                          <p:val>
                                            <p:strVal val="#ppt_x"/>
                                          </p:val>
                                        </p:tav>
                                      </p:tavLst>
                                    </p:anim>
                                    <p:anim calcmode="lin" valueType="num">
                                      <p:cBhvr additive="base">
                                        <p:cTn id="96" dur="500" fill="hold"/>
                                        <p:tgtEl>
                                          <p:spTgt spid="84"/>
                                        </p:tgtEl>
                                        <p:attrNameLst>
                                          <p:attrName>ppt_y</p:attrName>
                                        </p:attrNameLst>
                                      </p:cBhvr>
                                      <p:tavLst>
                                        <p:tav tm="0">
                                          <p:val>
                                            <p:strVal val="1+#ppt_h/2"/>
                                          </p:val>
                                        </p:tav>
                                        <p:tav tm="100000">
                                          <p:val>
                                            <p:strVal val="#ppt_y"/>
                                          </p:val>
                                        </p:tav>
                                      </p:tavLst>
                                    </p:anim>
                                  </p:childTnLst>
                                </p:cTn>
                              </p:par>
                            </p:childTnLst>
                          </p:cTn>
                        </p:par>
                        <p:par>
                          <p:cTn id="97" fill="hold">
                            <p:stCondLst>
                              <p:cond delay="7500"/>
                            </p:stCondLst>
                            <p:childTnLst>
                              <p:par>
                                <p:cTn id="98" presetID="2" presetClass="entr" presetSubtype="4" fill="hold" grpId="0" nodeType="afterEffect">
                                  <p:stCondLst>
                                    <p:cond delay="0"/>
                                  </p:stCondLst>
                                  <p:childTnLst>
                                    <p:set>
                                      <p:cBhvr>
                                        <p:cTn id="99" dur="1" fill="hold">
                                          <p:stCondLst>
                                            <p:cond delay="0"/>
                                          </p:stCondLst>
                                        </p:cTn>
                                        <p:tgtEl>
                                          <p:spTgt spid="85"/>
                                        </p:tgtEl>
                                        <p:attrNameLst>
                                          <p:attrName>style.visibility</p:attrName>
                                        </p:attrNameLst>
                                      </p:cBhvr>
                                      <p:to>
                                        <p:strVal val="visible"/>
                                      </p:to>
                                    </p:set>
                                    <p:anim calcmode="lin" valueType="num">
                                      <p:cBhvr additive="base">
                                        <p:cTn id="100" dur="500" fill="hold"/>
                                        <p:tgtEl>
                                          <p:spTgt spid="85"/>
                                        </p:tgtEl>
                                        <p:attrNameLst>
                                          <p:attrName>ppt_x</p:attrName>
                                        </p:attrNameLst>
                                      </p:cBhvr>
                                      <p:tavLst>
                                        <p:tav tm="0">
                                          <p:val>
                                            <p:strVal val="#ppt_x"/>
                                          </p:val>
                                        </p:tav>
                                        <p:tav tm="100000">
                                          <p:val>
                                            <p:strVal val="#ppt_x"/>
                                          </p:val>
                                        </p:tav>
                                      </p:tavLst>
                                    </p:anim>
                                    <p:anim calcmode="lin" valueType="num">
                                      <p:cBhvr additive="base">
                                        <p:cTn id="101" dur="500" fill="hold"/>
                                        <p:tgtEl>
                                          <p:spTgt spid="85"/>
                                        </p:tgtEl>
                                        <p:attrNameLst>
                                          <p:attrName>ppt_y</p:attrName>
                                        </p:attrNameLst>
                                      </p:cBhvr>
                                      <p:tavLst>
                                        <p:tav tm="0">
                                          <p:val>
                                            <p:strVal val="1+#ppt_h/2"/>
                                          </p:val>
                                        </p:tav>
                                        <p:tav tm="100000">
                                          <p:val>
                                            <p:strVal val="#ppt_y"/>
                                          </p:val>
                                        </p:tav>
                                      </p:tavLst>
                                    </p:anim>
                                  </p:childTnLst>
                                </p:cTn>
                              </p:par>
                            </p:childTnLst>
                          </p:cTn>
                        </p:par>
                        <p:par>
                          <p:cTn id="102" fill="hold">
                            <p:stCondLst>
                              <p:cond delay="8000"/>
                            </p:stCondLst>
                            <p:childTnLst>
                              <p:par>
                                <p:cTn id="103" presetID="2" presetClass="entr" presetSubtype="4" fill="hold" grpId="0" nodeType="afterEffect">
                                  <p:stCondLst>
                                    <p:cond delay="0"/>
                                  </p:stCondLst>
                                  <p:childTnLst>
                                    <p:set>
                                      <p:cBhvr>
                                        <p:cTn id="104" dur="1" fill="hold">
                                          <p:stCondLst>
                                            <p:cond delay="0"/>
                                          </p:stCondLst>
                                        </p:cTn>
                                        <p:tgtEl>
                                          <p:spTgt spid="86"/>
                                        </p:tgtEl>
                                        <p:attrNameLst>
                                          <p:attrName>style.visibility</p:attrName>
                                        </p:attrNameLst>
                                      </p:cBhvr>
                                      <p:to>
                                        <p:strVal val="visible"/>
                                      </p:to>
                                    </p:set>
                                    <p:anim calcmode="lin" valueType="num">
                                      <p:cBhvr additive="base">
                                        <p:cTn id="105" dur="500" fill="hold"/>
                                        <p:tgtEl>
                                          <p:spTgt spid="86"/>
                                        </p:tgtEl>
                                        <p:attrNameLst>
                                          <p:attrName>ppt_x</p:attrName>
                                        </p:attrNameLst>
                                      </p:cBhvr>
                                      <p:tavLst>
                                        <p:tav tm="0">
                                          <p:val>
                                            <p:strVal val="#ppt_x"/>
                                          </p:val>
                                        </p:tav>
                                        <p:tav tm="100000">
                                          <p:val>
                                            <p:strVal val="#ppt_x"/>
                                          </p:val>
                                        </p:tav>
                                      </p:tavLst>
                                    </p:anim>
                                    <p:anim calcmode="lin" valueType="num">
                                      <p:cBhvr additive="base">
                                        <p:cTn id="106" dur="500" fill="hold"/>
                                        <p:tgtEl>
                                          <p:spTgt spid="86"/>
                                        </p:tgtEl>
                                        <p:attrNameLst>
                                          <p:attrName>ppt_y</p:attrName>
                                        </p:attrNameLst>
                                      </p:cBhvr>
                                      <p:tavLst>
                                        <p:tav tm="0">
                                          <p:val>
                                            <p:strVal val="1+#ppt_h/2"/>
                                          </p:val>
                                        </p:tav>
                                        <p:tav tm="100000">
                                          <p:val>
                                            <p:strVal val="#ppt_y"/>
                                          </p:val>
                                        </p:tav>
                                      </p:tavLst>
                                    </p:anim>
                                  </p:childTnLst>
                                </p:cTn>
                              </p:par>
                            </p:childTnLst>
                          </p:cTn>
                        </p:par>
                        <p:par>
                          <p:cTn id="107" fill="hold">
                            <p:stCondLst>
                              <p:cond delay="8500"/>
                            </p:stCondLst>
                            <p:childTnLst>
                              <p:par>
                                <p:cTn id="108" presetID="2" presetClass="entr" presetSubtype="4" fill="hold" grpId="0" nodeType="afterEffect">
                                  <p:stCondLst>
                                    <p:cond delay="0"/>
                                  </p:stCondLst>
                                  <p:childTnLst>
                                    <p:set>
                                      <p:cBhvr>
                                        <p:cTn id="109" dur="1" fill="hold">
                                          <p:stCondLst>
                                            <p:cond delay="0"/>
                                          </p:stCondLst>
                                        </p:cTn>
                                        <p:tgtEl>
                                          <p:spTgt spid="87"/>
                                        </p:tgtEl>
                                        <p:attrNameLst>
                                          <p:attrName>style.visibility</p:attrName>
                                        </p:attrNameLst>
                                      </p:cBhvr>
                                      <p:to>
                                        <p:strVal val="visible"/>
                                      </p:to>
                                    </p:set>
                                    <p:anim calcmode="lin" valueType="num">
                                      <p:cBhvr additive="base">
                                        <p:cTn id="110" dur="500" fill="hold"/>
                                        <p:tgtEl>
                                          <p:spTgt spid="87"/>
                                        </p:tgtEl>
                                        <p:attrNameLst>
                                          <p:attrName>ppt_x</p:attrName>
                                        </p:attrNameLst>
                                      </p:cBhvr>
                                      <p:tavLst>
                                        <p:tav tm="0">
                                          <p:val>
                                            <p:strVal val="#ppt_x"/>
                                          </p:val>
                                        </p:tav>
                                        <p:tav tm="100000">
                                          <p:val>
                                            <p:strVal val="#ppt_x"/>
                                          </p:val>
                                        </p:tav>
                                      </p:tavLst>
                                    </p:anim>
                                    <p:anim calcmode="lin" valueType="num">
                                      <p:cBhvr additive="base">
                                        <p:cTn id="111" dur="500" fill="hold"/>
                                        <p:tgtEl>
                                          <p:spTgt spid="87"/>
                                        </p:tgtEl>
                                        <p:attrNameLst>
                                          <p:attrName>ppt_y</p:attrName>
                                        </p:attrNameLst>
                                      </p:cBhvr>
                                      <p:tavLst>
                                        <p:tav tm="0">
                                          <p:val>
                                            <p:strVal val="1+#ppt_h/2"/>
                                          </p:val>
                                        </p:tav>
                                        <p:tav tm="100000">
                                          <p:val>
                                            <p:strVal val="#ppt_y"/>
                                          </p:val>
                                        </p:tav>
                                      </p:tavLst>
                                    </p:anim>
                                  </p:childTnLst>
                                </p:cTn>
                              </p:par>
                            </p:childTnLst>
                          </p:cTn>
                        </p:par>
                        <p:par>
                          <p:cTn id="112" fill="hold">
                            <p:stCondLst>
                              <p:cond delay="9000"/>
                            </p:stCondLst>
                            <p:childTnLst>
                              <p:par>
                                <p:cTn id="113" presetID="2" presetClass="entr" presetSubtype="4" fill="hold" grpId="0" nodeType="afterEffect">
                                  <p:stCondLst>
                                    <p:cond delay="0"/>
                                  </p:stCondLst>
                                  <p:childTnLst>
                                    <p:set>
                                      <p:cBhvr>
                                        <p:cTn id="114" dur="1" fill="hold">
                                          <p:stCondLst>
                                            <p:cond delay="0"/>
                                          </p:stCondLst>
                                        </p:cTn>
                                        <p:tgtEl>
                                          <p:spTgt spid="88"/>
                                        </p:tgtEl>
                                        <p:attrNameLst>
                                          <p:attrName>style.visibility</p:attrName>
                                        </p:attrNameLst>
                                      </p:cBhvr>
                                      <p:to>
                                        <p:strVal val="visible"/>
                                      </p:to>
                                    </p:set>
                                    <p:anim calcmode="lin" valueType="num">
                                      <p:cBhvr additive="base">
                                        <p:cTn id="115" dur="500" fill="hold"/>
                                        <p:tgtEl>
                                          <p:spTgt spid="88"/>
                                        </p:tgtEl>
                                        <p:attrNameLst>
                                          <p:attrName>ppt_x</p:attrName>
                                        </p:attrNameLst>
                                      </p:cBhvr>
                                      <p:tavLst>
                                        <p:tav tm="0">
                                          <p:val>
                                            <p:strVal val="#ppt_x"/>
                                          </p:val>
                                        </p:tav>
                                        <p:tav tm="100000">
                                          <p:val>
                                            <p:strVal val="#ppt_x"/>
                                          </p:val>
                                        </p:tav>
                                      </p:tavLst>
                                    </p:anim>
                                    <p:anim calcmode="lin" valueType="num">
                                      <p:cBhvr additive="base">
                                        <p:cTn id="116" dur="500" fill="hold"/>
                                        <p:tgtEl>
                                          <p:spTgt spid="88"/>
                                        </p:tgtEl>
                                        <p:attrNameLst>
                                          <p:attrName>ppt_y</p:attrName>
                                        </p:attrNameLst>
                                      </p:cBhvr>
                                      <p:tavLst>
                                        <p:tav tm="0">
                                          <p:val>
                                            <p:strVal val="1+#ppt_h/2"/>
                                          </p:val>
                                        </p:tav>
                                        <p:tav tm="100000">
                                          <p:val>
                                            <p:strVal val="#ppt_y"/>
                                          </p:val>
                                        </p:tav>
                                      </p:tavLst>
                                    </p:anim>
                                  </p:childTnLst>
                                </p:cTn>
                              </p:par>
                            </p:childTnLst>
                          </p:cTn>
                        </p:par>
                        <p:par>
                          <p:cTn id="117" fill="hold">
                            <p:stCondLst>
                              <p:cond delay="9500"/>
                            </p:stCondLst>
                            <p:childTnLst>
                              <p:par>
                                <p:cTn id="118" presetID="2" presetClass="entr" presetSubtype="4" fill="hold" grpId="0" nodeType="afterEffect">
                                  <p:stCondLst>
                                    <p:cond delay="0"/>
                                  </p:stCondLst>
                                  <p:childTnLst>
                                    <p:set>
                                      <p:cBhvr>
                                        <p:cTn id="119" dur="1" fill="hold">
                                          <p:stCondLst>
                                            <p:cond delay="0"/>
                                          </p:stCondLst>
                                        </p:cTn>
                                        <p:tgtEl>
                                          <p:spTgt spid="89"/>
                                        </p:tgtEl>
                                        <p:attrNameLst>
                                          <p:attrName>style.visibility</p:attrName>
                                        </p:attrNameLst>
                                      </p:cBhvr>
                                      <p:to>
                                        <p:strVal val="visible"/>
                                      </p:to>
                                    </p:set>
                                    <p:anim calcmode="lin" valueType="num">
                                      <p:cBhvr additive="base">
                                        <p:cTn id="120" dur="500" fill="hold"/>
                                        <p:tgtEl>
                                          <p:spTgt spid="89"/>
                                        </p:tgtEl>
                                        <p:attrNameLst>
                                          <p:attrName>ppt_x</p:attrName>
                                        </p:attrNameLst>
                                      </p:cBhvr>
                                      <p:tavLst>
                                        <p:tav tm="0">
                                          <p:val>
                                            <p:strVal val="#ppt_x"/>
                                          </p:val>
                                        </p:tav>
                                        <p:tav tm="100000">
                                          <p:val>
                                            <p:strVal val="#ppt_x"/>
                                          </p:val>
                                        </p:tav>
                                      </p:tavLst>
                                    </p:anim>
                                    <p:anim calcmode="lin" valueType="num">
                                      <p:cBhvr additive="base">
                                        <p:cTn id="121" dur="500" fill="hold"/>
                                        <p:tgtEl>
                                          <p:spTgt spid="89"/>
                                        </p:tgtEl>
                                        <p:attrNameLst>
                                          <p:attrName>ppt_y</p:attrName>
                                        </p:attrNameLst>
                                      </p:cBhvr>
                                      <p:tavLst>
                                        <p:tav tm="0">
                                          <p:val>
                                            <p:strVal val="1+#ppt_h/2"/>
                                          </p:val>
                                        </p:tav>
                                        <p:tav tm="100000">
                                          <p:val>
                                            <p:strVal val="#ppt_y"/>
                                          </p:val>
                                        </p:tav>
                                      </p:tavLst>
                                    </p:anim>
                                  </p:childTnLst>
                                </p:cTn>
                              </p:par>
                            </p:childTnLst>
                          </p:cTn>
                        </p:par>
                        <p:par>
                          <p:cTn id="122" fill="hold">
                            <p:stCondLst>
                              <p:cond delay="10000"/>
                            </p:stCondLst>
                            <p:childTnLst>
                              <p:par>
                                <p:cTn id="123" presetID="2" presetClass="entr" presetSubtype="4" fill="hold" grpId="0" nodeType="afterEffect">
                                  <p:stCondLst>
                                    <p:cond delay="0"/>
                                  </p:stCondLst>
                                  <p:childTnLst>
                                    <p:set>
                                      <p:cBhvr>
                                        <p:cTn id="124" dur="1" fill="hold">
                                          <p:stCondLst>
                                            <p:cond delay="0"/>
                                          </p:stCondLst>
                                        </p:cTn>
                                        <p:tgtEl>
                                          <p:spTgt spid="90"/>
                                        </p:tgtEl>
                                        <p:attrNameLst>
                                          <p:attrName>style.visibility</p:attrName>
                                        </p:attrNameLst>
                                      </p:cBhvr>
                                      <p:to>
                                        <p:strVal val="visible"/>
                                      </p:to>
                                    </p:set>
                                    <p:anim calcmode="lin" valueType="num">
                                      <p:cBhvr additive="base">
                                        <p:cTn id="125" dur="500" fill="hold"/>
                                        <p:tgtEl>
                                          <p:spTgt spid="90"/>
                                        </p:tgtEl>
                                        <p:attrNameLst>
                                          <p:attrName>ppt_x</p:attrName>
                                        </p:attrNameLst>
                                      </p:cBhvr>
                                      <p:tavLst>
                                        <p:tav tm="0">
                                          <p:val>
                                            <p:strVal val="#ppt_x"/>
                                          </p:val>
                                        </p:tav>
                                        <p:tav tm="100000">
                                          <p:val>
                                            <p:strVal val="#ppt_x"/>
                                          </p:val>
                                        </p:tav>
                                      </p:tavLst>
                                    </p:anim>
                                    <p:anim calcmode="lin" valueType="num">
                                      <p:cBhvr additive="base">
                                        <p:cTn id="126" dur="500" fill="hold"/>
                                        <p:tgtEl>
                                          <p:spTgt spid="90"/>
                                        </p:tgtEl>
                                        <p:attrNameLst>
                                          <p:attrName>ppt_y</p:attrName>
                                        </p:attrNameLst>
                                      </p:cBhvr>
                                      <p:tavLst>
                                        <p:tav tm="0">
                                          <p:val>
                                            <p:strVal val="1+#ppt_h/2"/>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9" presetID="9" presetClass="exit" presetSubtype="0" fill="hold" grpId="1" nodeType="clickEffect">
                                  <p:stCondLst>
                                    <p:cond delay="0"/>
                                  </p:stCondLst>
                                  <p:childTnLst>
                                    <p:animEffect transition="out" filter="dissolve">
                                      <p:cBhvr>
                                        <p:cTn id="130" dur="500"/>
                                        <p:tgtEl>
                                          <p:spTgt spid="71"/>
                                        </p:tgtEl>
                                      </p:cBhvr>
                                    </p:animEffect>
                                    <p:set>
                                      <p:cBhvr>
                                        <p:cTn id="131" dur="1" fill="hold">
                                          <p:stCondLst>
                                            <p:cond delay="499"/>
                                          </p:stCondLst>
                                        </p:cTn>
                                        <p:tgtEl>
                                          <p:spTgt spid="71"/>
                                        </p:tgtEl>
                                        <p:attrNameLst>
                                          <p:attrName>style.visibility</p:attrName>
                                        </p:attrNameLst>
                                      </p:cBhvr>
                                      <p:to>
                                        <p:strVal val="hidden"/>
                                      </p:to>
                                    </p:set>
                                  </p:childTnLst>
                                </p:cTn>
                              </p:par>
                              <p:par>
                                <p:cTn id="132" presetID="9" presetClass="exit" presetSubtype="0" fill="hold" grpId="1" nodeType="withEffect">
                                  <p:stCondLst>
                                    <p:cond delay="0"/>
                                  </p:stCondLst>
                                  <p:childTnLst>
                                    <p:animEffect transition="out" filter="dissolve">
                                      <p:cBhvr>
                                        <p:cTn id="133" dur="500"/>
                                        <p:tgtEl>
                                          <p:spTgt spid="72"/>
                                        </p:tgtEl>
                                      </p:cBhvr>
                                    </p:animEffect>
                                    <p:set>
                                      <p:cBhvr>
                                        <p:cTn id="134" dur="1" fill="hold">
                                          <p:stCondLst>
                                            <p:cond delay="499"/>
                                          </p:stCondLst>
                                        </p:cTn>
                                        <p:tgtEl>
                                          <p:spTgt spid="72"/>
                                        </p:tgtEl>
                                        <p:attrNameLst>
                                          <p:attrName>style.visibility</p:attrName>
                                        </p:attrNameLst>
                                      </p:cBhvr>
                                      <p:to>
                                        <p:strVal val="hidden"/>
                                      </p:to>
                                    </p:set>
                                  </p:childTnLst>
                                </p:cTn>
                              </p:par>
                              <p:par>
                                <p:cTn id="135" presetID="9" presetClass="exit" presetSubtype="0" fill="hold" grpId="1" nodeType="withEffect">
                                  <p:stCondLst>
                                    <p:cond delay="0"/>
                                  </p:stCondLst>
                                  <p:childTnLst>
                                    <p:animEffect transition="out" filter="dissolve">
                                      <p:cBhvr>
                                        <p:cTn id="136" dur="500"/>
                                        <p:tgtEl>
                                          <p:spTgt spid="73"/>
                                        </p:tgtEl>
                                      </p:cBhvr>
                                    </p:animEffect>
                                    <p:set>
                                      <p:cBhvr>
                                        <p:cTn id="137" dur="1" fill="hold">
                                          <p:stCondLst>
                                            <p:cond delay="499"/>
                                          </p:stCondLst>
                                        </p:cTn>
                                        <p:tgtEl>
                                          <p:spTgt spid="73"/>
                                        </p:tgtEl>
                                        <p:attrNameLst>
                                          <p:attrName>style.visibility</p:attrName>
                                        </p:attrNameLst>
                                      </p:cBhvr>
                                      <p:to>
                                        <p:strVal val="hidden"/>
                                      </p:to>
                                    </p:set>
                                  </p:childTnLst>
                                </p:cTn>
                              </p:par>
                              <p:par>
                                <p:cTn id="138" presetID="9" presetClass="exit" presetSubtype="0" fill="hold" grpId="1" nodeType="withEffect">
                                  <p:stCondLst>
                                    <p:cond delay="0"/>
                                  </p:stCondLst>
                                  <p:childTnLst>
                                    <p:animEffect transition="out" filter="dissolve">
                                      <p:cBhvr>
                                        <p:cTn id="139" dur="500"/>
                                        <p:tgtEl>
                                          <p:spTgt spid="74"/>
                                        </p:tgtEl>
                                      </p:cBhvr>
                                    </p:animEffect>
                                    <p:set>
                                      <p:cBhvr>
                                        <p:cTn id="140" dur="1" fill="hold">
                                          <p:stCondLst>
                                            <p:cond delay="499"/>
                                          </p:stCondLst>
                                        </p:cTn>
                                        <p:tgtEl>
                                          <p:spTgt spid="74"/>
                                        </p:tgtEl>
                                        <p:attrNameLst>
                                          <p:attrName>style.visibility</p:attrName>
                                        </p:attrNameLst>
                                      </p:cBhvr>
                                      <p:to>
                                        <p:strVal val="hidden"/>
                                      </p:to>
                                    </p:set>
                                  </p:childTnLst>
                                </p:cTn>
                              </p:par>
                              <p:par>
                                <p:cTn id="141" presetID="9" presetClass="exit" presetSubtype="0" fill="hold" grpId="1" nodeType="withEffect">
                                  <p:stCondLst>
                                    <p:cond delay="0"/>
                                  </p:stCondLst>
                                  <p:childTnLst>
                                    <p:animEffect transition="out" filter="dissolve">
                                      <p:cBhvr>
                                        <p:cTn id="142" dur="500"/>
                                        <p:tgtEl>
                                          <p:spTgt spid="75"/>
                                        </p:tgtEl>
                                      </p:cBhvr>
                                    </p:animEffect>
                                    <p:set>
                                      <p:cBhvr>
                                        <p:cTn id="143" dur="1" fill="hold">
                                          <p:stCondLst>
                                            <p:cond delay="499"/>
                                          </p:stCondLst>
                                        </p:cTn>
                                        <p:tgtEl>
                                          <p:spTgt spid="75"/>
                                        </p:tgtEl>
                                        <p:attrNameLst>
                                          <p:attrName>style.visibility</p:attrName>
                                        </p:attrNameLst>
                                      </p:cBhvr>
                                      <p:to>
                                        <p:strVal val="hidden"/>
                                      </p:to>
                                    </p:set>
                                  </p:childTnLst>
                                </p:cTn>
                              </p:par>
                              <p:par>
                                <p:cTn id="144" presetID="9" presetClass="exit" presetSubtype="0" fill="hold" grpId="1" nodeType="withEffect">
                                  <p:stCondLst>
                                    <p:cond delay="0"/>
                                  </p:stCondLst>
                                  <p:childTnLst>
                                    <p:animEffect transition="out" filter="dissolve">
                                      <p:cBhvr>
                                        <p:cTn id="145" dur="500"/>
                                        <p:tgtEl>
                                          <p:spTgt spid="76"/>
                                        </p:tgtEl>
                                      </p:cBhvr>
                                    </p:animEffect>
                                    <p:set>
                                      <p:cBhvr>
                                        <p:cTn id="146" dur="1" fill="hold">
                                          <p:stCondLst>
                                            <p:cond delay="499"/>
                                          </p:stCondLst>
                                        </p:cTn>
                                        <p:tgtEl>
                                          <p:spTgt spid="76"/>
                                        </p:tgtEl>
                                        <p:attrNameLst>
                                          <p:attrName>style.visibility</p:attrName>
                                        </p:attrNameLst>
                                      </p:cBhvr>
                                      <p:to>
                                        <p:strVal val="hidden"/>
                                      </p:to>
                                    </p:set>
                                  </p:childTnLst>
                                </p:cTn>
                              </p:par>
                              <p:par>
                                <p:cTn id="147" presetID="9" presetClass="exit" presetSubtype="0" fill="hold" grpId="1" nodeType="withEffect">
                                  <p:stCondLst>
                                    <p:cond delay="0"/>
                                  </p:stCondLst>
                                  <p:childTnLst>
                                    <p:animEffect transition="out" filter="dissolve">
                                      <p:cBhvr>
                                        <p:cTn id="148" dur="500"/>
                                        <p:tgtEl>
                                          <p:spTgt spid="77"/>
                                        </p:tgtEl>
                                      </p:cBhvr>
                                    </p:animEffect>
                                    <p:set>
                                      <p:cBhvr>
                                        <p:cTn id="149" dur="1" fill="hold">
                                          <p:stCondLst>
                                            <p:cond delay="499"/>
                                          </p:stCondLst>
                                        </p:cTn>
                                        <p:tgtEl>
                                          <p:spTgt spid="77"/>
                                        </p:tgtEl>
                                        <p:attrNameLst>
                                          <p:attrName>style.visibility</p:attrName>
                                        </p:attrNameLst>
                                      </p:cBhvr>
                                      <p:to>
                                        <p:strVal val="hidden"/>
                                      </p:to>
                                    </p:set>
                                  </p:childTnLst>
                                </p:cTn>
                              </p:par>
                              <p:par>
                                <p:cTn id="150" presetID="9" presetClass="exit" presetSubtype="0" fill="hold" grpId="1" nodeType="withEffect">
                                  <p:stCondLst>
                                    <p:cond delay="0"/>
                                  </p:stCondLst>
                                  <p:childTnLst>
                                    <p:animEffect transition="out" filter="dissolve">
                                      <p:cBhvr>
                                        <p:cTn id="151" dur="500"/>
                                        <p:tgtEl>
                                          <p:spTgt spid="78"/>
                                        </p:tgtEl>
                                      </p:cBhvr>
                                    </p:animEffect>
                                    <p:set>
                                      <p:cBhvr>
                                        <p:cTn id="152" dur="1" fill="hold">
                                          <p:stCondLst>
                                            <p:cond delay="499"/>
                                          </p:stCondLst>
                                        </p:cTn>
                                        <p:tgtEl>
                                          <p:spTgt spid="78"/>
                                        </p:tgtEl>
                                        <p:attrNameLst>
                                          <p:attrName>style.visibility</p:attrName>
                                        </p:attrNameLst>
                                      </p:cBhvr>
                                      <p:to>
                                        <p:strVal val="hidden"/>
                                      </p:to>
                                    </p:set>
                                  </p:childTnLst>
                                </p:cTn>
                              </p:par>
                              <p:par>
                                <p:cTn id="153" presetID="9" presetClass="exit" presetSubtype="0" fill="hold" grpId="1" nodeType="withEffect">
                                  <p:stCondLst>
                                    <p:cond delay="0"/>
                                  </p:stCondLst>
                                  <p:childTnLst>
                                    <p:animEffect transition="out" filter="dissolve">
                                      <p:cBhvr>
                                        <p:cTn id="154" dur="500"/>
                                        <p:tgtEl>
                                          <p:spTgt spid="79"/>
                                        </p:tgtEl>
                                      </p:cBhvr>
                                    </p:animEffect>
                                    <p:set>
                                      <p:cBhvr>
                                        <p:cTn id="155" dur="1" fill="hold">
                                          <p:stCondLst>
                                            <p:cond delay="499"/>
                                          </p:stCondLst>
                                        </p:cTn>
                                        <p:tgtEl>
                                          <p:spTgt spid="79"/>
                                        </p:tgtEl>
                                        <p:attrNameLst>
                                          <p:attrName>style.visibility</p:attrName>
                                        </p:attrNameLst>
                                      </p:cBhvr>
                                      <p:to>
                                        <p:strVal val="hidden"/>
                                      </p:to>
                                    </p:set>
                                  </p:childTnLst>
                                </p:cTn>
                              </p:par>
                              <p:par>
                                <p:cTn id="156" presetID="9" presetClass="exit" presetSubtype="0" fill="hold" grpId="1" nodeType="withEffect">
                                  <p:stCondLst>
                                    <p:cond delay="0"/>
                                  </p:stCondLst>
                                  <p:childTnLst>
                                    <p:animEffect transition="out" filter="dissolve">
                                      <p:cBhvr>
                                        <p:cTn id="157" dur="500"/>
                                        <p:tgtEl>
                                          <p:spTgt spid="80"/>
                                        </p:tgtEl>
                                      </p:cBhvr>
                                    </p:animEffect>
                                    <p:set>
                                      <p:cBhvr>
                                        <p:cTn id="158" dur="1" fill="hold">
                                          <p:stCondLst>
                                            <p:cond delay="499"/>
                                          </p:stCondLst>
                                        </p:cTn>
                                        <p:tgtEl>
                                          <p:spTgt spid="80"/>
                                        </p:tgtEl>
                                        <p:attrNameLst>
                                          <p:attrName>style.visibility</p:attrName>
                                        </p:attrNameLst>
                                      </p:cBhvr>
                                      <p:to>
                                        <p:strVal val="hidden"/>
                                      </p:to>
                                    </p:set>
                                  </p:childTnLst>
                                </p:cTn>
                              </p:par>
                              <p:par>
                                <p:cTn id="159" presetID="9" presetClass="exit" presetSubtype="0" fill="hold" grpId="1" nodeType="withEffect">
                                  <p:stCondLst>
                                    <p:cond delay="0"/>
                                  </p:stCondLst>
                                  <p:childTnLst>
                                    <p:animEffect transition="out" filter="dissolve">
                                      <p:cBhvr>
                                        <p:cTn id="160" dur="500"/>
                                        <p:tgtEl>
                                          <p:spTgt spid="81"/>
                                        </p:tgtEl>
                                      </p:cBhvr>
                                    </p:animEffect>
                                    <p:set>
                                      <p:cBhvr>
                                        <p:cTn id="161" dur="1" fill="hold">
                                          <p:stCondLst>
                                            <p:cond delay="499"/>
                                          </p:stCondLst>
                                        </p:cTn>
                                        <p:tgtEl>
                                          <p:spTgt spid="81"/>
                                        </p:tgtEl>
                                        <p:attrNameLst>
                                          <p:attrName>style.visibility</p:attrName>
                                        </p:attrNameLst>
                                      </p:cBhvr>
                                      <p:to>
                                        <p:strVal val="hidden"/>
                                      </p:to>
                                    </p:set>
                                  </p:childTnLst>
                                </p:cTn>
                              </p:par>
                              <p:par>
                                <p:cTn id="162" presetID="9" presetClass="exit" presetSubtype="0" fill="hold" grpId="1" nodeType="withEffect">
                                  <p:stCondLst>
                                    <p:cond delay="0"/>
                                  </p:stCondLst>
                                  <p:childTnLst>
                                    <p:animEffect transition="out" filter="dissolve">
                                      <p:cBhvr>
                                        <p:cTn id="163" dur="500"/>
                                        <p:tgtEl>
                                          <p:spTgt spid="82"/>
                                        </p:tgtEl>
                                      </p:cBhvr>
                                    </p:animEffect>
                                    <p:set>
                                      <p:cBhvr>
                                        <p:cTn id="164" dur="1" fill="hold">
                                          <p:stCondLst>
                                            <p:cond delay="499"/>
                                          </p:stCondLst>
                                        </p:cTn>
                                        <p:tgtEl>
                                          <p:spTgt spid="82"/>
                                        </p:tgtEl>
                                        <p:attrNameLst>
                                          <p:attrName>style.visibility</p:attrName>
                                        </p:attrNameLst>
                                      </p:cBhvr>
                                      <p:to>
                                        <p:strVal val="hidden"/>
                                      </p:to>
                                    </p:set>
                                  </p:childTnLst>
                                </p:cTn>
                              </p:par>
                              <p:par>
                                <p:cTn id="165" presetID="9" presetClass="exit" presetSubtype="0" fill="hold" grpId="1" nodeType="withEffect">
                                  <p:stCondLst>
                                    <p:cond delay="0"/>
                                  </p:stCondLst>
                                  <p:childTnLst>
                                    <p:animEffect transition="out" filter="dissolve">
                                      <p:cBhvr>
                                        <p:cTn id="166" dur="500"/>
                                        <p:tgtEl>
                                          <p:spTgt spid="83"/>
                                        </p:tgtEl>
                                      </p:cBhvr>
                                    </p:animEffect>
                                    <p:set>
                                      <p:cBhvr>
                                        <p:cTn id="167" dur="1" fill="hold">
                                          <p:stCondLst>
                                            <p:cond delay="499"/>
                                          </p:stCondLst>
                                        </p:cTn>
                                        <p:tgtEl>
                                          <p:spTgt spid="83"/>
                                        </p:tgtEl>
                                        <p:attrNameLst>
                                          <p:attrName>style.visibility</p:attrName>
                                        </p:attrNameLst>
                                      </p:cBhvr>
                                      <p:to>
                                        <p:strVal val="hidden"/>
                                      </p:to>
                                    </p:set>
                                  </p:childTnLst>
                                </p:cTn>
                              </p:par>
                              <p:par>
                                <p:cTn id="168" presetID="9" presetClass="exit" presetSubtype="0" fill="hold" grpId="1" nodeType="withEffect">
                                  <p:stCondLst>
                                    <p:cond delay="0"/>
                                  </p:stCondLst>
                                  <p:childTnLst>
                                    <p:animEffect transition="out" filter="dissolve">
                                      <p:cBhvr>
                                        <p:cTn id="169" dur="500"/>
                                        <p:tgtEl>
                                          <p:spTgt spid="84"/>
                                        </p:tgtEl>
                                      </p:cBhvr>
                                    </p:animEffect>
                                    <p:set>
                                      <p:cBhvr>
                                        <p:cTn id="170" dur="1" fill="hold">
                                          <p:stCondLst>
                                            <p:cond delay="499"/>
                                          </p:stCondLst>
                                        </p:cTn>
                                        <p:tgtEl>
                                          <p:spTgt spid="84"/>
                                        </p:tgtEl>
                                        <p:attrNameLst>
                                          <p:attrName>style.visibility</p:attrName>
                                        </p:attrNameLst>
                                      </p:cBhvr>
                                      <p:to>
                                        <p:strVal val="hidden"/>
                                      </p:to>
                                    </p:set>
                                  </p:childTnLst>
                                </p:cTn>
                              </p:par>
                              <p:par>
                                <p:cTn id="171" presetID="9" presetClass="exit" presetSubtype="0" fill="hold" grpId="1" nodeType="withEffect">
                                  <p:stCondLst>
                                    <p:cond delay="0"/>
                                  </p:stCondLst>
                                  <p:childTnLst>
                                    <p:animEffect transition="out" filter="dissolve">
                                      <p:cBhvr>
                                        <p:cTn id="172" dur="500"/>
                                        <p:tgtEl>
                                          <p:spTgt spid="85"/>
                                        </p:tgtEl>
                                      </p:cBhvr>
                                    </p:animEffect>
                                    <p:set>
                                      <p:cBhvr>
                                        <p:cTn id="173" dur="1" fill="hold">
                                          <p:stCondLst>
                                            <p:cond delay="499"/>
                                          </p:stCondLst>
                                        </p:cTn>
                                        <p:tgtEl>
                                          <p:spTgt spid="85"/>
                                        </p:tgtEl>
                                        <p:attrNameLst>
                                          <p:attrName>style.visibility</p:attrName>
                                        </p:attrNameLst>
                                      </p:cBhvr>
                                      <p:to>
                                        <p:strVal val="hidden"/>
                                      </p:to>
                                    </p:set>
                                  </p:childTnLst>
                                </p:cTn>
                              </p:par>
                              <p:par>
                                <p:cTn id="174" presetID="9" presetClass="exit" presetSubtype="0" fill="hold" grpId="1" nodeType="withEffect">
                                  <p:stCondLst>
                                    <p:cond delay="0"/>
                                  </p:stCondLst>
                                  <p:childTnLst>
                                    <p:animEffect transition="out" filter="dissolve">
                                      <p:cBhvr>
                                        <p:cTn id="175" dur="500"/>
                                        <p:tgtEl>
                                          <p:spTgt spid="86"/>
                                        </p:tgtEl>
                                      </p:cBhvr>
                                    </p:animEffect>
                                    <p:set>
                                      <p:cBhvr>
                                        <p:cTn id="176" dur="1" fill="hold">
                                          <p:stCondLst>
                                            <p:cond delay="499"/>
                                          </p:stCondLst>
                                        </p:cTn>
                                        <p:tgtEl>
                                          <p:spTgt spid="86"/>
                                        </p:tgtEl>
                                        <p:attrNameLst>
                                          <p:attrName>style.visibility</p:attrName>
                                        </p:attrNameLst>
                                      </p:cBhvr>
                                      <p:to>
                                        <p:strVal val="hidden"/>
                                      </p:to>
                                    </p:set>
                                  </p:childTnLst>
                                </p:cTn>
                              </p:par>
                              <p:par>
                                <p:cTn id="177" presetID="9" presetClass="exit" presetSubtype="0" fill="hold" grpId="1" nodeType="withEffect">
                                  <p:stCondLst>
                                    <p:cond delay="0"/>
                                  </p:stCondLst>
                                  <p:childTnLst>
                                    <p:animEffect transition="out" filter="dissolve">
                                      <p:cBhvr>
                                        <p:cTn id="178" dur="500"/>
                                        <p:tgtEl>
                                          <p:spTgt spid="87"/>
                                        </p:tgtEl>
                                      </p:cBhvr>
                                    </p:animEffect>
                                    <p:set>
                                      <p:cBhvr>
                                        <p:cTn id="179" dur="1" fill="hold">
                                          <p:stCondLst>
                                            <p:cond delay="499"/>
                                          </p:stCondLst>
                                        </p:cTn>
                                        <p:tgtEl>
                                          <p:spTgt spid="87"/>
                                        </p:tgtEl>
                                        <p:attrNameLst>
                                          <p:attrName>style.visibility</p:attrName>
                                        </p:attrNameLst>
                                      </p:cBhvr>
                                      <p:to>
                                        <p:strVal val="hidden"/>
                                      </p:to>
                                    </p:set>
                                  </p:childTnLst>
                                </p:cTn>
                              </p:par>
                              <p:par>
                                <p:cTn id="180" presetID="9" presetClass="exit" presetSubtype="0" fill="hold" grpId="1" nodeType="withEffect">
                                  <p:stCondLst>
                                    <p:cond delay="0"/>
                                  </p:stCondLst>
                                  <p:childTnLst>
                                    <p:animEffect transition="out" filter="dissolve">
                                      <p:cBhvr>
                                        <p:cTn id="181" dur="500"/>
                                        <p:tgtEl>
                                          <p:spTgt spid="88"/>
                                        </p:tgtEl>
                                      </p:cBhvr>
                                    </p:animEffect>
                                    <p:set>
                                      <p:cBhvr>
                                        <p:cTn id="182" dur="1" fill="hold">
                                          <p:stCondLst>
                                            <p:cond delay="499"/>
                                          </p:stCondLst>
                                        </p:cTn>
                                        <p:tgtEl>
                                          <p:spTgt spid="88"/>
                                        </p:tgtEl>
                                        <p:attrNameLst>
                                          <p:attrName>style.visibility</p:attrName>
                                        </p:attrNameLst>
                                      </p:cBhvr>
                                      <p:to>
                                        <p:strVal val="hidden"/>
                                      </p:to>
                                    </p:set>
                                  </p:childTnLst>
                                </p:cTn>
                              </p:par>
                              <p:par>
                                <p:cTn id="183" presetID="9" presetClass="exit" presetSubtype="0" fill="hold" grpId="1" nodeType="withEffect">
                                  <p:stCondLst>
                                    <p:cond delay="0"/>
                                  </p:stCondLst>
                                  <p:childTnLst>
                                    <p:animEffect transition="out" filter="dissolve">
                                      <p:cBhvr>
                                        <p:cTn id="184" dur="500"/>
                                        <p:tgtEl>
                                          <p:spTgt spid="89"/>
                                        </p:tgtEl>
                                      </p:cBhvr>
                                    </p:animEffect>
                                    <p:set>
                                      <p:cBhvr>
                                        <p:cTn id="185" dur="1" fill="hold">
                                          <p:stCondLst>
                                            <p:cond delay="499"/>
                                          </p:stCondLst>
                                        </p:cTn>
                                        <p:tgtEl>
                                          <p:spTgt spid="89"/>
                                        </p:tgtEl>
                                        <p:attrNameLst>
                                          <p:attrName>style.visibility</p:attrName>
                                        </p:attrNameLst>
                                      </p:cBhvr>
                                      <p:to>
                                        <p:strVal val="hidden"/>
                                      </p:to>
                                    </p:set>
                                  </p:childTnLst>
                                </p:cTn>
                              </p:par>
                              <p:par>
                                <p:cTn id="186" presetID="9" presetClass="exit" presetSubtype="0" fill="hold" grpId="1" nodeType="withEffect">
                                  <p:stCondLst>
                                    <p:cond delay="0"/>
                                  </p:stCondLst>
                                  <p:childTnLst>
                                    <p:animEffect transition="out" filter="dissolve">
                                      <p:cBhvr>
                                        <p:cTn id="187" dur="500"/>
                                        <p:tgtEl>
                                          <p:spTgt spid="90"/>
                                        </p:tgtEl>
                                      </p:cBhvr>
                                    </p:animEffect>
                                    <p:set>
                                      <p:cBhvr>
                                        <p:cTn id="188" dur="1" fill="hold">
                                          <p:stCondLst>
                                            <p:cond delay="499"/>
                                          </p:stCondLst>
                                        </p:cTn>
                                        <p:tgtEl>
                                          <p:spTgt spid="90"/>
                                        </p:tgtEl>
                                        <p:attrNameLst>
                                          <p:attrName>style.visibility</p:attrName>
                                        </p:attrNameLst>
                                      </p:cBhvr>
                                      <p:to>
                                        <p:strVal val="hidden"/>
                                      </p:to>
                                    </p:set>
                                  </p:childTnLst>
                                </p:cTn>
                              </p:par>
                            </p:childTnLst>
                          </p:cTn>
                        </p:par>
                        <p:par>
                          <p:cTn id="189" fill="hold">
                            <p:stCondLst>
                              <p:cond delay="500"/>
                            </p:stCondLst>
                            <p:childTnLst>
                              <p:par>
                                <p:cTn id="190" presetID="9" presetClass="entr" presetSubtype="0" fill="hold" grpId="0" nodeType="afterEffect">
                                  <p:stCondLst>
                                    <p:cond delay="0"/>
                                  </p:stCondLst>
                                  <p:childTnLst>
                                    <p:set>
                                      <p:cBhvr>
                                        <p:cTn id="191" dur="1" fill="hold">
                                          <p:stCondLst>
                                            <p:cond delay="0"/>
                                          </p:stCondLst>
                                        </p:cTn>
                                        <p:tgtEl>
                                          <p:spTgt spid="91"/>
                                        </p:tgtEl>
                                        <p:attrNameLst>
                                          <p:attrName>style.visibility</p:attrName>
                                        </p:attrNameLst>
                                      </p:cBhvr>
                                      <p:to>
                                        <p:strVal val="visible"/>
                                      </p:to>
                                    </p:set>
                                    <p:animEffect transition="in" filter="dissolve">
                                      <p:cBhvr>
                                        <p:cTn id="192" dur="500"/>
                                        <p:tgtEl>
                                          <p:spTgt spid="91"/>
                                        </p:tgtEl>
                                      </p:cBhvr>
                                    </p:animEffect>
                                  </p:childTnLst>
                                </p:cTn>
                              </p:par>
                              <p:par>
                                <p:cTn id="193" presetID="2" presetClass="entr" presetSubtype="4" fill="hold" grpId="0" nodeType="withEffect">
                                  <p:stCondLst>
                                    <p:cond delay="0"/>
                                  </p:stCondLst>
                                  <p:childTnLst>
                                    <p:set>
                                      <p:cBhvr>
                                        <p:cTn id="194" dur="1" fill="hold">
                                          <p:stCondLst>
                                            <p:cond delay="0"/>
                                          </p:stCondLst>
                                        </p:cTn>
                                        <p:tgtEl>
                                          <p:spTgt spid="94"/>
                                        </p:tgtEl>
                                        <p:attrNameLst>
                                          <p:attrName>style.visibility</p:attrName>
                                        </p:attrNameLst>
                                      </p:cBhvr>
                                      <p:to>
                                        <p:strVal val="visible"/>
                                      </p:to>
                                    </p:set>
                                    <p:anim calcmode="lin" valueType="num">
                                      <p:cBhvr additive="base">
                                        <p:cTn id="195" dur="500" fill="hold"/>
                                        <p:tgtEl>
                                          <p:spTgt spid="94"/>
                                        </p:tgtEl>
                                        <p:attrNameLst>
                                          <p:attrName>ppt_x</p:attrName>
                                        </p:attrNameLst>
                                      </p:cBhvr>
                                      <p:tavLst>
                                        <p:tav tm="0">
                                          <p:val>
                                            <p:strVal val="#ppt_x"/>
                                          </p:val>
                                        </p:tav>
                                        <p:tav tm="100000">
                                          <p:val>
                                            <p:strVal val="#ppt_x"/>
                                          </p:val>
                                        </p:tav>
                                      </p:tavLst>
                                    </p:anim>
                                    <p:anim calcmode="lin" valueType="num">
                                      <p:cBhvr additive="base">
                                        <p:cTn id="196" dur="500" fill="hold"/>
                                        <p:tgtEl>
                                          <p:spTgt spid="94"/>
                                        </p:tgtEl>
                                        <p:attrNameLst>
                                          <p:attrName>ppt_y</p:attrName>
                                        </p:attrNameLst>
                                      </p:cBhvr>
                                      <p:tavLst>
                                        <p:tav tm="0">
                                          <p:val>
                                            <p:strVal val="1+#ppt_h/2"/>
                                          </p:val>
                                        </p:tav>
                                        <p:tav tm="100000">
                                          <p:val>
                                            <p:strVal val="#ppt_y"/>
                                          </p:val>
                                        </p:tav>
                                      </p:tavLst>
                                    </p:anim>
                                  </p:childTnLst>
                                </p:cTn>
                              </p:par>
                              <p:par>
                                <p:cTn id="197" presetID="2" presetClass="entr" presetSubtype="4" fill="hold" nodeType="withEffect">
                                  <p:stCondLst>
                                    <p:cond delay="0"/>
                                  </p:stCondLst>
                                  <p:childTnLst>
                                    <p:set>
                                      <p:cBhvr>
                                        <p:cTn id="198" dur="1" fill="hold">
                                          <p:stCondLst>
                                            <p:cond delay="0"/>
                                          </p:stCondLst>
                                        </p:cTn>
                                        <p:tgtEl>
                                          <p:spTgt spid="95"/>
                                        </p:tgtEl>
                                        <p:attrNameLst>
                                          <p:attrName>style.visibility</p:attrName>
                                        </p:attrNameLst>
                                      </p:cBhvr>
                                      <p:to>
                                        <p:strVal val="visible"/>
                                      </p:to>
                                    </p:set>
                                    <p:anim calcmode="lin" valueType="num">
                                      <p:cBhvr additive="base">
                                        <p:cTn id="199" dur="500" fill="hold"/>
                                        <p:tgtEl>
                                          <p:spTgt spid="95"/>
                                        </p:tgtEl>
                                        <p:attrNameLst>
                                          <p:attrName>ppt_x</p:attrName>
                                        </p:attrNameLst>
                                      </p:cBhvr>
                                      <p:tavLst>
                                        <p:tav tm="0">
                                          <p:val>
                                            <p:strVal val="#ppt_x"/>
                                          </p:val>
                                        </p:tav>
                                        <p:tav tm="100000">
                                          <p:val>
                                            <p:strVal val="#ppt_x"/>
                                          </p:val>
                                        </p:tav>
                                      </p:tavLst>
                                    </p:anim>
                                    <p:anim calcmode="lin" valueType="num">
                                      <p:cBhvr additive="base">
                                        <p:cTn id="200" dur="500" fill="hold"/>
                                        <p:tgtEl>
                                          <p:spTgt spid="95"/>
                                        </p:tgtEl>
                                        <p:attrNameLst>
                                          <p:attrName>ppt_y</p:attrName>
                                        </p:attrNameLst>
                                      </p:cBhvr>
                                      <p:tavLst>
                                        <p:tav tm="0">
                                          <p:val>
                                            <p:strVal val="1+#ppt_h/2"/>
                                          </p:val>
                                        </p:tav>
                                        <p:tav tm="100000">
                                          <p:val>
                                            <p:strVal val="#ppt_y"/>
                                          </p:val>
                                        </p:tav>
                                      </p:tavLst>
                                    </p:anim>
                                  </p:childTnLst>
                                </p:cTn>
                              </p:par>
                              <p:par>
                                <p:cTn id="201" presetID="2" presetClass="entr" presetSubtype="4" fill="hold" nodeType="withEffect">
                                  <p:stCondLst>
                                    <p:cond delay="0"/>
                                  </p:stCondLst>
                                  <p:childTnLst>
                                    <p:set>
                                      <p:cBhvr>
                                        <p:cTn id="202" dur="1" fill="hold">
                                          <p:stCondLst>
                                            <p:cond delay="0"/>
                                          </p:stCondLst>
                                        </p:cTn>
                                        <p:tgtEl>
                                          <p:spTgt spid="97"/>
                                        </p:tgtEl>
                                        <p:attrNameLst>
                                          <p:attrName>style.visibility</p:attrName>
                                        </p:attrNameLst>
                                      </p:cBhvr>
                                      <p:to>
                                        <p:strVal val="visible"/>
                                      </p:to>
                                    </p:set>
                                    <p:anim calcmode="lin" valueType="num">
                                      <p:cBhvr additive="base">
                                        <p:cTn id="203" dur="500" fill="hold"/>
                                        <p:tgtEl>
                                          <p:spTgt spid="97"/>
                                        </p:tgtEl>
                                        <p:attrNameLst>
                                          <p:attrName>ppt_x</p:attrName>
                                        </p:attrNameLst>
                                      </p:cBhvr>
                                      <p:tavLst>
                                        <p:tav tm="0">
                                          <p:val>
                                            <p:strVal val="#ppt_x"/>
                                          </p:val>
                                        </p:tav>
                                        <p:tav tm="100000">
                                          <p:val>
                                            <p:strVal val="#ppt_x"/>
                                          </p:val>
                                        </p:tav>
                                      </p:tavLst>
                                    </p:anim>
                                    <p:anim calcmode="lin" valueType="num">
                                      <p:cBhvr additive="base">
                                        <p:cTn id="204" dur="500" fill="hold"/>
                                        <p:tgtEl>
                                          <p:spTgt spid="97"/>
                                        </p:tgtEl>
                                        <p:attrNameLst>
                                          <p:attrName>ppt_y</p:attrName>
                                        </p:attrNameLst>
                                      </p:cBhvr>
                                      <p:tavLst>
                                        <p:tav tm="0">
                                          <p:val>
                                            <p:strVal val="1+#ppt_h/2"/>
                                          </p:val>
                                        </p:tav>
                                        <p:tav tm="100000">
                                          <p:val>
                                            <p:strVal val="#ppt_y"/>
                                          </p:val>
                                        </p:tav>
                                      </p:tavLst>
                                    </p:anim>
                                  </p:childTnLst>
                                </p:cTn>
                              </p:par>
                              <p:par>
                                <p:cTn id="205" presetID="9" presetClass="exit" presetSubtype="0" fill="hold" grpId="1" nodeType="withEffect">
                                  <p:stCondLst>
                                    <p:cond delay="0"/>
                                  </p:stCondLst>
                                  <p:childTnLst>
                                    <p:animEffect transition="out" filter="dissolve">
                                      <p:cBhvr>
                                        <p:cTn id="206" dur="500"/>
                                        <p:tgtEl>
                                          <p:spTgt spid="93"/>
                                        </p:tgtEl>
                                      </p:cBhvr>
                                    </p:animEffect>
                                    <p:set>
                                      <p:cBhvr>
                                        <p:cTn id="207" dur="1" fill="hold">
                                          <p:stCondLst>
                                            <p:cond delay="499"/>
                                          </p:stCondLst>
                                        </p:cTn>
                                        <p:tgtEl>
                                          <p:spTgt spid="93"/>
                                        </p:tgtEl>
                                        <p:attrNameLst>
                                          <p:attrName>style.visibility</p:attrName>
                                        </p:attrNameLst>
                                      </p:cBhvr>
                                      <p:to>
                                        <p:strVal val="hidden"/>
                                      </p:to>
                                    </p:set>
                                  </p:childTnLst>
                                </p:cTn>
                              </p:par>
                              <p:par>
                                <p:cTn id="208" presetID="9" presetClass="exit" presetSubtype="0" fill="hold" nodeType="withEffect">
                                  <p:stCondLst>
                                    <p:cond delay="0"/>
                                  </p:stCondLst>
                                  <p:childTnLst>
                                    <p:animEffect transition="out" filter="dissolve">
                                      <p:cBhvr>
                                        <p:cTn id="209" dur="500"/>
                                        <p:tgtEl>
                                          <p:spTgt spid="96"/>
                                        </p:tgtEl>
                                      </p:cBhvr>
                                    </p:animEffect>
                                    <p:set>
                                      <p:cBhvr>
                                        <p:cTn id="210" dur="1" fill="hold">
                                          <p:stCondLst>
                                            <p:cond delay="499"/>
                                          </p:stCondLst>
                                        </p:cTn>
                                        <p:tgtEl>
                                          <p:spTgt spid="96"/>
                                        </p:tgtEl>
                                        <p:attrNameLst>
                                          <p:attrName>style.visibility</p:attrName>
                                        </p:attrNameLst>
                                      </p:cBhvr>
                                      <p:to>
                                        <p:strVal val="hidden"/>
                                      </p:to>
                                    </p:set>
                                  </p:childTnLst>
                                </p:cTn>
                              </p:par>
                              <p:par>
                                <p:cTn id="211" presetID="2" presetClass="entr" presetSubtype="1" fill="hold" grpId="0" nodeType="withEffect">
                                  <p:stCondLst>
                                    <p:cond delay="0"/>
                                  </p:stCondLst>
                                  <p:childTnLst>
                                    <p:set>
                                      <p:cBhvr>
                                        <p:cTn id="212" dur="1" fill="hold">
                                          <p:stCondLst>
                                            <p:cond delay="0"/>
                                          </p:stCondLst>
                                        </p:cTn>
                                        <p:tgtEl>
                                          <p:spTgt spid="98"/>
                                        </p:tgtEl>
                                        <p:attrNameLst>
                                          <p:attrName>style.visibility</p:attrName>
                                        </p:attrNameLst>
                                      </p:cBhvr>
                                      <p:to>
                                        <p:strVal val="visible"/>
                                      </p:to>
                                    </p:set>
                                    <p:anim calcmode="lin" valueType="num">
                                      <p:cBhvr additive="base">
                                        <p:cTn id="213" dur="500" fill="hold"/>
                                        <p:tgtEl>
                                          <p:spTgt spid="98"/>
                                        </p:tgtEl>
                                        <p:attrNameLst>
                                          <p:attrName>ppt_x</p:attrName>
                                        </p:attrNameLst>
                                      </p:cBhvr>
                                      <p:tavLst>
                                        <p:tav tm="0">
                                          <p:val>
                                            <p:strVal val="#ppt_x"/>
                                          </p:val>
                                        </p:tav>
                                        <p:tav tm="100000">
                                          <p:val>
                                            <p:strVal val="#ppt_x"/>
                                          </p:val>
                                        </p:tav>
                                      </p:tavLst>
                                    </p:anim>
                                    <p:anim calcmode="lin" valueType="num">
                                      <p:cBhvr additive="base">
                                        <p:cTn id="214" dur="500" fill="hold"/>
                                        <p:tgtEl>
                                          <p:spTgt spid="98"/>
                                        </p:tgtEl>
                                        <p:attrNameLst>
                                          <p:attrName>ppt_y</p:attrName>
                                        </p:attrNameLst>
                                      </p:cBhvr>
                                      <p:tavLst>
                                        <p:tav tm="0">
                                          <p:val>
                                            <p:strVal val="0-#ppt_h/2"/>
                                          </p:val>
                                        </p:tav>
                                        <p:tav tm="100000">
                                          <p:val>
                                            <p:strVal val="#ppt_y"/>
                                          </p:val>
                                        </p:tav>
                                      </p:tavLst>
                                    </p:anim>
                                  </p:childTnLst>
                                </p:cTn>
                              </p:par>
                            </p:childTnLst>
                          </p:cTn>
                        </p:par>
                      </p:childTnLst>
                    </p:cTn>
                  </p:par>
                  <p:par>
                    <p:cTn id="215" fill="hold">
                      <p:stCondLst>
                        <p:cond delay="indefinite"/>
                      </p:stCondLst>
                      <p:childTnLst>
                        <p:par>
                          <p:cTn id="216" fill="hold">
                            <p:stCondLst>
                              <p:cond delay="0"/>
                            </p:stCondLst>
                            <p:childTnLst>
                              <p:par>
                                <p:cTn id="217" presetID="2" presetClass="entr" presetSubtype="4" fill="hold" grpId="0" nodeType="clickEffect">
                                  <p:stCondLst>
                                    <p:cond delay="0"/>
                                  </p:stCondLst>
                                  <p:childTnLst>
                                    <p:set>
                                      <p:cBhvr>
                                        <p:cTn id="218" dur="1" fill="hold">
                                          <p:stCondLst>
                                            <p:cond delay="0"/>
                                          </p:stCondLst>
                                        </p:cTn>
                                        <p:tgtEl>
                                          <p:spTgt spid="99"/>
                                        </p:tgtEl>
                                        <p:attrNameLst>
                                          <p:attrName>style.visibility</p:attrName>
                                        </p:attrNameLst>
                                      </p:cBhvr>
                                      <p:to>
                                        <p:strVal val="visible"/>
                                      </p:to>
                                    </p:set>
                                    <p:anim calcmode="lin" valueType="num">
                                      <p:cBhvr additive="base">
                                        <p:cTn id="219" dur="500" fill="hold"/>
                                        <p:tgtEl>
                                          <p:spTgt spid="99"/>
                                        </p:tgtEl>
                                        <p:attrNameLst>
                                          <p:attrName>ppt_x</p:attrName>
                                        </p:attrNameLst>
                                      </p:cBhvr>
                                      <p:tavLst>
                                        <p:tav tm="0">
                                          <p:val>
                                            <p:strVal val="#ppt_x"/>
                                          </p:val>
                                        </p:tav>
                                        <p:tav tm="100000">
                                          <p:val>
                                            <p:strVal val="#ppt_x"/>
                                          </p:val>
                                        </p:tav>
                                      </p:tavLst>
                                    </p:anim>
                                    <p:anim calcmode="lin" valueType="num">
                                      <p:cBhvr additive="base">
                                        <p:cTn id="220" dur="500" fill="hold"/>
                                        <p:tgtEl>
                                          <p:spTgt spid="99"/>
                                        </p:tgtEl>
                                        <p:attrNameLst>
                                          <p:attrName>ppt_y</p:attrName>
                                        </p:attrNameLst>
                                      </p:cBhvr>
                                      <p:tavLst>
                                        <p:tav tm="0">
                                          <p:val>
                                            <p:strVal val="1+#ppt_h/2"/>
                                          </p:val>
                                        </p:tav>
                                        <p:tav tm="100000">
                                          <p:val>
                                            <p:strVal val="#ppt_y"/>
                                          </p:val>
                                        </p:tav>
                                      </p:tavLst>
                                    </p:anim>
                                  </p:childTnLst>
                                </p:cTn>
                              </p:par>
                              <p:par>
                                <p:cTn id="221" presetID="2" presetClass="entr" presetSubtype="4" fill="hold" nodeType="withEffect">
                                  <p:stCondLst>
                                    <p:cond delay="0"/>
                                  </p:stCondLst>
                                  <p:childTnLst>
                                    <p:set>
                                      <p:cBhvr>
                                        <p:cTn id="222" dur="1" fill="hold">
                                          <p:stCondLst>
                                            <p:cond delay="0"/>
                                          </p:stCondLst>
                                        </p:cTn>
                                        <p:tgtEl>
                                          <p:spTgt spid="100"/>
                                        </p:tgtEl>
                                        <p:attrNameLst>
                                          <p:attrName>style.visibility</p:attrName>
                                        </p:attrNameLst>
                                      </p:cBhvr>
                                      <p:to>
                                        <p:strVal val="visible"/>
                                      </p:to>
                                    </p:set>
                                    <p:anim calcmode="lin" valueType="num">
                                      <p:cBhvr additive="base">
                                        <p:cTn id="223" dur="500" fill="hold"/>
                                        <p:tgtEl>
                                          <p:spTgt spid="100"/>
                                        </p:tgtEl>
                                        <p:attrNameLst>
                                          <p:attrName>ppt_x</p:attrName>
                                        </p:attrNameLst>
                                      </p:cBhvr>
                                      <p:tavLst>
                                        <p:tav tm="0">
                                          <p:val>
                                            <p:strVal val="#ppt_x"/>
                                          </p:val>
                                        </p:tav>
                                        <p:tav tm="100000">
                                          <p:val>
                                            <p:strVal val="#ppt_x"/>
                                          </p:val>
                                        </p:tav>
                                      </p:tavLst>
                                    </p:anim>
                                    <p:anim calcmode="lin" valueType="num">
                                      <p:cBhvr additive="base">
                                        <p:cTn id="224"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25" fill="hold">
                      <p:stCondLst>
                        <p:cond delay="indefinite"/>
                      </p:stCondLst>
                      <p:childTnLst>
                        <p:par>
                          <p:cTn id="226" fill="hold">
                            <p:stCondLst>
                              <p:cond delay="0"/>
                            </p:stCondLst>
                            <p:childTnLst>
                              <p:par>
                                <p:cTn id="227" presetID="9" presetClass="entr" presetSubtype="0" fill="hold" nodeType="clickEffect">
                                  <p:stCondLst>
                                    <p:cond delay="0"/>
                                  </p:stCondLst>
                                  <p:childTnLst>
                                    <p:set>
                                      <p:cBhvr>
                                        <p:cTn id="228" dur="1" fill="hold">
                                          <p:stCondLst>
                                            <p:cond delay="0"/>
                                          </p:stCondLst>
                                        </p:cTn>
                                        <p:tgtEl>
                                          <p:spTgt spid="68"/>
                                        </p:tgtEl>
                                        <p:attrNameLst>
                                          <p:attrName>style.visibility</p:attrName>
                                        </p:attrNameLst>
                                      </p:cBhvr>
                                      <p:to>
                                        <p:strVal val="visible"/>
                                      </p:to>
                                    </p:set>
                                    <p:animEffect transition="in" filter="dissolve">
                                      <p:cBhvr>
                                        <p:cTn id="229" dur="500"/>
                                        <p:tgtEl>
                                          <p:spTgt spid="68"/>
                                        </p:tgtEl>
                                      </p:cBhvr>
                                    </p:animEffect>
                                  </p:childTnLst>
                                </p:cTn>
                              </p:par>
                              <p:par>
                                <p:cTn id="230" presetID="9" presetClass="exit" presetSubtype="0" fill="hold" nodeType="withEffect">
                                  <p:stCondLst>
                                    <p:cond delay="0"/>
                                  </p:stCondLst>
                                  <p:childTnLst>
                                    <p:animEffect transition="out" filter="dissolve">
                                      <p:cBhvr>
                                        <p:cTn id="231" dur="500"/>
                                        <p:tgtEl>
                                          <p:spTgt spid="100"/>
                                        </p:tgtEl>
                                      </p:cBhvr>
                                    </p:animEffect>
                                    <p:set>
                                      <p:cBhvr>
                                        <p:cTn id="232" dur="1" fill="hold">
                                          <p:stCondLst>
                                            <p:cond delay="499"/>
                                          </p:stCondLst>
                                        </p:cTn>
                                        <p:tgtEl>
                                          <p:spTgt spid="100"/>
                                        </p:tgtEl>
                                        <p:attrNameLst>
                                          <p:attrName>style.visibility</p:attrName>
                                        </p:attrNameLst>
                                      </p:cBhvr>
                                      <p:to>
                                        <p:strVal val="hidden"/>
                                      </p:to>
                                    </p:set>
                                  </p:childTnLst>
                                </p:cTn>
                              </p:par>
                              <p:par>
                                <p:cTn id="233" presetID="9" presetClass="exit" presetSubtype="0" fill="hold" grpId="1" nodeType="withEffect">
                                  <p:stCondLst>
                                    <p:cond delay="0"/>
                                  </p:stCondLst>
                                  <p:childTnLst>
                                    <p:animEffect transition="out" filter="dissolve">
                                      <p:cBhvr>
                                        <p:cTn id="234" dur="500"/>
                                        <p:tgtEl>
                                          <p:spTgt spid="99"/>
                                        </p:tgtEl>
                                      </p:cBhvr>
                                    </p:animEffect>
                                    <p:set>
                                      <p:cBhvr>
                                        <p:cTn id="235" dur="1" fill="hold">
                                          <p:stCondLst>
                                            <p:cond delay="499"/>
                                          </p:stCondLst>
                                        </p:cTn>
                                        <p:tgtEl>
                                          <p:spTgt spid="99"/>
                                        </p:tgtEl>
                                        <p:attrNameLst>
                                          <p:attrName>style.visibility</p:attrName>
                                        </p:attrNameLst>
                                      </p:cBhvr>
                                      <p:to>
                                        <p:strVal val="hidden"/>
                                      </p:to>
                                    </p:set>
                                  </p:childTnLst>
                                </p:cTn>
                              </p:par>
                            </p:childTnLst>
                          </p:cTn>
                        </p:par>
                        <p:par>
                          <p:cTn id="236" fill="hold">
                            <p:stCondLst>
                              <p:cond delay="500"/>
                            </p:stCondLst>
                            <p:childTnLst>
                              <p:par>
                                <p:cTn id="237" presetID="2" presetClass="entr" presetSubtype="4" fill="hold" grpId="0" nodeType="afterEffect">
                                  <p:stCondLst>
                                    <p:cond delay="0"/>
                                  </p:stCondLst>
                                  <p:childTnLst>
                                    <p:set>
                                      <p:cBhvr>
                                        <p:cTn id="238" dur="1" fill="hold">
                                          <p:stCondLst>
                                            <p:cond delay="0"/>
                                          </p:stCondLst>
                                        </p:cTn>
                                        <p:tgtEl>
                                          <p:spTgt spid="101"/>
                                        </p:tgtEl>
                                        <p:attrNameLst>
                                          <p:attrName>style.visibility</p:attrName>
                                        </p:attrNameLst>
                                      </p:cBhvr>
                                      <p:to>
                                        <p:strVal val="visible"/>
                                      </p:to>
                                    </p:set>
                                    <p:anim calcmode="lin" valueType="num">
                                      <p:cBhvr additive="base">
                                        <p:cTn id="239" dur="500" fill="hold"/>
                                        <p:tgtEl>
                                          <p:spTgt spid="101"/>
                                        </p:tgtEl>
                                        <p:attrNameLst>
                                          <p:attrName>ppt_x</p:attrName>
                                        </p:attrNameLst>
                                      </p:cBhvr>
                                      <p:tavLst>
                                        <p:tav tm="0">
                                          <p:val>
                                            <p:strVal val="#ppt_x"/>
                                          </p:val>
                                        </p:tav>
                                        <p:tav tm="100000">
                                          <p:val>
                                            <p:strVal val="#ppt_x"/>
                                          </p:val>
                                        </p:tav>
                                      </p:tavLst>
                                    </p:anim>
                                    <p:anim calcmode="lin" valueType="num">
                                      <p:cBhvr additive="base">
                                        <p:cTn id="240" dur="500" fill="hold"/>
                                        <p:tgtEl>
                                          <p:spTgt spid="101"/>
                                        </p:tgtEl>
                                        <p:attrNameLst>
                                          <p:attrName>ppt_y</p:attrName>
                                        </p:attrNameLst>
                                      </p:cBhvr>
                                      <p:tavLst>
                                        <p:tav tm="0">
                                          <p:val>
                                            <p:strVal val="1+#ppt_h/2"/>
                                          </p:val>
                                        </p:tav>
                                        <p:tav tm="100000">
                                          <p:val>
                                            <p:strVal val="#ppt_y"/>
                                          </p:val>
                                        </p:tav>
                                      </p:tavLst>
                                    </p:anim>
                                  </p:childTnLst>
                                </p:cTn>
                              </p:par>
                              <p:par>
                                <p:cTn id="241" presetID="2" presetClass="entr" presetSubtype="4" fill="hold" grpId="0" nodeType="withEffect">
                                  <p:stCondLst>
                                    <p:cond delay="0"/>
                                  </p:stCondLst>
                                  <p:childTnLst>
                                    <p:set>
                                      <p:cBhvr>
                                        <p:cTn id="242" dur="1" fill="hold">
                                          <p:stCondLst>
                                            <p:cond delay="0"/>
                                          </p:stCondLst>
                                        </p:cTn>
                                        <p:tgtEl>
                                          <p:spTgt spid="102"/>
                                        </p:tgtEl>
                                        <p:attrNameLst>
                                          <p:attrName>style.visibility</p:attrName>
                                        </p:attrNameLst>
                                      </p:cBhvr>
                                      <p:to>
                                        <p:strVal val="visible"/>
                                      </p:to>
                                    </p:set>
                                    <p:anim calcmode="lin" valueType="num">
                                      <p:cBhvr additive="base">
                                        <p:cTn id="243" dur="500" fill="hold"/>
                                        <p:tgtEl>
                                          <p:spTgt spid="102"/>
                                        </p:tgtEl>
                                        <p:attrNameLst>
                                          <p:attrName>ppt_x</p:attrName>
                                        </p:attrNameLst>
                                      </p:cBhvr>
                                      <p:tavLst>
                                        <p:tav tm="0">
                                          <p:val>
                                            <p:strVal val="#ppt_x"/>
                                          </p:val>
                                        </p:tav>
                                        <p:tav tm="100000">
                                          <p:val>
                                            <p:strVal val="#ppt_x"/>
                                          </p:val>
                                        </p:tav>
                                      </p:tavLst>
                                    </p:anim>
                                    <p:anim calcmode="lin" valueType="num">
                                      <p:cBhvr additive="base">
                                        <p:cTn id="244" dur="500" fill="hold"/>
                                        <p:tgtEl>
                                          <p:spTgt spid="102"/>
                                        </p:tgtEl>
                                        <p:attrNameLst>
                                          <p:attrName>ppt_y</p:attrName>
                                        </p:attrNameLst>
                                      </p:cBhvr>
                                      <p:tavLst>
                                        <p:tav tm="0">
                                          <p:val>
                                            <p:strVal val="1+#ppt_h/2"/>
                                          </p:val>
                                        </p:tav>
                                        <p:tav tm="100000">
                                          <p:val>
                                            <p:strVal val="#ppt_y"/>
                                          </p:val>
                                        </p:tav>
                                      </p:tavLst>
                                    </p:anim>
                                  </p:childTnLst>
                                </p:cTn>
                              </p:par>
                              <p:par>
                                <p:cTn id="245" presetID="2" presetClass="entr" presetSubtype="1" fill="hold" grpId="0" nodeType="withEffect">
                                  <p:stCondLst>
                                    <p:cond delay="0"/>
                                  </p:stCondLst>
                                  <p:childTnLst>
                                    <p:set>
                                      <p:cBhvr>
                                        <p:cTn id="246" dur="1" fill="hold">
                                          <p:stCondLst>
                                            <p:cond delay="0"/>
                                          </p:stCondLst>
                                        </p:cTn>
                                        <p:tgtEl>
                                          <p:spTgt spid="104"/>
                                        </p:tgtEl>
                                        <p:attrNameLst>
                                          <p:attrName>style.visibility</p:attrName>
                                        </p:attrNameLst>
                                      </p:cBhvr>
                                      <p:to>
                                        <p:strVal val="visible"/>
                                      </p:to>
                                    </p:set>
                                    <p:anim calcmode="lin" valueType="num">
                                      <p:cBhvr additive="base">
                                        <p:cTn id="247" dur="500" fill="hold"/>
                                        <p:tgtEl>
                                          <p:spTgt spid="104"/>
                                        </p:tgtEl>
                                        <p:attrNameLst>
                                          <p:attrName>ppt_x</p:attrName>
                                        </p:attrNameLst>
                                      </p:cBhvr>
                                      <p:tavLst>
                                        <p:tav tm="0">
                                          <p:val>
                                            <p:strVal val="#ppt_x"/>
                                          </p:val>
                                        </p:tav>
                                        <p:tav tm="100000">
                                          <p:val>
                                            <p:strVal val="#ppt_x"/>
                                          </p:val>
                                        </p:tav>
                                      </p:tavLst>
                                    </p:anim>
                                    <p:anim calcmode="lin" valueType="num">
                                      <p:cBhvr additive="base">
                                        <p:cTn id="248" dur="500" fill="hold"/>
                                        <p:tgtEl>
                                          <p:spTgt spid="104"/>
                                        </p:tgtEl>
                                        <p:attrNameLst>
                                          <p:attrName>ppt_y</p:attrName>
                                        </p:attrNameLst>
                                      </p:cBhvr>
                                      <p:tavLst>
                                        <p:tav tm="0">
                                          <p:val>
                                            <p:strVal val="0-#ppt_h/2"/>
                                          </p:val>
                                        </p:tav>
                                        <p:tav tm="100000">
                                          <p:val>
                                            <p:strVal val="#ppt_y"/>
                                          </p:val>
                                        </p:tav>
                                      </p:tavLst>
                                    </p:anim>
                                  </p:childTnLst>
                                </p:cTn>
                              </p:par>
                              <p:par>
                                <p:cTn id="249" presetID="2" presetClass="entr" presetSubtype="1" fill="hold" nodeType="withEffect">
                                  <p:stCondLst>
                                    <p:cond delay="0"/>
                                  </p:stCondLst>
                                  <p:childTnLst>
                                    <p:set>
                                      <p:cBhvr>
                                        <p:cTn id="250" dur="1" fill="hold">
                                          <p:stCondLst>
                                            <p:cond delay="0"/>
                                          </p:stCondLst>
                                        </p:cTn>
                                        <p:tgtEl>
                                          <p:spTgt spid="106"/>
                                        </p:tgtEl>
                                        <p:attrNameLst>
                                          <p:attrName>style.visibility</p:attrName>
                                        </p:attrNameLst>
                                      </p:cBhvr>
                                      <p:to>
                                        <p:strVal val="visible"/>
                                      </p:to>
                                    </p:set>
                                    <p:anim calcmode="lin" valueType="num">
                                      <p:cBhvr additive="base">
                                        <p:cTn id="251" dur="500" fill="hold"/>
                                        <p:tgtEl>
                                          <p:spTgt spid="106"/>
                                        </p:tgtEl>
                                        <p:attrNameLst>
                                          <p:attrName>ppt_x</p:attrName>
                                        </p:attrNameLst>
                                      </p:cBhvr>
                                      <p:tavLst>
                                        <p:tav tm="0">
                                          <p:val>
                                            <p:strVal val="#ppt_x"/>
                                          </p:val>
                                        </p:tav>
                                        <p:tav tm="100000">
                                          <p:val>
                                            <p:strVal val="#ppt_x"/>
                                          </p:val>
                                        </p:tav>
                                      </p:tavLst>
                                    </p:anim>
                                    <p:anim calcmode="lin" valueType="num">
                                      <p:cBhvr additive="base">
                                        <p:cTn id="252" dur="500" fill="hold"/>
                                        <p:tgtEl>
                                          <p:spTgt spid="106"/>
                                        </p:tgtEl>
                                        <p:attrNameLst>
                                          <p:attrName>ppt_y</p:attrName>
                                        </p:attrNameLst>
                                      </p:cBhvr>
                                      <p:tavLst>
                                        <p:tav tm="0">
                                          <p:val>
                                            <p:strVal val="0-#ppt_h/2"/>
                                          </p:val>
                                        </p:tav>
                                        <p:tav tm="100000">
                                          <p:val>
                                            <p:strVal val="#ppt_y"/>
                                          </p:val>
                                        </p:tav>
                                      </p:tavLst>
                                    </p:anim>
                                  </p:childTnLst>
                                </p:cTn>
                              </p:par>
                            </p:childTnLst>
                          </p:cTn>
                        </p:par>
                        <p:par>
                          <p:cTn id="253" fill="hold">
                            <p:stCondLst>
                              <p:cond delay="1000"/>
                            </p:stCondLst>
                            <p:childTnLst>
                              <p:par>
                                <p:cTn id="254" presetID="2" presetClass="entr" presetSubtype="8" fill="hold" nodeType="afterEffect">
                                  <p:stCondLst>
                                    <p:cond delay="0"/>
                                  </p:stCondLst>
                                  <p:childTnLst>
                                    <p:set>
                                      <p:cBhvr>
                                        <p:cTn id="255" dur="1" fill="hold">
                                          <p:stCondLst>
                                            <p:cond delay="0"/>
                                          </p:stCondLst>
                                        </p:cTn>
                                        <p:tgtEl>
                                          <p:spTgt spid="105"/>
                                        </p:tgtEl>
                                        <p:attrNameLst>
                                          <p:attrName>style.visibility</p:attrName>
                                        </p:attrNameLst>
                                      </p:cBhvr>
                                      <p:to>
                                        <p:strVal val="visible"/>
                                      </p:to>
                                    </p:set>
                                    <p:anim calcmode="lin" valueType="num">
                                      <p:cBhvr additive="base">
                                        <p:cTn id="256" dur="500" fill="hold"/>
                                        <p:tgtEl>
                                          <p:spTgt spid="105"/>
                                        </p:tgtEl>
                                        <p:attrNameLst>
                                          <p:attrName>ppt_x</p:attrName>
                                        </p:attrNameLst>
                                      </p:cBhvr>
                                      <p:tavLst>
                                        <p:tav tm="0">
                                          <p:val>
                                            <p:strVal val="0-#ppt_w/2"/>
                                          </p:val>
                                        </p:tav>
                                        <p:tav tm="100000">
                                          <p:val>
                                            <p:strVal val="#ppt_x"/>
                                          </p:val>
                                        </p:tav>
                                      </p:tavLst>
                                    </p:anim>
                                    <p:anim calcmode="lin" valueType="num">
                                      <p:cBhvr additive="base">
                                        <p:cTn id="257" dur="500" fill="hold"/>
                                        <p:tgtEl>
                                          <p:spTgt spid="105"/>
                                        </p:tgtEl>
                                        <p:attrNameLst>
                                          <p:attrName>ppt_y</p:attrName>
                                        </p:attrNameLst>
                                      </p:cBhvr>
                                      <p:tavLst>
                                        <p:tav tm="0">
                                          <p:val>
                                            <p:strVal val="#ppt_y"/>
                                          </p:val>
                                        </p:tav>
                                        <p:tav tm="100000">
                                          <p:val>
                                            <p:strVal val="#ppt_y"/>
                                          </p:val>
                                        </p:tav>
                                      </p:tavLst>
                                    </p:anim>
                                  </p:childTnLst>
                                </p:cTn>
                              </p:par>
                            </p:childTnLst>
                          </p:cTn>
                        </p:par>
                      </p:childTnLst>
                    </p:cTn>
                  </p:par>
                  <p:par>
                    <p:cTn id="258" fill="hold">
                      <p:stCondLst>
                        <p:cond delay="indefinite"/>
                      </p:stCondLst>
                      <p:childTnLst>
                        <p:par>
                          <p:cTn id="259" fill="hold">
                            <p:stCondLst>
                              <p:cond delay="0"/>
                            </p:stCondLst>
                            <p:childTnLst>
                              <p:par>
                                <p:cTn id="260" presetID="2" presetClass="entr" presetSubtype="4" fill="hold" nodeType="clickEffect">
                                  <p:stCondLst>
                                    <p:cond delay="0"/>
                                  </p:stCondLst>
                                  <p:childTnLst>
                                    <p:set>
                                      <p:cBhvr>
                                        <p:cTn id="261" dur="1" fill="hold">
                                          <p:stCondLst>
                                            <p:cond delay="0"/>
                                          </p:stCondLst>
                                        </p:cTn>
                                        <p:tgtEl>
                                          <p:spTgt spid="108"/>
                                        </p:tgtEl>
                                        <p:attrNameLst>
                                          <p:attrName>style.visibility</p:attrName>
                                        </p:attrNameLst>
                                      </p:cBhvr>
                                      <p:to>
                                        <p:strVal val="visible"/>
                                      </p:to>
                                    </p:set>
                                    <p:anim calcmode="lin" valueType="num">
                                      <p:cBhvr additive="base">
                                        <p:cTn id="262" dur="500" fill="hold"/>
                                        <p:tgtEl>
                                          <p:spTgt spid="108"/>
                                        </p:tgtEl>
                                        <p:attrNameLst>
                                          <p:attrName>ppt_x</p:attrName>
                                        </p:attrNameLst>
                                      </p:cBhvr>
                                      <p:tavLst>
                                        <p:tav tm="0">
                                          <p:val>
                                            <p:strVal val="#ppt_x"/>
                                          </p:val>
                                        </p:tav>
                                        <p:tav tm="100000">
                                          <p:val>
                                            <p:strVal val="#ppt_x"/>
                                          </p:val>
                                        </p:tav>
                                      </p:tavLst>
                                    </p:anim>
                                    <p:anim calcmode="lin" valueType="num">
                                      <p:cBhvr additive="base">
                                        <p:cTn id="263" dur="500" fill="hold"/>
                                        <p:tgtEl>
                                          <p:spTgt spid="108"/>
                                        </p:tgtEl>
                                        <p:attrNameLst>
                                          <p:attrName>ppt_y</p:attrName>
                                        </p:attrNameLst>
                                      </p:cBhvr>
                                      <p:tavLst>
                                        <p:tav tm="0">
                                          <p:val>
                                            <p:strVal val="1+#ppt_h/2"/>
                                          </p:val>
                                        </p:tav>
                                        <p:tav tm="100000">
                                          <p:val>
                                            <p:strVal val="#ppt_y"/>
                                          </p:val>
                                        </p:tav>
                                      </p:tavLst>
                                    </p:anim>
                                  </p:childTnLst>
                                </p:cTn>
                              </p:par>
                              <p:par>
                                <p:cTn id="264" presetID="2" presetClass="entr" presetSubtype="1" fill="hold" nodeType="withEffect">
                                  <p:stCondLst>
                                    <p:cond delay="0"/>
                                  </p:stCondLst>
                                  <p:childTnLst>
                                    <p:set>
                                      <p:cBhvr>
                                        <p:cTn id="265" dur="1" fill="hold">
                                          <p:stCondLst>
                                            <p:cond delay="0"/>
                                          </p:stCondLst>
                                        </p:cTn>
                                        <p:tgtEl>
                                          <p:spTgt spid="109"/>
                                        </p:tgtEl>
                                        <p:attrNameLst>
                                          <p:attrName>style.visibility</p:attrName>
                                        </p:attrNameLst>
                                      </p:cBhvr>
                                      <p:to>
                                        <p:strVal val="visible"/>
                                      </p:to>
                                    </p:set>
                                    <p:anim calcmode="lin" valueType="num">
                                      <p:cBhvr additive="base">
                                        <p:cTn id="266" dur="500" fill="hold"/>
                                        <p:tgtEl>
                                          <p:spTgt spid="109"/>
                                        </p:tgtEl>
                                        <p:attrNameLst>
                                          <p:attrName>ppt_x</p:attrName>
                                        </p:attrNameLst>
                                      </p:cBhvr>
                                      <p:tavLst>
                                        <p:tav tm="0">
                                          <p:val>
                                            <p:strVal val="#ppt_x"/>
                                          </p:val>
                                        </p:tav>
                                        <p:tav tm="100000">
                                          <p:val>
                                            <p:strVal val="#ppt_x"/>
                                          </p:val>
                                        </p:tav>
                                      </p:tavLst>
                                    </p:anim>
                                    <p:anim calcmode="lin" valueType="num">
                                      <p:cBhvr additive="base">
                                        <p:cTn id="267" dur="500" fill="hold"/>
                                        <p:tgtEl>
                                          <p:spTgt spid="109"/>
                                        </p:tgtEl>
                                        <p:attrNameLst>
                                          <p:attrName>ppt_y</p:attrName>
                                        </p:attrNameLst>
                                      </p:cBhvr>
                                      <p:tavLst>
                                        <p:tav tm="0">
                                          <p:val>
                                            <p:strVal val="0-#ppt_h/2"/>
                                          </p:val>
                                        </p:tav>
                                        <p:tav tm="100000">
                                          <p:val>
                                            <p:strVal val="#ppt_y"/>
                                          </p:val>
                                        </p:tav>
                                      </p:tavLst>
                                    </p:anim>
                                  </p:childTnLst>
                                </p:cTn>
                              </p:par>
                              <p:par>
                                <p:cTn id="268" presetID="2" presetClass="entr" presetSubtype="1" fill="hold" grpId="0" nodeType="withEffect">
                                  <p:stCondLst>
                                    <p:cond delay="0"/>
                                  </p:stCondLst>
                                  <p:childTnLst>
                                    <p:set>
                                      <p:cBhvr>
                                        <p:cTn id="269" dur="1" fill="hold">
                                          <p:stCondLst>
                                            <p:cond delay="0"/>
                                          </p:stCondLst>
                                        </p:cTn>
                                        <p:tgtEl>
                                          <p:spTgt spid="110"/>
                                        </p:tgtEl>
                                        <p:attrNameLst>
                                          <p:attrName>style.visibility</p:attrName>
                                        </p:attrNameLst>
                                      </p:cBhvr>
                                      <p:to>
                                        <p:strVal val="visible"/>
                                      </p:to>
                                    </p:set>
                                    <p:anim calcmode="lin" valueType="num">
                                      <p:cBhvr additive="base">
                                        <p:cTn id="270" dur="500" fill="hold"/>
                                        <p:tgtEl>
                                          <p:spTgt spid="110"/>
                                        </p:tgtEl>
                                        <p:attrNameLst>
                                          <p:attrName>ppt_x</p:attrName>
                                        </p:attrNameLst>
                                      </p:cBhvr>
                                      <p:tavLst>
                                        <p:tav tm="0">
                                          <p:val>
                                            <p:strVal val="#ppt_x"/>
                                          </p:val>
                                        </p:tav>
                                        <p:tav tm="100000">
                                          <p:val>
                                            <p:strVal val="#ppt_x"/>
                                          </p:val>
                                        </p:tav>
                                      </p:tavLst>
                                    </p:anim>
                                    <p:anim calcmode="lin" valueType="num">
                                      <p:cBhvr additive="base">
                                        <p:cTn id="271" dur="500" fill="hold"/>
                                        <p:tgtEl>
                                          <p:spTgt spid="110"/>
                                        </p:tgtEl>
                                        <p:attrNameLst>
                                          <p:attrName>ppt_y</p:attrName>
                                        </p:attrNameLst>
                                      </p:cBhvr>
                                      <p:tavLst>
                                        <p:tav tm="0">
                                          <p:val>
                                            <p:strVal val="0-#ppt_h/2"/>
                                          </p:val>
                                        </p:tav>
                                        <p:tav tm="100000">
                                          <p:val>
                                            <p:strVal val="#ppt_y"/>
                                          </p:val>
                                        </p:tav>
                                      </p:tavLst>
                                    </p:anim>
                                  </p:childTnLst>
                                </p:cTn>
                              </p:par>
                              <p:par>
                                <p:cTn id="272" presetID="2" presetClass="entr" presetSubtype="4" fill="hold" nodeType="withEffect">
                                  <p:stCondLst>
                                    <p:cond delay="0"/>
                                  </p:stCondLst>
                                  <p:childTnLst>
                                    <p:set>
                                      <p:cBhvr>
                                        <p:cTn id="273" dur="1" fill="hold">
                                          <p:stCondLst>
                                            <p:cond delay="0"/>
                                          </p:stCondLst>
                                        </p:cTn>
                                        <p:tgtEl>
                                          <p:spTgt spid="112"/>
                                        </p:tgtEl>
                                        <p:attrNameLst>
                                          <p:attrName>style.visibility</p:attrName>
                                        </p:attrNameLst>
                                      </p:cBhvr>
                                      <p:to>
                                        <p:strVal val="visible"/>
                                      </p:to>
                                    </p:set>
                                    <p:anim calcmode="lin" valueType="num">
                                      <p:cBhvr additive="base">
                                        <p:cTn id="274" dur="500" fill="hold"/>
                                        <p:tgtEl>
                                          <p:spTgt spid="112"/>
                                        </p:tgtEl>
                                        <p:attrNameLst>
                                          <p:attrName>ppt_x</p:attrName>
                                        </p:attrNameLst>
                                      </p:cBhvr>
                                      <p:tavLst>
                                        <p:tav tm="0">
                                          <p:val>
                                            <p:strVal val="#ppt_x"/>
                                          </p:val>
                                        </p:tav>
                                        <p:tav tm="100000">
                                          <p:val>
                                            <p:strVal val="#ppt_x"/>
                                          </p:val>
                                        </p:tav>
                                      </p:tavLst>
                                    </p:anim>
                                    <p:anim calcmode="lin" valueType="num">
                                      <p:cBhvr additive="base">
                                        <p:cTn id="275" dur="500" fill="hold"/>
                                        <p:tgtEl>
                                          <p:spTgt spid="112"/>
                                        </p:tgtEl>
                                        <p:attrNameLst>
                                          <p:attrName>ppt_y</p:attrName>
                                        </p:attrNameLst>
                                      </p:cBhvr>
                                      <p:tavLst>
                                        <p:tav tm="0">
                                          <p:val>
                                            <p:strVal val="1+#ppt_h/2"/>
                                          </p:val>
                                        </p:tav>
                                        <p:tav tm="100000">
                                          <p:val>
                                            <p:strVal val="#ppt_y"/>
                                          </p:val>
                                        </p:tav>
                                      </p:tavLst>
                                    </p:anim>
                                  </p:childTnLst>
                                </p:cTn>
                              </p:par>
                              <p:par>
                                <p:cTn id="276" presetID="2" presetClass="entr" presetSubtype="4" fill="hold" grpId="0" nodeType="withEffect">
                                  <p:stCondLst>
                                    <p:cond delay="0"/>
                                  </p:stCondLst>
                                  <p:childTnLst>
                                    <p:set>
                                      <p:cBhvr>
                                        <p:cTn id="277" dur="1" fill="hold">
                                          <p:stCondLst>
                                            <p:cond delay="0"/>
                                          </p:stCondLst>
                                        </p:cTn>
                                        <p:tgtEl>
                                          <p:spTgt spid="113"/>
                                        </p:tgtEl>
                                        <p:attrNameLst>
                                          <p:attrName>style.visibility</p:attrName>
                                        </p:attrNameLst>
                                      </p:cBhvr>
                                      <p:to>
                                        <p:strVal val="visible"/>
                                      </p:to>
                                    </p:set>
                                    <p:anim calcmode="lin" valueType="num">
                                      <p:cBhvr additive="base">
                                        <p:cTn id="278" dur="500" fill="hold"/>
                                        <p:tgtEl>
                                          <p:spTgt spid="113"/>
                                        </p:tgtEl>
                                        <p:attrNameLst>
                                          <p:attrName>ppt_x</p:attrName>
                                        </p:attrNameLst>
                                      </p:cBhvr>
                                      <p:tavLst>
                                        <p:tav tm="0">
                                          <p:val>
                                            <p:strVal val="#ppt_x"/>
                                          </p:val>
                                        </p:tav>
                                        <p:tav tm="100000">
                                          <p:val>
                                            <p:strVal val="#ppt_x"/>
                                          </p:val>
                                        </p:tav>
                                      </p:tavLst>
                                    </p:anim>
                                    <p:anim calcmode="lin" valueType="num">
                                      <p:cBhvr additive="base">
                                        <p:cTn id="279" dur="500" fill="hold"/>
                                        <p:tgtEl>
                                          <p:spTgt spid="113"/>
                                        </p:tgtEl>
                                        <p:attrNameLst>
                                          <p:attrName>ppt_y</p:attrName>
                                        </p:attrNameLst>
                                      </p:cBhvr>
                                      <p:tavLst>
                                        <p:tav tm="0">
                                          <p:val>
                                            <p:strVal val="1+#ppt_h/2"/>
                                          </p:val>
                                        </p:tav>
                                        <p:tav tm="100000">
                                          <p:val>
                                            <p:strVal val="#ppt_y"/>
                                          </p:val>
                                        </p:tav>
                                      </p:tavLst>
                                    </p:anim>
                                  </p:childTnLst>
                                </p:cTn>
                              </p:par>
                            </p:childTnLst>
                          </p:cTn>
                        </p:par>
                      </p:childTnLst>
                    </p:cTn>
                  </p:par>
                  <p:par>
                    <p:cTn id="280" fill="hold">
                      <p:stCondLst>
                        <p:cond delay="indefinite"/>
                      </p:stCondLst>
                      <p:childTnLst>
                        <p:par>
                          <p:cTn id="281" fill="hold">
                            <p:stCondLst>
                              <p:cond delay="0"/>
                            </p:stCondLst>
                            <p:childTnLst>
                              <p:par>
                                <p:cTn id="282" presetID="2" presetClass="entr" presetSubtype="4" fill="hold" grpId="0" nodeType="clickEffect">
                                  <p:stCondLst>
                                    <p:cond delay="0"/>
                                  </p:stCondLst>
                                  <p:childTnLst>
                                    <p:set>
                                      <p:cBhvr>
                                        <p:cTn id="283" dur="1" fill="hold">
                                          <p:stCondLst>
                                            <p:cond delay="0"/>
                                          </p:stCondLst>
                                        </p:cTn>
                                        <p:tgtEl>
                                          <p:spTgt spid="48"/>
                                        </p:tgtEl>
                                        <p:attrNameLst>
                                          <p:attrName>style.visibility</p:attrName>
                                        </p:attrNameLst>
                                      </p:cBhvr>
                                      <p:to>
                                        <p:strVal val="visible"/>
                                      </p:to>
                                    </p:set>
                                    <p:anim calcmode="lin" valueType="num">
                                      <p:cBhvr additive="base">
                                        <p:cTn id="284" dur="500" fill="hold"/>
                                        <p:tgtEl>
                                          <p:spTgt spid="48"/>
                                        </p:tgtEl>
                                        <p:attrNameLst>
                                          <p:attrName>ppt_x</p:attrName>
                                        </p:attrNameLst>
                                      </p:cBhvr>
                                      <p:tavLst>
                                        <p:tav tm="0">
                                          <p:val>
                                            <p:strVal val="#ppt_x"/>
                                          </p:val>
                                        </p:tav>
                                        <p:tav tm="100000">
                                          <p:val>
                                            <p:strVal val="#ppt_x"/>
                                          </p:val>
                                        </p:tav>
                                      </p:tavLst>
                                    </p:anim>
                                    <p:anim calcmode="lin" valueType="num">
                                      <p:cBhvr additive="base">
                                        <p:cTn id="285" dur="500" fill="hold"/>
                                        <p:tgtEl>
                                          <p:spTgt spid="48"/>
                                        </p:tgtEl>
                                        <p:attrNameLst>
                                          <p:attrName>ppt_y</p:attrName>
                                        </p:attrNameLst>
                                      </p:cBhvr>
                                      <p:tavLst>
                                        <p:tav tm="0">
                                          <p:val>
                                            <p:strVal val="1+#ppt_h/2"/>
                                          </p:val>
                                        </p:tav>
                                        <p:tav tm="100000">
                                          <p:val>
                                            <p:strVal val="#ppt_y"/>
                                          </p:val>
                                        </p:tav>
                                      </p:tavLst>
                                    </p:anim>
                                  </p:childTnLst>
                                </p:cTn>
                              </p:par>
                              <p:par>
                                <p:cTn id="286" presetID="2" presetClass="entr" presetSubtype="4" fill="hold" nodeType="withEffect">
                                  <p:stCondLst>
                                    <p:cond delay="0"/>
                                  </p:stCondLst>
                                  <p:childTnLst>
                                    <p:set>
                                      <p:cBhvr>
                                        <p:cTn id="287" dur="1" fill="hold">
                                          <p:stCondLst>
                                            <p:cond delay="0"/>
                                          </p:stCondLst>
                                        </p:cTn>
                                        <p:tgtEl>
                                          <p:spTgt spid="49"/>
                                        </p:tgtEl>
                                        <p:attrNameLst>
                                          <p:attrName>style.visibility</p:attrName>
                                        </p:attrNameLst>
                                      </p:cBhvr>
                                      <p:to>
                                        <p:strVal val="visible"/>
                                      </p:to>
                                    </p:set>
                                    <p:anim calcmode="lin" valueType="num">
                                      <p:cBhvr additive="base">
                                        <p:cTn id="288" dur="500" fill="hold"/>
                                        <p:tgtEl>
                                          <p:spTgt spid="49"/>
                                        </p:tgtEl>
                                        <p:attrNameLst>
                                          <p:attrName>ppt_x</p:attrName>
                                        </p:attrNameLst>
                                      </p:cBhvr>
                                      <p:tavLst>
                                        <p:tav tm="0">
                                          <p:val>
                                            <p:strVal val="#ppt_x"/>
                                          </p:val>
                                        </p:tav>
                                        <p:tav tm="100000">
                                          <p:val>
                                            <p:strVal val="#ppt_x"/>
                                          </p:val>
                                        </p:tav>
                                      </p:tavLst>
                                    </p:anim>
                                    <p:anim calcmode="lin" valueType="num">
                                      <p:cBhvr additive="base">
                                        <p:cTn id="289"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1" grpId="1" animBg="1"/>
      <p:bldP spid="72" grpId="0" animBg="1"/>
      <p:bldP spid="72" grpId="1" animBg="1"/>
      <p:bldP spid="73" grpId="0" animBg="1"/>
      <p:bldP spid="73" grpId="1" animBg="1"/>
      <p:bldP spid="74" grpId="0" animBg="1"/>
      <p:bldP spid="74" grpId="1" animBg="1"/>
      <p:bldP spid="75" grpId="0" animBg="1"/>
      <p:bldP spid="75" grpId="1" animBg="1"/>
      <p:bldP spid="76" grpId="0" animBg="1"/>
      <p:bldP spid="76" grpId="1" animBg="1"/>
      <p:bldP spid="77" grpId="0" animBg="1"/>
      <p:bldP spid="77" grpId="1" animBg="1"/>
      <p:bldP spid="78" grpId="0" animBg="1"/>
      <p:bldP spid="78" grpId="1" animBg="1"/>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P spid="84" grpId="0" animBg="1"/>
      <p:bldP spid="84" grpId="1" animBg="1"/>
      <p:bldP spid="85" grpId="0" animBg="1"/>
      <p:bldP spid="85" grpId="1" animBg="1"/>
      <p:bldP spid="86" grpId="0" animBg="1"/>
      <p:bldP spid="86" grpId="1" animBg="1"/>
      <p:bldP spid="87" grpId="0" animBg="1"/>
      <p:bldP spid="87" grpId="1" animBg="1"/>
      <p:bldP spid="88" grpId="0" animBg="1"/>
      <p:bldP spid="88" grpId="1" animBg="1"/>
      <p:bldP spid="89" grpId="0" animBg="1"/>
      <p:bldP spid="89" grpId="1" animBg="1"/>
      <p:bldP spid="90" grpId="0" animBg="1"/>
      <p:bldP spid="90" grpId="1" animBg="1"/>
      <p:bldP spid="91" grpId="0" animBg="1"/>
      <p:bldP spid="92" grpId="0"/>
      <p:bldP spid="93" grpId="0"/>
      <p:bldP spid="93" grpId="1"/>
      <p:bldP spid="94" grpId="0"/>
      <p:bldP spid="98" grpId="0"/>
      <p:bldP spid="99" grpId="0" animBg="1"/>
      <p:bldP spid="99" grpId="1" animBg="1"/>
      <p:bldP spid="101" grpId="0"/>
      <p:bldP spid="102" grpId="0" animBg="1"/>
      <p:bldP spid="104" grpId="0"/>
      <p:bldP spid="110" grpId="0"/>
      <p:bldP spid="113" grpId="0"/>
      <p:bldP spid="4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4"/>
          <p:cNvSpPr>
            <a:spLocks noChangeArrowheads="1"/>
          </p:cNvSpPr>
          <p:nvPr/>
        </p:nvSpPr>
        <p:spPr bwMode="auto">
          <a:xfrm>
            <a:off x="231775" y="120134"/>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Hypothesis Testing</a:t>
            </a:r>
          </a:p>
        </p:txBody>
      </p:sp>
      <p:sp>
        <p:nvSpPr>
          <p:cNvPr id="5" name="Rectangle 5"/>
          <p:cNvSpPr>
            <a:spLocks noChangeArrowheads="1"/>
          </p:cNvSpPr>
          <p:nvPr/>
        </p:nvSpPr>
        <p:spPr bwMode="auto">
          <a:xfrm>
            <a:off x="228600" y="1094859"/>
            <a:ext cx="8686800" cy="5578475"/>
          </a:xfrm>
          <a:prstGeom prst="rect">
            <a:avLst/>
          </a:prstGeom>
          <a:noFill/>
          <a:ln w="9525">
            <a:noFill/>
            <a:round/>
            <a:headEnd/>
            <a:tailEnd/>
          </a:ln>
        </p:spPr>
        <p:txBody>
          <a:bodyPr lIns="0" tIns="0" rIns="0" bIns="0"/>
          <a:lstStyle/>
          <a:p>
            <a:pPr marL="430213"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3200" dirty="0">
                <a:solidFill>
                  <a:srgbClr val="000000"/>
                </a:solidFill>
                <a:latin typeface="Times New Roman" pitchFamily="18" charset="0"/>
              </a:rPr>
              <a:t>A </a:t>
            </a:r>
            <a:r>
              <a:rPr lang="en-GB" sz="3200" b="1" dirty="0">
                <a:solidFill>
                  <a:srgbClr val="000000"/>
                </a:solidFill>
                <a:latin typeface="Times New Roman" pitchFamily="18" charset="0"/>
              </a:rPr>
              <a:t>hypothesis</a:t>
            </a:r>
            <a:r>
              <a:rPr lang="en-GB" sz="3200" dirty="0">
                <a:solidFill>
                  <a:srgbClr val="000000"/>
                </a:solidFill>
                <a:latin typeface="Times New Roman" pitchFamily="18" charset="0"/>
              </a:rPr>
              <a:t> is an assumption about a parameter.</a:t>
            </a:r>
          </a:p>
        </p:txBody>
      </p:sp>
      <p:pic>
        <p:nvPicPr>
          <p:cNvPr id="9" name="Picture 8"/>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10" name="Rectangle 5"/>
          <p:cNvSpPr>
            <a:spLocks noChangeArrowheads="1"/>
          </p:cNvSpPr>
          <p:nvPr/>
        </p:nvSpPr>
        <p:spPr bwMode="auto">
          <a:xfrm>
            <a:off x="381000" y="1848838"/>
            <a:ext cx="8686800" cy="1399687"/>
          </a:xfrm>
          <a:prstGeom prst="rect">
            <a:avLst/>
          </a:prstGeom>
          <a:noFill/>
          <a:ln w="9525">
            <a:noFill/>
            <a:round/>
            <a:headEnd/>
            <a:tailEnd/>
          </a:ln>
        </p:spPr>
        <p:txBody>
          <a:bodyPr lIns="0" tIns="0" rIns="0" bIns="0"/>
          <a:lstStyle/>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Form a hypothesis about the parameter</a:t>
            </a:r>
          </a:p>
          <a:p>
            <a:pPr marL="1344613" lvl="2"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H</a:t>
            </a:r>
            <a:r>
              <a:rPr lang="en-GB" sz="2400" baseline="-25000" dirty="0">
                <a:solidFill>
                  <a:srgbClr val="000000"/>
                </a:solidFill>
                <a:latin typeface="Times New Roman" pitchFamily="18" charset="0"/>
              </a:rPr>
              <a:t>0</a:t>
            </a:r>
            <a:r>
              <a:rPr lang="en-GB" sz="2400" dirty="0">
                <a:solidFill>
                  <a:srgbClr val="000000"/>
                </a:solidFill>
                <a:latin typeface="Times New Roman" pitchFamily="18" charset="0"/>
              </a:rPr>
              <a:t>, the </a:t>
            </a:r>
            <a:r>
              <a:rPr lang="en-GB" sz="2400" b="1" dirty="0">
                <a:solidFill>
                  <a:srgbClr val="000000"/>
                </a:solidFill>
                <a:latin typeface="Times New Roman" pitchFamily="18" charset="0"/>
              </a:rPr>
              <a:t>null hypothesis</a:t>
            </a:r>
            <a:r>
              <a:rPr lang="en-GB" sz="2400" dirty="0">
                <a:solidFill>
                  <a:srgbClr val="000000"/>
                </a:solidFill>
                <a:latin typeface="Times New Roman" pitchFamily="18" charset="0"/>
              </a:rPr>
              <a:t>: What we are “assuming” about the parameter. Typically:</a:t>
            </a:r>
          </a:p>
        </p:txBody>
      </p:sp>
      <p:pic>
        <p:nvPicPr>
          <p:cNvPr id="2" name="Picture 1"/>
          <p:cNvPicPr>
            <a:picLocks noChangeAspect="1"/>
          </p:cNvPicPr>
          <p:nvPr/>
        </p:nvPicPr>
        <p:blipFill>
          <a:blip r:embed="rId3"/>
          <a:stretch>
            <a:fillRect/>
          </a:stretch>
        </p:blipFill>
        <p:spPr>
          <a:xfrm>
            <a:off x="2667000" y="3248866"/>
            <a:ext cx="3810000" cy="419100"/>
          </a:xfrm>
          <a:prstGeom prst="rect">
            <a:avLst/>
          </a:prstGeom>
        </p:spPr>
      </p:pic>
      <p:pic>
        <p:nvPicPr>
          <p:cNvPr id="3" name="Picture 2"/>
          <p:cNvPicPr>
            <a:picLocks noChangeAspect="1"/>
          </p:cNvPicPr>
          <p:nvPr/>
        </p:nvPicPr>
        <p:blipFill>
          <a:blip r:embed="rId4"/>
          <a:stretch>
            <a:fillRect/>
          </a:stretch>
        </p:blipFill>
        <p:spPr>
          <a:xfrm>
            <a:off x="2667000" y="3855454"/>
            <a:ext cx="3810000" cy="419100"/>
          </a:xfrm>
          <a:prstGeom prst="rect">
            <a:avLst/>
          </a:prstGeom>
        </p:spPr>
      </p:pic>
      <p:pic>
        <p:nvPicPr>
          <p:cNvPr id="4" name="Picture 3"/>
          <p:cNvPicPr>
            <a:picLocks noChangeAspect="1"/>
          </p:cNvPicPr>
          <p:nvPr/>
        </p:nvPicPr>
        <p:blipFill>
          <a:blip r:embed="rId5"/>
          <a:stretch>
            <a:fillRect/>
          </a:stretch>
        </p:blipFill>
        <p:spPr>
          <a:xfrm>
            <a:off x="2667000" y="4429633"/>
            <a:ext cx="3810000" cy="419100"/>
          </a:xfrm>
          <a:prstGeom prst="rect">
            <a:avLst/>
          </a:prstGeom>
        </p:spPr>
      </p:pic>
      <p:sp>
        <p:nvSpPr>
          <p:cNvPr id="11" name="Rectangle 5"/>
          <p:cNvSpPr>
            <a:spLocks noChangeArrowheads="1"/>
          </p:cNvSpPr>
          <p:nvPr/>
        </p:nvSpPr>
        <p:spPr bwMode="auto">
          <a:xfrm>
            <a:off x="200520" y="4848733"/>
            <a:ext cx="8686800" cy="1827478"/>
          </a:xfrm>
          <a:prstGeom prst="rect">
            <a:avLst/>
          </a:prstGeom>
          <a:noFill/>
          <a:ln w="9525">
            <a:noFill/>
            <a:round/>
            <a:headEnd/>
            <a:tailEnd/>
          </a:ln>
        </p:spPr>
        <p:txBody>
          <a:bodyPr lIns="0" tIns="0" rIns="0" bIns="0"/>
          <a:lstStyle/>
          <a:p>
            <a:pPr marL="430213"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2800" b="1" dirty="0">
              <a:solidFill>
                <a:srgbClr val="000000"/>
              </a:solidFill>
              <a:latin typeface="Times New Roman" pitchFamily="18" charset="0"/>
            </a:endParaRPr>
          </a:p>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Identify the </a:t>
            </a:r>
            <a:r>
              <a:rPr lang="en-GB" sz="2800" b="1" dirty="0">
                <a:solidFill>
                  <a:srgbClr val="000000"/>
                </a:solidFill>
                <a:latin typeface="Times New Roman" pitchFamily="18" charset="0"/>
              </a:rPr>
              <a:t>alternative hypothesis</a:t>
            </a:r>
            <a:r>
              <a:rPr lang="en-GB" sz="2800" dirty="0">
                <a:solidFill>
                  <a:srgbClr val="000000"/>
                </a:solidFill>
                <a:latin typeface="Times New Roman" pitchFamily="18" charset="0"/>
              </a:rPr>
              <a:t>, H</a:t>
            </a:r>
            <a:r>
              <a:rPr lang="en-GB" sz="2800" baseline="-25000" dirty="0">
                <a:solidFill>
                  <a:srgbClr val="000000"/>
                </a:solidFill>
                <a:latin typeface="Times New Roman" pitchFamily="18" charset="0"/>
              </a:rPr>
              <a:t>a</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What we want to “prove”</a:t>
            </a:r>
          </a:p>
          <a:p>
            <a:pPr marL="1801813" lvl="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Not really prove, but “</a:t>
            </a:r>
            <a:r>
              <a:rPr lang="en-GB" sz="2400" b="1" i="1" u="sng" dirty="0">
                <a:solidFill>
                  <a:srgbClr val="000000"/>
                </a:solidFill>
                <a:latin typeface="Times New Roman" pitchFamily="18" charset="0"/>
              </a:rPr>
              <a:t>reject the Null in </a:t>
            </a:r>
            <a:r>
              <a:rPr lang="en-GB" sz="2400" b="1" i="1" u="sng" dirty="0" err="1">
                <a:solidFill>
                  <a:srgbClr val="000000"/>
                </a:solidFill>
                <a:latin typeface="Times New Roman" pitchFamily="18" charset="0"/>
              </a:rPr>
              <a:t>favor</a:t>
            </a:r>
            <a:r>
              <a:rPr lang="en-GB" sz="2400" b="1" i="1" u="sng" dirty="0">
                <a:solidFill>
                  <a:srgbClr val="000000"/>
                </a:solidFill>
                <a:latin typeface="Times New Roman" pitchFamily="18" charset="0"/>
              </a:rPr>
              <a:t> of</a:t>
            </a:r>
            <a:r>
              <a:rPr lang="en-GB" sz="2400" dirty="0">
                <a:solidFill>
                  <a:srgbClr val="000000"/>
                </a:solidFill>
                <a:latin typeface="Times New Roman" pitchFamily="18" charset="0"/>
              </a:rPr>
              <a:t>”</a:t>
            </a:r>
          </a:p>
        </p:txBody>
      </p:sp>
    </p:spTree>
    <p:extLst>
      <p:ext uri="{BB962C8B-B14F-4D97-AF65-F5344CB8AC3E}">
        <p14:creationId xmlns:p14="http://schemas.microsoft.com/office/powerpoint/2010/main" val="3143423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cBhvr additive="base">
                                        <p:cTn id="17" dur="500" fill="hold"/>
                                        <p:tgtEl>
                                          <p:spTgt spid="3"/>
                                        </p:tgtEl>
                                        <p:attrNameLst>
                                          <p:attrName>ppt_x</p:attrName>
                                        </p:attrNameLst>
                                      </p:cBhvr>
                                      <p:tavLst>
                                        <p:tav tm="0">
                                          <p:val>
                                            <p:strVal val="#ppt_x"/>
                                          </p:val>
                                        </p:tav>
                                        <p:tav tm="100000">
                                          <p:val>
                                            <p:strVal val="#ppt_x"/>
                                          </p:val>
                                        </p:tav>
                                      </p:tavLst>
                                    </p:anim>
                                    <p:anim calcmode="lin" valueType="num">
                                      <p:cBhvr additive="base">
                                        <p:cTn id="18" dur="500" fill="hold"/>
                                        <p:tgtEl>
                                          <p:spTgt spid="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4"/>
                                        </p:tgtEl>
                                        <p:attrNameLst>
                                          <p:attrName>style.visibility</p:attrName>
                                        </p:attrNameLst>
                                      </p:cBhvr>
                                      <p:to>
                                        <p:strVal val="visible"/>
                                      </p:to>
                                    </p:set>
                                    <p:anim calcmode="lin" valueType="num">
                                      <p:cBhvr additive="base">
                                        <p:cTn id="21" dur="500" fill="hold"/>
                                        <p:tgtEl>
                                          <p:spTgt spid="4"/>
                                        </p:tgtEl>
                                        <p:attrNameLst>
                                          <p:attrName>ppt_x</p:attrName>
                                        </p:attrNameLst>
                                      </p:cBhvr>
                                      <p:tavLst>
                                        <p:tav tm="0">
                                          <p:val>
                                            <p:strVal val="#ppt_x"/>
                                          </p:val>
                                        </p:tav>
                                        <p:tav tm="100000">
                                          <p:val>
                                            <p:strVal val="#ppt_x"/>
                                          </p:val>
                                        </p:tav>
                                      </p:tavLst>
                                    </p:anim>
                                    <p:anim calcmode="lin" valueType="num">
                                      <p:cBhvr additive="base">
                                        <p:cTn id="22"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500" fill="hold"/>
                                        <p:tgtEl>
                                          <p:spTgt spid="11"/>
                                        </p:tgtEl>
                                        <p:attrNameLst>
                                          <p:attrName>ppt_x</p:attrName>
                                        </p:attrNameLst>
                                      </p:cBhvr>
                                      <p:tavLst>
                                        <p:tav tm="0">
                                          <p:val>
                                            <p:strVal val="#ppt_x"/>
                                          </p:val>
                                        </p:tav>
                                        <p:tav tm="100000">
                                          <p:val>
                                            <p:strVal val="#ppt_x"/>
                                          </p:val>
                                        </p:tav>
                                      </p:tavLst>
                                    </p:anim>
                                    <p:anim calcmode="lin" valueType="num">
                                      <p:cBhvr additive="base">
                                        <p:cTn id="2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4"/>
          <p:cNvSpPr>
            <a:spLocks noChangeArrowheads="1"/>
          </p:cNvSpPr>
          <p:nvPr/>
        </p:nvSpPr>
        <p:spPr bwMode="auto">
          <a:xfrm>
            <a:off x="231775" y="120134"/>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Hypothesis Testing</a:t>
            </a:r>
          </a:p>
        </p:txBody>
      </p:sp>
      <p:sp>
        <p:nvSpPr>
          <p:cNvPr id="5" name="Rectangle 5"/>
          <p:cNvSpPr>
            <a:spLocks noChangeArrowheads="1"/>
          </p:cNvSpPr>
          <p:nvPr/>
        </p:nvSpPr>
        <p:spPr bwMode="auto">
          <a:xfrm>
            <a:off x="228600" y="1094860"/>
            <a:ext cx="8686800" cy="2354194"/>
          </a:xfrm>
          <a:prstGeom prst="rect">
            <a:avLst/>
          </a:prstGeom>
          <a:noFill/>
          <a:ln w="9525">
            <a:noFill/>
            <a:round/>
            <a:headEnd/>
            <a:tailEnd/>
          </a:ln>
        </p:spPr>
        <p:txBody>
          <a:bodyPr lIns="0" tIns="0" rIns="0" bIns="0"/>
          <a:lstStyle/>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So there are two outcomes for a hypothesis test:</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“Cannot Reject” H</a:t>
            </a:r>
            <a:r>
              <a:rPr lang="en-GB" sz="2400" baseline="-25000" dirty="0">
                <a:solidFill>
                  <a:srgbClr val="000000"/>
                </a:solidFill>
                <a:latin typeface="Times New Roman" pitchFamily="18" charset="0"/>
              </a:rPr>
              <a:t>0</a:t>
            </a:r>
            <a:r>
              <a:rPr lang="en-GB" sz="2400" dirty="0">
                <a:solidFill>
                  <a:srgbClr val="000000"/>
                </a:solidFill>
                <a:latin typeface="Times New Roman" pitchFamily="18" charset="0"/>
              </a:rPr>
              <a:t> or</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“Reject” H</a:t>
            </a:r>
            <a:r>
              <a:rPr lang="en-GB" sz="2400" baseline="-25000" dirty="0">
                <a:solidFill>
                  <a:srgbClr val="000000"/>
                </a:solidFill>
                <a:latin typeface="Times New Roman" pitchFamily="18" charset="0"/>
              </a:rPr>
              <a:t>0</a:t>
            </a:r>
            <a:r>
              <a:rPr lang="en-GB" sz="2400" dirty="0">
                <a:solidFill>
                  <a:srgbClr val="000000"/>
                </a:solidFill>
                <a:latin typeface="Times New Roman" pitchFamily="18" charset="0"/>
              </a:rPr>
              <a:t> in </a:t>
            </a:r>
            <a:r>
              <a:rPr lang="en-GB" sz="2400" dirty="0" err="1">
                <a:solidFill>
                  <a:srgbClr val="000000"/>
                </a:solidFill>
                <a:latin typeface="Times New Roman" pitchFamily="18" charset="0"/>
              </a:rPr>
              <a:t>favor</a:t>
            </a:r>
            <a:r>
              <a:rPr lang="en-GB" sz="2400" dirty="0">
                <a:solidFill>
                  <a:srgbClr val="000000"/>
                </a:solidFill>
                <a:latin typeface="Times New Roman" pitchFamily="18" charset="0"/>
              </a:rPr>
              <a:t> of H</a:t>
            </a:r>
            <a:r>
              <a:rPr lang="en-GB" sz="2400" baseline="-25000" dirty="0">
                <a:solidFill>
                  <a:srgbClr val="000000"/>
                </a:solidFill>
                <a:latin typeface="Times New Roman" pitchFamily="18" charset="0"/>
              </a:rPr>
              <a:t>a</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The outcome is quoted at a state level of confidence: </a:t>
            </a:r>
            <a:r>
              <a:rPr lang="en-US" sz="2800" dirty="0">
                <a:solidFill>
                  <a:schemeClr val="tx1"/>
                </a:solidFill>
                <a:latin typeface="Times New Roman" pitchFamily="18" charset="0"/>
                <a:cs typeface="Times New Roman" pitchFamily="18" charset="0"/>
              </a:rPr>
              <a:t>(1-α)×100%</a:t>
            </a:r>
          </a:p>
        </p:txBody>
      </p:sp>
      <p:pic>
        <p:nvPicPr>
          <p:cNvPr id="9" name="Picture 8"/>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10" name="Rectangle 5"/>
          <p:cNvSpPr>
            <a:spLocks noChangeArrowheads="1"/>
          </p:cNvSpPr>
          <p:nvPr/>
        </p:nvSpPr>
        <p:spPr bwMode="auto">
          <a:xfrm>
            <a:off x="231775" y="3866145"/>
            <a:ext cx="8686800" cy="1775325"/>
          </a:xfrm>
          <a:prstGeom prst="rect">
            <a:avLst/>
          </a:prstGeom>
          <a:noFill/>
          <a:ln w="9525">
            <a:noFill/>
            <a:round/>
            <a:headEnd/>
            <a:tailEnd/>
          </a:ln>
        </p:spPr>
        <p:txBody>
          <a:bodyPr lIns="0" tIns="0" rIns="0" bIns="0"/>
          <a:lstStyle/>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The procedure uses the sampling distribution of the parameter     as the Null to see if the value of      (i.e. the value you measure) is “unlikely” if the Null is true.</a:t>
            </a:r>
            <a:endParaRPr lang="en-GB" sz="2400" baseline="-25000" dirty="0">
              <a:solidFill>
                <a:srgbClr val="000000"/>
              </a:solidFill>
              <a:latin typeface="Times New Roman" pitchFamily="18" charset="0"/>
            </a:endParaRPr>
          </a:p>
        </p:txBody>
      </p:sp>
      <p:pic>
        <p:nvPicPr>
          <p:cNvPr id="2" name="Picture 1"/>
          <p:cNvPicPr>
            <a:picLocks noChangeAspect="1"/>
          </p:cNvPicPr>
          <p:nvPr/>
        </p:nvPicPr>
        <p:blipFill>
          <a:blip r:embed="rId3"/>
          <a:stretch>
            <a:fillRect/>
          </a:stretch>
        </p:blipFill>
        <p:spPr>
          <a:xfrm>
            <a:off x="2679162" y="4370560"/>
            <a:ext cx="166551" cy="281055"/>
          </a:xfrm>
          <a:prstGeom prst="rect">
            <a:avLst/>
          </a:prstGeom>
        </p:spPr>
      </p:pic>
      <p:pic>
        <p:nvPicPr>
          <p:cNvPr id="3" name="Picture 2"/>
          <p:cNvPicPr>
            <a:picLocks noChangeAspect="1"/>
          </p:cNvPicPr>
          <p:nvPr/>
        </p:nvPicPr>
        <p:blipFill>
          <a:blip r:embed="rId4"/>
          <a:stretch>
            <a:fillRect/>
          </a:stretch>
        </p:blipFill>
        <p:spPr>
          <a:xfrm>
            <a:off x="7701286" y="4292145"/>
            <a:ext cx="166551" cy="342900"/>
          </a:xfrm>
          <a:prstGeom prst="rect">
            <a:avLst/>
          </a:prstGeom>
        </p:spPr>
      </p:pic>
      <p:sp>
        <p:nvSpPr>
          <p:cNvPr id="11" name="Rectangle 5"/>
          <p:cNvSpPr>
            <a:spLocks noChangeArrowheads="1"/>
          </p:cNvSpPr>
          <p:nvPr/>
        </p:nvSpPr>
        <p:spPr bwMode="auto">
          <a:xfrm>
            <a:off x="678280" y="5654838"/>
            <a:ext cx="8358773" cy="927771"/>
          </a:xfrm>
          <a:prstGeom prst="rect">
            <a:avLst/>
          </a:prstGeom>
          <a:noFill/>
          <a:ln w="9525">
            <a:noFill/>
            <a:round/>
            <a:headEnd/>
            <a:tailEnd/>
          </a:ln>
        </p:spPr>
        <p:txBody>
          <a:bodyPr lIns="0" tIns="0" rIns="0" bIns="0"/>
          <a:lstStyle/>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400" dirty="0">
                <a:solidFill>
                  <a:srgbClr val="000000"/>
                </a:solidFill>
                <a:latin typeface="Times New Roman" pitchFamily="18" charset="0"/>
              </a:rPr>
              <a:t>“Unlikely” is measured by a p-value for </a:t>
            </a:r>
            <a:endParaRPr lang="en-GB" sz="2000" baseline="-25000" dirty="0">
              <a:solidFill>
                <a:srgbClr val="000000"/>
              </a:solidFill>
              <a:latin typeface="Times New Roman" pitchFamily="18" charset="0"/>
            </a:endParaRPr>
          </a:p>
        </p:txBody>
      </p:sp>
      <p:pic>
        <p:nvPicPr>
          <p:cNvPr id="12" name="Picture 11"/>
          <p:cNvPicPr>
            <a:picLocks noChangeAspect="1"/>
          </p:cNvPicPr>
          <p:nvPr/>
        </p:nvPicPr>
        <p:blipFill>
          <a:blip r:embed="rId4"/>
          <a:stretch>
            <a:fillRect/>
          </a:stretch>
        </p:blipFill>
        <p:spPr>
          <a:xfrm>
            <a:off x="6563724" y="5640492"/>
            <a:ext cx="161167" cy="331814"/>
          </a:xfrm>
          <a:prstGeom prst="rect">
            <a:avLst/>
          </a:prstGeom>
        </p:spPr>
      </p:pic>
    </p:spTree>
    <p:extLst>
      <p:ext uri="{BB962C8B-B14F-4D97-AF65-F5344CB8AC3E}">
        <p14:creationId xmlns:p14="http://schemas.microsoft.com/office/powerpoint/2010/main" val="35884481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4"/>
          <p:cNvSpPr>
            <a:spLocks noChangeArrowheads="1"/>
          </p:cNvSpPr>
          <p:nvPr/>
        </p:nvSpPr>
        <p:spPr bwMode="auto">
          <a:xfrm>
            <a:off x="231775" y="120134"/>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Hypothesis Testing</a:t>
            </a:r>
          </a:p>
        </p:txBody>
      </p:sp>
      <p:pic>
        <p:nvPicPr>
          <p:cNvPr id="9" name="Picture 8"/>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13" name="Picture 12"/>
          <p:cNvPicPr>
            <a:picLocks noChangeAspect="1"/>
          </p:cNvPicPr>
          <p:nvPr/>
        </p:nvPicPr>
        <p:blipFill rotWithShape="1">
          <a:blip r:embed="rId3"/>
          <a:srcRect l="11211" t="12281" r="6668" b="14815"/>
          <a:stretch/>
        </p:blipFill>
        <p:spPr>
          <a:xfrm>
            <a:off x="1742456" y="1393378"/>
            <a:ext cx="5275965" cy="3915100"/>
          </a:xfrm>
          <a:prstGeom prst="rect">
            <a:avLst/>
          </a:prstGeom>
          <a:effectLst/>
        </p:spPr>
      </p:pic>
      <p:cxnSp>
        <p:nvCxnSpPr>
          <p:cNvPr id="14" name="Straight Connector 13"/>
          <p:cNvCxnSpPr/>
          <p:nvPr/>
        </p:nvCxnSpPr>
        <p:spPr>
          <a:xfrm>
            <a:off x="1379412" y="5428788"/>
            <a:ext cx="5868745" cy="53474"/>
          </a:xfrm>
          <a:prstGeom prst="line">
            <a:avLst/>
          </a:prstGeom>
          <a:ln w="57150" cmpd="sng">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8" name="Picture 17"/>
          <p:cNvPicPr>
            <a:picLocks noChangeAspect="1"/>
          </p:cNvPicPr>
          <p:nvPr/>
        </p:nvPicPr>
        <p:blipFill>
          <a:blip r:embed="rId4"/>
          <a:stretch>
            <a:fillRect/>
          </a:stretch>
        </p:blipFill>
        <p:spPr>
          <a:xfrm>
            <a:off x="3416937" y="1566780"/>
            <a:ext cx="203200" cy="342900"/>
          </a:xfrm>
          <a:prstGeom prst="rect">
            <a:avLst/>
          </a:prstGeom>
          <a:effectLst/>
        </p:spPr>
      </p:pic>
      <p:pic>
        <p:nvPicPr>
          <p:cNvPr id="19" name="Picture 18"/>
          <p:cNvPicPr>
            <a:picLocks noChangeAspect="1"/>
          </p:cNvPicPr>
          <p:nvPr/>
        </p:nvPicPr>
        <p:blipFill>
          <a:blip r:embed="rId5"/>
          <a:stretch>
            <a:fillRect/>
          </a:stretch>
        </p:blipFill>
        <p:spPr>
          <a:xfrm>
            <a:off x="3613480" y="5704581"/>
            <a:ext cx="215900" cy="444500"/>
          </a:xfrm>
          <a:prstGeom prst="rect">
            <a:avLst/>
          </a:prstGeom>
          <a:effectLst/>
        </p:spPr>
      </p:pic>
      <p:sp>
        <p:nvSpPr>
          <p:cNvPr id="7" name="TextBox 6"/>
          <p:cNvSpPr txBox="1"/>
          <p:nvPr/>
        </p:nvSpPr>
        <p:spPr>
          <a:xfrm>
            <a:off x="100345" y="1514855"/>
            <a:ext cx="3284222" cy="461665"/>
          </a:xfrm>
          <a:prstGeom prst="rect">
            <a:avLst/>
          </a:prstGeom>
          <a:noFill/>
          <a:effectLst/>
        </p:spPr>
        <p:txBody>
          <a:bodyPr wrap="none" rtlCol="0">
            <a:spAutoFit/>
          </a:bodyPr>
          <a:lstStyle/>
          <a:p>
            <a:r>
              <a:rPr lang="en-US" sz="2400" dirty="0">
                <a:latin typeface="Times New Roman"/>
                <a:cs typeface="Times New Roman"/>
              </a:rPr>
              <a:t>Sampling distribution for </a:t>
            </a:r>
          </a:p>
        </p:txBody>
      </p:sp>
      <p:sp>
        <p:nvSpPr>
          <p:cNvPr id="8" name="TextBox 7"/>
          <p:cNvSpPr txBox="1"/>
          <p:nvPr/>
        </p:nvSpPr>
        <p:spPr>
          <a:xfrm>
            <a:off x="655037" y="5796363"/>
            <a:ext cx="4699874" cy="400110"/>
          </a:xfrm>
          <a:prstGeom prst="rect">
            <a:avLst/>
          </a:prstGeom>
          <a:noFill/>
          <a:effectLst/>
        </p:spPr>
        <p:txBody>
          <a:bodyPr wrap="none" rtlCol="0">
            <a:spAutoFit/>
          </a:bodyPr>
          <a:lstStyle/>
          <a:p>
            <a:r>
              <a:rPr lang="en-US" sz="2000" dirty="0">
                <a:latin typeface="Times New Roman"/>
                <a:cs typeface="Times New Roman"/>
              </a:rPr>
              <a:t>Get a data set and compute      . It falls here.</a:t>
            </a:r>
          </a:p>
        </p:txBody>
      </p:sp>
      <p:cxnSp>
        <p:nvCxnSpPr>
          <p:cNvPr id="21" name="Straight Arrow Connector 20"/>
          <p:cNvCxnSpPr/>
          <p:nvPr/>
        </p:nvCxnSpPr>
        <p:spPr>
          <a:xfrm flipV="1">
            <a:off x="5013158" y="5482262"/>
            <a:ext cx="0" cy="413212"/>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V="1">
            <a:off x="5013158" y="2566735"/>
            <a:ext cx="0" cy="2808583"/>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219016" y="2166625"/>
            <a:ext cx="2238113" cy="400110"/>
          </a:xfrm>
          <a:prstGeom prst="rect">
            <a:avLst/>
          </a:prstGeom>
          <a:noFill/>
          <a:effectLst/>
        </p:spPr>
        <p:txBody>
          <a:bodyPr wrap="none" rtlCol="0">
            <a:spAutoFit/>
          </a:bodyPr>
          <a:lstStyle/>
          <a:p>
            <a:r>
              <a:rPr lang="en-US" sz="2000" dirty="0">
                <a:latin typeface="Times New Roman"/>
                <a:cs typeface="Times New Roman"/>
              </a:rPr>
              <a:t>p-value is this area.</a:t>
            </a:r>
          </a:p>
        </p:txBody>
      </p:sp>
      <p:sp>
        <p:nvSpPr>
          <p:cNvPr id="26" name="TextBox 25"/>
          <p:cNvSpPr txBox="1"/>
          <p:nvPr/>
        </p:nvSpPr>
        <p:spPr>
          <a:xfrm>
            <a:off x="399793" y="2016624"/>
            <a:ext cx="3045726" cy="461665"/>
          </a:xfrm>
          <a:prstGeom prst="rect">
            <a:avLst/>
          </a:prstGeom>
          <a:noFill/>
          <a:effectLst/>
        </p:spPr>
        <p:txBody>
          <a:bodyPr wrap="none" rtlCol="0">
            <a:spAutoFit/>
          </a:bodyPr>
          <a:lstStyle/>
          <a:p>
            <a:r>
              <a:rPr lang="en-US" sz="2400" dirty="0">
                <a:latin typeface="Times New Roman"/>
                <a:cs typeface="Times New Roman"/>
              </a:rPr>
              <a:t>The “Null distribution”</a:t>
            </a:r>
          </a:p>
        </p:txBody>
      </p:sp>
      <p:sp>
        <p:nvSpPr>
          <p:cNvPr id="27" name="TextBox 26"/>
          <p:cNvSpPr txBox="1"/>
          <p:nvPr/>
        </p:nvSpPr>
        <p:spPr>
          <a:xfrm>
            <a:off x="6304531" y="3669235"/>
            <a:ext cx="2839469" cy="400110"/>
          </a:xfrm>
          <a:prstGeom prst="rect">
            <a:avLst/>
          </a:prstGeom>
          <a:noFill/>
          <a:effectLst/>
        </p:spPr>
        <p:txBody>
          <a:bodyPr wrap="square" rtlCol="0">
            <a:spAutoFit/>
          </a:bodyPr>
          <a:lstStyle/>
          <a:p>
            <a:r>
              <a:rPr lang="en-US" sz="2000" dirty="0">
                <a:latin typeface="Times New Roman"/>
                <a:cs typeface="Times New Roman"/>
              </a:rPr>
              <a:t>p-value is this area.</a:t>
            </a:r>
          </a:p>
        </p:txBody>
      </p:sp>
      <p:pic>
        <p:nvPicPr>
          <p:cNvPr id="28" name="Picture 27"/>
          <p:cNvPicPr>
            <a:picLocks noChangeAspect="1"/>
          </p:cNvPicPr>
          <p:nvPr/>
        </p:nvPicPr>
        <p:blipFill>
          <a:blip r:embed="rId5"/>
          <a:stretch>
            <a:fillRect/>
          </a:stretch>
        </p:blipFill>
        <p:spPr>
          <a:xfrm>
            <a:off x="7321666" y="2627938"/>
            <a:ext cx="128016" cy="263562"/>
          </a:xfrm>
          <a:prstGeom prst="rect">
            <a:avLst/>
          </a:prstGeom>
          <a:effectLst/>
        </p:spPr>
      </p:pic>
      <p:pic>
        <p:nvPicPr>
          <p:cNvPr id="29" name="Picture 28"/>
          <p:cNvPicPr>
            <a:picLocks noChangeAspect="1"/>
          </p:cNvPicPr>
          <p:nvPr/>
        </p:nvPicPr>
        <p:blipFill>
          <a:blip r:embed="rId5"/>
          <a:stretch>
            <a:fillRect/>
          </a:stretch>
        </p:blipFill>
        <p:spPr>
          <a:xfrm>
            <a:off x="8333606" y="4137829"/>
            <a:ext cx="128872" cy="265325"/>
          </a:xfrm>
          <a:prstGeom prst="rect">
            <a:avLst/>
          </a:prstGeom>
          <a:effectLst/>
        </p:spPr>
      </p:pic>
      <p:sp>
        <p:nvSpPr>
          <p:cNvPr id="31" name="TextBox 30"/>
          <p:cNvSpPr txBox="1"/>
          <p:nvPr/>
        </p:nvSpPr>
        <p:spPr>
          <a:xfrm>
            <a:off x="1850174" y="5798818"/>
            <a:ext cx="4699874" cy="400110"/>
          </a:xfrm>
          <a:prstGeom prst="rect">
            <a:avLst/>
          </a:prstGeom>
          <a:noFill/>
          <a:effectLst/>
        </p:spPr>
        <p:txBody>
          <a:bodyPr wrap="none" rtlCol="0">
            <a:spAutoFit/>
          </a:bodyPr>
          <a:lstStyle/>
          <a:p>
            <a:r>
              <a:rPr lang="en-US" sz="2000" dirty="0">
                <a:latin typeface="Times New Roman"/>
                <a:cs typeface="Times New Roman"/>
              </a:rPr>
              <a:t>Get a data set and compute      . It falls here.</a:t>
            </a:r>
          </a:p>
        </p:txBody>
      </p:sp>
      <p:cxnSp>
        <p:nvCxnSpPr>
          <p:cNvPr id="32" name="Straight Arrow Connector 31"/>
          <p:cNvCxnSpPr/>
          <p:nvPr/>
        </p:nvCxnSpPr>
        <p:spPr>
          <a:xfrm flipV="1">
            <a:off x="6208295" y="5496293"/>
            <a:ext cx="0" cy="413212"/>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cxnSp>
        <p:nvCxnSpPr>
          <p:cNvPr id="33" name="Straight Connector 32"/>
          <p:cNvCxnSpPr/>
          <p:nvPr/>
        </p:nvCxnSpPr>
        <p:spPr>
          <a:xfrm flipV="1">
            <a:off x="6208295" y="4992674"/>
            <a:ext cx="0" cy="436114"/>
          </a:xfrm>
          <a:prstGeom prst="line">
            <a:avLst/>
          </a:prstGeom>
          <a:effectLst/>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p:cNvCxnSpPr>
          <p:nvPr/>
        </p:nvCxnSpPr>
        <p:spPr>
          <a:xfrm flipH="1">
            <a:off x="5219017" y="2566735"/>
            <a:ext cx="429429" cy="1644318"/>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a:cxnSpLocks/>
          </p:cNvCxnSpPr>
          <p:nvPr/>
        </p:nvCxnSpPr>
        <p:spPr>
          <a:xfrm flipH="1">
            <a:off x="6392780" y="4069345"/>
            <a:ext cx="291524" cy="1279724"/>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BC035F33-E10B-BF41-B6EF-EFA8CF4622AB}"/>
              </a:ext>
            </a:extLst>
          </p:cNvPr>
          <p:cNvSpPr/>
          <p:nvPr/>
        </p:nvSpPr>
        <p:spPr>
          <a:xfrm>
            <a:off x="278711" y="2706439"/>
            <a:ext cx="2383466" cy="646331"/>
          </a:xfrm>
          <a:prstGeom prst="rect">
            <a:avLst/>
          </a:prstGeom>
          <a:effectLst/>
        </p:spPr>
        <p:txBody>
          <a:bodyPr wrap="square">
            <a:spAutoFit/>
          </a:bodyPr>
          <a:lstStyle/>
          <a:p>
            <a:r>
              <a:rPr lang="en-US" b="1" dirty="0">
                <a:latin typeface="Times New Roman"/>
                <a:cs typeface="Times New Roman"/>
              </a:rPr>
              <a:t>If p-value is &gt; </a:t>
            </a:r>
            <a:r>
              <a:rPr lang="en-US" b="1" dirty="0">
                <a:latin typeface="Symbol" pitchFamily="2" charset="2"/>
                <a:cs typeface="Times New Roman"/>
              </a:rPr>
              <a:t>a</a:t>
            </a:r>
            <a:r>
              <a:rPr lang="en-US" dirty="0">
                <a:latin typeface="Times New Roman"/>
                <a:cs typeface="Times New Roman"/>
              </a:rPr>
              <a:t>, it’s “big”: </a:t>
            </a:r>
            <a:r>
              <a:rPr lang="en-US" b="1" dirty="0">
                <a:latin typeface="Times New Roman"/>
                <a:cs typeface="Times New Roman"/>
              </a:rPr>
              <a:t>Don’t reject H</a:t>
            </a:r>
            <a:r>
              <a:rPr lang="en-US" b="1" baseline="-25000" dirty="0">
                <a:latin typeface="Times New Roman"/>
                <a:cs typeface="Times New Roman"/>
              </a:rPr>
              <a:t>0</a:t>
            </a:r>
          </a:p>
        </p:txBody>
      </p:sp>
      <p:sp>
        <p:nvSpPr>
          <p:cNvPr id="34" name="Rectangle 33">
            <a:extLst>
              <a:ext uri="{FF2B5EF4-FFF2-40B4-BE49-F238E27FC236}">
                <a16:creationId xmlns:a16="http://schemas.microsoft.com/office/drawing/2014/main" id="{AB3A7D16-5018-E14D-A773-D87FC628371E}"/>
              </a:ext>
            </a:extLst>
          </p:cNvPr>
          <p:cNvSpPr/>
          <p:nvPr/>
        </p:nvSpPr>
        <p:spPr>
          <a:xfrm>
            <a:off x="278711" y="3729372"/>
            <a:ext cx="2383466" cy="923330"/>
          </a:xfrm>
          <a:prstGeom prst="rect">
            <a:avLst/>
          </a:prstGeom>
          <a:effectLst/>
        </p:spPr>
        <p:txBody>
          <a:bodyPr wrap="square">
            <a:spAutoFit/>
          </a:bodyPr>
          <a:lstStyle/>
          <a:p>
            <a:r>
              <a:rPr lang="en-US" b="1" dirty="0">
                <a:latin typeface="Times New Roman"/>
                <a:cs typeface="Times New Roman"/>
              </a:rPr>
              <a:t>If p-value is &lt; </a:t>
            </a:r>
            <a:r>
              <a:rPr lang="en-US" b="1" dirty="0">
                <a:latin typeface="Symbol" pitchFamily="2" charset="2"/>
                <a:cs typeface="Times New Roman"/>
              </a:rPr>
              <a:t>a</a:t>
            </a:r>
            <a:r>
              <a:rPr lang="en-US" dirty="0">
                <a:latin typeface="Times New Roman"/>
                <a:cs typeface="Times New Roman"/>
              </a:rPr>
              <a:t>, it’s “small”: </a:t>
            </a:r>
            <a:r>
              <a:rPr lang="en-US" b="1" dirty="0">
                <a:latin typeface="Times New Roman"/>
                <a:cs typeface="Times New Roman"/>
              </a:rPr>
              <a:t>Reject H</a:t>
            </a:r>
            <a:r>
              <a:rPr lang="en-US" b="1" baseline="-25000" dirty="0">
                <a:latin typeface="Times New Roman"/>
                <a:cs typeface="Times New Roman"/>
              </a:rPr>
              <a:t>0</a:t>
            </a:r>
            <a:r>
              <a:rPr lang="en-US" b="1" dirty="0">
                <a:latin typeface="Times New Roman"/>
                <a:cs typeface="Times New Roman"/>
              </a:rPr>
              <a:t> in favor of H</a:t>
            </a:r>
            <a:r>
              <a:rPr lang="en-US" b="1" baseline="-25000" dirty="0">
                <a:latin typeface="Times New Roman"/>
                <a:cs typeface="Times New Roman"/>
              </a:rPr>
              <a:t>a</a:t>
            </a:r>
          </a:p>
        </p:txBody>
      </p:sp>
      <p:sp>
        <p:nvSpPr>
          <p:cNvPr id="3" name="Rectangle 2">
            <a:extLst>
              <a:ext uri="{FF2B5EF4-FFF2-40B4-BE49-F238E27FC236}">
                <a16:creationId xmlns:a16="http://schemas.microsoft.com/office/drawing/2014/main" id="{C88BF9C0-7958-5241-8BF7-E50D2956ADB6}"/>
              </a:ext>
            </a:extLst>
          </p:cNvPr>
          <p:cNvSpPr/>
          <p:nvPr/>
        </p:nvSpPr>
        <p:spPr>
          <a:xfrm>
            <a:off x="5989669" y="2602600"/>
            <a:ext cx="2057504" cy="923330"/>
          </a:xfrm>
          <a:prstGeom prst="rect">
            <a:avLst/>
          </a:prstGeom>
          <a:effectLst/>
        </p:spPr>
        <p:txBody>
          <a:bodyPr wrap="square">
            <a:spAutoFit/>
          </a:bodyPr>
          <a:lstStyle/>
          <a:p>
            <a:r>
              <a:rPr lang="en-US" dirty="0">
                <a:latin typeface="Times New Roman"/>
                <a:cs typeface="Times New Roman"/>
              </a:rPr>
              <a:t>It’s “big”, so     is “likely” if the Null is true</a:t>
            </a:r>
          </a:p>
        </p:txBody>
      </p:sp>
      <p:sp>
        <p:nvSpPr>
          <p:cNvPr id="36" name="TextBox 35">
            <a:extLst>
              <a:ext uri="{FF2B5EF4-FFF2-40B4-BE49-F238E27FC236}">
                <a16:creationId xmlns:a16="http://schemas.microsoft.com/office/drawing/2014/main" id="{F346643E-8F95-614C-831D-606C3891B403}"/>
              </a:ext>
            </a:extLst>
          </p:cNvPr>
          <p:cNvSpPr txBox="1"/>
          <p:nvPr/>
        </p:nvSpPr>
        <p:spPr>
          <a:xfrm>
            <a:off x="6803689" y="4131258"/>
            <a:ext cx="2190310" cy="923330"/>
          </a:xfrm>
          <a:prstGeom prst="rect">
            <a:avLst/>
          </a:prstGeom>
          <a:noFill/>
          <a:effectLst/>
        </p:spPr>
        <p:txBody>
          <a:bodyPr wrap="square" rtlCol="0">
            <a:spAutoFit/>
          </a:bodyPr>
          <a:lstStyle/>
          <a:p>
            <a:r>
              <a:rPr lang="en-US" dirty="0">
                <a:latin typeface="Times New Roman"/>
                <a:cs typeface="Times New Roman"/>
              </a:rPr>
              <a:t>It’s “small”, so     is “unlikely” if the Null is true. </a:t>
            </a:r>
          </a:p>
        </p:txBody>
      </p:sp>
      <p:pic>
        <p:nvPicPr>
          <p:cNvPr id="38" name="Picture 37">
            <a:extLst>
              <a:ext uri="{FF2B5EF4-FFF2-40B4-BE49-F238E27FC236}">
                <a16:creationId xmlns:a16="http://schemas.microsoft.com/office/drawing/2014/main" id="{E5210427-ED7E-DE49-8DE3-F4E1585129A5}"/>
              </a:ext>
            </a:extLst>
          </p:cNvPr>
          <p:cNvPicPr>
            <a:picLocks noChangeAspect="1"/>
          </p:cNvPicPr>
          <p:nvPr/>
        </p:nvPicPr>
        <p:blipFill>
          <a:blip r:embed="rId5"/>
          <a:stretch>
            <a:fillRect/>
          </a:stretch>
        </p:blipFill>
        <p:spPr>
          <a:xfrm>
            <a:off x="4785467" y="5695461"/>
            <a:ext cx="215900" cy="444500"/>
          </a:xfrm>
          <a:prstGeom prst="rect">
            <a:avLst/>
          </a:prstGeom>
          <a:effectLst/>
        </p:spPr>
      </p:pic>
    </p:spTree>
    <p:extLst>
      <p:ext uri="{BB962C8B-B14F-4D97-AF65-F5344CB8AC3E}">
        <p14:creationId xmlns:p14="http://schemas.microsoft.com/office/powerpoint/2010/main" val="1096069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additive="base">
                                        <p:cTn id="7" dur="500" fill="hold"/>
                                        <p:tgtEl>
                                          <p:spTgt spid="19"/>
                                        </p:tgtEl>
                                        <p:attrNameLst>
                                          <p:attrName>ppt_x</p:attrName>
                                        </p:attrNameLst>
                                      </p:cBhvr>
                                      <p:tavLst>
                                        <p:tav tm="0">
                                          <p:val>
                                            <p:strVal val="#ppt_x"/>
                                          </p:val>
                                        </p:tav>
                                        <p:tav tm="100000">
                                          <p:val>
                                            <p:strVal val="#ppt_x"/>
                                          </p:val>
                                        </p:tav>
                                      </p:tavLst>
                                    </p:anim>
                                    <p:anim calcmode="lin" valueType="num">
                                      <p:cBhvr additive="base">
                                        <p:cTn id="8" dur="500" fill="hold"/>
                                        <p:tgtEl>
                                          <p:spTgt spid="1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ppt_x"/>
                                          </p:val>
                                        </p:tav>
                                        <p:tav tm="100000">
                                          <p:val>
                                            <p:strVal val="#ppt_x"/>
                                          </p:val>
                                        </p:tav>
                                      </p:tavLst>
                                    </p:anim>
                                    <p:anim calcmode="lin" valueType="num">
                                      <p:cBhvr additive="base">
                                        <p:cTn id="16"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 calcmode="lin" valueType="num">
                                      <p:cBhvr additive="base">
                                        <p:cTn id="21" dur="500" fill="hold"/>
                                        <p:tgtEl>
                                          <p:spTgt spid="23"/>
                                        </p:tgtEl>
                                        <p:attrNameLst>
                                          <p:attrName>ppt_x</p:attrName>
                                        </p:attrNameLst>
                                      </p:cBhvr>
                                      <p:tavLst>
                                        <p:tav tm="0">
                                          <p:val>
                                            <p:strVal val="#ppt_x"/>
                                          </p:val>
                                        </p:tav>
                                        <p:tav tm="100000">
                                          <p:val>
                                            <p:strVal val="#ppt_x"/>
                                          </p:val>
                                        </p:tav>
                                      </p:tavLst>
                                    </p:anim>
                                    <p:anim calcmode="lin" valueType="num">
                                      <p:cBhvr additive="base">
                                        <p:cTn id="22" dur="500" fill="hold"/>
                                        <p:tgtEl>
                                          <p:spTgt spid="2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500" fill="hold"/>
                                        <p:tgtEl>
                                          <p:spTgt spid="25"/>
                                        </p:tgtEl>
                                        <p:attrNameLst>
                                          <p:attrName>ppt_x</p:attrName>
                                        </p:attrNameLst>
                                      </p:cBhvr>
                                      <p:tavLst>
                                        <p:tav tm="0">
                                          <p:val>
                                            <p:strVal val="#ppt_x"/>
                                          </p:val>
                                        </p:tav>
                                        <p:tav tm="100000">
                                          <p:val>
                                            <p:strVal val="#ppt_x"/>
                                          </p:val>
                                        </p:tav>
                                      </p:tavLst>
                                    </p:anim>
                                    <p:anim calcmode="lin" valueType="num">
                                      <p:cBhvr additive="base">
                                        <p:cTn id="26" dur="5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35"/>
                                        </p:tgtEl>
                                        <p:attrNameLst>
                                          <p:attrName>style.visibility</p:attrName>
                                        </p:attrNameLst>
                                      </p:cBhvr>
                                      <p:to>
                                        <p:strVal val="visible"/>
                                      </p:to>
                                    </p:set>
                                    <p:anim calcmode="lin" valueType="num">
                                      <p:cBhvr additive="base">
                                        <p:cTn id="29" dur="500" fill="hold"/>
                                        <p:tgtEl>
                                          <p:spTgt spid="35"/>
                                        </p:tgtEl>
                                        <p:attrNameLst>
                                          <p:attrName>ppt_x</p:attrName>
                                        </p:attrNameLst>
                                      </p:cBhvr>
                                      <p:tavLst>
                                        <p:tav tm="0">
                                          <p:val>
                                            <p:strVal val="#ppt_x"/>
                                          </p:val>
                                        </p:tav>
                                        <p:tav tm="100000">
                                          <p:val>
                                            <p:strVal val="#ppt_x"/>
                                          </p:val>
                                        </p:tav>
                                      </p:tavLst>
                                    </p:anim>
                                    <p:anim calcmode="lin" valueType="num">
                                      <p:cBhvr additive="base">
                                        <p:cTn id="30" dur="500" fill="hold"/>
                                        <p:tgtEl>
                                          <p:spTgt spid="3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anim calcmode="lin" valueType="num">
                                      <p:cBhvr additive="base">
                                        <p:cTn id="35" dur="500" fill="hold"/>
                                        <p:tgtEl>
                                          <p:spTgt spid="24"/>
                                        </p:tgtEl>
                                        <p:attrNameLst>
                                          <p:attrName>ppt_x</p:attrName>
                                        </p:attrNameLst>
                                      </p:cBhvr>
                                      <p:tavLst>
                                        <p:tav tm="0">
                                          <p:val>
                                            <p:strVal val="#ppt_x"/>
                                          </p:val>
                                        </p:tav>
                                        <p:tav tm="100000">
                                          <p:val>
                                            <p:strVal val="#ppt_x"/>
                                          </p:val>
                                        </p:tav>
                                      </p:tavLst>
                                    </p:anim>
                                    <p:anim calcmode="lin" valueType="num">
                                      <p:cBhvr additive="base">
                                        <p:cTn id="36" dur="500" fill="hold"/>
                                        <p:tgtEl>
                                          <p:spTgt spid="24"/>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 calcmode="lin" valueType="num">
                                      <p:cBhvr additive="base">
                                        <p:cTn id="39" dur="500" fill="hold"/>
                                        <p:tgtEl>
                                          <p:spTgt spid="34"/>
                                        </p:tgtEl>
                                        <p:attrNameLst>
                                          <p:attrName>ppt_x</p:attrName>
                                        </p:attrNameLst>
                                      </p:cBhvr>
                                      <p:tavLst>
                                        <p:tav tm="0">
                                          <p:val>
                                            <p:strVal val="#ppt_x"/>
                                          </p:val>
                                        </p:tav>
                                        <p:tav tm="100000">
                                          <p:val>
                                            <p:strVal val="#ppt_x"/>
                                          </p:val>
                                        </p:tav>
                                      </p:tavLst>
                                    </p:anim>
                                    <p:anim calcmode="lin" valueType="num">
                                      <p:cBhvr additive="base">
                                        <p:cTn id="4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28"/>
                                        </p:tgtEl>
                                        <p:attrNameLst>
                                          <p:attrName>style.visibility</p:attrName>
                                        </p:attrNameLst>
                                      </p:cBhvr>
                                      <p:to>
                                        <p:strVal val="visible"/>
                                      </p:to>
                                    </p:set>
                                    <p:anim calcmode="lin" valueType="num">
                                      <p:cBhvr additive="base">
                                        <p:cTn id="45" dur="500" fill="hold"/>
                                        <p:tgtEl>
                                          <p:spTgt spid="28"/>
                                        </p:tgtEl>
                                        <p:attrNameLst>
                                          <p:attrName>ppt_x</p:attrName>
                                        </p:attrNameLst>
                                      </p:cBhvr>
                                      <p:tavLst>
                                        <p:tav tm="0">
                                          <p:val>
                                            <p:strVal val="#ppt_x"/>
                                          </p:val>
                                        </p:tav>
                                        <p:tav tm="100000">
                                          <p:val>
                                            <p:strVal val="#ppt_x"/>
                                          </p:val>
                                        </p:tav>
                                      </p:tavLst>
                                    </p:anim>
                                    <p:anim calcmode="lin" valueType="num">
                                      <p:cBhvr additive="base">
                                        <p:cTn id="46" dur="500" fill="hold"/>
                                        <p:tgtEl>
                                          <p:spTgt spid="28"/>
                                        </p:tgtEl>
                                        <p:attrNameLst>
                                          <p:attrName>ppt_y</p:attrName>
                                        </p:attrNameLst>
                                      </p:cBhvr>
                                      <p:tavLst>
                                        <p:tav tm="0">
                                          <p:val>
                                            <p:strVal val="1+#ppt_h/2"/>
                                          </p:val>
                                        </p:tav>
                                        <p:tav tm="100000">
                                          <p:val>
                                            <p:strVal val="#ppt_y"/>
                                          </p:val>
                                        </p:tav>
                                      </p:tavLst>
                                    </p:anim>
                                  </p:childTnLst>
                                </p:cTn>
                              </p:par>
                              <p:par>
                                <p:cTn id="47" presetID="2" presetClass="entr" presetSubtype="4" fill="hold" grpId="1" nodeType="withEffect">
                                  <p:stCondLst>
                                    <p:cond delay="0"/>
                                  </p:stCondLst>
                                  <p:childTnLst>
                                    <p:set>
                                      <p:cBhvr>
                                        <p:cTn id="48" dur="1" fill="hold">
                                          <p:stCondLst>
                                            <p:cond delay="0"/>
                                          </p:stCondLst>
                                        </p:cTn>
                                        <p:tgtEl>
                                          <p:spTgt spid="3"/>
                                        </p:tgtEl>
                                        <p:attrNameLst>
                                          <p:attrName>style.visibility</p:attrName>
                                        </p:attrNameLst>
                                      </p:cBhvr>
                                      <p:to>
                                        <p:strVal val="visible"/>
                                      </p:to>
                                    </p:set>
                                    <p:anim calcmode="lin" valueType="num">
                                      <p:cBhvr additive="base">
                                        <p:cTn id="49" dur="500" fill="hold"/>
                                        <p:tgtEl>
                                          <p:spTgt spid="3"/>
                                        </p:tgtEl>
                                        <p:attrNameLst>
                                          <p:attrName>ppt_x</p:attrName>
                                        </p:attrNameLst>
                                      </p:cBhvr>
                                      <p:tavLst>
                                        <p:tav tm="0">
                                          <p:val>
                                            <p:strVal val="#ppt_x"/>
                                          </p:val>
                                        </p:tav>
                                        <p:tav tm="100000">
                                          <p:val>
                                            <p:strVal val="#ppt_x"/>
                                          </p:val>
                                        </p:tav>
                                      </p:tavLst>
                                    </p:anim>
                                    <p:anim calcmode="lin" valueType="num">
                                      <p:cBhvr additive="base">
                                        <p:cTn id="5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4" fill="hold" nodeType="clickEffect">
                                  <p:stCondLst>
                                    <p:cond delay="0"/>
                                  </p:stCondLst>
                                  <p:childTnLst>
                                    <p:anim calcmode="lin" valueType="num">
                                      <p:cBhvr additive="base">
                                        <p:cTn id="54" dur="500"/>
                                        <p:tgtEl>
                                          <p:spTgt spid="21"/>
                                        </p:tgtEl>
                                        <p:attrNameLst>
                                          <p:attrName>ppt_x</p:attrName>
                                        </p:attrNameLst>
                                      </p:cBhvr>
                                      <p:tavLst>
                                        <p:tav tm="0">
                                          <p:val>
                                            <p:strVal val="ppt_x"/>
                                          </p:val>
                                        </p:tav>
                                        <p:tav tm="100000">
                                          <p:val>
                                            <p:strVal val="ppt_x"/>
                                          </p:val>
                                        </p:tav>
                                      </p:tavLst>
                                    </p:anim>
                                    <p:anim calcmode="lin" valueType="num">
                                      <p:cBhvr additive="base">
                                        <p:cTn id="55" dur="500"/>
                                        <p:tgtEl>
                                          <p:spTgt spid="21"/>
                                        </p:tgtEl>
                                        <p:attrNameLst>
                                          <p:attrName>ppt_y</p:attrName>
                                        </p:attrNameLst>
                                      </p:cBhvr>
                                      <p:tavLst>
                                        <p:tav tm="0">
                                          <p:val>
                                            <p:strVal val="ppt_y"/>
                                          </p:val>
                                        </p:tav>
                                        <p:tav tm="100000">
                                          <p:val>
                                            <p:strVal val="1+ppt_h/2"/>
                                          </p:val>
                                        </p:tav>
                                      </p:tavLst>
                                    </p:anim>
                                    <p:set>
                                      <p:cBhvr>
                                        <p:cTn id="56" dur="1" fill="hold">
                                          <p:stCondLst>
                                            <p:cond delay="499"/>
                                          </p:stCondLst>
                                        </p:cTn>
                                        <p:tgtEl>
                                          <p:spTgt spid="21"/>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23"/>
                                        </p:tgtEl>
                                        <p:attrNameLst>
                                          <p:attrName>ppt_x</p:attrName>
                                        </p:attrNameLst>
                                      </p:cBhvr>
                                      <p:tavLst>
                                        <p:tav tm="0">
                                          <p:val>
                                            <p:strVal val="ppt_x"/>
                                          </p:val>
                                        </p:tav>
                                        <p:tav tm="100000">
                                          <p:val>
                                            <p:strVal val="ppt_x"/>
                                          </p:val>
                                        </p:tav>
                                      </p:tavLst>
                                    </p:anim>
                                    <p:anim calcmode="lin" valueType="num">
                                      <p:cBhvr additive="base">
                                        <p:cTn id="59" dur="500"/>
                                        <p:tgtEl>
                                          <p:spTgt spid="23"/>
                                        </p:tgtEl>
                                        <p:attrNameLst>
                                          <p:attrName>ppt_y</p:attrName>
                                        </p:attrNameLst>
                                      </p:cBhvr>
                                      <p:tavLst>
                                        <p:tav tm="0">
                                          <p:val>
                                            <p:strVal val="ppt_y"/>
                                          </p:val>
                                        </p:tav>
                                        <p:tav tm="100000">
                                          <p:val>
                                            <p:strVal val="1+ppt_h/2"/>
                                          </p:val>
                                        </p:tav>
                                      </p:tavLst>
                                    </p:anim>
                                    <p:set>
                                      <p:cBhvr>
                                        <p:cTn id="60" dur="1" fill="hold">
                                          <p:stCondLst>
                                            <p:cond delay="499"/>
                                          </p:stCondLst>
                                        </p:cTn>
                                        <p:tgtEl>
                                          <p:spTgt spid="23"/>
                                        </p:tgtEl>
                                        <p:attrNameLst>
                                          <p:attrName>style.visibility</p:attrName>
                                        </p:attrNameLst>
                                      </p:cBhvr>
                                      <p:to>
                                        <p:strVal val="hidden"/>
                                      </p:to>
                                    </p:set>
                                  </p:childTnLst>
                                </p:cTn>
                              </p:par>
                              <p:par>
                                <p:cTn id="61" presetID="2" presetClass="exit" presetSubtype="4" fill="hold" grpId="1" nodeType="withEffect">
                                  <p:stCondLst>
                                    <p:cond delay="0"/>
                                  </p:stCondLst>
                                  <p:childTnLst>
                                    <p:anim calcmode="lin" valueType="num">
                                      <p:cBhvr additive="base">
                                        <p:cTn id="62" dur="500"/>
                                        <p:tgtEl>
                                          <p:spTgt spid="25"/>
                                        </p:tgtEl>
                                        <p:attrNameLst>
                                          <p:attrName>ppt_x</p:attrName>
                                        </p:attrNameLst>
                                      </p:cBhvr>
                                      <p:tavLst>
                                        <p:tav tm="0">
                                          <p:val>
                                            <p:strVal val="ppt_x"/>
                                          </p:val>
                                        </p:tav>
                                        <p:tav tm="100000">
                                          <p:val>
                                            <p:strVal val="ppt_x"/>
                                          </p:val>
                                        </p:tav>
                                      </p:tavLst>
                                    </p:anim>
                                    <p:anim calcmode="lin" valueType="num">
                                      <p:cBhvr additive="base">
                                        <p:cTn id="63" dur="500"/>
                                        <p:tgtEl>
                                          <p:spTgt spid="25"/>
                                        </p:tgtEl>
                                        <p:attrNameLst>
                                          <p:attrName>ppt_y</p:attrName>
                                        </p:attrNameLst>
                                      </p:cBhvr>
                                      <p:tavLst>
                                        <p:tav tm="0">
                                          <p:val>
                                            <p:strVal val="ppt_y"/>
                                          </p:val>
                                        </p:tav>
                                        <p:tav tm="100000">
                                          <p:val>
                                            <p:strVal val="1+ppt_h/2"/>
                                          </p:val>
                                        </p:tav>
                                      </p:tavLst>
                                    </p:anim>
                                    <p:set>
                                      <p:cBhvr>
                                        <p:cTn id="64" dur="1" fill="hold">
                                          <p:stCondLst>
                                            <p:cond delay="499"/>
                                          </p:stCondLst>
                                        </p:cTn>
                                        <p:tgtEl>
                                          <p:spTgt spid="25"/>
                                        </p:tgtEl>
                                        <p:attrNameLst>
                                          <p:attrName>style.visibility</p:attrName>
                                        </p:attrNameLst>
                                      </p:cBhvr>
                                      <p:to>
                                        <p:strVal val="hidden"/>
                                      </p:to>
                                    </p:set>
                                  </p:childTnLst>
                                </p:cTn>
                              </p:par>
                              <p:par>
                                <p:cTn id="65" presetID="2" presetClass="exit" presetSubtype="4" fill="hold" nodeType="withEffect">
                                  <p:stCondLst>
                                    <p:cond delay="0"/>
                                  </p:stCondLst>
                                  <p:childTnLst>
                                    <p:anim calcmode="lin" valueType="num">
                                      <p:cBhvr additive="base">
                                        <p:cTn id="66" dur="500"/>
                                        <p:tgtEl>
                                          <p:spTgt spid="35"/>
                                        </p:tgtEl>
                                        <p:attrNameLst>
                                          <p:attrName>ppt_x</p:attrName>
                                        </p:attrNameLst>
                                      </p:cBhvr>
                                      <p:tavLst>
                                        <p:tav tm="0">
                                          <p:val>
                                            <p:strVal val="ppt_x"/>
                                          </p:val>
                                        </p:tav>
                                        <p:tav tm="100000">
                                          <p:val>
                                            <p:strVal val="ppt_x"/>
                                          </p:val>
                                        </p:tav>
                                      </p:tavLst>
                                    </p:anim>
                                    <p:anim calcmode="lin" valueType="num">
                                      <p:cBhvr additive="base">
                                        <p:cTn id="67" dur="500"/>
                                        <p:tgtEl>
                                          <p:spTgt spid="35"/>
                                        </p:tgtEl>
                                        <p:attrNameLst>
                                          <p:attrName>ppt_y</p:attrName>
                                        </p:attrNameLst>
                                      </p:cBhvr>
                                      <p:tavLst>
                                        <p:tav tm="0">
                                          <p:val>
                                            <p:strVal val="ppt_y"/>
                                          </p:val>
                                        </p:tav>
                                        <p:tav tm="100000">
                                          <p:val>
                                            <p:strVal val="1+ppt_h/2"/>
                                          </p:val>
                                        </p:tav>
                                      </p:tavLst>
                                    </p:anim>
                                    <p:set>
                                      <p:cBhvr>
                                        <p:cTn id="68" dur="1" fill="hold">
                                          <p:stCondLst>
                                            <p:cond delay="499"/>
                                          </p:stCondLst>
                                        </p:cTn>
                                        <p:tgtEl>
                                          <p:spTgt spid="35"/>
                                        </p:tgtEl>
                                        <p:attrNameLst>
                                          <p:attrName>style.visibility</p:attrName>
                                        </p:attrNameLst>
                                      </p:cBhvr>
                                      <p:to>
                                        <p:strVal val="hidden"/>
                                      </p:to>
                                    </p:set>
                                  </p:childTnLst>
                                </p:cTn>
                              </p:par>
                              <p:par>
                                <p:cTn id="69" presetID="2" presetClass="exit" presetSubtype="4" fill="hold" grpId="0" nodeType="withEffect">
                                  <p:stCondLst>
                                    <p:cond delay="0"/>
                                  </p:stCondLst>
                                  <p:childTnLst>
                                    <p:anim calcmode="lin" valueType="num">
                                      <p:cBhvr additive="base">
                                        <p:cTn id="70" dur="500"/>
                                        <p:tgtEl>
                                          <p:spTgt spid="3"/>
                                        </p:tgtEl>
                                        <p:attrNameLst>
                                          <p:attrName>ppt_x</p:attrName>
                                        </p:attrNameLst>
                                      </p:cBhvr>
                                      <p:tavLst>
                                        <p:tav tm="0">
                                          <p:val>
                                            <p:strVal val="ppt_x"/>
                                          </p:val>
                                        </p:tav>
                                        <p:tav tm="100000">
                                          <p:val>
                                            <p:strVal val="ppt_x"/>
                                          </p:val>
                                        </p:tav>
                                      </p:tavLst>
                                    </p:anim>
                                    <p:anim calcmode="lin" valueType="num">
                                      <p:cBhvr additive="base">
                                        <p:cTn id="71" dur="500"/>
                                        <p:tgtEl>
                                          <p:spTgt spid="3"/>
                                        </p:tgtEl>
                                        <p:attrNameLst>
                                          <p:attrName>ppt_y</p:attrName>
                                        </p:attrNameLst>
                                      </p:cBhvr>
                                      <p:tavLst>
                                        <p:tav tm="0">
                                          <p:val>
                                            <p:strVal val="ppt_y"/>
                                          </p:val>
                                        </p:tav>
                                        <p:tav tm="100000">
                                          <p:val>
                                            <p:strVal val="1+ppt_h/2"/>
                                          </p:val>
                                        </p:tav>
                                      </p:tavLst>
                                    </p:anim>
                                    <p:set>
                                      <p:cBhvr>
                                        <p:cTn id="72" dur="1" fill="hold">
                                          <p:stCondLst>
                                            <p:cond delay="499"/>
                                          </p:stCondLst>
                                        </p:cTn>
                                        <p:tgtEl>
                                          <p:spTgt spid="3"/>
                                        </p:tgtEl>
                                        <p:attrNameLst>
                                          <p:attrName>style.visibility</p:attrName>
                                        </p:attrNameLst>
                                      </p:cBhvr>
                                      <p:to>
                                        <p:strVal val="hidden"/>
                                      </p:to>
                                    </p:set>
                                  </p:childTnLst>
                                </p:cTn>
                              </p:par>
                              <p:par>
                                <p:cTn id="73" presetID="2" presetClass="exit" presetSubtype="4" fill="hold" nodeType="withEffect">
                                  <p:stCondLst>
                                    <p:cond delay="0"/>
                                  </p:stCondLst>
                                  <p:childTnLst>
                                    <p:anim calcmode="lin" valueType="num">
                                      <p:cBhvr additive="base">
                                        <p:cTn id="74" dur="500"/>
                                        <p:tgtEl>
                                          <p:spTgt spid="28"/>
                                        </p:tgtEl>
                                        <p:attrNameLst>
                                          <p:attrName>ppt_x</p:attrName>
                                        </p:attrNameLst>
                                      </p:cBhvr>
                                      <p:tavLst>
                                        <p:tav tm="0">
                                          <p:val>
                                            <p:strVal val="ppt_x"/>
                                          </p:val>
                                        </p:tav>
                                        <p:tav tm="100000">
                                          <p:val>
                                            <p:strVal val="ppt_x"/>
                                          </p:val>
                                        </p:tav>
                                      </p:tavLst>
                                    </p:anim>
                                    <p:anim calcmode="lin" valueType="num">
                                      <p:cBhvr additive="base">
                                        <p:cTn id="75" dur="500"/>
                                        <p:tgtEl>
                                          <p:spTgt spid="28"/>
                                        </p:tgtEl>
                                        <p:attrNameLst>
                                          <p:attrName>ppt_y</p:attrName>
                                        </p:attrNameLst>
                                      </p:cBhvr>
                                      <p:tavLst>
                                        <p:tav tm="0">
                                          <p:val>
                                            <p:strVal val="ppt_y"/>
                                          </p:val>
                                        </p:tav>
                                        <p:tav tm="100000">
                                          <p:val>
                                            <p:strVal val="1+ppt_h/2"/>
                                          </p:val>
                                        </p:tav>
                                      </p:tavLst>
                                    </p:anim>
                                    <p:set>
                                      <p:cBhvr>
                                        <p:cTn id="76" dur="1" fill="hold">
                                          <p:stCondLst>
                                            <p:cond delay="499"/>
                                          </p:stCondLst>
                                        </p:cTn>
                                        <p:tgtEl>
                                          <p:spTgt spid="28"/>
                                        </p:tgtEl>
                                        <p:attrNameLst>
                                          <p:attrName>style.visibility</p:attrName>
                                        </p:attrNameLst>
                                      </p:cBhvr>
                                      <p:to>
                                        <p:strVal val="hidden"/>
                                      </p:to>
                                    </p:set>
                                  </p:childTnLst>
                                </p:cTn>
                              </p:par>
                              <p:par>
                                <p:cTn id="77" presetID="2" presetClass="exit" presetSubtype="4" fill="hold" nodeType="withEffect">
                                  <p:stCondLst>
                                    <p:cond delay="0"/>
                                  </p:stCondLst>
                                  <p:childTnLst>
                                    <p:anim calcmode="lin" valueType="num">
                                      <p:cBhvr additive="base">
                                        <p:cTn id="78" dur="500"/>
                                        <p:tgtEl>
                                          <p:spTgt spid="19"/>
                                        </p:tgtEl>
                                        <p:attrNameLst>
                                          <p:attrName>ppt_x</p:attrName>
                                        </p:attrNameLst>
                                      </p:cBhvr>
                                      <p:tavLst>
                                        <p:tav tm="0">
                                          <p:val>
                                            <p:strVal val="ppt_x"/>
                                          </p:val>
                                        </p:tav>
                                        <p:tav tm="100000">
                                          <p:val>
                                            <p:strVal val="ppt_x"/>
                                          </p:val>
                                        </p:tav>
                                      </p:tavLst>
                                    </p:anim>
                                    <p:anim calcmode="lin" valueType="num">
                                      <p:cBhvr additive="base">
                                        <p:cTn id="79" dur="500"/>
                                        <p:tgtEl>
                                          <p:spTgt spid="19"/>
                                        </p:tgtEl>
                                        <p:attrNameLst>
                                          <p:attrName>ppt_y</p:attrName>
                                        </p:attrNameLst>
                                      </p:cBhvr>
                                      <p:tavLst>
                                        <p:tav tm="0">
                                          <p:val>
                                            <p:strVal val="ppt_y"/>
                                          </p:val>
                                        </p:tav>
                                        <p:tav tm="100000">
                                          <p:val>
                                            <p:strVal val="1+ppt_h/2"/>
                                          </p:val>
                                        </p:tav>
                                      </p:tavLst>
                                    </p:anim>
                                    <p:set>
                                      <p:cBhvr>
                                        <p:cTn id="80" dur="1" fill="hold">
                                          <p:stCondLst>
                                            <p:cond delay="499"/>
                                          </p:stCondLst>
                                        </p:cTn>
                                        <p:tgtEl>
                                          <p:spTgt spid="19"/>
                                        </p:tgtEl>
                                        <p:attrNameLst>
                                          <p:attrName>style.visibility</p:attrName>
                                        </p:attrNameLst>
                                      </p:cBhvr>
                                      <p:to>
                                        <p:strVal val="hidden"/>
                                      </p:to>
                                    </p:set>
                                  </p:childTnLst>
                                </p:cTn>
                              </p:par>
                              <p:par>
                                <p:cTn id="81" presetID="2" presetClass="exit" presetSubtype="4" fill="hold" grpId="1" nodeType="withEffect">
                                  <p:stCondLst>
                                    <p:cond delay="0"/>
                                  </p:stCondLst>
                                  <p:childTnLst>
                                    <p:anim calcmode="lin" valueType="num">
                                      <p:cBhvr additive="base">
                                        <p:cTn id="82" dur="500"/>
                                        <p:tgtEl>
                                          <p:spTgt spid="8"/>
                                        </p:tgtEl>
                                        <p:attrNameLst>
                                          <p:attrName>ppt_x</p:attrName>
                                        </p:attrNameLst>
                                      </p:cBhvr>
                                      <p:tavLst>
                                        <p:tav tm="0">
                                          <p:val>
                                            <p:strVal val="ppt_x"/>
                                          </p:val>
                                        </p:tav>
                                        <p:tav tm="100000">
                                          <p:val>
                                            <p:strVal val="ppt_x"/>
                                          </p:val>
                                        </p:tav>
                                      </p:tavLst>
                                    </p:anim>
                                    <p:anim calcmode="lin" valueType="num">
                                      <p:cBhvr additive="base">
                                        <p:cTn id="83" dur="500"/>
                                        <p:tgtEl>
                                          <p:spTgt spid="8"/>
                                        </p:tgtEl>
                                        <p:attrNameLst>
                                          <p:attrName>ppt_y</p:attrName>
                                        </p:attrNameLst>
                                      </p:cBhvr>
                                      <p:tavLst>
                                        <p:tav tm="0">
                                          <p:val>
                                            <p:strVal val="ppt_y"/>
                                          </p:val>
                                        </p:tav>
                                        <p:tav tm="100000">
                                          <p:val>
                                            <p:strVal val="1+ppt_h/2"/>
                                          </p:val>
                                        </p:tav>
                                      </p:tavLst>
                                    </p:anim>
                                    <p:set>
                                      <p:cBhvr>
                                        <p:cTn id="84" dur="1" fill="hold">
                                          <p:stCondLst>
                                            <p:cond delay="499"/>
                                          </p:stCondLst>
                                        </p:cTn>
                                        <p:tgtEl>
                                          <p:spTgt spid="8"/>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grpId="0" nodeType="clickEffect">
                                  <p:stCondLst>
                                    <p:cond delay="0"/>
                                  </p:stCondLst>
                                  <p:childTnLst>
                                    <p:set>
                                      <p:cBhvr>
                                        <p:cTn id="88" dur="1" fill="hold">
                                          <p:stCondLst>
                                            <p:cond delay="0"/>
                                          </p:stCondLst>
                                        </p:cTn>
                                        <p:tgtEl>
                                          <p:spTgt spid="31"/>
                                        </p:tgtEl>
                                        <p:attrNameLst>
                                          <p:attrName>style.visibility</p:attrName>
                                        </p:attrNameLst>
                                      </p:cBhvr>
                                      <p:to>
                                        <p:strVal val="visible"/>
                                      </p:to>
                                    </p:set>
                                    <p:anim calcmode="lin" valueType="num">
                                      <p:cBhvr additive="base">
                                        <p:cTn id="89" dur="500" fill="hold"/>
                                        <p:tgtEl>
                                          <p:spTgt spid="31"/>
                                        </p:tgtEl>
                                        <p:attrNameLst>
                                          <p:attrName>ppt_x</p:attrName>
                                        </p:attrNameLst>
                                      </p:cBhvr>
                                      <p:tavLst>
                                        <p:tav tm="0">
                                          <p:val>
                                            <p:strVal val="#ppt_x"/>
                                          </p:val>
                                        </p:tav>
                                        <p:tav tm="100000">
                                          <p:val>
                                            <p:strVal val="#ppt_x"/>
                                          </p:val>
                                        </p:tav>
                                      </p:tavLst>
                                    </p:anim>
                                    <p:anim calcmode="lin" valueType="num">
                                      <p:cBhvr additive="base">
                                        <p:cTn id="90" dur="500" fill="hold"/>
                                        <p:tgtEl>
                                          <p:spTgt spid="31"/>
                                        </p:tgtEl>
                                        <p:attrNameLst>
                                          <p:attrName>ppt_y</p:attrName>
                                        </p:attrNameLst>
                                      </p:cBhvr>
                                      <p:tavLst>
                                        <p:tav tm="0">
                                          <p:val>
                                            <p:strVal val="1+#ppt_h/2"/>
                                          </p:val>
                                        </p:tav>
                                        <p:tav tm="100000">
                                          <p:val>
                                            <p:strVal val="#ppt_y"/>
                                          </p:val>
                                        </p:tav>
                                      </p:tavLst>
                                    </p:anim>
                                  </p:childTnLst>
                                </p:cTn>
                              </p:par>
                              <p:par>
                                <p:cTn id="91" presetID="2" presetClass="entr" presetSubtype="4" fill="hold" nodeType="withEffect">
                                  <p:stCondLst>
                                    <p:cond delay="0"/>
                                  </p:stCondLst>
                                  <p:childTnLst>
                                    <p:set>
                                      <p:cBhvr>
                                        <p:cTn id="92" dur="1" fill="hold">
                                          <p:stCondLst>
                                            <p:cond delay="0"/>
                                          </p:stCondLst>
                                        </p:cTn>
                                        <p:tgtEl>
                                          <p:spTgt spid="38"/>
                                        </p:tgtEl>
                                        <p:attrNameLst>
                                          <p:attrName>style.visibility</p:attrName>
                                        </p:attrNameLst>
                                      </p:cBhvr>
                                      <p:to>
                                        <p:strVal val="visible"/>
                                      </p:to>
                                    </p:set>
                                    <p:anim calcmode="lin" valueType="num">
                                      <p:cBhvr additive="base">
                                        <p:cTn id="93" dur="500" fill="hold"/>
                                        <p:tgtEl>
                                          <p:spTgt spid="38"/>
                                        </p:tgtEl>
                                        <p:attrNameLst>
                                          <p:attrName>ppt_x</p:attrName>
                                        </p:attrNameLst>
                                      </p:cBhvr>
                                      <p:tavLst>
                                        <p:tav tm="0">
                                          <p:val>
                                            <p:strVal val="#ppt_x"/>
                                          </p:val>
                                        </p:tav>
                                        <p:tav tm="100000">
                                          <p:val>
                                            <p:strVal val="#ppt_x"/>
                                          </p:val>
                                        </p:tav>
                                      </p:tavLst>
                                    </p:anim>
                                    <p:anim calcmode="lin" valueType="num">
                                      <p:cBhvr additive="base">
                                        <p:cTn id="94" dur="500" fill="hold"/>
                                        <p:tgtEl>
                                          <p:spTgt spid="38"/>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32"/>
                                        </p:tgtEl>
                                        <p:attrNameLst>
                                          <p:attrName>style.visibility</p:attrName>
                                        </p:attrNameLst>
                                      </p:cBhvr>
                                      <p:to>
                                        <p:strVal val="visible"/>
                                      </p:to>
                                    </p:set>
                                    <p:anim calcmode="lin" valueType="num">
                                      <p:cBhvr additive="base">
                                        <p:cTn id="97" dur="500" fill="hold"/>
                                        <p:tgtEl>
                                          <p:spTgt spid="32"/>
                                        </p:tgtEl>
                                        <p:attrNameLst>
                                          <p:attrName>ppt_x</p:attrName>
                                        </p:attrNameLst>
                                      </p:cBhvr>
                                      <p:tavLst>
                                        <p:tav tm="0">
                                          <p:val>
                                            <p:strVal val="#ppt_x"/>
                                          </p:val>
                                        </p:tav>
                                        <p:tav tm="100000">
                                          <p:val>
                                            <p:strVal val="#ppt_x"/>
                                          </p:val>
                                        </p:tav>
                                      </p:tavLst>
                                    </p:anim>
                                    <p:anim calcmode="lin" valueType="num">
                                      <p:cBhvr additive="base">
                                        <p:cTn id="98"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33"/>
                                        </p:tgtEl>
                                        <p:attrNameLst>
                                          <p:attrName>style.visibility</p:attrName>
                                        </p:attrNameLst>
                                      </p:cBhvr>
                                      <p:to>
                                        <p:strVal val="visible"/>
                                      </p:to>
                                    </p:set>
                                    <p:anim calcmode="lin" valueType="num">
                                      <p:cBhvr additive="base">
                                        <p:cTn id="103" dur="500" fill="hold"/>
                                        <p:tgtEl>
                                          <p:spTgt spid="33"/>
                                        </p:tgtEl>
                                        <p:attrNameLst>
                                          <p:attrName>ppt_x</p:attrName>
                                        </p:attrNameLst>
                                      </p:cBhvr>
                                      <p:tavLst>
                                        <p:tav tm="0">
                                          <p:val>
                                            <p:strVal val="#ppt_x"/>
                                          </p:val>
                                        </p:tav>
                                        <p:tav tm="100000">
                                          <p:val>
                                            <p:strVal val="#ppt_x"/>
                                          </p:val>
                                        </p:tav>
                                      </p:tavLst>
                                    </p:anim>
                                    <p:anim calcmode="lin" valueType="num">
                                      <p:cBhvr additive="base">
                                        <p:cTn id="104" dur="500" fill="hold"/>
                                        <p:tgtEl>
                                          <p:spTgt spid="33"/>
                                        </p:tgtEl>
                                        <p:attrNameLst>
                                          <p:attrName>ppt_y</p:attrName>
                                        </p:attrNameLst>
                                      </p:cBhvr>
                                      <p:tavLst>
                                        <p:tav tm="0">
                                          <p:val>
                                            <p:strVal val="1+#ppt_h/2"/>
                                          </p:val>
                                        </p:tav>
                                        <p:tav tm="100000">
                                          <p:val>
                                            <p:strVal val="#ppt_y"/>
                                          </p:val>
                                        </p:tav>
                                      </p:tavLst>
                                    </p:anim>
                                  </p:childTnLst>
                                </p:cTn>
                              </p:par>
                              <p:par>
                                <p:cTn id="105" presetID="2" presetClass="entr" presetSubtype="4" fill="hold" nodeType="withEffect">
                                  <p:stCondLst>
                                    <p:cond delay="0"/>
                                  </p:stCondLst>
                                  <p:childTnLst>
                                    <p:set>
                                      <p:cBhvr>
                                        <p:cTn id="106" dur="1" fill="hold">
                                          <p:stCondLst>
                                            <p:cond delay="0"/>
                                          </p:stCondLst>
                                        </p:cTn>
                                        <p:tgtEl>
                                          <p:spTgt spid="37"/>
                                        </p:tgtEl>
                                        <p:attrNameLst>
                                          <p:attrName>style.visibility</p:attrName>
                                        </p:attrNameLst>
                                      </p:cBhvr>
                                      <p:to>
                                        <p:strVal val="visible"/>
                                      </p:to>
                                    </p:set>
                                    <p:anim calcmode="lin" valueType="num">
                                      <p:cBhvr additive="base">
                                        <p:cTn id="107" dur="500" fill="hold"/>
                                        <p:tgtEl>
                                          <p:spTgt spid="37"/>
                                        </p:tgtEl>
                                        <p:attrNameLst>
                                          <p:attrName>ppt_x</p:attrName>
                                        </p:attrNameLst>
                                      </p:cBhvr>
                                      <p:tavLst>
                                        <p:tav tm="0">
                                          <p:val>
                                            <p:strVal val="#ppt_x"/>
                                          </p:val>
                                        </p:tav>
                                        <p:tav tm="100000">
                                          <p:val>
                                            <p:strVal val="#ppt_x"/>
                                          </p:val>
                                        </p:tav>
                                      </p:tavLst>
                                    </p:anim>
                                    <p:anim calcmode="lin" valueType="num">
                                      <p:cBhvr additive="base">
                                        <p:cTn id="108" dur="500" fill="hold"/>
                                        <p:tgtEl>
                                          <p:spTgt spid="37"/>
                                        </p:tgtEl>
                                        <p:attrNameLst>
                                          <p:attrName>ppt_y</p:attrName>
                                        </p:attrNameLst>
                                      </p:cBhvr>
                                      <p:tavLst>
                                        <p:tav tm="0">
                                          <p:val>
                                            <p:strVal val="1+#ppt_h/2"/>
                                          </p:val>
                                        </p:tav>
                                        <p:tav tm="100000">
                                          <p:val>
                                            <p:strVal val="#ppt_y"/>
                                          </p:val>
                                        </p:tav>
                                      </p:tavLst>
                                    </p:anim>
                                  </p:childTnLst>
                                </p:cTn>
                              </p:par>
                              <p:par>
                                <p:cTn id="109" presetID="2" presetClass="entr" presetSubtype="4"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additive="base">
                                        <p:cTn id="111" dur="500" fill="hold"/>
                                        <p:tgtEl>
                                          <p:spTgt spid="27"/>
                                        </p:tgtEl>
                                        <p:attrNameLst>
                                          <p:attrName>ppt_x</p:attrName>
                                        </p:attrNameLst>
                                      </p:cBhvr>
                                      <p:tavLst>
                                        <p:tav tm="0">
                                          <p:val>
                                            <p:strVal val="#ppt_x"/>
                                          </p:val>
                                        </p:tav>
                                        <p:tav tm="100000">
                                          <p:val>
                                            <p:strVal val="#ppt_x"/>
                                          </p:val>
                                        </p:tav>
                                      </p:tavLst>
                                    </p:anim>
                                    <p:anim calcmode="lin" valueType="num">
                                      <p:cBhvr additive="base">
                                        <p:cTn id="112"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ntr" presetSubtype="4" fill="hold" nodeType="clickEffect">
                                  <p:stCondLst>
                                    <p:cond delay="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500" fill="hold"/>
                                        <p:tgtEl>
                                          <p:spTgt spid="29"/>
                                        </p:tgtEl>
                                        <p:attrNameLst>
                                          <p:attrName>ppt_x</p:attrName>
                                        </p:attrNameLst>
                                      </p:cBhvr>
                                      <p:tavLst>
                                        <p:tav tm="0">
                                          <p:val>
                                            <p:strVal val="#ppt_x"/>
                                          </p:val>
                                        </p:tav>
                                        <p:tav tm="100000">
                                          <p:val>
                                            <p:strVal val="#ppt_x"/>
                                          </p:val>
                                        </p:tav>
                                      </p:tavLst>
                                    </p:anim>
                                    <p:anim calcmode="lin" valueType="num">
                                      <p:cBhvr additive="base">
                                        <p:cTn id="118" dur="500" fill="hold"/>
                                        <p:tgtEl>
                                          <p:spTgt spid="29"/>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36"/>
                                        </p:tgtEl>
                                        <p:attrNameLst>
                                          <p:attrName>style.visibility</p:attrName>
                                        </p:attrNameLst>
                                      </p:cBhvr>
                                      <p:to>
                                        <p:strVal val="visible"/>
                                      </p:to>
                                    </p:set>
                                    <p:anim calcmode="lin" valueType="num">
                                      <p:cBhvr additive="base">
                                        <p:cTn id="121" dur="500" fill="hold"/>
                                        <p:tgtEl>
                                          <p:spTgt spid="36"/>
                                        </p:tgtEl>
                                        <p:attrNameLst>
                                          <p:attrName>ppt_x</p:attrName>
                                        </p:attrNameLst>
                                      </p:cBhvr>
                                      <p:tavLst>
                                        <p:tav tm="0">
                                          <p:val>
                                            <p:strVal val="#ppt_x"/>
                                          </p:val>
                                        </p:tav>
                                        <p:tav tm="100000">
                                          <p:val>
                                            <p:strVal val="#ppt_x"/>
                                          </p:val>
                                        </p:tav>
                                      </p:tavLst>
                                    </p:anim>
                                    <p:anim calcmode="lin" valueType="num">
                                      <p:cBhvr additive="base">
                                        <p:cTn id="122"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25" grpId="0"/>
      <p:bldP spid="25" grpId="1"/>
      <p:bldP spid="27" grpId="0"/>
      <p:bldP spid="31" grpId="0"/>
      <p:bldP spid="24" grpId="0"/>
      <p:bldP spid="34" grpId="0"/>
      <p:bldP spid="3" grpId="0"/>
      <p:bldP spid="3" grpId="1"/>
      <p:bldP spid="3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4"/>
          <p:cNvSpPr>
            <a:spLocks noChangeArrowheads="1"/>
          </p:cNvSpPr>
          <p:nvPr/>
        </p:nvSpPr>
        <p:spPr bwMode="auto">
          <a:xfrm>
            <a:off x="231775" y="308917"/>
            <a:ext cx="8607425" cy="761999"/>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Hypothesis Testing</a:t>
            </a:r>
          </a:p>
        </p:txBody>
      </p:sp>
      <p:sp>
        <p:nvSpPr>
          <p:cNvPr id="5" name="Rectangle 5"/>
          <p:cNvSpPr>
            <a:spLocks noChangeArrowheads="1"/>
          </p:cNvSpPr>
          <p:nvPr/>
        </p:nvSpPr>
        <p:spPr bwMode="auto">
          <a:xfrm>
            <a:off x="228600" y="1212406"/>
            <a:ext cx="8686800" cy="5578475"/>
          </a:xfrm>
          <a:prstGeom prst="rect">
            <a:avLst/>
          </a:prstGeom>
          <a:noFill/>
          <a:ln w="9525">
            <a:noFill/>
            <a:round/>
            <a:headEnd/>
            <a:tailEnd/>
          </a:ln>
        </p:spPr>
        <p:txBody>
          <a:bodyPr lIns="0" tIns="0" rIns="0" bIns="0"/>
          <a:lstStyle/>
          <a:p>
            <a:pPr marL="430213"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3200" dirty="0">
                <a:solidFill>
                  <a:srgbClr val="000000"/>
                </a:solidFill>
                <a:latin typeface="Times New Roman" pitchFamily="18" charset="0"/>
              </a:rPr>
              <a:t>Hypothesis testing can go wrong:</a:t>
            </a:r>
          </a:p>
          <a:p>
            <a:pPr marL="430213"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3200" dirty="0">
              <a:solidFill>
                <a:srgbClr val="000000"/>
              </a:solidFill>
              <a:latin typeface="Times New Roman" pitchFamily="18" charset="0"/>
            </a:endParaRPr>
          </a:p>
          <a:p>
            <a:pPr marL="430213"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3200" dirty="0">
              <a:solidFill>
                <a:srgbClr val="000000"/>
              </a:solidFill>
              <a:latin typeface="Times New Roman" pitchFamily="18" charset="0"/>
            </a:endParaRPr>
          </a:p>
          <a:p>
            <a:pPr marL="430213" indent="-323850">
              <a:lnSpc>
                <a:spcPct val="100000"/>
              </a:lnSpc>
              <a:spcBef>
                <a:spcPts val="800"/>
              </a:spcBef>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3200" dirty="0">
              <a:solidFill>
                <a:srgbClr val="000000"/>
              </a:solidFill>
              <a:latin typeface="Times New Roman" pitchFamily="18" charset="0"/>
            </a:endParaRPr>
          </a:p>
          <a:p>
            <a:pPr marL="430213" indent="-323850">
              <a:lnSpc>
                <a:spcPct val="100000"/>
              </a:lnSpc>
              <a:spcBef>
                <a:spcPts val="800"/>
              </a:spcBef>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3200" dirty="0">
              <a:solidFill>
                <a:srgbClr val="000000"/>
              </a:solidFill>
              <a:latin typeface="Times New Roman" pitchFamily="18" charset="0"/>
            </a:endParaRPr>
          </a:p>
          <a:p>
            <a:pPr marL="430213" indent="-323850">
              <a:lnSpc>
                <a:spcPct val="100000"/>
              </a:lnSpc>
              <a:spcBef>
                <a:spcPts val="800"/>
              </a:spcBef>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2400" dirty="0">
              <a:solidFill>
                <a:srgbClr val="000000"/>
              </a:solidFill>
              <a:latin typeface="Times New Roman" pitchFamily="18" charset="0"/>
            </a:endParaRPr>
          </a:p>
          <a:p>
            <a:pPr marL="887413" lvl="1" indent="-323850">
              <a:lnSpc>
                <a:spcPct val="100000"/>
              </a:lnSpc>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GB" sz="2800" dirty="0">
                <a:solidFill>
                  <a:srgbClr val="000000"/>
                </a:solidFill>
                <a:latin typeface="Times New Roman" pitchFamily="18" charset="0"/>
              </a:rPr>
              <a:t>1-</a:t>
            </a:r>
            <a:r>
              <a:rPr lang="en-US" sz="2800" baseline="0" dirty="0">
                <a:latin typeface="Times New Roman" pitchFamily="18" charset="0"/>
                <a:cs typeface="Times New Roman" pitchFamily="18" charset="0"/>
              </a:rPr>
              <a:t>β</a:t>
            </a:r>
            <a:r>
              <a:rPr lang="en-GB" sz="2800" dirty="0">
                <a:solidFill>
                  <a:srgbClr val="000000"/>
                </a:solidFill>
                <a:latin typeface="Symbol" pitchFamily="18" charset="2"/>
              </a:rPr>
              <a:t> </a:t>
            </a:r>
            <a:r>
              <a:rPr lang="en-GB" sz="2800" dirty="0">
                <a:solidFill>
                  <a:srgbClr val="000000"/>
                </a:solidFill>
                <a:latin typeface="Times New Roman" pitchFamily="18" charset="0"/>
              </a:rPr>
              <a:t>is called test’s </a:t>
            </a:r>
            <a:r>
              <a:rPr lang="en-GB" sz="2800" b="1" dirty="0">
                <a:solidFill>
                  <a:srgbClr val="000000"/>
                </a:solidFill>
                <a:latin typeface="Times New Roman" pitchFamily="18" charset="0"/>
              </a:rPr>
              <a:t>power</a:t>
            </a:r>
          </a:p>
          <a:p>
            <a:pPr marL="430213" indent="-323850">
              <a:lnSpc>
                <a:spcPct val="100000"/>
              </a:lnSpc>
              <a:spcBef>
                <a:spcPts val="800"/>
              </a:spcBef>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endParaRPr lang="en-GB" sz="2800" u="sng" dirty="0">
              <a:solidFill>
                <a:srgbClr val="000000"/>
              </a:solidFill>
              <a:latin typeface="Times New Roman"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3140283545"/>
              </p:ext>
            </p:extLst>
          </p:nvPr>
        </p:nvGraphicFramePr>
        <p:xfrm>
          <a:off x="1219200" y="2144609"/>
          <a:ext cx="6742431" cy="2103120"/>
        </p:xfrm>
        <a:graphic>
          <a:graphicData uri="http://schemas.openxmlformats.org/drawingml/2006/table">
            <a:tbl>
              <a:tblPr firstRow="1" bandRow="1">
                <a:tableStyleId>{2D5ABB26-0587-4C30-8999-92F81FD0307C}</a:tableStyleId>
              </a:tblPr>
              <a:tblGrid>
                <a:gridCol w="2182495">
                  <a:extLst>
                    <a:ext uri="{9D8B030D-6E8A-4147-A177-3AD203B41FA5}">
                      <a16:colId xmlns:a16="http://schemas.microsoft.com/office/drawing/2014/main" val="20000"/>
                    </a:ext>
                  </a:extLst>
                </a:gridCol>
                <a:gridCol w="2229168">
                  <a:extLst>
                    <a:ext uri="{9D8B030D-6E8A-4147-A177-3AD203B41FA5}">
                      <a16:colId xmlns:a16="http://schemas.microsoft.com/office/drawing/2014/main" val="20001"/>
                    </a:ext>
                  </a:extLst>
                </a:gridCol>
                <a:gridCol w="2330768">
                  <a:extLst>
                    <a:ext uri="{9D8B030D-6E8A-4147-A177-3AD203B41FA5}">
                      <a16:colId xmlns:a16="http://schemas.microsoft.com/office/drawing/2014/main" val="20002"/>
                    </a:ext>
                  </a:extLst>
                </a:gridCol>
              </a:tblGrid>
              <a:tr h="370840">
                <a:tc>
                  <a:txBody>
                    <a:bodyPr/>
                    <a:lstStyle/>
                    <a:p>
                      <a:endParaRPr lang="en-US" sz="2400" dirty="0">
                        <a:latin typeface="Times New Roman" pitchFamily="18" charset="0"/>
                        <a:cs typeface="Times New Roman" pitchFamily="18"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r>
                        <a:rPr lang="en-US" sz="2400" dirty="0">
                          <a:latin typeface="Times New Roman" pitchFamily="18" charset="0"/>
                          <a:cs typeface="Times New Roman" pitchFamily="18" charset="0"/>
                        </a:rPr>
                        <a:t>H</a:t>
                      </a:r>
                      <a:r>
                        <a:rPr lang="en-US" sz="2400" baseline="-25000" dirty="0">
                          <a:latin typeface="Times New Roman" pitchFamily="18" charset="0"/>
                          <a:cs typeface="Times New Roman" pitchFamily="18" charset="0"/>
                        </a:rPr>
                        <a:t>0</a:t>
                      </a:r>
                      <a:r>
                        <a:rPr lang="en-US" sz="2400" dirty="0">
                          <a:latin typeface="Times New Roman" pitchFamily="18" charset="0"/>
                          <a:cs typeface="Times New Roman" pitchFamily="18" charset="0"/>
                        </a:rPr>
                        <a:t> is really true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r>
                        <a:rPr lang="en-US" sz="2400" dirty="0">
                          <a:latin typeface="Times New Roman" pitchFamily="18" charset="0"/>
                          <a:cs typeface="Times New Roman" pitchFamily="18" charset="0"/>
                        </a:rPr>
                        <a:t>H</a:t>
                      </a:r>
                      <a:r>
                        <a:rPr lang="en-US" sz="2400" baseline="-25000" dirty="0">
                          <a:latin typeface="Times New Roman" pitchFamily="18" charset="0"/>
                          <a:cs typeface="Times New Roman" pitchFamily="18" charset="0"/>
                        </a:rPr>
                        <a:t>0</a:t>
                      </a:r>
                      <a:r>
                        <a:rPr lang="en-US" sz="2400" dirty="0">
                          <a:latin typeface="Times New Roman" pitchFamily="18" charset="0"/>
                          <a:cs typeface="Times New Roman" pitchFamily="18" charset="0"/>
                        </a:rPr>
                        <a:t> is</a:t>
                      </a:r>
                      <a:r>
                        <a:rPr lang="en-US" sz="2400" baseline="0" dirty="0">
                          <a:latin typeface="Times New Roman" pitchFamily="18" charset="0"/>
                          <a:cs typeface="Times New Roman" pitchFamily="18" charset="0"/>
                        </a:rPr>
                        <a:t> really false</a:t>
                      </a:r>
                      <a:endParaRPr lang="en-US" sz="2400" dirty="0">
                        <a:latin typeface="Times New Roman" pitchFamily="18" charset="0"/>
                        <a:cs typeface="Times New Roman" pitchFamily="18"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r>
                        <a:rPr lang="en-US" sz="2400" dirty="0">
                          <a:latin typeface="Times New Roman" pitchFamily="18" charset="0"/>
                          <a:cs typeface="Times New Roman" pitchFamily="18" charset="0"/>
                        </a:rPr>
                        <a:t>Test rejects H</a:t>
                      </a:r>
                      <a:r>
                        <a:rPr lang="en-US" sz="2400" baseline="-25000" dirty="0">
                          <a:latin typeface="Times New Roman" pitchFamily="18" charset="0"/>
                          <a:cs typeface="Times New Roman" pitchFamily="18" charset="0"/>
                        </a:rPr>
                        <a:t>0</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a:r>
                        <a:rPr lang="en-US" sz="2400" dirty="0">
                          <a:latin typeface="Times New Roman" pitchFamily="18" charset="0"/>
                          <a:cs typeface="Times New Roman" pitchFamily="18" charset="0"/>
                        </a:rPr>
                        <a:t>Type I error. Probability is </a:t>
                      </a:r>
                      <a:r>
                        <a:rPr lang="en-US" sz="2400" dirty="0">
                          <a:solidFill>
                            <a:schemeClr val="tx1"/>
                          </a:solidFill>
                          <a:latin typeface="Times New Roman" pitchFamily="18" charset="0"/>
                          <a:cs typeface="Times New Roman" pitchFamily="18" charset="0"/>
                        </a:rPr>
                        <a:t>α</a:t>
                      </a:r>
                      <a:r>
                        <a:rPr lang="en-US" sz="2400" dirty="0">
                          <a:latin typeface="Times New Roman" pitchFamily="18" charset="0"/>
                          <a:cs typeface="Times New Roman" pitchFamily="18" charset="0"/>
                        </a:rPr>
                        <a:t> </a:t>
                      </a:r>
                      <a:endParaRPr lang="en-US" sz="2400" dirty="0">
                        <a:latin typeface="Symbol" pitchFamily="18" charset="2"/>
                        <a:cs typeface="Times New Roman"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sz="2400" dirty="0">
                          <a:latin typeface="Times New Roman" pitchFamily="18" charset="0"/>
                          <a:cs typeface="Times New Roman" pitchFamily="18" charset="0"/>
                        </a:rPr>
                        <a:t>OK</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r>
                        <a:rPr lang="en-US" sz="2400" dirty="0">
                          <a:latin typeface="Times New Roman" pitchFamily="18" charset="0"/>
                          <a:cs typeface="Times New Roman" pitchFamily="18" charset="0"/>
                        </a:rPr>
                        <a:t>Test accepts</a:t>
                      </a:r>
                      <a:r>
                        <a:rPr lang="en-US" sz="2400" baseline="0" dirty="0">
                          <a:latin typeface="Times New Roman" pitchFamily="18" charset="0"/>
                          <a:cs typeface="Times New Roman" pitchFamily="18" charset="0"/>
                        </a:rPr>
                        <a:t> H</a:t>
                      </a:r>
                      <a:r>
                        <a:rPr lang="en-US" sz="2400" baseline="-25000" dirty="0">
                          <a:latin typeface="Times New Roman" pitchFamily="18" charset="0"/>
                          <a:cs typeface="Times New Roman" pitchFamily="18" charset="0"/>
                        </a:rPr>
                        <a:t>0</a:t>
                      </a:r>
                    </a:p>
                  </a:txBody>
                  <a:tcPr>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tcPr>
                </a:tc>
                <a:tc>
                  <a:txBody>
                    <a:bodyPr/>
                    <a:lstStyle/>
                    <a:p>
                      <a:r>
                        <a:rPr lang="en-US" sz="2400" dirty="0">
                          <a:latin typeface="Times New Roman" pitchFamily="18" charset="0"/>
                          <a:cs typeface="Times New Roman" pitchFamily="18" charset="0"/>
                        </a:rPr>
                        <a:t>OK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tcPr>
                </a:tc>
                <a:tc>
                  <a:txBody>
                    <a:bodyPr/>
                    <a:lstStyle/>
                    <a:p>
                      <a:pPr algn="ctr"/>
                      <a:r>
                        <a:rPr lang="en-US" sz="2400" dirty="0">
                          <a:latin typeface="Times New Roman" pitchFamily="18" charset="0"/>
                          <a:cs typeface="Times New Roman" pitchFamily="18" charset="0"/>
                        </a:rPr>
                        <a:t>Type II error. Probability is</a:t>
                      </a:r>
                      <a:r>
                        <a:rPr lang="en-US" sz="2400" baseline="0" dirty="0">
                          <a:latin typeface="Times New Roman" pitchFamily="18" charset="0"/>
                          <a:cs typeface="Times New Roman" pitchFamily="18" charset="0"/>
                        </a:rPr>
                        <a:t> β</a:t>
                      </a:r>
                      <a:endParaRPr lang="en-US" sz="2400" dirty="0">
                        <a:latin typeface="Symbol" pitchFamily="18" charset="2"/>
                        <a:cs typeface="Times New Roman" pitchFamily="18" charset="0"/>
                      </a:endParaRPr>
                    </a:p>
                  </a:txBody>
                  <a:tcPr>
                    <a:lnL w="12700"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2"/>
                  </a:ext>
                </a:extLst>
              </a:tr>
            </a:tbl>
          </a:graphicData>
        </a:graphic>
      </p:graphicFrame>
      <p:pic>
        <p:nvPicPr>
          <p:cNvPr id="10" name="Picture 9"/>
          <p:cNvPicPr>
            <a:picLocks noChangeAspect="1" noChangeArrowheads="1"/>
          </p:cNvPicPr>
          <p:nvPr/>
        </p:nvPicPr>
        <p:blipFill>
          <a:blip r:embed="rId2" cstate="print"/>
          <a:srcRect/>
          <a:stretch>
            <a:fillRect/>
          </a:stretch>
        </p:blipFill>
        <p:spPr bwMode="auto">
          <a:xfrm>
            <a:off x="484188" y="101665"/>
            <a:ext cx="8202612" cy="239712"/>
          </a:xfrm>
          <a:prstGeom prst="rect">
            <a:avLst/>
          </a:prstGeom>
          <a:noFill/>
          <a:ln w="9525">
            <a:noFill/>
            <a:round/>
            <a:headEnd/>
            <a:tailEnd/>
          </a:ln>
        </p:spPr>
      </p:pic>
    </p:spTree>
    <p:extLst>
      <p:ext uri="{BB962C8B-B14F-4D97-AF65-F5344CB8AC3E}">
        <p14:creationId xmlns:p14="http://schemas.microsoft.com/office/powerpoint/2010/main" val="1317973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0DE3B6-29D2-7E7E-24D4-023F2ECE28CE}"/>
              </a:ext>
            </a:extLst>
          </p:cNvPr>
          <p:cNvPicPr>
            <a:picLocks noChangeAspect="1"/>
          </p:cNvPicPr>
          <p:nvPr/>
        </p:nvPicPr>
        <p:blipFill rotWithShape="1">
          <a:blip r:embed="rId3"/>
          <a:srcRect b="3700"/>
          <a:stretch/>
        </p:blipFill>
        <p:spPr>
          <a:xfrm>
            <a:off x="685800" y="1547016"/>
            <a:ext cx="7772400" cy="4471820"/>
          </a:xfrm>
          <a:prstGeom prst="rect">
            <a:avLst/>
          </a:prstGeom>
          <a:effectLst/>
        </p:spPr>
      </p:pic>
      <p:sp>
        <p:nvSpPr>
          <p:cNvPr id="11" name="Rectangle 4">
            <a:extLst>
              <a:ext uri="{FF2B5EF4-FFF2-40B4-BE49-F238E27FC236}">
                <a16:creationId xmlns:a16="http://schemas.microsoft.com/office/drawing/2014/main" id="{956E0B3F-7FE7-3703-83ED-85395663E5B6}"/>
              </a:ext>
            </a:extLst>
          </p:cNvPr>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One Sample Hypothesis Testing for the Mean</a:t>
            </a:r>
          </a:p>
        </p:txBody>
      </p:sp>
      <p:pic>
        <p:nvPicPr>
          <p:cNvPr id="12" name="Picture 11">
            <a:extLst>
              <a:ext uri="{FF2B5EF4-FFF2-40B4-BE49-F238E27FC236}">
                <a16:creationId xmlns:a16="http://schemas.microsoft.com/office/drawing/2014/main" id="{D8CE497C-30A8-91D7-793D-DD68B6A5B5BC}"/>
              </a:ext>
            </a:extLst>
          </p:cNvPr>
          <p:cNvPicPr>
            <a:picLocks noChangeAspect="1" noChangeArrowheads="1"/>
          </p:cNvPicPr>
          <p:nvPr/>
        </p:nvPicPr>
        <p:blipFill>
          <a:blip r:embed="rId4" cstate="print"/>
          <a:srcRect/>
          <a:stretch>
            <a:fillRect/>
          </a:stretch>
        </p:blipFill>
        <p:spPr bwMode="auto">
          <a:xfrm>
            <a:off x="484188" y="196056"/>
            <a:ext cx="8202612" cy="239712"/>
          </a:xfrm>
          <a:prstGeom prst="rect">
            <a:avLst/>
          </a:prstGeom>
          <a:noFill/>
          <a:ln w="9525">
            <a:noFill/>
            <a:round/>
            <a:headEnd/>
            <a:tailEnd/>
          </a:ln>
          <a:effectLst/>
        </p:spPr>
      </p:pic>
      <p:sp>
        <p:nvSpPr>
          <p:cNvPr id="13" name="TextBox 12">
            <a:extLst>
              <a:ext uri="{FF2B5EF4-FFF2-40B4-BE49-F238E27FC236}">
                <a16:creationId xmlns:a16="http://schemas.microsoft.com/office/drawing/2014/main" id="{E954E0EA-679D-D2EF-E01F-61629AFDD098}"/>
              </a:ext>
            </a:extLst>
          </p:cNvPr>
          <p:cNvSpPr txBox="1"/>
          <p:nvPr/>
        </p:nvSpPr>
        <p:spPr>
          <a:xfrm>
            <a:off x="100345" y="1514855"/>
            <a:ext cx="2834430" cy="400110"/>
          </a:xfrm>
          <a:prstGeom prst="rect">
            <a:avLst/>
          </a:prstGeom>
          <a:noFill/>
          <a:effectLst/>
        </p:spPr>
        <p:txBody>
          <a:bodyPr wrap="none" rtlCol="0">
            <a:spAutoFit/>
          </a:bodyPr>
          <a:lstStyle/>
          <a:p>
            <a:r>
              <a:rPr lang="en-US" sz="2000" dirty="0">
                <a:latin typeface="Times New Roman"/>
                <a:cs typeface="Times New Roman"/>
              </a:rPr>
              <a:t>Sampling distribution for </a:t>
            </a:r>
          </a:p>
        </p:txBody>
      </p:sp>
      <p:sp>
        <p:nvSpPr>
          <p:cNvPr id="14" name="TextBox 13">
            <a:extLst>
              <a:ext uri="{FF2B5EF4-FFF2-40B4-BE49-F238E27FC236}">
                <a16:creationId xmlns:a16="http://schemas.microsoft.com/office/drawing/2014/main" id="{3594743E-AE2F-6C9F-413C-9FDEC6027ECA}"/>
              </a:ext>
            </a:extLst>
          </p:cNvPr>
          <p:cNvSpPr txBox="1"/>
          <p:nvPr/>
        </p:nvSpPr>
        <p:spPr>
          <a:xfrm>
            <a:off x="399794" y="2016624"/>
            <a:ext cx="3222760" cy="1015663"/>
          </a:xfrm>
          <a:prstGeom prst="rect">
            <a:avLst/>
          </a:prstGeom>
          <a:noFill/>
          <a:effectLst/>
        </p:spPr>
        <p:txBody>
          <a:bodyPr wrap="square" rtlCol="0">
            <a:spAutoFit/>
          </a:bodyPr>
          <a:lstStyle/>
          <a:p>
            <a:r>
              <a:rPr lang="en-US" sz="2000" dirty="0">
                <a:latin typeface="Times New Roman"/>
                <a:cs typeface="Times New Roman"/>
              </a:rPr>
              <a:t>The “Null distribution” for a one sample hypothesis test: Assume </a:t>
            </a:r>
            <a:r>
              <a:rPr lang="en-US" sz="2000" i="1" dirty="0">
                <a:latin typeface="Symbol" pitchFamily="2" charset="2"/>
                <a:cs typeface="Times New Roman"/>
              </a:rPr>
              <a:t>m</a:t>
            </a:r>
            <a:r>
              <a:rPr lang="en-US" sz="2000" dirty="0">
                <a:latin typeface="Times New Roman"/>
                <a:cs typeface="Times New Roman"/>
              </a:rPr>
              <a:t> = a fixed #</a:t>
            </a:r>
          </a:p>
        </p:txBody>
      </p:sp>
      <p:pic>
        <p:nvPicPr>
          <p:cNvPr id="15" name="Picture 14">
            <a:extLst>
              <a:ext uri="{FF2B5EF4-FFF2-40B4-BE49-F238E27FC236}">
                <a16:creationId xmlns:a16="http://schemas.microsoft.com/office/drawing/2014/main" id="{7F2E6BEE-D760-40F5-4D53-620072E5EF61}"/>
              </a:ext>
            </a:extLst>
          </p:cNvPr>
          <p:cNvPicPr>
            <a:picLocks noChangeAspect="1"/>
          </p:cNvPicPr>
          <p:nvPr/>
        </p:nvPicPr>
        <p:blipFill>
          <a:blip r:embed="rId5"/>
          <a:stretch>
            <a:fillRect/>
          </a:stretch>
        </p:blipFill>
        <p:spPr>
          <a:xfrm>
            <a:off x="2813358" y="1564276"/>
            <a:ext cx="195736" cy="322965"/>
          </a:xfrm>
          <a:prstGeom prst="rect">
            <a:avLst/>
          </a:prstGeom>
          <a:effectLst/>
        </p:spPr>
      </p:pic>
      <p:pic>
        <p:nvPicPr>
          <p:cNvPr id="17" name="Picture 16">
            <a:extLst>
              <a:ext uri="{FF2B5EF4-FFF2-40B4-BE49-F238E27FC236}">
                <a16:creationId xmlns:a16="http://schemas.microsoft.com/office/drawing/2014/main" id="{D2B16B72-F651-C67F-296C-BE6612FEC647}"/>
              </a:ext>
            </a:extLst>
          </p:cNvPr>
          <p:cNvPicPr>
            <a:picLocks noChangeAspect="1"/>
          </p:cNvPicPr>
          <p:nvPr/>
        </p:nvPicPr>
        <p:blipFill>
          <a:blip r:embed="rId6"/>
          <a:stretch>
            <a:fillRect/>
          </a:stretch>
        </p:blipFill>
        <p:spPr>
          <a:xfrm>
            <a:off x="6829065" y="6325566"/>
            <a:ext cx="852265" cy="360959"/>
          </a:xfrm>
          <a:prstGeom prst="rect">
            <a:avLst/>
          </a:prstGeom>
          <a:effectLst/>
        </p:spPr>
      </p:pic>
      <p:pic>
        <p:nvPicPr>
          <p:cNvPr id="18" name="Picture 17">
            <a:extLst>
              <a:ext uri="{FF2B5EF4-FFF2-40B4-BE49-F238E27FC236}">
                <a16:creationId xmlns:a16="http://schemas.microsoft.com/office/drawing/2014/main" id="{1E0F35DC-6B47-39EB-ADB6-5DE40BFF6E3A}"/>
              </a:ext>
            </a:extLst>
          </p:cNvPr>
          <p:cNvPicPr>
            <a:picLocks noChangeAspect="1"/>
          </p:cNvPicPr>
          <p:nvPr/>
        </p:nvPicPr>
        <p:blipFill rotWithShape="1">
          <a:blip r:embed="rId3"/>
          <a:srcRect t="96300"/>
          <a:stretch/>
        </p:blipFill>
        <p:spPr>
          <a:xfrm>
            <a:off x="685800" y="6018836"/>
            <a:ext cx="7772400" cy="171826"/>
          </a:xfrm>
          <a:prstGeom prst="rect">
            <a:avLst/>
          </a:prstGeom>
          <a:effectLst/>
        </p:spPr>
      </p:pic>
      <p:cxnSp>
        <p:nvCxnSpPr>
          <p:cNvPr id="19" name="Straight Connector 18">
            <a:extLst>
              <a:ext uri="{FF2B5EF4-FFF2-40B4-BE49-F238E27FC236}">
                <a16:creationId xmlns:a16="http://schemas.microsoft.com/office/drawing/2014/main" id="{0E2F4858-05F5-4D85-3088-52610D48F87C}"/>
              </a:ext>
            </a:extLst>
          </p:cNvPr>
          <p:cNvCxnSpPr/>
          <p:nvPr/>
        </p:nvCxnSpPr>
        <p:spPr>
          <a:xfrm>
            <a:off x="4572000" y="1616464"/>
            <a:ext cx="0" cy="4754880"/>
          </a:xfrm>
          <a:prstGeom prst="line">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20" name="Right Brace 19">
            <a:extLst>
              <a:ext uri="{FF2B5EF4-FFF2-40B4-BE49-F238E27FC236}">
                <a16:creationId xmlns:a16="http://schemas.microsoft.com/office/drawing/2014/main" id="{6850317A-8995-3338-6DD8-CAFFBE822CBA}"/>
              </a:ext>
            </a:extLst>
          </p:cNvPr>
          <p:cNvSpPr/>
          <p:nvPr/>
        </p:nvSpPr>
        <p:spPr>
          <a:xfrm rot="16200000">
            <a:off x="3872939" y="5489052"/>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Right Brace 20">
            <a:extLst>
              <a:ext uri="{FF2B5EF4-FFF2-40B4-BE49-F238E27FC236}">
                <a16:creationId xmlns:a16="http://schemas.microsoft.com/office/drawing/2014/main" id="{8AA32A68-6D6B-043E-B54A-ACA7DFF3EACC}"/>
              </a:ext>
            </a:extLst>
          </p:cNvPr>
          <p:cNvSpPr/>
          <p:nvPr/>
        </p:nvSpPr>
        <p:spPr>
          <a:xfrm rot="16200000">
            <a:off x="2798425" y="5490981"/>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Right Brace 21">
            <a:extLst>
              <a:ext uri="{FF2B5EF4-FFF2-40B4-BE49-F238E27FC236}">
                <a16:creationId xmlns:a16="http://schemas.microsoft.com/office/drawing/2014/main" id="{158F510C-02D0-B9FC-CAF5-77791B1BEE1E}"/>
              </a:ext>
            </a:extLst>
          </p:cNvPr>
          <p:cNvSpPr/>
          <p:nvPr/>
        </p:nvSpPr>
        <p:spPr>
          <a:xfrm rot="16200000">
            <a:off x="1712336" y="5492910"/>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3" name="Right Brace 22">
            <a:extLst>
              <a:ext uri="{FF2B5EF4-FFF2-40B4-BE49-F238E27FC236}">
                <a16:creationId xmlns:a16="http://schemas.microsoft.com/office/drawing/2014/main" id="{5A7C22E2-C958-9996-B94E-18ED926CDB4E}"/>
              </a:ext>
            </a:extLst>
          </p:cNvPr>
          <p:cNvSpPr/>
          <p:nvPr/>
        </p:nvSpPr>
        <p:spPr>
          <a:xfrm rot="16200000">
            <a:off x="7104205" y="5479406"/>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4" name="Right Brace 23">
            <a:extLst>
              <a:ext uri="{FF2B5EF4-FFF2-40B4-BE49-F238E27FC236}">
                <a16:creationId xmlns:a16="http://schemas.microsoft.com/office/drawing/2014/main" id="{2F2204CB-EF99-80D0-7E44-D00136933C35}"/>
              </a:ext>
            </a:extLst>
          </p:cNvPr>
          <p:cNvSpPr/>
          <p:nvPr/>
        </p:nvSpPr>
        <p:spPr>
          <a:xfrm rot="16200000">
            <a:off x="6029691" y="5481335"/>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5" name="Right Brace 24">
            <a:extLst>
              <a:ext uri="{FF2B5EF4-FFF2-40B4-BE49-F238E27FC236}">
                <a16:creationId xmlns:a16="http://schemas.microsoft.com/office/drawing/2014/main" id="{38A07D54-EFFE-9424-4758-674ADB2BD789}"/>
              </a:ext>
            </a:extLst>
          </p:cNvPr>
          <p:cNvSpPr/>
          <p:nvPr/>
        </p:nvSpPr>
        <p:spPr>
          <a:xfrm rot="16200000">
            <a:off x="4943602" y="5483264"/>
            <a:ext cx="324225" cy="1078992"/>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6" name="Multiply 25">
            <a:extLst>
              <a:ext uri="{FF2B5EF4-FFF2-40B4-BE49-F238E27FC236}">
                <a16:creationId xmlns:a16="http://schemas.microsoft.com/office/drawing/2014/main" id="{D29330B1-FEC9-8AFB-566B-B619E366A08D}"/>
              </a:ext>
            </a:extLst>
          </p:cNvPr>
          <p:cNvSpPr/>
          <p:nvPr/>
        </p:nvSpPr>
        <p:spPr>
          <a:xfrm>
            <a:off x="6701003" y="5931160"/>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8" name="Picture 27">
            <a:extLst>
              <a:ext uri="{FF2B5EF4-FFF2-40B4-BE49-F238E27FC236}">
                <a16:creationId xmlns:a16="http://schemas.microsoft.com/office/drawing/2014/main" id="{AAF5801A-9A3B-5075-3F87-7E4320508936}"/>
              </a:ext>
            </a:extLst>
          </p:cNvPr>
          <p:cNvPicPr>
            <a:picLocks noChangeAspect="1"/>
          </p:cNvPicPr>
          <p:nvPr/>
        </p:nvPicPr>
        <p:blipFill>
          <a:blip r:embed="rId7"/>
          <a:stretch>
            <a:fillRect/>
          </a:stretch>
        </p:blipFill>
        <p:spPr>
          <a:xfrm>
            <a:off x="5040973" y="5468554"/>
            <a:ext cx="890362" cy="381584"/>
          </a:xfrm>
          <a:prstGeom prst="rect">
            <a:avLst/>
          </a:prstGeom>
          <a:effectLst/>
        </p:spPr>
      </p:pic>
      <p:pic>
        <p:nvPicPr>
          <p:cNvPr id="31" name="Picture 30">
            <a:extLst>
              <a:ext uri="{FF2B5EF4-FFF2-40B4-BE49-F238E27FC236}">
                <a16:creationId xmlns:a16="http://schemas.microsoft.com/office/drawing/2014/main" id="{FF3F7038-0D70-AFB2-87B0-776A23F7432A}"/>
              </a:ext>
            </a:extLst>
          </p:cNvPr>
          <p:cNvPicPr>
            <a:picLocks noChangeAspect="1"/>
          </p:cNvPicPr>
          <p:nvPr/>
        </p:nvPicPr>
        <p:blipFill>
          <a:blip r:embed="rId8"/>
          <a:stretch>
            <a:fillRect/>
          </a:stretch>
        </p:blipFill>
        <p:spPr>
          <a:xfrm>
            <a:off x="4459748" y="6319983"/>
            <a:ext cx="1005158" cy="341961"/>
          </a:xfrm>
          <a:prstGeom prst="rect">
            <a:avLst/>
          </a:prstGeom>
          <a:effectLst/>
        </p:spPr>
      </p:pic>
      <p:sp>
        <p:nvSpPr>
          <p:cNvPr id="32" name="TextBox 31">
            <a:extLst>
              <a:ext uri="{FF2B5EF4-FFF2-40B4-BE49-F238E27FC236}">
                <a16:creationId xmlns:a16="http://schemas.microsoft.com/office/drawing/2014/main" id="{C6869DA2-0D20-C180-C0FD-CE0D162E674F}"/>
              </a:ext>
            </a:extLst>
          </p:cNvPr>
          <p:cNvSpPr txBox="1"/>
          <p:nvPr/>
        </p:nvSpPr>
        <p:spPr>
          <a:xfrm>
            <a:off x="5062333" y="1725758"/>
            <a:ext cx="4116833" cy="430887"/>
          </a:xfrm>
          <a:prstGeom prst="rect">
            <a:avLst/>
          </a:prstGeom>
          <a:noFill/>
          <a:effectLst/>
        </p:spPr>
        <p:txBody>
          <a:bodyPr wrap="none" rtlCol="0">
            <a:spAutoFit/>
          </a:bodyPr>
          <a:lstStyle/>
          <a:p>
            <a:r>
              <a:rPr lang="en-US" sz="2200" dirty="0">
                <a:latin typeface="Times New Roman" panose="02020603050405020304" pitchFamily="18" charset="0"/>
                <a:cs typeface="Times New Roman" panose="02020603050405020304" pitchFamily="18" charset="0"/>
              </a:rPr>
              <a:t>Compare sample mean to a fixed #</a:t>
            </a:r>
          </a:p>
        </p:txBody>
      </p:sp>
    </p:spTree>
    <p:extLst>
      <p:ext uri="{BB962C8B-B14F-4D97-AF65-F5344CB8AC3E}">
        <p14:creationId xmlns:p14="http://schemas.microsoft.com/office/powerpoint/2010/main" val="1517548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1+#ppt_h/2"/>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0-#ppt_h/2"/>
                                          </p:val>
                                        </p:tav>
                                        <p:tav tm="100000">
                                          <p:val>
                                            <p:strVal val="#ppt_y"/>
                                          </p:val>
                                        </p:tav>
                                      </p:tavLst>
                                    </p:anim>
                                  </p:childTnLst>
                                </p:cTn>
                              </p:par>
                              <p:par>
                                <p:cTn id="13" presetID="2" presetClass="entr" presetSubtype="1"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cBhvr additive="base">
                                        <p:cTn id="15" dur="500" fill="hold"/>
                                        <p:tgtEl>
                                          <p:spTgt spid="31"/>
                                        </p:tgtEl>
                                        <p:attrNameLst>
                                          <p:attrName>ppt_x</p:attrName>
                                        </p:attrNameLst>
                                      </p:cBhvr>
                                      <p:tavLst>
                                        <p:tav tm="0">
                                          <p:val>
                                            <p:strVal val="#ppt_x"/>
                                          </p:val>
                                        </p:tav>
                                        <p:tav tm="100000">
                                          <p:val>
                                            <p:strVal val="#ppt_x"/>
                                          </p:val>
                                        </p:tav>
                                      </p:tavLst>
                                    </p:anim>
                                    <p:anim calcmode="lin" valueType="num">
                                      <p:cBhvr additive="base">
                                        <p:cTn id="16" dur="500" fill="hold"/>
                                        <p:tgtEl>
                                          <p:spTgt spid="31"/>
                                        </p:tgtEl>
                                        <p:attrNameLst>
                                          <p:attrName>ppt_y</p:attrName>
                                        </p:attrNameLst>
                                      </p:cBhvr>
                                      <p:tavLst>
                                        <p:tav tm="0">
                                          <p:val>
                                            <p:strVal val="0-#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500" fill="hold"/>
                                        <p:tgtEl>
                                          <p:spTgt spid="17"/>
                                        </p:tgtEl>
                                        <p:attrNameLst>
                                          <p:attrName>ppt_x</p:attrName>
                                        </p:attrNameLst>
                                      </p:cBhvr>
                                      <p:tavLst>
                                        <p:tav tm="0">
                                          <p:val>
                                            <p:strVal val="#ppt_x"/>
                                          </p:val>
                                        </p:tav>
                                        <p:tav tm="100000">
                                          <p:val>
                                            <p:strVal val="#ppt_x"/>
                                          </p:val>
                                        </p:tav>
                                      </p:tavLst>
                                    </p:anim>
                                    <p:anim calcmode="lin" valueType="num">
                                      <p:cBhvr additive="base">
                                        <p:cTn id="22" dur="5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 calcmode="lin" valueType="num">
                                      <p:cBhvr additive="base">
                                        <p:cTn id="31" dur="500" fill="hold"/>
                                        <p:tgtEl>
                                          <p:spTgt spid="28"/>
                                        </p:tgtEl>
                                        <p:attrNameLst>
                                          <p:attrName>ppt_x</p:attrName>
                                        </p:attrNameLst>
                                      </p:cBhvr>
                                      <p:tavLst>
                                        <p:tav tm="0">
                                          <p:val>
                                            <p:strVal val="#ppt_x"/>
                                          </p:val>
                                        </p:tav>
                                        <p:tav tm="100000">
                                          <p:val>
                                            <p:strVal val="#ppt_x"/>
                                          </p:val>
                                        </p:tav>
                                      </p:tavLst>
                                    </p:anim>
                                    <p:anim calcmode="lin" valueType="num">
                                      <p:cBhvr additive="base">
                                        <p:cTn id="32" dur="500" fill="hold"/>
                                        <p:tgtEl>
                                          <p:spTgt spid="28"/>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anim calcmode="lin" valueType="num">
                                      <p:cBhvr additive="base">
                                        <p:cTn id="35" dur="500" fill="hold"/>
                                        <p:tgtEl>
                                          <p:spTgt spid="25"/>
                                        </p:tgtEl>
                                        <p:attrNameLst>
                                          <p:attrName>ppt_x</p:attrName>
                                        </p:attrNameLst>
                                      </p:cBhvr>
                                      <p:tavLst>
                                        <p:tav tm="0">
                                          <p:val>
                                            <p:strVal val="#ppt_x"/>
                                          </p:val>
                                        </p:tav>
                                        <p:tav tm="100000">
                                          <p:val>
                                            <p:strVal val="#ppt_x"/>
                                          </p:val>
                                        </p:tav>
                                      </p:tavLst>
                                    </p:anim>
                                    <p:anim calcmode="lin" valueType="num">
                                      <p:cBhvr additive="base">
                                        <p:cTn id="36"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2"/>
                                        </p:tgtEl>
                                        <p:attrNameLst>
                                          <p:attrName>style.visibility</p:attrName>
                                        </p:attrNameLst>
                                      </p:cBhvr>
                                      <p:to>
                                        <p:strVal val="visible"/>
                                      </p:to>
                                    </p:set>
                                    <p:anim calcmode="lin" valueType="num">
                                      <p:cBhvr additive="base">
                                        <p:cTn id="41" dur="500" fill="hold"/>
                                        <p:tgtEl>
                                          <p:spTgt spid="2"/>
                                        </p:tgtEl>
                                        <p:attrNameLst>
                                          <p:attrName>ppt_x</p:attrName>
                                        </p:attrNameLst>
                                      </p:cBhvr>
                                      <p:tavLst>
                                        <p:tav tm="0">
                                          <p:val>
                                            <p:strVal val="#ppt_x"/>
                                          </p:val>
                                        </p:tav>
                                        <p:tav tm="100000">
                                          <p:val>
                                            <p:strVal val="#ppt_x"/>
                                          </p:val>
                                        </p:tav>
                                      </p:tavLst>
                                    </p:anim>
                                    <p:anim calcmode="lin" valueType="num">
                                      <p:cBhvr additive="base">
                                        <p:cTn id="42" dur="500" fill="hold"/>
                                        <p:tgtEl>
                                          <p:spTgt spid="2"/>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500" fill="hold"/>
                                        <p:tgtEl>
                                          <p:spTgt spid="13"/>
                                        </p:tgtEl>
                                        <p:attrNameLst>
                                          <p:attrName>ppt_x</p:attrName>
                                        </p:attrNameLst>
                                      </p:cBhvr>
                                      <p:tavLst>
                                        <p:tav tm="0">
                                          <p:val>
                                            <p:strVal val="#ppt_x"/>
                                          </p:val>
                                        </p:tav>
                                        <p:tav tm="100000">
                                          <p:val>
                                            <p:strVal val="#ppt_x"/>
                                          </p:val>
                                        </p:tav>
                                      </p:tavLst>
                                    </p:anim>
                                    <p:anim calcmode="lin" valueType="num">
                                      <p:cBhvr additive="base">
                                        <p:cTn id="46" dur="500" fill="hold"/>
                                        <p:tgtEl>
                                          <p:spTgt spid="13"/>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500" fill="hold"/>
                                        <p:tgtEl>
                                          <p:spTgt spid="15"/>
                                        </p:tgtEl>
                                        <p:attrNameLst>
                                          <p:attrName>ppt_x</p:attrName>
                                        </p:attrNameLst>
                                      </p:cBhvr>
                                      <p:tavLst>
                                        <p:tav tm="0">
                                          <p:val>
                                            <p:strVal val="#ppt_x"/>
                                          </p:val>
                                        </p:tav>
                                        <p:tav tm="100000">
                                          <p:val>
                                            <p:strVal val="#ppt_x"/>
                                          </p:val>
                                        </p:tav>
                                      </p:tavLst>
                                    </p:anim>
                                    <p:anim calcmode="lin" valueType="num">
                                      <p:cBhvr additive="base">
                                        <p:cTn id="5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24"/>
                                        </p:tgtEl>
                                        <p:attrNameLst>
                                          <p:attrName>style.visibility</p:attrName>
                                        </p:attrNameLst>
                                      </p:cBhvr>
                                      <p:to>
                                        <p:strVal val="visible"/>
                                      </p:to>
                                    </p:set>
                                    <p:anim calcmode="lin" valueType="num">
                                      <p:cBhvr additive="base">
                                        <p:cTn id="59" dur="500" fill="hold"/>
                                        <p:tgtEl>
                                          <p:spTgt spid="24"/>
                                        </p:tgtEl>
                                        <p:attrNameLst>
                                          <p:attrName>ppt_x</p:attrName>
                                        </p:attrNameLst>
                                      </p:cBhvr>
                                      <p:tavLst>
                                        <p:tav tm="0">
                                          <p:val>
                                            <p:strVal val="#ppt_x"/>
                                          </p:val>
                                        </p:tav>
                                        <p:tav tm="100000">
                                          <p:val>
                                            <p:strVal val="#ppt_x"/>
                                          </p:val>
                                        </p:tav>
                                      </p:tavLst>
                                    </p:anim>
                                    <p:anim calcmode="lin" valueType="num">
                                      <p:cBhvr additive="base">
                                        <p:cTn id="60" dur="500" fill="hold"/>
                                        <p:tgtEl>
                                          <p:spTgt spid="24"/>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 calcmode="lin" valueType="num">
                                      <p:cBhvr additive="base">
                                        <p:cTn id="63" dur="500" fill="hold"/>
                                        <p:tgtEl>
                                          <p:spTgt spid="23"/>
                                        </p:tgtEl>
                                        <p:attrNameLst>
                                          <p:attrName>ppt_x</p:attrName>
                                        </p:attrNameLst>
                                      </p:cBhvr>
                                      <p:tavLst>
                                        <p:tav tm="0">
                                          <p:val>
                                            <p:strVal val="#ppt_x"/>
                                          </p:val>
                                        </p:tav>
                                        <p:tav tm="100000">
                                          <p:val>
                                            <p:strVal val="#ppt_x"/>
                                          </p:val>
                                        </p:tav>
                                      </p:tavLst>
                                    </p:anim>
                                    <p:anim calcmode="lin" valueType="num">
                                      <p:cBhvr additive="base">
                                        <p:cTn id="64" dur="500" fill="hold"/>
                                        <p:tgtEl>
                                          <p:spTgt spid="23"/>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 calcmode="lin" valueType="num">
                                      <p:cBhvr additive="base">
                                        <p:cTn id="67" dur="500" fill="hold"/>
                                        <p:tgtEl>
                                          <p:spTgt spid="20"/>
                                        </p:tgtEl>
                                        <p:attrNameLst>
                                          <p:attrName>ppt_x</p:attrName>
                                        </p:attrNameLst>
                                      </p:cBhvr>
                                      <p:tavLst>
                                        <p:tav tm="0">
                                          <p:val>
                                            <p:strVal val="#ppt_x"/>
                                          </p:val>
                                        </p:tav>
                                        <p:tav tm="100000">
                                          <p:val>
                                            <p:strVal val="#ppt_x"/>
                                          </p:val>
                                        </p:tav>
                                      </p:tavLst>
                                    </p:anim>
                                    <p:anim calcmode="lin" valueType="num">
                                      <p:cBhvr additive="base">
                                        <p:cTn id="68" dur="500" fill="hold"/>
                                        <p:tgtEl>
                                          <p:spTgt spid="20"/>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 calcmode="lin" valueType="num">
                                      <p:cBhvr additive="base">
                                        <p:cTn id="71" dur="500" fill="hold"/>
                                        <p:tgtEl>
                                          <p:spTgt spid="21"/>
                                        </p:tgtEl>
                                        <p:attrNameLst>
                                          <p:attrName>ppt_x</p:attrName>
                                        </p:attrNameLst>
                                      </p:cBhvr>
                                      <p:tavLst>
                                        <p:tav tm="0">
                                          <p:val>
                                            <p:strVal val="#ppt_x"/>
                                          </p:val>
                                        </p:tav>
                                        <p:tav tm="100000">
                                          <p:val>
                                            <p:strVal val="#ppt_x"/>
                                          </p:val>
                                        </p:tav>
                                      </p:tavLst>
                                    </p:anim>
                                    <p:anim calcmode="lin" valueType="num">
                                      <p:cBhvr additive="base">
                                        <p:cTn id="72" dur="500" fill="hold"/>
                                        <p:tgtEl>
                                          <p:spTgt spid="21"/>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 calcmode="lin" valueType="num">
                                      <p:cBhvr additive="base">
                                        <p:cTn id="75" dur="500" fill="hold"/>
                                        <p:tgtEl>
                                          <p:spTgt spid="22"/>
                                        </p:tgtEl>
                                        <p:attrNameLst>
                                          <p:attrName>ppt_x</p:attrName>
                                        </p:attrNameLst>
                                      </p:cBhvr>
                                      <p:tavLst>
                                        <p:tav tm="0">
                                          <p:val>
                                            <p:strVal val="#ppt_x"/>
                                          </p:val>
                                        </p:tav>
                                        <p:tav tm="100000">
                                          <p:val>
                                            <p:strVal val="#ppt_x"/>
                                          </p:val>
                                        </p:tav>
                                      </p:tavLst>
                                    </p:anim>
                                    <p:anim calcmode="lin" valueType="num">
                                      <p:cBhvr additive="base">
                                        <p:cTn id="7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xit" presetSubtype="4" fill="hold" grpId="1" nodeType="clickEffect">
                                  <p:stCondLst>
                                    <p:cond delay="0"/>
                                  </p:stCondLst>
                                  <p:childTnLst>
                                    <p:anim calcmode="lin" valueType="num">
                                      <p:cBhvr additive="base">
                                        <p:cTn id="80" dur="500"/>
                                        <p:tgtEl>
                                          <p:spTgt spid="23"/>
                                        </p:tgtEl>
                                        <p:attrNameLst>
                                          <p:attrName>ppt_x</p:attrName>
                                        </p:attrNameLst>
                                      </p:cBhvr>
                                      <p:tavLst>
                                        <p:tav tm="0">
                                          <p:val>
                                            <p:strVal val="ppt_x"/>
                                          </p:val>
                                        </p:tav>
                                        <p:tav tm="100000">
                                          <p:val>
                                            <p:strVal val="ppt_x"/>
                                          </p:val>
                                        </p:tav>
                                      </p:tavLst>
                                    </p:anim>
                                    <p:anim calcmode="lin" valueType="num">
                                      <p:cBhvr additive="base">
                                        <p:cTn id="81" dur="500"/>
                                        <p:tgtEl>
                                          <p:spTgt spid="23"/>
                                        </p:tgtEl>
                                        <p:attrNameLst>
                                          <p:attrName>ppt_y</p:attrName>
                                        </p:attrNameLst>
                                      </p:cBhvr>
                                      <p:tavLst>
                                        <p:tav tm="0">
                                          <p:val>
                                            <p:strVal val="ppt_y"/>
                                          </p:val>
                                        </p:tav>
                                        <p:tav tm="100000">
                                          <p:val>
                                            <p:strVal val="1+ppt_h/2"/>
                                          </p:val>
                                        </p:tav>
                                      </p:tavLst>
                                    </p:anim>
                                    <p:set>
                                      <p:cBhvr>
                                        <p:cTn id="82" dur="1" fill="hold">
                                          <p:stCondLst>
                                            <p:cond delay="499"/>
                                          </p:stCondLst>
                                        </p:cTn>
                                        <p:tgtEl>
                                          <p:spTgt spid="23"/>
                                        </p:tgtEl>
                                        <p:attrNameLst>
                                          <p:attrName>style.visibility</p:attrName>
                                        </p:attrNameLst>
                                      </p:cBhvr>
                                      <p:to>
                                        <p:strVal val="hidden"/>
                                      </p:to>
                                    </p:set>
                                  </p:childTnLst>
                                </p:cTn>
                              </p:par>
                              <p:par>
                                <p:cTn id="83" presetID="2" presetClass="exit" presetSubtype="4" fill="hold" grpId="1" nodeType="withEffect">
                                  <p:stCondLst>
                                    <p:cond delay="0"/>
                                  </p:stCondLst>
                                  <p:childTnLst>
                                    <p:anim calcmode="lin" valueType="num">
                                      <p:cBhvr additive="base">
                                        <p:cTn id="84" dur="500"/>
                                        <p:tgtEl>
                                          <p:spTgt spid="24"/>
                                        </p:tgtEl>
                                        <p:attrNameLst>
                                          <p:attrName>ppt_x</p:attrName>
                                        </p:attrNameLst>
                                      </p:cBhvr>
                                      <p:tavLst>
                                        <p:tav tm="0">
                                          <p:val>
                                            <p:strVal val="ppt_x"/>
                                          </p:val>
                                        </p:tav>
                                        <p:tav tm="100000">
                                          <p:val>
                                            <p:strVal val="ppt_x"/>
                                          </p:val>
                                        </p:tav>
                                      </p:tavLst>
                                    </p:anim>
                                    <p:anim calcmode="lin" valueType="num">
                                      <p:cBhvr additive="base">
                                        <p:cTn id="85" dur="500"/>
                                        <p:tgtEl>
                                          <p:spTgt spid="24"/>
                                        </p:tgtEl>
                                        <p:attrNameLst>
                                          <p:attrName>ppt_y</p:attrName>
                                        </p:attrNameLst>
                                      </p:cBhvr>
                                      <p:tavLst>
                                        <p:tav tm="0">
                                          <p:val>
                                            <p:strVal val="ppt_y"/>
                                          </p:val>
                                        </p:tav>
                                        <p:tav tm="100000">
                                          <p:val>
                                            <p:strVal val="1+ppt_h/2"/>
                                          </p:val>
                                        </p:tav>
                                      </p:tavLst>
                                    </p:anim>
                                    <p:set>
                                      <p:cBhvr>
                                        <p:cTn id="86" dur="1" fill="hold">
                                          <p:stCondLst>
                                            <p:cond delay="499"/>
                                          </p:stCondLst>
                                        </p:cTn>
                                        <p:tgtEl>
                                          <p:spTgt spid="24"/>
                                        </p:tgtEl>
                                        <p:attrNameLst>
                                          <p:attrName>style.visibility</p:attrName>
                                        </p:attrNameLst>
                                      </p:cBhvr>
                                      <p:to>
                                        <p:strVal val="hidden"/>
                                      </p:to>
                                    </p:set>
                                  </p:childTnLst>
                                </p:cTn>
                              </p:par>
                              <p:par>
                                <p:cTn id="87" presetID="2" presetClass="exit" presetSubtype="4" fill="hold" grpId="1" nodeType="withEffect">
                                  <p:stCondLst>
                                    <p:cond delay="0"/>
                                  </p:stCondLst>
                                  <p:childTnLst>
                                    <p:anim calcmode="lin" valueType="num">
                                      <p:cBhvr additive="base">
                                        <p:cTn id="88" dur="500"/>
                                        <p:tgtEl>
                                          <p:spTgt spid="20"/>
                                        </p:tgtEl>
                                        <p:attrNameLst>
                                          <p:attrName>ppt_x</p:attrName>
                                        </p:attrNameLst>
                                      </p:cBhvr>
                                      <p:tavLst>
                                        <p:tav tm="0">
                                          <p:val>
                                            <p:strVal val="ppt_x"/>
                                          </p:val>
                                        </p:tav>
                                        <p:tav tm="100000">
                                          <p:val>
                                            <p:strVal val="ppt_x"/>
                                          </p:val>
                                        </p:tav>
                                      </p:tavLst>
                                    </p:anim>
                                    <p:anim calcmode="lin" valueType="num">
                                      <p:cBhvr additive="base">
                                        <p:cTn id="89" dur="500"/>
                                        <p:tgtEl>
                                          <p:spTgt spid="20"/>
                                        </p:tgtEl>
                                        <p:attrNameLst>
                                          <p:attrName>ppt_y</p:attrName>
                                        </p:attrNameLst>
                                      </p:cBhvr>
                                      <p:tavLst>
                                        <p:tav tm="0">
                                          <p:val>
                                            <p:strVal val="ppt_y"/>
                                          </p:val>
                                        </p:tav>
                                        <p:tav tm="100000">
                                          <p:val>
                                            <p:strVal val="1+ppt_h/2"/>
                                          </p:val>
                                        </p:tav>
                                      </p:tavLst>
                                    </p:anim>
                                    <p:set>
                                      <p:cBhvr>
                                        <p:cTn id="90" dur="1" fill="hold">
                                          <p:stCondLst>
                                            <p:cond delay="499"/>
                                          </p:stCondLst>
                                        </p:cTn>
                                        <p:tgtEl>
                                          <p:spTgt spid="20"/>
                                        </p:tgtEl>
                                        <p:attrNameLst>
                                          <p:attrName>style.visibility</p:attrName>
                                        </p:attrNameLst>
                                      </p:cBhvr>
                                      <p:to>
                                        <p:strVal val="hidden"/>
                                      </p:to>
                                    </p:set>
                                  </p:childTnLst>
                                </p:cTn>
                              </p:par>
                              <p:par>
                                <p:cTn id="91" presetID="2" presetClass="exit" presetSubtype="4" fill="hold" grpId="1" nodeType="withEffect">
                                  <p:stCondLst>
                                    <p:cond delay="0"/>
                                  </p:stCondLst>
                                  <p:childTnLst>
                                    <p:anim calcmode="lin" valueType="num">
                                      <p:cBhvr additive="base">
                                        <p:cTn id="92" dur="500"/>
                                        <p:tgtEl>
                                          <p:spTgt spid="21"/>
                                        </p:tgtEl>
                                        <p:attrNameLst>
                                          <p:attrName>ppt_x</p:attrName>
                                        </p:attrNameLst>
                                      </p:cBhvr>
                                      <p:tavLst>
                                        <p:tav tm="0">
                                          <p:val>
                                            <p:strVal val="ppt_x"/>
                                          </p:val>
                                        </p:tav>
                                        <p:tav tm="100000">
                                          <p:val>
                                            <p:strVal val="ppt_x"/>
                                          </p:val>
                                        </p:tav>
                                      </p:tavLst>
                                    </p:anim>
                                    <p:anim calcmode="lin" valueType="num">
                                      <p:cBhvr additive="base">
                                        <p:cTn id="93" dur="500"/>
                                        <p:tgtEl>
                                          <p:spTgt spid="21"/>
                                        </p:tgtEl>
                                        <p:attrNameLst>
                                          <p:attrName>ppt_y</p:attrName>
                                        </p:attrNameLst>
                                      </p:cBhvr>
                                      <p:tavLst>
                                        <p:tav tm="0">
                                          <p:val>
                                            <p:strVal val="ppt_y"/>
                                          </p:val>
                                        </p:tav>
                                        <p:tav tm="100000">
                                          <p:val>
                                            <p:strVal val="1+ppt_h/2"/>
                                          </p:val>
                                        </p:tav>
                                      </p:tavLst>
                                    </p:anim>
                                    <p:set>
                                      <p:cBhvr>
                                        <p:cTn id="94" dur="1" fill="hold">
                                          <p:stCondLst>
                                            <p:cond delay="499"/>
                                          </p:stCondLst>
                                        </p:cTn>
                                        <p:tgtEl>
                                          <p:spTgt spid="21"/>
                                        </p:tgtEl>
                                        <p:attrNameLst>
                                          <p:attrName>style.visibility</p:attrName>
                                        </p:attrNameLst>
                                      </p:cBhvr>
                                      <p:to>
                                        <p:strVal val="hidden"/>
                                      </p:to>
                                    </p:set>
                                  </p:childTnLst>
                                </p:cTn>
                              </p:par>
                              <p:par>
                                <p:cTn id="95" presetID="2" presetClass="exit" presetSubtype="4" fill="hold" grpId="1" nodeType="withEffect">
                                  <p:stCondLst>
                                    <p:cond delay="0"/>
                                  </p:stCondLst>
                                  <p:childTnLst>
                                    <p:anim calcmode="lin" valueType="num">
                                      <p:cBhvr additive="base">
                                        <p:cTn id="96" dur="500"/>
                                        <p:tgtEl>
                                          <p:spTgt spid="22"/>
                                        </p:tgtEl>
                                        <p:attrNameLst>
                                          <p:attrName>ppt_x</p:attrName>
                                        </p:attrNameLst>
                                      </p:cBhvr>
                                      <p:tavLst>
                                        <p:tav tm="0">
                                          <p:val>
                                            <p:strVal val="ppt_x"/>
                                          </p:val>
                                        </p:tav>
                                        <p:tav tm="100000">
                                          <p:val>
                                            <p:strVal val="ppt_x"/>
                                          </p:val>
                                        </p:tav>
                                      </p:tavLst>
                                    </p:anim>
                                    <p:anim calcmode="lin" valueType="num">
                                      <p:cBhvr additive="base">
                                        <p:cTn id="97" dur="500"/>
                                        <p:tgtEl>
                                          <p:spTgt spid="22"/>
                                        </p:tgtEl>
                                        <p:attrNameLst>
                                          <p:attrName>ppt_y</p:attrName>
                                        </p:attrNameLst>
                                      </p:cBhvr>
                                      <p:tavLst>
                                        <p:tav tm="0">
                                          <p:val>
                                            <p:strVal val="ppt_y"/>
                                          </p:val>
                                        </p:tav>
                                        <p:tav tm="100000">
                                          <p:val>
                                            <p:strVal val="1+ppt_h/2"/>
                                          </p:val>
                                        </p:tav>
                                      </p:tavLst>
                                    </p:anim>
                                    <p:set>
                                      <p:cBhvr>
                                        <p:cTn id="98" dur="1" fill="hold">
                                          <p:stCondLst>
                                            <p:cond delay="4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6" grpId="0" animBg="1"/>
      <p:bldP spid="3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4">
            <a:extLst>
              <a:ext uri="{FF2B5EF4-FFF2-40B4-BE49-F238E27FC236}">
                <a16:creationId xmlns:a16="http://schemas.microsoft.com/office/drawing/2014/main" id="{A6D4A572-F24D-B9E9-5490-5495EE65ACF1}"/>
              </a:ext>
            </a:extLst>
          </p:cNvPr>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One Sample Hypothesis Testing for the Mean</a:t>
            </a:r>
          </a:p>
        </p:txBody>
      </p:sp>
      <p:pic>
        <p:nvPicPr>
          <p:cNvPr id="4" name="Picture 3">
            <a:extLst>
              <a:ext uri="{FF2B5EF4-FFF2-40B4-BE49-F238E27FC236}">
                <a16:creationId xmlns:a16="http://schemas.microsoft.com/office/drawing/2014/main" id="{FFF2530B-C1B2-CD87-5BC0-FB47FA528CF2}"/>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5" name="Picture 4">
            <a:extLst>
              <a:ext uri="{FF2B5EF4-FFF2-40B4-BE49-F238E27FC236}">
                <a16:creationId xmlns:a16="http://schemas.microsoft.com/office/drawing/2014/main" id="{DCBB52FF-5DD6-5BD1-2321-82BA41C72F3B}"/>
              </a:ext>
            </a:extLst>
          </p:cNvPr>
          <p:cNvPicPr>
            <a:picLocks noChangeAspect="1"/>
          </p:cNvPicPr>
          <p:nvPr/>
        </p:nvPicPr>
        <p:blipFill rotWithShape="1">
          <a:blip r:embed="rId3"/>
          <a:srcRect t="-1162" b="-13"/>
          <a:stretch/>
        </p:blipFill>
        <p:spPr>
          <a:xfrm>
            <a:off x="685800" y="1492169"/>
            <a:ext cx="7772400" cy="4698493"/>
          </a:xfrm>
          <a:prstGeom prst="rect">
            <a:avLst/>
          </a:prstGeom>
          <a:effectLst/>
        </p:spPr>
      </p:pic>
      <p:pic>
        <p:nvPicPr>
          <p:cNvPr id="6" name="Picture 5">
            <a:extLst>
              <a:ext uri="{FF2B5EF4-FFF2-40B4-BE49-F238E27FC236}">
                <a16:creationId xmlns:a16="http://schemas.microsoft.com/office/drawing/2014/main" id="{D094AC6C-86A6-6056-31B6-BB228D1D0B97}"/>
              </a:ext>
            </a:extLst>
          </p:cNvPr>
          <p:cNvPicPr>
            <a:picLocks noChangeAspect="1"/>
          </p:cNvPicPr>
          <p:nvPr/>
        </p:nvPicPr>
        <p:blipFill>
          <a:blip r:embed="rId4"/>
          <a:stretch>
            <a:fillRect/>
          </a:stretch>
        </p:blipFill>
        <p:spPr>
          <a:xfrm>
            <a:off x="6829065" y="6325566"/>
            <a:ext cx="852265" cy="360959"/>
          </a:xfrm>
          <a:prstGeom prst="rect">
            <a:avLst/>
          </a:prstGeom>
          <a:effectLst/>
        </p:spPr>
      </p:pic>
      <p:cxnSp>
        <p:nvCxnSpPr>
          <p:cNvPr id="7" name="Straight Connector 6">
            <a:extLst>
              <a:ext uri="{FF2B5EF4-FFF2-40B4-BE49-F238E27FC236}">
                <a16:creationId xmlns:a16="http://schemas.microsoft.com/office/drawing/2014/main" id="{36501F2A-F643-B1B9-DDFA-BFE78B7D2ADB}"/>
              </a:ext>
            </a:extLst>
          </p:cNvPr>
          <p:cNvCxnSpPr>
            <a:cxnSpLocks/>
          </p:cNvCxnSpPr>
          <p:nvPr/>
        </p:nvCxnSpPr>
        <p:spPr>
          <a:xfrm>
            <a:off x="4572000" y="6030410"/>
            <a:ext cx="0" cy="340934"/>
          </a:xfrm>
          <a:prstGeom prst="line">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8" name="Multiply 7">
            <a:extLst>
              <a:ext uri="{FF2B5EF4-FFF2-40B4-BE49-F238E27FC236}">
                <a16:creationId xmlns:a16="http://schemas.microsoft.com/office/drawing/2014/main" id="{67332EB4-603A-60D7-CDF5-075A27B6BB5B}"/>
              </a:ext>
            </a:extLst>
          </p:cNvPr>
          <p:cNvSpPr/>
          <p:nvPr/>
        </p:nvSpPr>
        <p:spPr>
          <a:xfrm>
            <a:off x="6701003" y="5931160"/>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F81CFA8-898C-E0D0-D92F-310BF90D7842}"/>
              </a:ext>
            </a:extLst>
          </p:cNvPr>
          <p:cNvPicPr>
            <a:picLocks noChangeAspect="1"/>
          </p:cNvPicPr>
          <p:nvPr/>
        </p:nvPicPr>
        <p:blipFill>
          <a:blip r:embed="rId5"/>
          <a:stretch>
            <a:fillRect/>
          </a:stretch>
        </p:blipFill>
        <p:spPr>
          <a:xfrm>
            <a:off x="4459748" y="6319983"/>
            <a:ext cx="1005158" cy="341961"/>
          </a:xfrm>
          <a:prstGeom prst="rect">
            <a:avLst/>
          </a:prstGeom>
          <a:effectLst/>
        </p:spPr>
      </p:pic>
      <p:cxnSp>
        <p:nvCxnSpPr>
          <p:cNvPr id="12" name="Straight Connector 11">
            <a:extLst>
              <a:ext uri="{FF2B5EF4-FFF2-40B4-BE49-F238E27FC236}">
                <a16:creationId xmlns:a16="http://schemas.microsoft.com/office/drawing/2014/main" id="{A37A595F-E183-CA49-FBD8-6E1FD3955C08}"/>
              </a:ext>
            </a:extLst>
          </p:cNvPr>
          <p:cNvCxnSpPr>
            <a:cxnSpLocks/>
          </p:cNvCxnSpPr>
          <p:nvPr/>
        </p:nvCxnSpPr>
        <p:spPr>
          <a:xfrm>
            <a:off x="6735728" y="5359078"/>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545A744C-AEED-BD34-F804-8D0C6DE7ACD6}"/>
              </a:ext>
            </a:extLst>
          </p:cNvPr>
          <p:cNvCxnSpPr>
            <a:cxnSpLocks/>
          </p:cNvCxnSpPr>
          <p:nvPr/>
        </p:nvCxnSpPr>
        <p:spPr>
          <a:xfrm>
            <a:off x="2408728" y="5361005"/>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C497CF97-EB4F-8AA4-6037-AC423E9FC966}"/>
              </a:ext>
            </a:extLst>
          </p:cNvPr>
          <p:cNvPicPr>
            <a:picLocks noChangeAspect="1"/>
          </p:cNvPicPr>
          <p:nvPr/>
        </p:nvPicPr>
        <p:blipFill>
          <a:blip r:embed="rId6"/>
          <a:stretch>
            <a:fillRect/>
          </a:stretch>
        </p:blipFill>
        <p:spPr>
          <a:xfrm>
            <a:off x="4044649" y="3290598"/>
            <a:ext cx="1081689" cy="347209"/>
          </a:xfrm>
          <a:prstGeom prst="rect">
            <a:avLst/>
          </a:prstGeom>
          <a:effectLst/>
        </p:spPr>
      </p:pic>
      <p:cxnSp>
        <p:nvCxnSpPr>
          <p:cNvPr id="16" name="Straight Connector 15">
            <a:extLst>
              <a:ext uri="{FF2B5EF4-FFF2-40B4-BE49-F238E27FC236}">
                <a16:creationId xmlns:a16="http://schemas.microsoft.com/office/drawing/2014/main" id="{11467DFA-1D2C-56DC-C083-FB08F5F00ED7}"/>
              </a:ext>
            </a:extLst>
          </p:cNvPr>
          <p:cNvCxnSpPr>
            <a:cxnSpLocks/>
          </p:cNvCxnSpPr>
          <p:nvPr/>
        </p:nvCxnSpPr>
        <p:spPr>
          <a:xfrm flipH="1">
            <a:off x="6899703" y="5544273"/>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30F743-37BD-5A55-44A6-A44A45A22739}"/>
              </a:ext>
            </a:extLst>
          </p:cNvPr>
          <p:cNvCxnSpPr>
            <a:cxnSpLocks/>
          </p:cNvCxnSpPr>
          <p:nvPr/>
        </p:nvCxnSpPr>
        <p:spPr>
          <a:xfrm flipH="1">
            <a:off x="2225457" y="5546202"/>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48CF529-7746-13CC-ACEA-ABF20DA81C41}"/>
              </a:ext>
            </a:extLst>
          </p:cNvPr>
          <p:cNvPicPr>
            <a:picLocks noChangeAspect="1"/>
          </p:cNvPicPr>
          <p:nvPr/>
        </p:nvPicPr>
        <p:blipFill>
          <a:blip r:embed="rId7"/>
          <a:stretch>
            <a:fillRect/>
          </a:stretch>
        </p:blipFill>
        <p:spPr>
          <a:xfrm>
            <a:off x="5917957" y="2928398"/>
            <a:ext cx="3000159" cy="748008"/>
          </a:xfrm>
          <a:prstGeom prst="rect">
            <a:avLst/>
          </a:prstGeom>
          <a:effectLst/>
        </p:spPr>
      </p:pic>
      <p:pic>
        <p:nvPicPr>
          <p:cNvPr id="34" name="Picture 33">
            <a:extLst>
              <a:ext uri="{FF2B5EF4-FFF2-40B4-BE49-F238E27FC236}">
                <a16:creationId xmlns:a16="http://schemas.microsoft.com/office/drawing/2014/main" id="{5A57556F-243E-D7CA-71E0-06DE2A046DC1}"/>
              </a:ext>
            </a:extLst>
          </p:cNvPr>
          <p:cNvPicPr>
            <a:picLocks noChangeAspect="1"/>
          </p:cNvPicPr>
          <p:nvPr/>
        </p:nvPicPr>
        <p:blipFill>
          <a:blip r:embed="rId8"/>
          <a:stretch>
            <a:fillRect/>
          </a:stretch>
        </p:blipFill>
        <p:spPr>
          <a:xfrm>
            <a:off x="2334140" y="3155944"/>
            <a:ext cx="284002" cy="219456"/>
          </a:xfrm>
          <a:prstGeom prst="rect">
            <a:avLst/>
          </a:prstGeom>
          <a:effectLst/>
        </p:spPr>
      </p:pic>
      <p:cxnSp>
        <p:nvCxnSpPr>
          <p:cNvPr id="35" name="Straight Connector 34">
            <a:extLst>
              <a:ext uri="{FF2B5EF4-FFF2-40B4-BE49-F238E27FC236}">
                <a16:creationId xmlns:a16="http://schemas.microsoft.com/office/drawing/2014/main" id="{C8573183-70B5-FCA4-3733-1F614B235D9F}"/>
              </a:ext>
            </a:extLst>
          </p:cNvPr>
          <p:cNvCxnSpPr>
            <a:cxnSpLocks/>
          </p:cNvCxnSpPr>
          <p:nvPr/>
        </p:nvCxnSpPr>
        <p:spPr>
          <a:xfrm flipH="1">
            <a:off x="2013736" y="3442500"/>
            <a:ext cx="4676783" cy="2601410"/>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5BFA1A8F-01BD-01BE-0EB5-BFBFEFAB9A9A}"/>
              </a:ext>
            </a:extLst>
          </p:cNvPr>
          <p:cNvCxnSpPr>
            <a:cxnSpLocks/>
          </p:cNvCxnSpPr>
          <p:nvPr/>
        </p:nvCxnSpPr>
        <p:spPr>
          <a:xfrm>
            <a:off x="6678944" y="3442500"/>
            <a:ext cx="906587" cy="2600383"/>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3785A9F8-6210-E74F-70BB-B92CC1CDE165}"/>
              </a:ext>
            </a:extLst>
          </p:cNvPr>
          <p:cNvCxnSpPr>
            <a:cxnSpLocks/>
          </p:cNvCxnSpPr>
          <p:nvPr/>
        </p:nvCxnSpPr>
        <p:spPr>
          <a:xfrm>
            <a:off x="2652178" y="3391285"/>
            <a:ext cx="4220065" cy="2383585"/>
          </a:xfrm>
          <a:prstGeom prst="line">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2D78CD2-0AF4-959F-EA34-DB5747796E20}"/>
              </a:ext>
            </a:extLst>
          </p:cNvPr>
          <p:cNvCxnSpPr>
            <a:cxnSpLocks/>
          </p:cNvCxnSpPr>
          <p:nvPr/>
        </p:nvCxnSpPr>
        <p:spPr>
          <a:xfrm flipH="1">
            <a:off x="2294980" y="3396094"/>
            <a:ext cx="357198" cy="2343716"/>
          </a:xfrm>
          <a:prstGeom prst="line">
            <a:avLst/>
          </a:prstGeom>
          <a:ln w="34925">
            <a:tailEnd type="triangle"/>
          </a:ln>
          <a:effectLst/>
        </p:spPr>
        <p:style>
          <a:lnRef idx="2">
            <a:schemeClr val="accent1"/>
          </a:lnRef>
          <a:fillRef idx="0">
            <a:schemeClr val="accent1"/>
          </a:fillRef>
          <a:effectRef idx="1">
            <a:schemeClr val="accent1"/>
          </a:effectRef>
          <a:fontRef idx="minor">
            <a:schemeClr val="tx1"/>
          </a:fontRef>
        </p:style>
      </p:cxnSp>
      <p:pic>
        <p:nvPicPr>
          <p:cNvPr id="23" name="Picture 22">
            <a:extLst>
              <a:ext uri="{FF2B5EF4-FFF2-40B4-BE49-F238E27FC236}">
                <a16:creationId xmlns:a16="http://schemas.microsoft.com/office/drawing/2014/main" id="{5ABC7A23-B9A5-C68F-F992-49A04A8D0CDD}"/>
              </a:ext>
            </a:extLst>
          </p:cNvPr>
          <p:cNvPicPr>
            <a:picLocks noChangeAspect="1"/>
          </p:cNvPicPr>
          <p:nvPr/>
        </p:nvPicPr>
        <p:blipFill>
          <a:blip r:embed="rId9"/>
          <a:stretch>
            <a:fillRect/>
          </a:stretch>
        </p:blipFill>
        <p:spPr>
          <a:xfrm>
            <a:off x="390038" y="1457113"/>
            <a:ext cx="1912275" cy="364769"/>
          </a:xfrm>
          <a:prstGeom prst="rect">
            <a:avLst/>
          </a:prstGeom>
          <a:effectLst/>
        </p:spPr>
      </p:pic>
      <p:pic>
        <p:nvPicPr>
          <p:cNvPr id="24" name="Picture 23">
            <a:extLst>
              <a:ext uri="{FF2B5EF4-FFF2-40B4-BE49-F238E27FC236}">
                <a16:creationId xmlns:a16="http://schemas.microsoft.com/office/drawing/2014/main" id="{355D8C56-51DE-9731-E505-898A5F578058}"/>
              </a:ext>
            </a:extLst>
          </p:cNvPr>
          <p:cNvPicPr>
            <a:picLocks noChangeAspect="1"/>
          </p:cNvPicPr>
          <p:nvPr/>
        </p:nvPicPr>
        <p:blipFill>
          <a:blip r:embed="rId10"/>
          <a:stretch>
            <a:fillRect/>
          </a:stretch>
        </p:blipFill>
        <p:spPr>
          <a:xfrm>
            <a:off x="381961" y="2014548"/>
            <a:ext cx="1923329" cy="375823"/>
          </a:xfrm>
          <a:prstGeom prst="rect">
            <a:avLst/>
          </a:prstGeom>
          <a:effectLst/>
        </p:spPr>
      </p:pic>
    </p:spTree>
    <p:extLst>
      <p:ext uri="{BB962C8B-B14F-4D97-AF65-F5344CB8AC3E}">
        <p14:creationId xmlns:p14="http://schemas.microsoft.com/office/powerpoint/2010/main" val="3946783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fill="hold"/>
                                        <p:tgtEl>
                                          <p:spTgt spid="15"/>
                                        </p:tgtEl>
                                        <p:attrNameLst>
                                          <p:attrName>ppt_x</p:attrName>
                                        </p:attrNameLst>
                                      </p:cBhvr>
                                      <p:tavLst>
                                        <p:tav tm="0">
                                          <p:val>
                                            <p:strVal val="#ppt_x"/>
                                          </p:val>
                                        </p:tav>
                                        <p:tav tm="100000">
                                          <p:val>
                                            <p:strVal val="#ppt_x"/>
                                          </p:val>
                                        </p:tav>
                                      </p:tavLst>
                                    </p:anim>
                                    <p:anim calcmode="lin" valueType="num">
                                      <p:cBhvr additive="base">
                                        <p:cTn id="18" dur="5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ppt_x"/>
                                          </p:val>
                                        </p:tav>
                                        <p:tav tm="100000">
                                          <p:val>
                                            <p:strVal val="#ppt_x"/>
                                          </p:val>
                                        </p:tav>
                                      </p:tavLst>
                                    </p:anim>
                                    <p:anim calcmode="lin" valueType="num">
                                      <p:cBhvr additive="base">
                                        <p:cTn id="22" dur="500" fill="hold"/>
                                        <p:tgtEl>
                                          <p:spTgt spid="12"/>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 calcmode="lin" valueType="num">
                                      <p:cBhvr additive="base">
                                        <p:cTn id="31" dur="500" fill="hold"/>
                                        <p:tgtEl>
                                          <p:spTgt spid="34"/>
                                        </p:tgtEl>
                                        <p:attrNameLst>
                                          <p:attrName>ppt_x</p:attrName>
                                        </p:attrNameLst>
                                      </p:cBhvr>
                                      <p:tavLst>
                                        <p:tav tm="0">
                                          <p:val>
                                            <p:strVal val="#ppt_x"/>
                                          </p:val>
                                        </p:tav>
                                        <p:tav tm="100000">
                                          <p:val>
                                            <p:strVal val="#ppt_x"/>
                                          </p:val>
                                        </p:tav>
                                      </p:tavLst>
                                    </p:anim>
                                    <p:anim calcmode="lin" valueType="num">
                                      <p:cBhvr additive="base">
                                        <p:cTn id="32" dur="500" fill="hold"/>
                                        <p:tgtEl>
                                          <p:spTgt spid="34"/>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ppt_x</p:attrName>
                                        </p:attrNameLst>
                                      </p:cBhvr>
                                      <p:tavLst>
                                        <p:tav tm="0">
                                          <p:val>
                                            <p:strVal val="#ppt_x"/>
                                          </p:val>
                                        </p:tav>
                                        <p:tav tm="100000">
                                          <p:val>
                                            <p:strVal val="#ppt_x"/>
                                          </p:val>
                                        </p:tav>
                                      </p:tavLst>
                                    </p:anim>
                                    <p:anim calcmode="lin" valueType="num">
                                      <p:cBhvr additive="base">
                                        <p:cTn id="36" dur="500" fill="hold"/>
                                        <p:tgtEl>
                                          <p:spTgt spid="10"/>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2"/>
                                        </p:tgtEl>
                                        <p:attrNameLst>
                                          <p:attrName>style.visibility</p:attrName>
                                        </p:attrNameLst>
                                      </p:cBhvr>
                                      <p:to>
                                        <p:strVal val="visible"/>
                                      </p:to>
                                    </p:set>
                                    <p:anim calcmode="lin" valueType="num">
                                      <p:cBhvr additive="base">
                                        <p:cTn id="39" dur="500" fill="hold"/>
                                        <p:tgtEl>
                                          <p:spTgt spid="2"/>
                                        </p:tgtEl>
                                        <p:attrNameLst>
                                          <p:attrName>ppt_x</p:attrName>
                                        </p:attrNameLst>
                                      </p:cBhvr>
                                      <p:tavLst>
                                        <p:tav tm="0">
                                          <p:val>
                                            <p:strVal val="#ppt_x"/>
                                          </p:val>
                                        </p:tav>
                                        <p:tav tm="100000">
                                          <p:val>
                                            <p:strVal val="#ppt_x"/>
                                          </p:val>
                                        </p:tav>
                                      </p:tavLst>
                                    </p:anim>
                                    <p:anim calcmode="lin" valueType="num">
                                      <p:cBhvr additive="base">
                                        <p:cTn id="40"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xit" presetSubtype="4" fill="hold" nodeType="clickEffect">
                                  <p:stCondLst>
                                    <p:cond delay="0"/>
                                  </p:stCondLst>
                                  <p:childTnLst>
                                    <p:anim calcmode="lin" valueType="num">
                                      <p:cBhvr additive="base">
                                        <p:cTn id="44" dur="500"/>
                                        <p:tgtEl>
                                          <p:spTgt spid="15"/>
                                        </p:tgtEl>
                                        <p:attrNameLst>
                                          <p:attrName>ppt_x</p:attrName>
                                        </p:attrNameLst>
                                      </p:cBhvr>
                                      <p:tavLst>
                                        <p:tav tm="0">
                                          <p:val>
                                            <p:strVal val="ppt_x"/>
                                          </p:val>
                                        </p:tav>
                                        <p:tav tm="100000">
                                          <p:val>
                                            <p:strVal val="ppt_x"/>
                                          </p:val>
                                        </p:tav>
                                      </p:tavLst>
                                    </p:anim>
                                    <p:anim calcmode="lin" valueType="num">
                                      <p:cBhvr additive="base">
                                        <p:cTn id="45" dur="500"/>
                                        <p:tgtEl>
                                          <p:spTgt spid="15"/>
                                        </p:tgtEl>
                                        <p:attrNameLst>
                                          <p:attrName>ppt_y</p:attrName>
                                        </p:attrNameLst>
                                      </p:cBhvr>
                                      <p:tavLst>
                                        <p:tav tm="0">
                                          <p:val>
                                            <p:strVal val="ppt_y"/>
                                          </p:val>
                                        </p:tav>
                                        <p:tav tm="100000">
                                          <p:val>
                                            <p:strVal val="1+ppt_h/2"/>
                                          </p:val>
                                        </p:tav>
                                      </p:tavLst>
                                    </p:anim>
                                    <p:set>
                                      <p:cBhvr>
                                        <p:cTn id="46" dur="1" fill="hold">
                                          <p:stCondLst>
                                            <p:cond delay="499"/>
                                          </p:stCondLst>
                                        </p:cTn>
                                        <p:tgtEl>
                                          <p:spTgt spid="15"/>
                                        </p:tgtEl>
                                        <p:attrNameLst>
                                          <p:attrName>style.visibility</p:attrName>
                                        </p:attrNameLst>
                                      </p:cBhvr>
                                      <p:to>
                                        <p:strVal val="hidden"/>
                                      </p:to>
                                    </p:set>
                                  </p:childTnLst>
                                </p:cTn>
                              </p:par>
                              <p:par>
                                <p:cTn id="47" presetID="2" presetClass="entr" presetSubtype="4"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ppt_x"/>
                                          </p:val>
                                        </p:tav>
                                        <p:tav tm="100000">
                                          <p:val>
                                            <p:strVal val="#ppt_x"/>
                                          </p:val>
                                        </p:tav>
                                      </p:tavLst>
                                    </p:anim>
                                    <p:anim calcmode="lin" valueType="num">
                                      <p:cBhvr additive="base">
                                        <p:cTn id="50" dur="500" fill="hold"/>
                                        <p:tgtEl>
                                          <p:spTgt spid="16"/>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 calcmode="lin" valueType="num">
                                      <p:cBhvr additive="base">
                                        <p:cTn id="53" dur="500" fill="hold"/>
                                        <p:tgtEl>
                                          <p:spTgt spid="18"/>
                                        </p:tgtEl>
                                        <p:attrNameLst>
                                          <p:attrName>ppt_x</p:attrName>
                                        </p:attrNameLst>
                                      </p:cBhvr>
                                      <p:tavLst>
                                        <p:tav tm="0">
                                          <p:val>
                                            <p:strVal val="#ppt_x"/>
                                          </p:val>
                                        </p:tav>
                                        <p:tav tm="100000">
                                          <p:val>
                                            <p:strVal val="#ppt_x"/>
                                          </p:val>
                                        </p:tav>
                                      </p:tavLst>
                                    </p:anim>
                                    <p:anim calcmode="lin" valueType="num">
                                      <p:cBhvr additive="base">
                                        <p:cTn id="54" dur="500" fill="hold"/>
                                        <p:tgtEl>
                                          <p:spTgt spid="18"/>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 calcmode="lin" valueType="num">
                                      <p:cBhvr additive="base">
                                        <p:cTn id="57" dur="500" fill="hold"/>
                                        <p:tgtEl>
                                          <p:spTgt spid="35"/>
                                        </p:tgtEl>
                                        <p:attrNameLst>
                                          <p:attrName>ppt_x</p:attrName>
                                        </p:attrNameLst>
                                      </p:cBhvr>
                                      <p:tavLst>
                                        <p:tav tm="0">
                                          <p:val>
                                            <p:strVal val="#ppt_x"/>
                                          </p:val>
                                        </p:tav>
                                        <p:tav tm="100000">
                                          <p:val>
                                            <p:strVal val="#ppt_x"/>
                                          </p:val>
                                        </p:tav>
                                      </p:tavLst>
                                    </p:anim>
                                    <p:anim calcmode="lin" valueType="num">
                                      <p:cBhvr additive="base">
                                        <p:cTn id="58" dur="500" fill="hold"/>
                                        <p:tgtEl>
                                          <p:spTgt spid="35"/>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anim calcmode="lin" valueType="num">
                                      <p:cBhvr additive="base">
                                        <p:cTn id="61" dur="500" fill="hold"/>
                                        <p:tgtEl>
                                          <p:spTgt spid="36"/>
                                        </p:tgtEl>
                                        <p:attrNameLst>
                                          <p:attrName>ppt_x</p:attrName>
                                        </p:attrNameLst>
                                      </p:cBhvr>
                                      <p:tavLst>
                                        <p:tav tm="0">
                                          <p:val>
                                            <p:strVal val="#ppt_x"/>
                                          </p:val>
                                        </p:tav>
                                        <p:tav tm="100000">
                                          <p:val>
                                            <p:strVal val="#ppt_x"/>
                                          </p:val>
                                        </p:tav>
                                      </p:tavLst>
                                    </p:anim>
                                    <p:anim calcmode="lin" valueType="num">
                                      <p:cBhvr additive="base">
                                        <p:cTn id="62" dur="500" fill="hold"/>
                                        <p:tgtEl>
                                          <p:spTgt spid="36"/>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32"/>
                                        </p:tgtEl>
                                        <p:attrNameLst>
                                          <p:attrName>style.visibility</p:attrName>
                                        </p:attrNameLst>
                                      </p:cBhvr>
                                      <p:to>
                                        <p:strVal val="visible"/>
                                      </p:to>
                                    </p:set>
                                    <p:anim calcmode="lin" valueType="num">
                                      <p:cBhvr additive="base">
                                        <p:cTn id="65" dur="500" fill="hold"/>
                                        <p:tgtEl>
                                          <p:spTgt spid="32"/>
                                        </p:tgtEl>
                                        <p:attrNameLst>
                                          <p:attrName>ppt_x</p:attrName>
                                        </p:attrNameLst>
                                      </p:cBhvr>
                                      <p:tavLst>
                                        <p:tav tm="0">
                                          <p:val>
                                            <p:strVal val="#ppt_x"/>
                                          </p:val>
                                        </p:tav>
                                        <p:tav tm="100000">
                                          <p:val>
                                            <p:strVal val="#ppt_x"/>
                                          </p:val>
                                        </p:tav>
                                      </p:tavLst>
                                    </p:anim>
                                    <p:anim calcmode="lin" valueType="num">
                                      <p:cBhvr additive="base">
                                        <p:cTn id="66"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4">
            <a:extLst>
              <a:ext uri="{FF2B5EF4-FFF2-40B4-BE49-F238E27FC236}">
                <a16:creationId xmlns:a16="http://schemas.microsoft.com/office/drawing/2014/main" id="{A6D4A572-F24D-B9E9-5490-5495EE65ACF1}"/>
              </a:ext>
            </a:extLst>
          </p:cNvPr>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One Sample Hypothesis Testing for the Mean</a:t>
            </a:r>
          </a:p>
        </p:txBody>
      </p:sp>
      <p:pic>
        <p:nvPicPr>
          <p:cNvPr id="4" name="Picture 3">
            <a:extLst>
              <a:ext uri="{FF2B5EF4-FFF2-40B4-BE49-F238E27FC236}">
                <a16:creationId xmlns:a16="http://schemas.microsoft.com/office/drawing/2014/main" id="{FFF2530B-C1B2-CD87-5BC0-FB47FA528CF2}"/>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5" name="Picture 4">
            <a:extLst>
              <a:ext uri="{FF2B5EF4-FFF2-40B4-BE49-F238E27FC236}">
                <a16:creationId xmlns:a16="http://schemas.microsoft.com/office/drawing/2014/main" id="{DCBB52FF-5DD6-5BD1-2321-82BA41C72F3B}"/>
              </a:ext>
            </a:extLst>
          </p:cNvPr>
          <p:cNvPicPr>
            <a:picLocks noChangeAspect="1"/>
          </p:cNvPicPr>
          <p:nvPr/>
        </p:nvPicPr>
        <p:blipFill rotWithShape="1">
          <a:blip r:embed="rId3"/>
          <a:srcRect t="-1162" b="-13"/>
          <a:stretch/>
        </p:blipFill>
        <p:spPr>
          <a:xfrm>
            <a:off x="685800" y="1492169"/>
            <a:ext cx="7772400" cy="4698493"/>
          </a:xfrm>
          <a:prstGeom prst="rect">
            <a:avLst/>
          </a:prstGeom>
          <a:effectLst/>
        </p:spPr>
      </p:pic>
      <p:pic>
        <p:nvPicPr>
          <p:cNvPr id="6" name="Picture 5">
            <a:extLst>
              <a:ext uri="{FF2B5EF4-FFF2-40B4-BE49-F238E27FC236}">
                <a16:creationId xmlns:a16="http://schemas.microsoft.com/office/drawing/2014/main" id="{D094AC6C-86A6-6056-31B6-BB228D1D0B97}"/>
              </a:ext>
            </a:extLst>
          </p:cNvPr>
          <p:cNvPicPr>
            <a:picLocks noChangeAspect="1"/>
          </p:cNvPicPr>
          <p:nvPr/>
        </p:nvPicPr>
        <p:blipFill>
          <a:blip r:embed="rId4"/>
          <a:stretch>
            <a:fillRect/>
          </a:stretch>
        </p:blipFill>
        <p:spPr>
          <a:xfrm>
            <a:off x="2152765" y="6325565"/>
            <a:ext cx="852265" cy="360960"/>
          </a:xfrm>
          <a:prstGeom prst="rect">
            <a:avLst/>
          </a:prstGeom>
          <a:effectLst/>
        </p:spPr>
      </p:pic>
      <p:cxnSp>
        <p:nvCxnSpPr>
          <p:cNvPr id="7" name="Straight Connector 6">
            <a:extLst>
              <a:ext uri="{FF2B5EF4-FFF2-40B4-BE49-F238E27FC236}">
                <a16:creationId xmlns:a16="http://schemas.microsoft.com/office/drawing/2014/main" id="{36501F2A-F643-B1B9-DDFA-BFE78B7D2ADB}"/>
              </a:ext>
            </a:extLst>
          </p:cNvPr>
          <p:cNvCxnSpPr>
            <a:cxnSpLocks/>
          </p:cNvCxnSpPr>
          <p:nvPr/>
        </p:nvCxnSpPr>
        <p:spPr>
          <a:xfrm>
            <a:off x="4572000" y="6030410"/>
            <a:ext cx="0" cy="340934"/>
          </a:xfrm>
          <a:prstGeom prst="line">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8" name="Multiply 7">
            <a:extLst>
              <a:ext uri="{FF2B5EF4-FFF2-40B4-BE49-F238E27FC236}">
                <a16:creationId xmlns:a16="http://schemas.microsoft.com/office/drawing/2014/main" id="{67332EB4-603A-60D7-CDF5-075A27B6BB5B}"/>
              </a:ext>
            </a:extLst>
          </p:cNvPr>
          <p:cNvSpPr/>
          <p:nvPr/>
        </p:nvSpPr>
        <p:spPr>
          <a:xfrm>
            <a:off x="2024703" y="5931160"/>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F81CFA8-898C-E0D0-D92F-310BF90D7842}"/>
              </a:ext>
            </a:extLst>
          </p:cNvPr>
          <p:cNvPicPr>
            <a:picLocks noChangeAspect="1"/>
          </p:cNvPicPr>
          <p:nvPr/>
        </p:nvPicPr>
        <p:blipFill>
          <a:blip r:embed="rId5"/>
          <a:stretch>
            <a:fillRect/>
          </a:stretch>
        </p:blipFill>
        <p:spPr>
          <a:xfrm>
            <a:off x="4459748" y="6319983"/>
            <a:ext cx="1005158" cy="341961"/>
          </a:xfrm>
          <a:prstGeom prst="rect">
            <a:avLst/>
          </a:prstGeom>
          <a:effectLst/>
        </p:spPr>
      </p:pic>
      <p:cxnSp>
        <p:nvCxnSpPr>
          <p:cNvPr id="12" name="Straight Connector 11">
            <a:extLst>
              <a:ext uri="{FF2B5EF4-FFF2-40B4-BE49-F238E27FC236}">
                <a16:creationId xmlns:a16="http://schemas.microsoft.com/office/drawing/2014/main" id="{A37A595F-E183-CA49-FBD8-6E1FD3955C08}"/>
              </a:ext>
            </a:extLst>
          </p:cNvPr>
          <p:cNvCxnSpPr>
            <a:cxnSpLocks/>
          </p:cNvCxnSpPr>
          <p:nvPr/>
        </p:nvCxnSpPr>
        <p:spPr>
          <a:xfrm>
            <a:off x="6735728" y="5359078"/>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545A744C-AEED-BD34-F804-8D0C6DE7ACD6}"/>
              </a:ext>
            </a:extLst>
          </p:cNvPr>
          <p:cNvCxnSpPr>
            <a:cxnSpLocks/>
          </p:cNvCxnSpPr>
          <p:nvPr/>
        </p:nvCxnSpPr>
        <p:spPr>
          <a:xfrm>
            <a:off x="2408728" y="5361005"/>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C497CF97-EB4F-8AA4-6037-AC423E9FC966}"/>
              </a:ext>
            </a:extLst>
          </p:cNvPr>
          <p:cNvPicPr>
            <a:picLocks noChangeAspect="1"/>
          </p:cNvPicPr>
          <p:nvPr/>
        </p:nvPicPr>
        <p:blipFill>
          <a:blip r:embed="rId6"/>
          <a:stretch>
            <a:fillRect/>
          </a:stretch>
        </p:blipFill>
        <p:spPr>
          <a:xfrm>
            <a:off x="4044649" y="3290598"/>
            <a:ext cx="1081689" cy="347209"/>
          </a:xfrm>
          <a:prstGeom prst="rect">
            <a:avLst/>
          </a:prstGeom>
          <a:effectLst/>
        </p:spPr>
      </p:pic>
      <p:cxnSp>
        <p:nvCxnSpPr>
          <p:cNvPr id="16" name="Straight Connector 15">
            <a:extLst>
              <a:ext uri="{FF2B5EF4-FFF2-40B4-BE49-F238E27FC236}">
                <a16:creationId xmlns:a16="http://schemas.microsoft.com/office/drawing/2014/main" id="{11467DFA-1D2C-56DC-C083-FB08F5F00ED7}"/>
              </a:ext>
            </a:extLst>
          </p:cNvPr>
          <p:cNvCxnSpPr>
            <a:cxnSpLocks/>
          </p:cNvCxnSpPr>
          <p:nvPr/>
        </p:nvCxnSpPr>
        <p:spPr>
          <a:xfrm flipH="1">
            <a:off x="6899703" y="5544273"/>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30F743-37BD-5A55-44A6-A44A45A22739}"/>
              </a:ext>
            </a:extLst>
          </p:cNvPr>
          <p:cNvCxnSpPr>
            <a:cxnSpLocks/>
          </p:cNvCxnSpPr>
          <p:nvPr/>
        </p:nvCxnSpPr>
        <p:spPr>
          <a:xfrm flipH="1">
            <a:off x="2225457" y="5546202"/>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5A57556F-243E-D7CA-71E0-06DE2A046DC1}"/>
              </a:ext>
            </a:extLst>
          </p:cNvPr>
          <p:cNvPicPr>
            <a:picLocks noChangeAspect="1"/>
          </p:cNvPicPr>
          <p:nvPr/>
        </p:nvPicPr>
        <p:blipFill>
          <a:blip r:embed="rId7"/>
          <a:stretch>
            <a:fillRect/>
          </a:stretch>
        </p:blipFill>
        <p:spPr>
          <a:xfrm>
            <a:off x="6605285" y="3155944"/>
            <a:ext cx="284002" cy="219456"/>
          </a:xfrm>
          <a:prstGeom prst="rect">
            <a:avLst/>
          </a:prstGeom>
          <a:effectLst/>
        </p:spPr>
      </p:pic>
      <p:cxnSp>
        <p:nvCxnSpPr>
          <p:cNvPr id="35" name="Straight Connector 34">
            <a:extLst>
              <a:ext uri="{FF2B5EF4-FFF2-40B4-BE49-F238E27FC236}">
                <a16:creationId xmlns:a16="http://schemas.microsoft.com/office/drawing/2014/main" id="{C8573183-70B5-FCA4-3733-1F614B235D9F}"/>
              </a:ext>
            </a:extLst>
          </p:cNvPr>
          <p:cNvCxnSpPr>
            <a:cxnSpLocks/>
          </p:cNvCxnSpPr>
          <p:nvPr/>
        </p:nvCxnSpPr>
        <p:spPr>
          <a:xfrm flipH="1">
            <a:off x="2280870" y="3442500"/>
            <a:ext cx="4363349" cy="2443819"/>
          </a:xfrm>
          <a:prstGeom prst="line">
            <a:avLst/>
          </a:prstGeom>
          <a:ln w="34925">
            <a:solidFill>
              <a:srgbClr val="0070C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5BFA1A8F-01BD-01BE-0EB5-BFBFEFAB9A9A}"/>
              </a:ext>
            </a:extLst>
          </p:cNvPr>
          <p:cNvCxnSpPr>
            <a:cxnSpLocks/>
          </p:cNvCxnSpPr>
          <p:nvPr/>
        </p:nvCxnSpPr>
        <p:spPr>
          <a:xfrm>
            <a:off x="6632644" y="3442500"/>
            <a:ext cx="191714" cy="2587910"/>
          </a:xfrm>
          <a:prstGeom prst="line">
            <a:avLst/>
          </a:prstGeom>
          <a:ln w="34925">
            <a:solidFill>
              <a:srgbClr val="0070C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3785A9F8-6210-E74F-70BB-B92CC1CDE165}"/>
              </a:ext>
            </a:extLst>
          </p:cNvPr>
          <p:cNvCxnSpPr>
            <a:cxnSpLocks/>
          </p:cNvCxnSpPr>
          <p:nvPr/>
        </p:nvCxnSpPr>
        <p:spPr>
          <a:xfrm>
            <a:off x="2652178" y="3391285"/>
            <a:ext cx="4478086" cy="2539875"/>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2D78CD2-0AF4-959F-EA34-DB5747796E20}"/>
              </a:ext>
            </a:extLst>
          </p:cNvPr>
          <p:cNvCxnSpPr>
            <a:cxnSpLocks/>
          </p:cNvCxnSpPr>
          <p:nvPr/>
        </p:nvCxnSpPr>
        <p:spPr>
          <a:xfrm flipH="1">
            <a:off x="1805651" y="3396094"/>
            <a:ext cx="846527" cy="2646789"/>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76A2A50-3CD6-7E39-B600-37E2C3283F30}"/>
              </a:ext>
            </a:extLst>
          </p:cNvPr>
          <p:cNvPicPr>
            <a:picLocks noChangeAspect="1"/>
          </p:cNvPicPr>
          <p:nvPr/>
        </p:nvPicPr>
        <p:blipFill>
          <a:blip r:embed="rId8"/>
          <a:stretch>
            <a:fillRect/>
          </a:stretch>
        </p:blipFill>
        <p:spPr>
          <a:xfrm>
            <a:off x="38025" y="2809179"/>
            <a:ext cx="3157144" cy="744300"/>
          </a:xfrm>
          <a:prstGeom prst="rect">
            <a:avLst/>
          </a:prstGeom>
          <a:effectLst/>
        </p:spPr>
      </p:pic>
      <p:pic>
        <p:nvPicPr>
          <p:cNvPr id="22" name="Picture 21">
            <a:extLst>
              <a:ext uri="{FF2B5EF4-FFF2-40B4-BE49-F238E27FC236}">
                <a16:creationId xmlns:a16="http://schemas.microsoft.com/office/drawing/2014/main" id="{9E3183D6-56C9-AF6D-4244-5DF6AF11CC4A}"/>
              </a:ext>
            </a:extLst>
          </p:cNvPr>
          <p:cNvPicPr>
            <a:picLocks noChangeAspect="1"/>
          </p:cNvPicPr>
          <p:nvPr/>
        </p:nvPicPr>
        <p:blipFill>
          <a:blip r:embed="rId9"/>
          <a:stretch>
            <a:fillRect/>
          </a:stretch>
        </p:blipFill>
        <p:spPr>
          <a:xfrm>
            <a:off x="390038" y="1457113"/>
            <a:ext cx="1912275" cy="364769"/>
          </a:xfrm>
          <a:prstGeom prst="rect">
            <a:avLst/>
          </a:prstGeom>
          <a:effectLst/>
        </p:spPr>
      </p:pic>
      <p:pic>
        <p:nvPicPr>
          <p:cNvPr id="23" name="Picture 22">
            <a:extLst>
              <a:ext uri="{FF2B5EF4-FFF2-40B4-BE49-F238E27FC236}">
                <a16:creationId xmlns:a16="http://schemas.microsoft.com/office/drawing/2014/main" id="{DA68B568-A17C-FB52-EF51-24ACE4D74254}"/>
              </a:ext>
            </a:extLst>
          </p:cNvPr>
          <p:cNvPicPr>
            <a:picLocks noChangeAspect="1"/>
          </p:cNvPicPr>
          <p:nvPr/>
        </p:nvPicPr>
        <p:blipFill>
          <a:blip r:embed="rId10"/>
          <a:stretch>
            <a:fillRect/>
          </a:stretch>
        </p:blipFill>
        <p:spPr>
          <a:xfrm>
            <a:off x="381961" y="2014548"/>
            <a:ext cx="1923329" cy="375823"/>
          </a:xfrm>
          <a:prstGeom prst="rect">
            <a:avLst/>
          </a:prstGeom>
          <a:effectLst/>
        </p:spPr>
      </p:pic>
    </p:spTree>
    <p:extLst>
      <p:ext uri="{BB962C8B-B14F-4D97-AF65-F5344CB8AC3E}">
        <p14:creationId xmlns:p14="http://schemas.microsoft.com/office/powerpoint/2010/main" val="787813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fill="hold"/>
                                        <p:tgtEl>
                                          <p:spTgt spid="15"/>
                                        </p:tgtEl>
                                        <p:attrNameLst>
                                          <p:attrName>ppt_x</p:attrName>
                                        </p:attrNameLst>
                                      </p:cBhvr>
                                      <p:tavLst>
                                        <p:tav tm="0">
                                          <p:val>
                                            <p:strVal val="#ppt_x"/>
                                          </p:val>
                                        </p:tav>
                                        <p:tav tm="100000">
                                          <p:val>
                                            <p:strVal val="#ppt_x"/>
                                          </p:val>
                                        </p:tav>
                                      </p:tavLst>
                                    </p:anim>
                                    <p:anim calcmode="lin" valueType="num">
                                      <p:cBhvr additive="base">
                                        <p:cTn id="18" dur="5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ppt_x"/>
                                          </p:val>
                                        </p:tav>
                                        <p:tav tm="100000">
                                          <p:val>
                                            <p:strVal val="#ppt_x"/>
                                          </p:val>
                                        </p:tav>
                                      </p:tavLst>
                                    </p:anim>
                                    <p:anim calcmode="lin" valueType="num">
                                      <p:cBhvr additive="base">
                                        <p:cTn id="22" dur="500" fill="hold"/>
                                        <p:tgtEl>
                                          <p:spTgt spid="12"/>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6"/>
                                        </p:tgtEl>
                                        <p:attrNameLst>
                                          <p:attrName>style.visibility</p:attrName>
                                        </p:attrNameLst>
                                      </p:cBhvr>
                                      <p:to>
                                        <p:strVal val="visible"/>
                                      </p:to>
                                    </p:set>
                                    <p:anim calcmode="lin" valueType="num">
                                      <p:cBhvr additive="base">
                                        <p:cTn id="31" dur="500" fill="hold"/>
                                        <p:tgtEl>
                                          <p:spTgt spid="36"/>
                                        </p:tgtEl>
                                        <p:attrNameLst>
                                          <p:attrName>ppt_x</p:attrName>
                                        </p:attrNameLst>
                                      </p:cBhvr>
                                      <p:tavLst>
                                        <p:tav tm="0">
                                          <p:val>
                                            <p:strVal val="#ppt_x"/>
                                          </p:val>
                                        </p:tav>
                                        <p:tav tm="100000">
                                          <p:val>
                                            <p:strVal val="#ppt_x"/>
                                          </p:val>
                                        </p:tav>
                                      </p:tavLst>
                                    </p:anim>
                                    <p:anim calcmode="lin" valueType="num">
                                      <p:cBhvr additive="base">
                                        <p:cTn id="32" dur="500" fill="hold"/>
                                        <p:tgtEl>
                                          <p:spTgt spid="36"/>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 calcmode="lin" valueType="num">
                                      <p:cBhvr additive="base">
                                        <p:cTn id="35" dur="500" fill="hold"/>
                                        <p:tgtEl>
                                          <p:spTgt spid="35"/>
                                        </p:tgtEl>
                                        <p:attrNameLst>
                                          <p:attrName>ppt_x</p:attrName>
                                        </p:attrNameLst>
                                      </p:cBhvr>
                                      <p:tavLst>
                                        <p:tav tm="0">
                                          <p:val>
                                            <p:strVal val="#ppt_x"/>
                                          </p:val>
                                        </p:tav>
                                        <p:tav tm="100000">
                                          <p:val>
                                            <p:strVal val="#ppt_x"/>
                                          </p:val>
                                        </p:tav>
                                      </p:tavLst>
                                    </p:anim>
                                    <p:anim calcmode="lin" valueType="num">
                                      <p:cBhvr additive="base">
                                        <p:cTn id="36" dur="500" fill="hold"/>
                                        <p:tgtEl>
                                          <p:spTgt spid="35"/>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4"/>
                                        </p:tgtEl>
                                        <p:attrNameLst>
                                          <p:attrName>style.visibility</p:attrName>
                                        </p:attrNameLst>
                                      </p:cBhvr>
                                      <p:to>
                                        <p:strVal val="visible"/>
                                      </p:to>
                                    </p:set>
                                    <p:anim calcmode="lin" valueType="num">
                                      <p:cBhvr additive="base">
                                        <p:cTn id="39" dur="500" fill="hold"/>
                                        <p:tgtEl>
                                          <p:spTgt spid="34"/>
                                        </p:tgtEl>
                                        <p:attrNameLst>
                                          <p:attrName>ppt_x</p:attrName>
                                        </p:attrNameLst>
                                      </p:cBhvr>
                                      <p:tavLst>
                                        <p:tav tm="0">
                                          <p:val>
                                            <p:strVal val="#ppt_x"/>
                                          </p:val>
                                        </p:tav>
                                        <p:tav tm="100000">
                                          <p:val>
                                            <p:strVal val="#ppt_x"/>
                                          </p:val>
                                        </p:tav>
                                      </p:tavLst>
                                    </p:anim>
                                    <p:anim calcmode="lin" valueType="num">
                                      <p:cBhvr additive="base">
                                        <p:cTn id="4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xit" presetSubtype="4" fill="hold" nodeType="clickEffect">
                                  <p:stCondLst>
                                    <p:cond delay="0"/>
                                  </p:stCondLst>
                                  <p:childTnLst>
                                    <p:anim calcmode="lin" valueType="num">
                                      <p:cBhvr additive="base">
                                        <p:cTn id="44" dur="500"/>
                                        <p:tgtEl>
                                          <p:spTgt spid="15"/>
                                        </p:tgtEl>
                                        <p:attrNameLst>
                                          <p:attrName>ppt_x</p:attrName>
                                        </p:attrNameLst>
                                      </p:cBhvr>
                                      <p:tavLst>
                                        <p:tav tm="0">
                                          <p:val>
                                            <p:strVal val="ppt_x"/>
                                          </p:val>
                                        </p:tav>
                                        <p:tav tm="100000">
                                          <p:val>
                                            <p:strVal val="ppt_x"/>
                                          </p:val>
                                        </p:tav>
                                      </p:tavLst>
                                    </p:anim>
                                    <p:anim calcmode="lin" valueType="num">
                                      <p:cBhvr additive="base">
                                        <p:cTn id="45" dur="500"/>
                                        <p:tgtEl>
                                          <p:spTgt spid="15"/>
                                        </p:tgtEl>
                                        <p:attrNameLst>
                                          <p:attrName>ppt_y</p:attrName>
                                        </p:attrNameLst>
                                      </p:cBhvr>
                                      <p:tavLst>
                                        <p:tav tm="0">
                                          <p:val>
                                            <p:strVal val="ppt_y"/>
                                          </p:val>
                                        </p:tav>
                                        <p:tav tm="100000">
                                          <p:val>
                                            <p:strVal val="1+ppt_h/2"/>
                                          </p:val>
                                        </p:tav>
                                      </p:tavLst>
                                    </p:anim>
                                    <p:set>
                                      <p:cBhvr>
                                        <p:cTn id="46" dur="1" fill="hold">
                                          <p:stCondLst>
                                            <p:cond delay="499"/>
                                          </p:stCondLst>
                                        </p:cTn>
                                        <p:tgtEl>
                                          <p:spTgt spid="15"/>
                                        </p:tgtEl>
                                        <p:attrNameLst>
                                          <p:attrName>style.visibility</p:attrName>
                                        </p:attrNameLst>
                                      </p:cBhvr>
                                      <p:to>
                                        <p:strVal val="hidden"/>
                                      </p:to>
                                    </p:set>
                                  </p:childTnLst>
                                </p:cTn>
                              </p:par>
                              <p:par>
                                <p:cTn id="47" presetID="2" presetClass="entr" presetSubtype="4"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 calcmode="lin" valueType="num">
                                      <p:cBhvr additive="base">
                                        <p:cTn id="49" dur="500" fill="hold"/>
                                        <p:tgtEl>
                                          <p:spTgt spid="18"/>
                                        </p:tgtEl>
                                        <p:attrNameLst>
                                          <p:attrName>ppt_x</p:attrName>
                                        </p:attrNameLst>
                                      </p:cBhvr>
                                      <p:tavLst>
                                        <p:tav tm="0">
                                          <p:val>
                                            <p:strVal val="#ppt_x"/>
                                          </p:val>
                                        </p:tav>
                                        <p:tav tm="100000">
                                          <p:val>
                                            <p:strVal val="#ppt_x"/>
                                          </p:val>
                                        </p:tav>
                                      </p:tavLst>
                                    </p:anim>
                                    <p:anim calcmode="lin" valueType="num">
                                      <p:cBhvr additive="base">
                                        <p:cTn id="50" dur="500" fill="hold"/>
                                        <p:tgtEl>
                                          <p:spTgt spid="18"/>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ppt_x"/>
                                          </p:val>
                                        </p:tav>
                                        <p:tav tm="100000">
                                          <p:val>
                                            <p:strVal val="#ppt_x"/>
                                          </p:val>
                                        </p:tav>
                                      </p:tavLst>
                                    </p:anim>
                                    <p:anim calcmode="lin" valueType="num">
                                      <p:cBhvr additive="base">
                                        <p:cTn id="54" dur="500" fill="hold"/>
                                        <p:tgtEl>
                                          <p:spTgt spid="16"/>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
                                        </p:tgtEl>
                                        <p:attrNameLst>
                                          <p:attrName>style.visibility</p:attrName>
                                        </p:attrNameLst>
                                      </p:cBhvr>
                                      <p:to>
                                        <p:strVal val="visible"/>
                                      </p:to>
                                    </p:set>
                                    <p:anim calcmode="lin" valueType="num">
                                      <p:cBhvr additive="base">
                                        <p:cTn id="57" dur="500" fill="hold"/>
                                        <p:tgtEl>
                                          <p:spTgt spid="2"/>
                                        </p:tgtEl>
                                        <p:attrNameLst>
                                          <p:attrName>ppt_x</p:attrName>
                                        </p:attrNameLst>
                                      </p:cBhvr>
                                      <p:tavLst>
                                        <p:tav tm="0">
                                          <p:val>
                                            <p:strVal val="#ppt_x"/>
                                          </p:val>
                                        </p:tav>
                                        <p:tav tm="100000">
                                          <p:val>
                                            <p:strVal val="#ppt_x"/>
                                          </p:val>
                                        </p:tav>
                                      </p:tavLst>
                                    </p:anim>
                                    <p:anim calcmode="lin" valueType="num">
                                      <p:cBhvr additive="base">
                                        <p:cTn id="58" dur="500" fill="hold"/>
                                        <p:tgtEl>
                                          <p:spTgt spid="2"/>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10"/>
                                        </p:tgtEl>
                                        <p:attrNameLst>
                                          <p:attrName>style.visibility</p:attrName>
                                        </p:attrNameLst>
                                      </p:cBhvr>
                                      <p:to>
                                        <p:strVal val="visible"/>
                                      </p:to>
                                    </p:set>
                                    <p:anim calcmode="lin" valueType="num">
                                      <p:cBhvr additive="base">
                                        <p:cTn id="61" dur="500" fill="hold"/>
                                        <p:tgtEl>
                                          <p:spTgt spid="10"/>
                                        </p:tgtEl>
                                        <p:attrNameLst>
                                          <p:attrName>ppt_x</p:attrName>
                                        </p:attrNameLst>
                                      </p:cBhvr>
                                      <p:tavLst>
                                        <p:tav tm="0">
                                          <p:val>
                                            <p:strVal val="#ppt_x"/>
                                          </p:val>
                                        </p:tav>
                                        <p:tav tm="100000">
                                          <p:val>
                                            <p:strVal val="#ppt_x"/>
                                          </p:val>
                                        </p:tav>
                                      </p:tavLst>
                                    </p:anim>
                                    <p:anim calcmode="lin" valueType="num">
                                      <p:cBhvr additive="base">
                                        <p:cTn id="62" dur="500" fill="hold"/>
                                        <p:tgtEl>
                                          <p:spTgt spid="10"/>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11"/>
                                        </p:tgtEl>
                                        <p:attrNameLst>
                                          <p:attrName>style.visibility</p:attrName>
                                        </p:attrNameLst>
                                      </p:cBhvr>
                                      <p:to>
                                        <p:strVal val="visible"/>
                                      </p:to>
                                    </p:set>
                                    <p:anim calcmode="lin" valueType="num">
                                      <p:cBhvr additive="base">
                                        <p:cTn id="65" dur="500" fill="hold"/>
                                        <p:tgtEl>
                                          <p:spTgt spid="11"/>
                                        </p:tgtEl>
                                        <p:attrNameLst>
                                          <p:attrName>ppt_x</p:attrName>
                                        </p:attrNameLst>
                                      </p:cBhvr>
                                      <p:tavLst>
                                        <p:tav tm="0">
                                          <p:val>
                                            <p:strVal val="#ppt_x"/>
                                          </p:val>
                                        </p:tav>
                                        <p:tav tm="100000">
                                          <p:val>
                                            <p:strVal val="#ppt_x"/>
                                          </p:val>
                                        </p:tav>
                                      </p:tavLst>
                                    </p:anim>
                                    <p:anim calcmode="lin" valueType="num">
                                      <p:cBhvr additive="base">
                                        <p:cTn id="6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4">
            <a:extLst>
              <a:ext uri="{FF2B5EF4-FFF2-40B4-BE49-F238E27FC236}">
                <a16:creationId xmlns:a16="http://schemas.microsoft.com/office/drawing/2014/main" id="{A6D4A572-F24D-B9E9-5490-5495EE65ACF1}"/>
              </a:ext>
            </a:extLst>
          </p:cNvPr>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One Sample Hypothesis Testing for the Mean</a:t>
            </a:r>
          </a:p>
        </p:txBody>
      </p:sp>
      <p:pic>
        <p:nvPicPr>
          <p:cNvPr id="4" name="Picture 3">
            <a:extLst>
              <a:ext uri="{FF2B5EF4-FFF2-40B4-BE49-F238E27FC236}">
                <a16:creationId xmlns:a16="http://schemas.microsoft.com/office/drawing/2014/main" id="{FFF2530B-C1B2-CD87-5BC0-FB47FA528CF2}"/>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5" name="Picture 4">
            <a:extLst>
              <a:ext uri="{FF2B5EF4-FFF2-40B4-BE49-F238E27FC236}">
                <a16:creationId xmlns:a16="http://schemas.microsoft.com/office/drawing/2014/main" id="{DCBB52FF-5DD6-5BD1-2321-82BA41C72F3B}"/>
              </a:ext>
            </a:extLst>
          </p:cNvPr>
          <p:cNvPicPr>
            <a:picLocks noChangeAspect="1"/>
          </p:cNvPicPr>
          <p:nvPr/>
        </p:nvPicPr>
        <p:blipFill rotWithShape="1">
          <a:blip r:embed="rId3"/>
          <a:srcRect t="-1162" b="-13"/>
          <a:stretch/>
        </p:blipFill>
        <p:spPr>
          <a:xfrm>
            <a:off x="685800" y="1492169"/>
            <a:ext cx="7772400" cy="4698493"/>
          </a:xfrm>
          <a:prstGeom prst="rect">
            <a:avLst/>
          </a:prstGeom>
          <a:effectLst/>
        </p:spPr>
      </p:pic>
      <p:pic>
        <p:nvPicPr>
          <p:cNvPr id="6" name="Picture 5">
            <a:extLst>
              <a:ext uri="{FF2B5EF4-FFF2-40B4-BE49-F238E27FC236}">
                <a16:creationId xmlns:a16="http://schemas.microsoft.com/office/drawing/2014/main" id="{D094AC6C-86A6-6056-31B6-BB228D1D0B97}"/>
              </a:ext>
            </a:extLst>
          </p:cNvPr>
          <p:cNvPicPr>
            <a:picLocks noChangeAspect="1"/>
          </p:cNvPicPr>
          <p:nvPr/>
        </p:nvPicPr>
        <p:blipFill>
          <a:blip r:embed="rId4"/>
          <a:stretch>
            <a:fillRect/>
          </a:stretch>
        </p:blipFill>
        <p:spPr>
          <a:xfrm>
            <a:off x="6829065" y="6325566"/>
            <a:ext cx="852265" cy="360959"/>
          </a:xfrm>
          <a:prstGeom prst="rect">
            <a:avLst/>
          </a:prstGeom>
          <a:effectLst/>
        </p:spPr>
      </p:pic>
      <p:cxnSp>
        <p:nvCxnSpPr>
          <p:cNvPr id="7" name="Straight Connector 6">
            <a:extLst>
              <a:ext uri="{FF2B5EF4-FFF2-40B4-BE49-F238E27FC236}">
                <a16:creationId xmlns:a16="http://schemas.microsoft.com/office/drawing/2014/main" id="{36501F2A-F643-B1B9-DDFA-BFE78B7D2ADB}"/>
              </a:ext>
            </a:extLst>
          </p:cNvPr>
          <p:cNvCxnSpPr>
            <a:cxnSpLocks/>
          </p:cNvCxnSpPr>
          <p:nvPr/>
        </p:nvCxnSpPr>
        <p:spPr>
          <a:xfrm>
            <a:off x="4572000" y="6030410"/>
            <a:ext cx="0" cy="340934"/>
          </a:xfrm>
          <a:prstGeom prst="line">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8" name="Multiply 7">
            <a:extLst>
              <a:ext uri="{FF2B5EF4-FFF2-40B4-BE49-F238E27FC236}">
                <a16:creationId xmlns:a16="http://schemas.microsoft.com/office/drawing/2014/main" id="{67332EB4-603A-60D7-CDF5-075A27B6BB5B}"/>
              </a:ext>
            </a:extLst>
          </p:cNvPr>
          <p:cNvSpPr/>
          <p:nvPr/>
        </p:nvSpPr>
        <p:spPr>
          <a:xfrm>
            <a:off x="6701003" y="5931160"/>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F81CFA8-898C-E0D0-D92F-310BF90D7842}"/>
              </a:ext>
            </a:extLst>
          </p:cNvPr>
          <p:cNvPicPr>
            <a:picLocks noChangeAspect="1"/>
          </p:cNvPicPr>
          <p:nvPr/>
        </p:nvPicPr>
        <p:blipFill>
          <a:blip r:embed="rId5"/>
          <a:stretch>
            <a:fillRect/>
          </a:stretch>
        </p:blipFill>
        <p:spPr>
          <a:xfrm>
            <a:off x="4459748" y="6319983"/>
            <a:ext cx="1005158" cy="341961"/>
          </a:xfrm>
          <a:prstGeom prst="rect">
            <a:avLst/>
          </a:prstGeom>
          <a:effectLst/>
        </p:spPr>
      </p:pic>
      <p:cxnSp>
        <p:nvCxnSpPr>
          <p:cNvPr id="12" name="Straight Connector 11">
            <a:extLst>
              <a:ext uri="{FF2B5EF4-FFF2-40B4-BE49-F238E27FC236}">
                <a16:creationId xmlns:a16="http://schemas.microsoft.com/office/drawing/2014/main" id="{A37A595F-E183-CA49-FBD8-6E1FD3955C08}"/>
              </a:ext>
            </a:extLst>
          </p:cNvPr>
          <p:cNvCxnSpPr>
            <a:cxnSpLocks/>
          </p:cNvCxnSpPr>
          <p:nvPr/>
        </p:nvCxnSpPr>
        <p:spPr>
          <a:xfrm>
            <a:off x="6735728" y="5359078"/>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C497CF97-EB4F-8AA4-6037-AC423E9FC966}"/>
              </a:ext>
            </a:extLst>
          </p:cNvPr>
          <p:cNvPicPr>
            <a:picLocks noChangeAspect="1"/>
          </p:cNvPicPr>
          <p:nvPr/>
        </p:nvPicPr>
        <p:blipFill>
          <a:blip r:embed="rId6"/>
          <a:stretch>
            <a:fillRect/>
          </a:stretch>
        </p:blipFill>
        <p:spPr>
          <a:xfrm>
            <a:off x="4044649" y="3290598"/>
            <a:ext cx="1081689" cy="347209"/>
          </a:xfrm>
          <a:prstGeom prst="rect">
            <a:avLst/>
          </a:prstGeom>
          <a:effectLst/>
        </p:spPr>
      </p:pic>
      <p:cxnSp>
        <p:nvCxnSpPr>
          <p:cNvPr id="16" name="Straight Connector 15">
            <a:extLst>
              <a:ext uri="{FF2B5EF4-FFF2-40B4-BE49-F238E27FC236}">
                <a16:creationId xmlns:a16="http://schemas.microsoft.com/office/drawing/2014/main" id="{11467DFA-1D2C-56DC-C083-FB08F5F00ED7}"/>
              </a:ext>
            </a:extLst>
          </p:cNvPr>
          <p:cNvCxnSpPr>
            <a:cxnSpLocks/>
          </p:cNvCxnSpPr>
          <p:nvPr/>
        </p:nvCxnSpPr>
        <p:spPr>
          <a:xfrm flipH="1">
            <a:off x="6899703" y="5544273"/>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5A57556F-243E-D7CA-71E0-06DE2A046DC1}"/>
              </a:ext>
            </a:extLst>
          </p:cNvPr>
          <p:cNvPicPr>
            <a:picLocks noChangeAspect="1"/>
          </p:cNvPicPr>
          <p:nvPr/>
        </p:nvPicPr>
        <p:blipFill>
          <a:blip r:embed="rId7"/>
          <a:stretch>
            <a:fillRect/>
          </a:stretch>
        </p:blipFill>
        <p:spPr>
          <a:xfrm>
            <a:off x="2334140" y="3155944"/>
            <a:ext cx="284002" cy="219456"/>
          </a:xfrm>
          <a:prstGeom prst="rect">
            <a:avLst/>
          </a:prstGeom>
          <a:effectLst/>
        </p:spPr>
      </p:pic>
      <p:cxnSp>
        <p:nvCxnSpPr>
          <p:cNvPr id="36" name="Straight Connector 35">
            <a:extLst>
              <a:ext uri="{FF2B5EF4-FFF2-40B4-BE49-F238E27FC236}">
                <a16:creationId xmlns:a16="http://schemas.microsoft.com/office/drawing/2014/main" id="{5BFA1A8F-01BD-01BE-0EB5-BFBFEFAB9A9A}"/>
              </a:ext>
            </a:extLst>
          </p:cNvPr>
          <p:cNvCxnSpPr>
            <a:cxnSpLocks/>
          </p:cNvCxnSpPr>
          <p:nvPr/>
        </p:nvCxnSpPr>
        <p:spPr>
          <a:xfrm>
            <a:off x="6678944" y="3442500"/>
            <a:ext cx="906587" cy="2600383"/>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3785A9F8-6210-E74F-70BB-B92CC1CDE165}"/>
              </a:ext>
            </a:extLst>
          </p:cNvPr>
          <p:cNvCxnSpPr>
            <a:cxnSpLocks/>
          </p:cNvCxnSpPr>
          <p:nvPr/>
        </p:nvCxnSpPr>
        <p:spPr>
          <a:xfrm>
            <a:off x="2652178" y="3391285"/>
            <a:ext cx="4220065" cy="2383585"/>
          </a:xfrm>
          <a:prstGeom prst="line">
            <a:avLst/>
          </a:prstGeom>
          <a:ln w="34925">
            <a:tailEnd type="triangle"/>
          </a:ln>
          <a:effectLst/>
        </p:spPr>
        <p:style>
          <a:lnRef idx="2">
            <a:schemeClr val="accent1"/>
          </a:lnRef>
          <a:fillRef idx="0">
            <a:schemeClr val="accent1"/>
          </a:fillRef>
          <a:effectRef idx="1">
            <a:schemeClr val="accent1"/>
          </a:effectRef>
          <a:fontRef idx="minor">
            <a:schemeClr val="tx1"/>
          </a:fontRef>
        </p:style>
      </p:cxnSp>
      <p:pic>
        <p:nvPicPr>
          <p:cNvPr id="19" name="Picture 18">
            <a:extLst>
              <a:ext uri="{FF2B5EF4-FFF2-40B4-BE49-F238E27FC236}">
                <a16:creationId xmlns:a16="http://schemas.microsoft.com/office/drawing/2014/main" id="{1E657E36-3701-2FA1-220C-F29A493CF7DE}"/>
              </a:ext>
            </a:extLst>
          </p:cNvPr>
          <p:cNvPicPr>
            <a:picLocks noChangeAspect="1"/>
          </p:cNvPicPr>
          <p:nvPr/>
        </p:nvPicPr>
        <p:blipFill>
          <a:blip r:embed="rId8"/>
          <a:stretch>
            <a:fillRect/>
          </a:stretch>
        </p:blipFill>
        <p:spPr>
          <a:xfrm>
            <a:off x="6104955" y="2926942"/>
            <a:ext cx="2813161" cy="748008"/>
          </a:xfrm>
          <a:prstGeom prst="rect">
            <a:avLst/>
          </a:prstGeom>
          <a:effectLst/>
        </p:spPr>
      </p:pic>
      <p:pic>
        <p:nvPicPr>
          <p:cNvPr id="10" name="Picture 9">
            <a:extLst>
              <a:ext uri="{FF2B5EF4-FFF2-40B4-BE49-F238E27FC236}">
                <a16:creationId xmlns:a16="http://schemas.microsoft.com/office/drawing/2014/main" id="{27D45330-201F-C45A-D13A-0BF01A0C4AEC}"/>
              </a:ext>
            </a:extLst>
          </p:cNvPr>
          <p:cNvPicPr>
            <a:picLocks noChangeAspect="1"/>
          </p:cNvPicPr>
          <p:nvPr/>
        </p:nvPicPr>
        <p:blipFill>
          <a:blip r:embed="rId9"/>
          <a:stretch>
            <a:fillRect/>
          </a:stretch>
        </p:blipFill>
        <p:spPr>
          <a:xfrm>
            <a:off x="401614" y="1506651"/>
            <a:ext cx="1912274" cy="364769"/>
          </a:xfrm>
          <a:prstGeom prst="rect">
            <a:avLst/>
          </a:prstGeom>
          <a:effectLst/>
        </p:spPr>
      </p:pic>
      <p:pic>
        <p:nvPicPr>
          <p:cNvPr id="11" name="Picture 10">
            <a:extLst>
              <a:ext uri="{FF2B5EF4-FFF2-40B4-BE49-F238E27FC236}">
                <a16:creationId xmlns:a16="http://schemas.microsoft.com/office/drawing/2014/main" id="{D5A5197A-F43E-320F-237C-6C81285B1337}"/>
              </a:ext>
            </a:extLst>
          </p:cNvPr>
          <p:cNvPicPr>
            <a:picLocks noChangeAspect="1"/>
          </p:cNvPicPr>
          <p:nvPr/>
        </p:nvPicPr>
        <p:blipFill>
          <a:blip r:embed="rId10"/>
          <a:stretch>
            <a:fillRect/>
          </a:stretch>
        </p:blipFill>
        <p:spPr>
          <a:xfrm>
            <a:off x="384504" y="2027360"/>
            <a:ext cx="1912274" cy="362673"/>
          </a:xfrm>
          <a:prstGeom prst="rect">
            <a:avLst/>
          </a:prstGeom>
          <a:effectLst/>
        </p:spPr>
      </p:pic>
    </p:spTree>
    <p:extLst>
      <p:ext uri="{BB962C8B-B14F-4D97-AF65-F5344CB8AC3E}">
        <p14:creationId xmlns:p14="http://schemas.microsoft.com/office/powerpoint/2010/main" val="4097719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fill="hold"/>
                                        <p:tgtEl>
                                          <p:spTgt spid="15"/>
                                        </p:tgtEl>
                                        <p:attrNameLst>
                                          <p:attrName>ppt_x</p:attrName>
                                        </p:attrNameLst>
                                      </p:cBhvr>
                                      <p:tavLst>
                                        <p:tav tm="0">
                                          <p:val>
                                            <p:strVal val="#ppt_x"/>
                                          </p:val>
                                        </p:tav>
                                        <p:tav tm="100000">
                                          <p:val>
                                            <p:strVal val="#ppt_x"/>
                                          </p:val>
                                        </p:tav>
                                      </p:tavLst>
                                    </p:anim>
                                    <p:anim calcmode="lin" valueType="num">
                                      <p:cBhvr additive="base">
                                        <p:cTn id="18" dur="5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ppt_x"/>
                                          </p:val>
                                        </p:tav>
                                        <p:tav tm="100000">
                                          <p:val>
                                            <p:strVal val="#ppt_x"/>
                                          </p:val>
                                        </p:tav>
                                      </p:tavLst>
                                    </p:anim>
                                    <p:anim calcmode="lin" valueType="num">
                                      <p:cBhvr additive="base">
                                        <p:cTn id="2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 calcmode="lin" valueType="num">
                                      <p:cBhvr additive="base">
                                        <p:cTn id="27" dur="500" fill="hold"/>
                                        <p:tgtEl>
                                          <p:spTgt spid="34"/>
                                        </p:tgtEl>
                                        <p:attrNameLst>
                                          <p:attrName>ppt_x</p:attrName>
                                        </p:attrNameLst>
                                      </p:cBhvr>
                                      <p:tavLst>
                                        <p:tav tm="0">
                                          <p:val>
                                            <p:strVal val="#ppt_x"/>
                                          </p:val>
                                        </p:tav>
                                        <p:tav tm="100000">
                                          <p:val>
                                            <p:strVal val="#ppt_x"/>
                                          </p:val>
                                        </p:tav>
                                      </p:tavLst>
                                    </p:anim>
                                    <p:anim calcmode="lin" valueType="num">
                                      <p:cBhvr additive="base">
                                        <p:cTn id="28" dur="500" fill="hold"/>
                                        <p:tgtEl>
                                          <p:spTgt spid="34"/>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2"/>
                                        </p:tgtEl>
                                        <p:attrNameLst>
                                          <p:attrName>style.visibility</p:attrName>
                                        </p:attrNameLst>
                                      </p:cBhvr>
                                      <p:to>
                                        <p:strVal val="visible"/>
                                      </p:to>
                                    </p:set>
                                    <p:anim calcmode="lin" valueType="num">
                                      <p:cBhvr additive="base">
                                        <p:cTn id="31" dur="500" fill="hold"/>
                                        <p:tgtEl>
                                          <p:spTgt spid="2"/>
                                        </p:tgtEl>
                                        <p:attrNameLst>
                                          <p:attrName>ppt_x</p:attrName>
                                        </p:attrNameLst>
                                      </p:cBhvr>
                                      <p:tavLst>
                                        <p:tav tm="0">
                                          <p:val>
                                            <p:strVal val="#ppt_x"/>
                                          </p:val>
                                        </p:tav>
                                        <p:tav tm="100000">
                                          <p:val>
                                            <p:strVal val="#ppt_x"/>
                                          </p:val>
                                        </p:tav>
                                      </p:tavLst>
                                    </p:anim>
                                    <p:anim calcmode="lin" valueType="num">
                                      <p:cBhvr additive="base">
                                        <p:cTn id="3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4" fill="hold" nodeType="clickEffect">
                                  <p:stCondLst>
                                    <p:cond delay="0"/>
                                  </p:stCondLst>
                                  <p:childTnLst>
                                    <p:anim calcmode="lin" valueType="num">
                                      <p:cBhvr additive="base">
                                        <p:cTn id="36" dur="500"/>
                                        <p:tgtEl>
                                          <p:spTgt spid="15"/>
                                        </p:tgtEl>
                                        <p:attrNameLst>
                                          <p:attrName>ppt_x</p:attrName>
                                        </p:attrNameLst>
                                      </p:cBhvr>
                                      <p:tavLst>
                                        <p:tav tm="0">
                                          <p:val>
                                            <p:strVal val="ppt_x"/>
                                          </p:val>
                                        </p:tav>
                                        <p:tav tm="100000">
                                          <p:val>
                                            <p:strVal val="ppt_x"/>
                                          </p:val>
                                        </p:tav>
                                      </p:tavLst>
                                    </p:anim>
                                    <p:anim calcmode="lin" valueType="num">
                                      <p:cBhvr additive="base">
                                        <p:cTn id="37" dur="500"/>
                                        <p:tgtEl>
                                          <p:spTgt spid="15"/>
                                        </p:tgtEl>
                                        <p:attrNameLst>
                                          <p:attrName>ppt_y</p:attrName>
                                        </p:attrNameLst>
                                      </p:cBhvr>
                                      <p:tavLst>
                                        <p:tav tm="0">
                                          <p:val>
                                            <p:strVal val="ppt_y"/>
                                          </p:val>
                                        </p:tav>
                                        <p:tav tm="100000">
                                          <p:val>
                                            <p:strVal val="1+ppt_h/2"/>
                                          </p:val>
                                        </p:tav>
                                      </p:tavLst>
                                    </p:anim>
                                    <p:set>
                                      <p:cBhvr>
                                        <p:cTn id="38" dur="1" fill="hold">
                                          <p:stCondLst>
                                            <p:cond delay="499"/>
                                          </p:stCondLst>
                                        </p:cTn>
                                        <p:tgtEl>
                                          <p:spTgt spid="15"/>
                                        </p:tgtEl>
                                        <p:attrNameLst>
                                          <p:attrName>style.visibility</p:attrName>
                                        </p:attrNameLst>
                                      </p:cBhvr>
                                      <p:to>
                                        <p:strVal val="hidden"/>
                                      </p:to>
                                    </p:set>
                                  </p:childTnLst>
                                </p:cTn>
                              </p:par>
                              <p:par>
                                <p:cTn id="39" presetID="2" presetClass="entr" presetSubtype="4"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anim calcmode="lin" valueType="num">
                                      <p:cBhvr additive="base">
                                        <p:cTn id="41" dur="500" fill="hold"/>
                                        <p:tgtEl>
                                          <p:spTgt spid="16"/>
                                        </p:tgtEl>
                                        <p:attrNameLst>
                                          <p:attrName>ppt_x</p:attrName>
                                        </p:attrNameLst>
                                      </p:cBhvr>
                                      <p:tavLst>
                                        <p:tav tm="0">
                                          <p:val>
                                            <p:strVal val="#ppt_x"/>
                                          </p:val>
                                        </p:tav>
                                        <p:tav tm="100000">
                                          <p:val>
                                            <p:strVal val="#ppt_x"/>
                                          </p:val>
                                        </p:tav>
                                      </p:tavLst>
                                    </p:anim>
                                    <p:anim calcmode="lin" valueType="num">
                                      <p:cBhvr additive="base">
                                        <p:cTn id="42" dur="500" fill="hold"/>
                                        <p:tgtEl>
                                          <p:spTgt spid="16"/>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19"/>
                                        </p:tgtEl>
                                        <p:attrNameLst>
                                          <p:attrName>style.visibility</p:attrName>
                                        </p:attrNameLst>
                                      </p:cBhvr>
                                      <p:to>
                                        <p:strVal val="visible"/>
                                      </p:to>
                                    </p:set>
                                    <p:anim calcmode="lin" valueType="num">
                                      <p:cBhvr additive="base">
                                        <p:cTn id="45" dur="500" fill="hold"/>
                                        <p:tgtEl>
                                          <p:spTgt spid="19"/>
                                        </p:tgtEl>
                                        <p:attrNameLst>
                                          <p:attrName>ppt_x</p:attrName>
                                        </p:attrNameLst>
                                      </p:cBhvr>
                                      <p:tavLst>
                                        <p:tav tm="0">
                                          <p:val>
                                            <p:strVal val="#ppt_x"/>
                                          </p:val>
                                        </p:tav>
                                        <p:tav tm="100000">
                                          <p:val>
                                            <p:strVal val="#ppt_x"/>
                                          </p:val>
                                        </p:tav>
                                      </p:tavLst>
                                    </p:anim>
                                    <p:anim calcmode="lin" valueType="num">
                                      <p:cBhvr additive="base">
                                        <p:cTn id="46" dur="500" fill="hold"/>
                                        <p:tgtEl>
                                          <p:spTgt spid="19"/>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36"/>
                                        </p:tgtEl>
                                        <p:attrNameLst>
                                          <p:attrName>style.visibility</p:attrName>
                                        </p:attrNameLst>
                                      </p:cBhvr>
                                      <p:to>
                                        <p:strVal val="visible"/>
                                      </p:to>
                                    </p:set>
                                    <p:anim calcmode="lin" valueType="num">
                                      <p:cBhvr additive="base">
                                        <p:cTn id="49" dur="500" fill="hold"/>
                                        <p:tgtEl>
                                          <p:spTgt spid="36"/>
                                        </p:tgtEl>
                                        <p:attrNameLst>
                                          <p:attrName>ppt_x</p:attrName>
                                        </p:attrNameLst>
                                      </p:cBhvr>
                                      <p:tavLst>
                                        <p:tav tm="0">
                                          <p:val>
                                            <p:strVal val="#ppt_x"/>
                                          </p:val>
                                        </p:tav>
                                        <p:tav tm="100000">
                                          <p:val>
                                            <p:strVal val="#ppt_x"/>
                                          </p:val>
                                        </p:tav>
                                      </p:tavLst>
                                    </p:anim>
                                    <p:anim calcmode="lin" valueType="num">
                                      <p:cBhvr additive="base">
                                        <p:cTn id="50"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4">
            <a:extLst>
              <a:ext uri="{FF2B5EF4-FFF2-40B4-BE49-F238E27FC236}">
                <a16:creationId xmlns:a16="http://schemas.microsoft.com/office/drawing/2014/main" id="{A6D4A572-F24D-B9E9-5490-5495EE65ACF1}"/>
              </a:ext>
            </a:extLst>
          </p:cNvPr>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One Sample Hypothesis Testing for the Mean</a:t>
            </a:r>
          </a:p>
        </p:txBody>
      </p:sp>
      <p:pic>
        <p:nvPicPr>
          <p:cNvPr id="4" name="Picture 3">
            <a:extLst>
              <a:ext uri="{FF2B5EF4-FFF2-40B4-BE49-F238E27FC236}">
                <a16:creationId xmlns:a16="http://schemas.microsoft.com/office/drawing/2014/main" id="{FFF2530B-C1B2-CD87-5BC0-FB47FA528CF2}"/>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5" name="Picture 4">
            <a:extLst>
              <a:ext uri="{FF2B5EF4-FFF2-40B4-BE49-F238E27FC236}">
                <a16:creationId xmlns:a16="http://schemas.microsoft.com/office/drawing/2014/main" id="{DCBB52FF-5DD6-5BD1-2321-82BA41C72F3B}"/>
              </a:ext>
            </a:extLst>
          </p:cNvPr>
          <p:cNvPicPr>
            <a:picLocks noChangeAspect="1"/>
          </p:cNvPicPr>
          <p:nvPr/>
        </p:nvPicPr>
        <p:blipFill rotWithShape="1">
          <a:blip r:embed="rId3"/>
          <a:srcRect t="-1162" b="-13"/>
          <a:stretch/>
        </p:blipFill>
        <p:spPr>
          <a:xfrm>
            <a:off x="685800" y="1492169"/>
            <a:ext cx="7772400" cy="4698493"/>
          </a:xfrm>
          <a:prstGeom prst="rect">
            <a:avLst/>
          </a:prstGeom>
          <a:effectLst/>
        </p:spPr>
      </p:pic>
      <p:pic>
        <p:nvPicPr>
          <p:cNvPr id="6" name="Picture 5">
            <a:extLst>
              <a:ext uri="{FF2B5EF4-FFF2-40B4-BE49-F238E27FC236}">
                <a16:creationId xmlns:a16="http://schemas.microsoft.com/office/drawing/2014/main" id="{D094AC6C-86A6-6056-31B6-BB228D1D0B97}"/>
              </a:ext>
            </a:extLst>
          </p:cNvPr>
          <p:cNvPicPr>
            <a:picLocks noChangeAspect="1"/>
          </p:cNvPicPr>
          <p:nvPr/>
        </p:nvPicPr>
        <p:blipFill>
          <a:blip r:embed="rId4"/>
          <a:stretch>
            <a:fillRect/>
          </a:stretch>
        </p:blipFill>
        <p:spPr>
          <a:xfrm>
            <a:off x="2152765" y="6325565"/>
            <a:ext cx="852265" cy="360960"/>
          </a:xfrm>
          <a:prstGeom prst="rect">
            <a:avLst/>
          </a:prstGeom>
          <a:effectLst/>
        </p:spPr>
      </p:pic>
      <p:cxnSp>
        <p:nvCxnSpPr>
          <p:cNvPr id="7" name="Straight Connector 6">
            <a:extLst>
              <a:ext uri="{FF2B5EF4-FFF2-40B4-BE49-F238E27FC236}">
                <a16:creationId xmlns:a16="http://schemas.microsoft.com/office/drawing/2014/main" id="{36501F2A-F643-B1B9-DDFA-BFE78B7D2ADB}"/>
              </a:ext>
            </a:extLst>
          </p:cNvPr>
          <p:cNvCxnSpPr>
            <a:cxnSpLocks/>
          </p:cNvCxnSpPr>
          <p:nvPr/>
        </p:nvCxnSpPr>
        <p:spPr>
          <a:xfrm>
            <a:off x="4572000" y="6030410"/>
            <a:ext cx="0" cy="340934"/>
          </a:xfrm>
          <a:prstGeom prst="line">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8" name="Multiply 7">
            <a:extLst>
              <a:ext uri="{FF2B5EF4-FFF2-40B4-BE49-F238E27FC236}">
                <a16:creationId xmlns:a16="http://schemas.microsoft.com/office/drawing/2014/main" id="{67332EB4-603A-60D7-CDF5-075A27B6BB5B}"/>
              </a:ext>
            </a:extLst>
          </p:cNvPr>
          <p:cNvSpPr/>
          <p:nvPr/>
        </p:nvSpPr>
        <p:spPr>
          <a:xfrm>
            <a:off x="2024703" y="5931160"/>
            <a:ext cx="403665" cy="413472"/>
          </a:xfrm>
          <a:prstGeom prst="mathMultiply">
            <a:avLst>
              <a:gd name="adj1" fmla="val 5210"/>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F81CFA8-898C-E0D0-D92F-310BF90D7842}"/>
              </a:ext>
            </a:extLst>
          </p:cNvPr>
          <p:cNvPicPr>
            <a:picLocks noChangeAspect="1"/>
          </p:cNvPicPr>
          <p:nvPr/>
        </p:nvPicPr>
        <p:blipFill>
          <a:blip r:embed="rId5"/>
          <a:stretch>
            <a:fillRect/>
          </a:stretch>
        </p:blipFill>
        <p:spPr>
          <a:xfrm>
            <a:off x="4459748" y="6319983"/>
            <a:ext cx="1005158" cy="341961"/>
          </a:xfrm>
          <a:prstGeom prst="rect">
            <a:avLst/>
          </a:prstGeom>
          <a:effectLst/>
        </p:spPr>
      </p:pic>
      <p:cxnSp>
        <p:nvCxnSpPr>
          <p:cNvPr id="14" name="Straight Connector 13">
            <a:extLst>
              <a:ext uri="{FF2B5EF4-FFF2-40B4-BE49-F238E27FC236}">
                <a16:creationId xmlns:a16="http://schemas.microsoft.com/office/drawing/2014/main" id="{545A744C-AEED-BD34-F804-8D0C6DE7ACD6}"/>
              </a:ext>
            </a:extLst>
          </p:cNvPr>
          <p:cNvCxnSpPr>
            <a:cxnSpLocks/>
          </p:cNvCxnSpPr>
          <p:nvPr/>
        </p:nvCxnSpPr>
        <p:spPr>
          <a:xfrm>
            <a:off x="2408728" y="5361005"/>
            <a:ext cx="0" cy="831584"/>
          </a:xfrm>
          <a:prstGeom prst="line">
            <a:avLst/>
          </a:prstGeom>
          <a:ln>
            <a:prstDash val="dash"/>
          </a:ln>
          <a:effectLst/>
        </p:spPr>
        <p:style>
          <a:lnRef idx="2">
            <a:schemeClr val="accent1"/>
          </a:lnRef>
          <a:fillRef idx="0">
            <a:schemeClr val="accent1"/>
          </a:fillRef>
          <a:effectRef idx="1">
            <a:schemeClr val="accent1"/>
          </a:effectRef>
          <a:fontRef idx="minor">
            <a:schemeClr val="tx1"/>
          </a:fontRef>
        </p:style>
      </p:cxnSp>
      <p:pic>
        <p:nvPicPr>
          <p:cNvPr id="15" name="Picture 14">
            <a:extLst>
              <a:ext uri="{FF2B5EF4-FFF2-40B4-BE49-F238E27FC236}">
                <a16:creationId xmlns:a16="http://schemas.microsoft.com/office/drawing/2014/main" id="{C497CF97-EB4F-8AA4-6037-AC423E9FC966}"/>
              </a:ext>
            </a:extLst>
          </p:cNvPr>
          <p:cNvPicPr>
            <a:picLocks noChangeAspect="1"/>
          </p:cNvPicPr>
          <p:nvPr/>
        </p:nvPicPr>
        <p:blipFill>
          <a:blip r:embed="rId6"/>
          <a:stretch>
            <a:fillRect/>
          </a:stretch>
        </p:blipFill>
        <p:spPr>
          <a:xfrm>
            <a:off x="4044649" y="3290598"/>
            <a:ext cx="1081689" cy="347209"/>
          </a:xfrm>
          <a:prstGeom prst="rect">
            <a:avLst/>
          </a:prstGeom>
          <a:effectLst/>
        </p:spPr>
      </p:pic>
      <p:cxnSp>
        <p:nvCxnSpPr>
          <p:cNvPr id="18" name="Straight Connector 17">
            <a:extLst>
              <a:ext uri="{FF2B5EF4-FFF2-40B4-BE49-F238E27FC236}">
                <a16:creationId xmlns:a16="http://schemas.microsoft.com/office/drawing/2014/main" id="{0130F743-37BD-5A55-44A6-A44A45A22739}"/>
              </a:ext>
            </a:extLst>
          </p:cNvPr>
          <p:cNvCxnSpPr>
            <a:cxnSpLocks/>
          </p:cNvCxnSpPr>
          <p:nvPr/>
        </p:nvCxnSpPr>
        <p:spPr>
          <a:xfrm flipH="1">
            <a:off x="2225457" y="5546202"/>
            <a:ext cx="3132" cy="590445"/>
          </a:xfrm>
          <a:prstGeom prst="line">
            <a:avLst/>
          </a:prstGeom>
          <a:ln>
            <a:solidFill>
              <a:srgbClr val="00B050"/>
            </a:solidFill>
            <a:prstDash val="dash"/>
          </a:ln>
          <a:effectLst/>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5A57556F-243E-D7CA-71E0-06DE2A046DC1}"/>
              </a:ext>
            </a:extLst>
          </p:cNvPr>
          <p:cNvPicPr>
            <a:picLocks noChangeAspect="1"/>
          </p:cNvPicPr>
          <p:nvPr/>
        </p:nvPicPr>
        <p:blipFill>
          <a:blip r:embed="rId7"/>
          <a:stretch>
            <a:fillRect/>
          </a:stretch>
        </p:blipFill>
        <p:spPr>
          <a:xfrm>
            <a:off x="6605285" y="3155944"/>
            <a:ext cx="284002" cy="219456"/>
          </a:xfrm>
          <a:prstGeom prst="rect">
            <a:avLst/>
          </a:prstGeom>
          <a:effectLst/>
        </p:spPr>
      </p:pic>
      <p:cxnSp>
        <p:nvCxnSpPr>
          <p:cNvPr id="35" name="Straight Connector 34">
            <a:extLst>
              <a:ext uri="{FF2B5EF4-FFF2-40B4-BE49-F238E27FC236}">
                <a16:creationId xmlns:a16="http://schemas.microsoft.com/office/drawing/2014/main" id="{C8573183-70B5-FCA4-3733-1F614B235D9F}"/>
              </a:ext>
            </a:extLst>
          </p:cNvPr>
          <p:cNvCxnSpPr>
            <a:cxnSpLocks/>
          </p:cNvCxnSpPr>
          <p:nvPr/>
        </p:nvCxnSpPr>
        <p:spPr>
          <a:xfrm flipH="1">
            <a:off x="2280870" y="3442500"/>
            <a:ext cx="4363349" cy="2443819"/>
          </a:xfrm>
          <a:prstGeom prst="line">
            <a:avLst/>
          </a:prstGeom>
          <a:ln w="34925">
            <a:solidFill>
              <a:srgbClr val="0070C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12D78CD2-0AF4-959F-EA34-DB5747796E20}"/>
              </a:ext>
            </a:extLst>
          </p:cNvPr>
          <p:cNvCxnSpPr>
            <a:cxnSpLocks/>
          </p:cNvCxnSpPr>
          <p:nvPr/>
        </p:nvCxnSpPr>
        <p:spPr>
          <a:xfrm flipH="1">
            <a:off x="1805651" y="3396094"/>
            <a:ext cx="846527" cy="2646789"/>
          </a:xfrm>
          <a:prstGeom prst="line">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pic>
        <p:nvPicPr>
          <p:cNvPr id="19" name="Picture 18">
            <a:extLst>
              <a:ext uri="{FF2B5EF4-FFF2-40B4-BE49-F238E27FC236}">
                <a16:creationId xmlns:a16="http://schemas.microsoft.com/office/drawing/2014/main" id="{291D429C-4FDE-0B31-D99C-3A6721C43E5F}"/>
              </a:ext>
            </a:extLst>
          </p:cNvPr>
          <p:cNvPicPr>
            <a:picLocks noChangeAspect="1"/>
          </p:cNvPicPr>
          <p:nvPr/>
        </p:nvPicPr>
        <p:blipFill>
          <a:blip r:embed="rId8"/>
          <a:stretch>
            <a:fillRect/>
          </a:stretch>
        </p:blipFill>
        <p:spPr>
          <a:xfrm>
            <a:off x="182320" y="2808450"/>
            <a:ext cx="2952661" cy="744300"/>
          </a:xfrm>
          <a:prstGeom prst="rect">
            <a:avLst/>
          </a:prstGeom>
          <a:effectLst/>
        </p:spPr>
      </p:pic>
      <p:sp>
        <p:nvSpPr>
          <p:cNvPr id="2" name="TextBox 1">
            <a:extLst>
              <a:ext uri="{FF2B5EF4-FFF2-40B4-BE49-F238E27FC236}">
                <a16:creationId xmlns:a16="http://schemas.microsoft.com/office/drawing/2014/main" id="{B0914061-0FBD-CAA5-C07B-2082D9433A24}"/>
              </a:ext>
            </a:extLst>
          </p:cNvPr>
          <p:cNvSpPr txBox="1"/>
          <p:nvPr/>
        </p:nvSpPr>
        <p:spPr>
          <a:xfrm>
            <a:off x="5899531" y="1831849"/>
            <a:ext cx="3128719" cy="646331"/>
          </a:xfrm>
          <a:prstGeom prst="rect">
            <a:avLst/>
          </a:prstGeom>
          <a:noFill/>
          <a:effectLst/>
        </p:spPr>
        <p:txBody>
          <a:bodyPr wrap="square" rtlCol="0">
            <a:spAutoFit/>
          </a:bodyPr>
          <a:lstStyle/>
          <a:p>
            <a:r>
              <a:rPr lang="en-US" dirty="0">
                <a:latin typeface="Times New Roman"/>
                <a:cs typeface="Times New Roman"/>
              </a:rPr>
              <a:t>We will use </a:t>
            </a:r>
            <a:r>
              <a:rPr lang="en-US" b="1" dirty="0" err="1">
                <a:latin typeface="Courier"/>
                <a:cs typeface="Courier"/>
              </a:rPr>
              <a:t>t.test</a:t>
            </a:r>
            <a:r>
              <a:rPr lang="en-US" b="1" dirty="0">
                <a:latin typeface="Courier"/>
                <a:cs typeface="Courier"/>
              </a:rPr>
              <a:t>()</a:t>
            </a:r>
            <a:r>
              <a:rPr lang="en-US" dirty="0">
                <a:latin typeface="Times New Roman"/>
                <a:cs typeface="Times New Roman"/>
              </a:rPr>
              <a:t> to take care of the whole process</a:t>
            </a:r>
          </a:p>
        </p:txBody>
      </p:sp>
      <p:pic>
        <p:nvPicPr>
          <p:cNvPr id="12" name="Picture 11">
            <a:extLst>
              <a:ext uri="{FF2B5EF4-FFF2-40B4-BE49-F238E27FC236}">
                <a16:creationId xmlns:a16="http://schemas.microsoft.com/office/drawing/2014/main" id="{CCCF5697-F6F8-2A63-E1D1-96202C468070}"/>
              </a:ext>
            </a:extLst>
          </p:cNvPr>
          <p:cNvPicPr>
            <a:picLocks noChangeAspect="1"/>
          </p:cNvPicPr>
          <p:nvPr/>
        </p:nvPicPr>
        <p:blipFill>
          <a:blip r:embed="rId9"/>
          <a:stretch>
            <a:fillRect/>
          </a:stretch>
        </p:blipFill>
        <p:spPr>
          <a:xfrm>
            <a:off x="451412" y="1457543"/>
            <a:ext cx="1972438" cy="376245"/>
          </a:xfrm>
          <a:prstGeom prst="rect">
            <a:avLst/>
          </a:prstGeom>
          <a:effectLst/>
        </p:spPr>
      </p:pic>
      <p:pic>
        <p:nvPicPr>
          <p:cNvPr id="16" name="Picture 15">
            <a:extLst>
              <a:ext uri="{FF2B5EF4-FFF2-40B4-BE49-F238E27FC236}">
                <a16:creationId xmlns:a16="http://schemas.microsoft.com/office/drawing/2014/main" id="{789CBA96-4DA6-D73C-61EB-185769F7159D}"/>
              </a:ext>
            </a:extLst>
          </p:cNvPr>
          <p:cNvPicPr>
            <a:picLocks noChangeAspect="1"/>
          </p:cNvPicPr>
          <p:nvPr/>
        </p:nvPicPr>
        <p:blipFill>
          <a:blip r:embed="rId10"/>
          <a:stretch>
            <a:fillRect/>
          </a:stretch>
        </p:blipFill>
        <p:spPr>
          <a:xfrm>
            <a:off x="439964" y="2017891"/>
            <a:ext cx="1983837" cy="376245"/>
          </a:xfrm>
          <a:prstGeom prst="rect">
            <a:avLst/>
          </a:prstGeom>
          <a:effectLst/>
        </p:spPr>
      </p:pic>
    </p:spTree>
    <p:extLst>
      <p:ext uri="{BB962C8B-B14F-4D97-AF65-F5344CB8AC3E}">
        <p14:creationId xmlns:p14="http://schemas.microsoft.com/office/powerpoint/2010/main" val="398907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500" fill="hold"/>
                                        <p:tgtEl>
                                          <p:spTgt spid="15"/>
                                        </p:tgtEl>
                                        <p:attrNameLst>
                                          <p:attrName>ppt_x</p:attrName>
                                        </p:attrNameLst>
                                      </p:cBhvr>
                                      <p:tavLst>
                                        <p:tav tm="0">
                                          <p:val>
                                            <p:strVal val="#ppt_x"/>
                                          </p:val>
                                        </p:tav>
                                        <p:tav tm="100000">
                                          <p:val>
                                            <p:strVal val="#ppt_x"/>
                                          </p:val>
                                        </p:tav>
                                      </p:tavLst>
                                    </p:anim>
                                    <p:anim calcmode="lin" valueType="num">
                                      <p:cBhvr additive="base">
                                        <p:cTn id="18" dur="5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anim calcmode="lin" valueType="num">
                                      <p:cBhvr additive="base">
                                        <p:cTn id="21" dur="500" fill="hold"/>
                                        <p:tgtEl>
                                          <p:spTgt spid="14"/>
                                        </p:tgtEl>
                                        <p:attrNameLst>
                                          <p:attrName>ppt_x</p:attrName>
                                        </p:attrNameLst>
                                      </p:cBhvr>
                                      <p:tavLst>
                                        <p:tav tm="0">
                                          <p:val>
                                            <p:strVal val="#ppt_x"/>
                                          </p:val>
                                        </p:tav>
                                        <p:tav tm="100000">
                                          <p:val>
                                            <p:strVal val="#ppt_x"/>
                                          </p:val>
                                        </p:tav>
                                      </p:tavLst>
                                    </p:anim>
                                    <p:anim calcmode="lin" valueType="num">
                                      <p:cBhvr additive="base">
                                        <p:cTn id="22" dur="500" fill="hold"/>
                                        <p:tgtEl>
                                          <p:spTgt spid="14"/>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anim calcmode="lin" valueType="num">
                                      <p:cBhvr additive="base">
                                        <p:cTn id="25" dur="500" fill="hold"/>
                                        <p:tgtEl>
                                          <p:spTgt spid="35"/>
                                        </p:tgtEl>
                                        <p:attrNameLst>
                                          <p:attrName>ppt_x</p:attrName>
                                        </p:attrNameLst>
                                      </p:cBhvr>
                                      <p:tavLst>
                                        <p:tav tm="0">
                                          <p:val>
                                            <p:strVal val="#ppt_x"/>
                                          </p:val>
                                        </p:tav>
                                        <p:tav tm="100000">
                                          <p:val>
                                            <p:strVal val="#ppt_x"/>
                                          </p:val>
                                        </p:tav>
                                      </p:tavLst>
                                    </p:anim>
                                    <p:anim calcmode="lin" valueType="num">
                                      <p:cBhvr additive="base">
                                        <p:cTn id="26" dur="500" fill="hold"/>
                                        <p:tgtEl>
                                          <p:spTgt spid="3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 calcmode="lin" valueType="num">
                                      <p:cBhvr additive="base">
                                        <p:cTn id="29" dur="500" fill="hold"/>
                                        <p:tgtEl>
                                          <p:spTgt spid="34"/>
                                        </p:tgtEl>
                                        <p:attrNameLst>
                                          <p:attrName>ppt_x</p:attrName>
                                        </p:attrNameLst>
                                      </p:cBhvr>
                                      <p:tavLst>
                                        <p:tav tm="0">
                                          <p:val>
                                            <p:strVal val="#ppt_x"/>
                                          </p:val>
                                        </p:tav>
                                        <p:tav tm="100000">
                                          <p:val>
                                            <p:strVal val="#ppt_x"/>
                                          </p:val>
                                        </p:tav>
                                      </p:tavLst>
                                    </p:anim>
                                    <p:anim calcmode="lin" valueType="num">
                                      <p:cBhvr additive="base">
                                        <p:cTn id="3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nodeType="clickEffect">
                                  <p:stCondLst>
                                    <p:cond delay="0"/>
                                  </p:stCondLst>
                                  <p:childTnLst>
                                    <p:anim calcmode="lin" valueType="num">
                                      <p:cBhvr additive="base">
                                        <p:cTn id="34" dur="500"/>
                                        <p:tgtEl>
                                          <p:spTgt spid="15"/>
                                        </p:tgtEl>
                                        <p:attrNameLst>
                                          <p:attrName>ppt_x</p:attrName>
                                        </p:attrNameLst>
                                      </p:cBhvr>
                                      <p:tavLst>
                                        <p:tav tm="0">
                                          <p:val>
                                            <p:strVal val="ppt_x"/>
                                          </p:val>
                                        </p:tav>
                                        <p:tav tm="100000">
                                          <p:val>
                                            <p:strVal val="ppt_x"/>
                                          </p:val>
                                        </p:tav>
                                      </p:tavLst>
                                    </p:anim>
                                    <p:anim calcmode="lin" valueType="num">
                                      <p:cBhvr additive="base">
                                        <p:cTn id="35" dur="500"/>
                                        <p:tgtEl>
                                          <p:spTgt spid="15"/>
                                        </p:tgtEl>
                                        <p:attrNameLst>
                                          <p:attrName>ppt_y</p:attrName>
                                        </p:attrNameLst>
                                      </p:cBhvr>
                                      <p:tavLst>
                                        <p:tav tm="0">
                                          <p:val>
                                            <p:strVal val="ppt_y"/>
                                          </p:val>
                                        </p:tav>
                                        <p:tav tm="100000">
                                          <p:val>
                                            <p:strVal val="1+ppt_h/2"/>
                                          </p:val>
                                        </p:tav>
                                      </p:tavLst>
                                    </p:anim>
                                    <p:set>
                                      <p:cBhvr>
                                        <p:cTn id="36" dur="1" fill="hold">
                                          <p:stCondLst>
                                            <p:cond delay="499"/>
                                          </p:stCondLst>
                                        </p:cTn>
                                        <p:tgtEl>
                                          <p:spTgt spid="15"/>
                                        </p:tgtEl>
                                        <p:attrNameLst>
                                          <p:attrName>style.visibility</p:attrName>
                                        </p:attrNameLst>
                                      </p:cBhvr>
                                      <p:to>
                                        <p:strVal val="hidden"/>
                                      </p:to>
                                    </p:set>
                                  </p:childTnLst>
                                </p:cTn>
                              </p:par>
                              <p:par>
                                <p:cTn id="37" presetID="2" presetClass="entr" presetSubtype="4"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500" fill="hold"/>
                                        <p:tgtEl>
                                          <p:spTgt spid="18"/>
                                        </p:tgtEl>
                                        <p:attrNameLst>
                                          <p:attrName>ppt_x</p:attrName>
                                        </p:attrNameLst>
                                      </p:cBhvr>
                                      <p:tavLst>
                                        <p:tav tm="0">
                                          <p:val>
                                            <p:strVal val="#ppt_x"/>
                                          </p:val>
                                        </p:tav>
                                        <p:tav tm="100000">
                                          <p:val>
                                            <p:strVal val="#ppt_x"/>
                                          </p:val>
                                        </p:tav>
                                      </p:tavLst>
                                    </p:anim>
                                    <p:anim calcmode="lin" valueType="num">
                                      <p:cBhvr additive="base">
                                        <p:cTn id="40" dur="500" fill="hold"/>
                                        <p:tgtEl>
                                          <p:spTgt spid="18"/>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500" fill="hold"/>
                                        <p:tgtEl>
                                          <p:spTgt spid="19"/>
                                        </p:tgtEl>
                                        <p:attrNameLst>
                                          <p:attrName>ppt_x</p:attrName>
                                        </p:attrNameLst>
                                      </p:cBhvr>
                                      <p:tavLst>
                                        <p:tav tm="0">
                                          <p:val>
                                            <p:strVal val="#ppt_x"/>
                                          </p:val>
                                        </p:tav>
                                        <p:tav tm="100000">
                                          <p:val>
                                            <p:strVal val="#ppt_x"/>
                                          </p:val>
                                        </p:tav>
                                      </p:tavLst>
                                    </p:anim>
                                    <p:anim calcmode="lin" valueType="num">
                                      <p:cBhvr additive="base">
                                        <p:cTn id="48"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2"/>
                                        </p:tgtEl>
                                        <p:attrNameLst>
                                          <p:attrName>style.visibility</p:attrName>
                                        </p:attrNameLst>
                                      </p:cBhvr>
                                      <p:to>
                                        <p:strVal val="visible"/>
                                      </p:to>
                                    </p:set>
                                    <p:anim calcmode="lin" valueType="num">
                                      <p:cBhvr additive="base">
                                        <p:cTn id="53" dur="500" fill="hold"/>
                                        <p:tgtEl>
                                          <p:spTgt spid="2"/>
                                        </p:tgtEl>
                                        <p:attrNameLst>
                                          <p:attrName>ppt_x</p:attrName>
                                        </p:attrNameLst>
                                      </p:cBhvr>
                                      <p:tavLst>
                                        <p:tav tm="0">
                                          <p:val>
                                            <p:strVal val="#ppt_x"/>
                                          </p:val>
                                        </p:tav>
                                        <p:tav tm="100000">
                                          <p:val>
                                            <p:strVal val="#ppt_x"/>
                                          </p:val>
                                        </p:tav>
                                      </p:tavLst>
                                    </p:anim>
                                    <p:anim calcmode="lin" valueType="num">
                                      <p:cBhvr additive="base">
                                        <p:cTn id="5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86241" y="1121555"/>
            <a:ext cx="8520313" cy="369332"/>
          </a:xfrm>
          <a:prstGeom prst="rect">
            <a:avLst/>
          </a:prstGeom>
        </p:spPr>
        <p:txBody>
          <a:bodyPr wrap="square">
            <a:spAutoFit/>
          </a:bodyPr>
          <a:lstStyle/>
          <a:p>
            <a:r>
              <a:rPr lang="en-US" dirty="0">
                <a:latin typeface="Times New Roman"/>
                <a:cs typeface="Times New Roman"/>
              </a:rPr>
              <a:t>Consider again the case of Mr. B. Mayhew with seizure mass (in grams) measurements of:</a:t>
            </a:r>
          </a:p>
        </p:txBody>
      </p:sp>
      <p:sp>
        <p:nvSpPr>
          <p:cNvPr id="4" name="Rectangle 3"/>
          <p:cNvSpPr/>
          <p:nvPr/>
        </p:nvSpPr>
        <p:spPr>
          <a:xfrm>
            <a:off x="231775" y="2031787"/>
            <a:ext cx="8839200" cy="646331"/>
          </a:xfrm>
          <a:prstGeom prst="rect">
            <a:avLst/>
          </a:prstGeom>
        </p:spPr>
        <p:txBody>
          <a:bodyPr wrap="square">
            <a:spAutoFit/>
          </a:bodyPr>
          <a:lstStyle/>
          <a:p>
            <a:r>
              <a:rPr lang="en-US" dirty="0">
                <a:latin typeface="Times New Roman"/>
                <a:cs typeface="Times New Roman"/>
              </a:rPr>
              <a:t>49.9996, 49.9994, 49.9993, 49.9996, 49.9995, 49.9995,49.9995, 49.9994, 49.9995, 49.9994 </a:t>
            </a:r>
            <a:endParaRPr lang="en-US" dirty="0"/>
          </a:p>
          <a:p>
            <a:endParaRPr lang="en-US" dirty="0">
              <a:latin typeface="Times New Roman"/>
              <a:cs typeface="Times New Roman"/>
            </a:endParaRPr>
          </a:p>
        </p:txBody>
      </p:sp>
      <p:sp>
        <p:nvSpPr>
          <p:cNvPr id="6" name="Rectangle 4"/>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One Sample Hypothesis Testing for the Mean</a:t>
            </a:r>
          </a:p>
        </p:txBody>
      </p:sp>
      <p:pic>
        <p:nvPicPr>
          <p:cNvPr id="7" name="Picture 6"/>
          <p:cNvPicPr>
            <a:picLocks noChangeAspect="1" noChangeArrowheads="1"/>
          </p:cNvPicPr>
          <p:nvPr/>
        </p:nvPicPr>
        <p:blipFill>
          <a:blip r:embed="rId3" cstate="print"/>
          <a:srcRect/>
          <a:stretch>
            <a:fillRect/>
          </a:stretch>
        </p:blipFill>
        <p:spPr bwMode="auto">
          <a:xfrm>
            <a:off x="484188" y="76200"/>
            <a:ext cx="8202612" cy="239712"/>
          </a:xfrm>
          <a:prstGeom prst="rect">
            <a:avLst/>
          </a:prstGeom>
          <a:noFill/>
          <a:ln w="9525">
            <a:noFill/>
            <a:round/>
            <a:headEnd/>
            <a:tailEnd/>
          </a:ln>
        </p:spPr>
      </p:pic>
      <p:sp>
        <p:nvSpPr>
          <p:cNvPr id="8" name="Rectangle 7"/>
          <p:cNvSpPr/>
          <p:nvPr/>
        </p:nvSpPr>
        <p:spPr>
          <a:xfrm>
            <a:off x="304776" y="3411728"/>
            <a:ext cx="8520313" cy="923330"/>
          </a:xfrm>
          <a:prstGeom prst="rect">
            <a:avLst/>
          </a:prstGeom>
        </p:spPr>
        <p:txBody>
          <a:bodyPr wrap="square">
            <a:spAutoFit/>
          </a:bodyPr>
          <a:lstStyle/>
          <a:p>
            <a:pPr marL="342900" indent="-342900">
              <a:buAutoNum type="alphaLcPeriod"/>
            </a:pPr>
            <a:r>
              <a:rPr lang="en-US" dirty="0">
                <a:latin typeface="Times New Roman"/>
                <a:cs typeface="Times New Roman"/>
              </a:rPr>
              <a:t>Do a 95% confidence hypothesis test to test if (Ha)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 (H</a:t>
            </a:r>
            <a:r>
              <a:rPr lang="en-US" baseline="-25000" dirty="0">
                <a:latin typeface="Times New Roman"/>
                <a:cs typeface="Times New Roman"/>
              </a:rPr>
              <a:t>a</a:t>
            </a:r>
            <a:r>
              <a:rPr lang="en-US" dirty="0">
                <a:latin typeface="Times New Roman"/>
                <a:cs typeface="Times New Roman"/>
              </a:rPr>
              <a:t>). </a:t>
            </a:r>
          </a:p>
          <a:p>
            <a:pPr marL="342900" indent="-342900">
              <a:buAutoNum type="alphaLcPeriod"/>
            </a:pPr>
            <a:r>
              <a:rPr lang="en-US" dirty="0">
                <a:latin typeface="Times New Roman"/>
                <a:cs typeface="Times New Roman"/>
              </a:rPr>
              <a:t>Do a 95% confidence hypothesis test to test if (Ha)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&lt; 50.000g (H</a:t>
            </a:r>
            <a:r>
              <a:rPr lang="en-US" baseline="-25000" dirty="0">
                <a:latin typeface="Times New Roman"/>
                <a:cs typeface="Times New Roman"/>
              </a:rPr>
              <a:t>a</a:t>
            </a:r>
            <a:r>
              <a:rPr lang="en-US" dirty="0">
                <a:latin typeface="Times New Roman"/>
                <a:cs typeface="Times New Roman"/>
              </a:rPr>
              <a:t>). </a:t>
            </a:r>
          </a:p>
          <a:p>
            <a:pPr marL="342900" indent="-342900">
              <a:buAutoNum type="alphaLcPeriod"/>
            </a:pPr>
            <a:r>
              <a:rPr lang="en-US" dirty="0">
                <a:latin typeface="Times New Roman"/>
                <a:cs typeface="Times New Roman"/>
              </a:rPr>
              <a:t>Do a 95% confidence hypothesis test to test if (Ha)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&gt; 50.000g (H</a:t>
            </a:r>
            <a:r>
              <a:rPr lang="en-US" baseline="-25000" dirty="0">
                <a:latin typeface="Times New Roman"/>
                <a:cs typeface="Times New Roman"/>
              </a:rPr>
              <a:t>a</a:t>
            </a:r>
            <a:r>
              <a:rPr lang="en-US" dirty="0">
                <a:latin typeface="Times New Roman"/>
                <a:cs typeface="Times New Roman"/>
              </a:rPr>
              <a:t>). </a:t>
            </a:r>
          </a:p>
        </p:txBody>
      </p:sp>
    </p:spTree>
    <p:extLst>
      <p:ext uri="{BB962C8B-B14F-4D97-AF65-F5344CB8AC3E}">
        <p14:creationId xmlns:p14="http://schemas.microsoft.com/office/powerpoint/2010/main" val="14901264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9A36C394-A8A2-AA3E-33A0-8BC1BB6AFC2A}"/>
              </a:ext>
            </a:extLst>
          </p:cNvPr>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Let’s Start by Doing a Hypothesis Test By Hand</a:t>
            </a:r>
          </a:p>
        </p:txBody>
      </p:sp>
      <p:pic>
        <p:nvPicPr>
          <p:cNvPr id="5" name="Picture 4">
            <a:extLst>
              <a:ext uri="{FF2B5EF4-FFF2-40B4-BE49-F238E27FC236}">
                <a16:creationId xmlns:a16="http://schemas.microsoft.com/office/drawing/2014/main" id="{84E67921-D6AA-CF71-97A8-100C37B400D6}"/>
              </a:ext>
            </a:extLst>
          </p:cNvPr>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p:spPr>
      </p:pic>
      <p:sp>
        <p:nvSpPr>
          <p:cNvPr id="7" name="TextBox 6">
            <a:extLst>
              <a:ext uri="{FF2B5EF4-FFF2-40B4-BE49-F238E27FC236}">
                <a16:creationId xmlns:a16="http://schemas.microsoft.com/office/drawing/2014/main" id="{5C05E9EE-BF8B-57D9-BAB0-8E09508C24DC}"/>
              </a:ext>
            </a:extLst>
          </p:cNvPr>
          <p:cNvSpPr txBox="1"/>
          <p:nvPr/>
        </p:nvSpPr>
        <p:spPr>
          <a:xfrm>
            <a:off x="231775" y="1287682"/>
            <a:ext cx="8069580" cy="646331"/>
          </a:xfrm>
          <a:prstGeom prst="rect">
            <a:avLst/>
          </a:prstGeom>
          <a:noFill/>
        </p:spPr>
        <p:txBody>
          <a:bodyPr wrap="square">
            <a:spAutoFit/>
          </a:bodyPr>
          <a:lstStyle/>
          <a:p>
            <a:r>
              <a:rPr lang="en-US" dirty="0">
                <a:latin typeface="Times New Roman"/>
                <a:cs typeface="Times New Roman"/>
              </a:rPr>
              <a:t>Assuming H0: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 test at the 95% level of confidence if there is evidence that Ha: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 </a:t>
            </a:r>
            <a:endParaRPr lang="en-US" dirty="0"/>
          </a:p>
        </p:txBody>
      </p:sp>
      <p:sp>
        <p:nvSpPr>
          <p:cNvPr id="8" name="Rectangle 7">
            <a:extLst>
              <a:ext uri="{FF2B5EF4-FFF2-40B4-BE49-F238E27FC236}">
                <a16:creationId xmlns:a16="http://schemas.microsoft.com/office/drawing/2014/main" id="{017550B1-6A1D-D275-8813-6DE218E7A18C}"/>
              </a:ext>
            </a:extLst>
          </p:cNvPr>
          <p:cNvSpPr/>
          <p:nvPr/>
        </p:nvSpPr>
        <p:spPr>
          <a:xfrm>
            <a:off x="315619" y="2210633"/>
            <a:ext cx="8539749" cy="2631490"/>
          </a:xfrm>
          <a:prstGeom prst="rect">
            <a:avLst/>
          </a:prstGeom>
          <a:solidFill>
            <a:srgbClr val="000C78"/>
          </a:solidFill>
        </p:spPr>
        <p:txBody>
          <a:bodyPr wrap="square">
            <a:spAutoFit/>
          </a:bodyPr>
          <a:lstStyle/>
          <a:p>
            <a:r>
              <a:rPr lang="en-US" sz="1100" dirty="0">
                <a:solidFill>
                  <a:srgbClr val="FFFF00"/>
                </a:solidFill>
                <a:latin typeface="Courier"/>
                <a:cs typeface="Courier"/>
              </a:rPr>
              <a:t># Two-sided test</a:t>
            </a:r>
          </a:p>
          <a:p>
            <a:r>
              <a:rPr lang="en-US" sz="1100" dirty="0">
                <a:solidFill>
                  <a:srgbClr val="FFFF00"/>
                </a:solidFill>
                <a:latin typeface="Courier"/>
                <a:cs typeface="Courier"/>
              </a:rPr>
              <a:t># H0:mu=50 vs. </a:t>
            </a:r>
            <a:r>
              <a:rPr lang="en-US" sz="1100" dirty="0" err="1">
                <a:solidFill>
                  <a:srgbClr val="FFFF00"/>
                </a:solidFill>
                <a:latin typeface="Courier"/>
                <a:cs typeface="Courier"/>
              </a:rPr>
              <a:t>Ha:mu</a:t>
            </a:r>
            <a:r>
              <a:rPr lang="en-US" sz="1100" dirty="0">
                <a:solidFill>
                  <a:srgbClr val="FFFF00"/>
                </a:solidFill>
                <a:latin typeface="Courier"/>
                <a:cs typeface="Courier"/>
              </a:rPr>
              <a:t>!=50</a:t>
            </a:r>
          </a:p>
          <a:p>
            <a:r>
              <a:rPr lang="en-US" sz="1100" dirty="0">
                <a:solidFill>
                  <a:schemeClr val="bg1"/>
                </a:solidFill>
                <a:latin typeface="Courier"/>
                <a:cs typeface="Courier"/>
              </a:rPr>
              <a:t>x    &lt;- c(49.9996, 49.9994, 49.9993, 49.9996, 49.9995, 49.9995,49.9995, 49.9994, 49.9995, 49.9994)</a:t>
            </a:r>
          </a:p>
          <a:p>
            <a:r>
              <a:rPr lang="en-US" sz="1100" dirty="0">
                <a:solidFill>
                  <a:schemeClr val="bg1"/>
                </a:solidFill>
                <a:latin typeface="Courier"/>
                <a:cs typeface="Courier"/>
              </a:rPr>
              <a:t>mu   &lt;- 50   </a:t>
            </a:r>
            <a:r>
              <a:rPr lang="en-US" sz="1100" dirty="0">
                <a:solidFill>
                  <a:srgbClr val="FFFF00"/>
                </a:solidFill>
                <a:latin typeface="Courier"/>
                <a:cs typeface="Courier"/>
              </a:rPr>
              <a:t># mu for H0</a:t>
            </a:r>
          </a:p>
          <a:p>
            <a:r>
              <a:rPr lang="en-US" sz="1100" dirty="0">
                <a:solidFill>
                  <a:schemeClr val="bg1"/>
                </a:solidFill>
                <a:latin typeface="Courier"/>
                <a:cs typeface="Courier"/>
              </a:rPr>
              <a:t>conf &lt;- 0.95 </a:t>
            </a:r>
            <a:r>
              <a:rPr lang="en-US" sz="1100" dirty="0">
                <a:solidFill>
                  <a:srgbClr val="FFFF00"/>
                </a:solidFill>
                <a:latin typeface="Courier"/>
                <a:cs typeface="Courier"/>
              </a:rPr>
              <a:t># chosen confidence level</a:t>
            </a:r>
          </a:p>
          <a:p>
            <a:endParaRPr lang="en-US" sz="1100" dirty="0">
              <a:solidFill>
                <a:schemeClr val="bg1"/>
              </a:solidFill>
              <a:latin typeface="Courier"/>
              <a:cs typeface="Courier"/>
            </a:endParaRPr>
          </a:p>
          <a:p>
            <a:r>
              <a:rPr lang="en-US" sz="1100" dirty="0">
                <a:solidFill>
                  <a:srgbClr val="FFFF00"/>
                </a:solidFill>
                <a:latin typeface="Courier"/>
                <a:cs typeface="Courier"/>
              </a:rPr>
              <a:t># Ingredients we need for the t-test:</a:t>
            </a:r>
          </a:p>
          <a:p>
            <a:r>
              <a:rPr lang="en-US" sz="1100" dirty="0" err="1">
                <a:solidFill>
                  <a:schemeClr val="bg1"/>
                </a:solidFill>
                <a:latin typeface="Courier"/>
                <a:cs typeface="Courier"/>
              </a:rPr>
              <a:t>xbar</a:t>
            </a:r>
            <a:r>
              <a:rPr lang="en-US" sz="1100" dirty="0">
                <a:solidFill>
                  <a:schemeClr val="bg1"/>
                </a:solidFill>
                <a:latin typeface="Courier"/>
                <a:cs typeface="Courier"/>
              </a:rPr>
              <a:t> &lt;- mean(x)</a:t>
            </a:r>
          </a:p>
          <a:p>
            <a:r>
              <a:rPr lang="en-US" sz="1100" dirty="0" err="1">
                <a:solidFill>
                  <a:schemeClr val="bg1"/>
                </a:solidFill>
                <a:latin typeface="Courier"/>
                <a:cs typeface="Courier"/>
              </a:rPr>
              <a:t>sdx</a:t>
            </a:r>
            <a:r>
              <a:rPr lang="en-US" sz="1100" dirty="0">
                <a:solidFill>
                  <a:schemeClr val="bg1"/>
                </a:solidFill>
                <a:latin typeface="Courier"/>
                <a:cs typeface="Courier"/>
              </a:rPr>
              <a:t>  &lt;- </a:t>
            </a:r>
            <a:r>
              <a:rPr lang="en-US" sz="1100" dirty="0" err="1">
                <a:solidFill>
                  <a:schemeClr val="bg1"/>
                </a:solidFill>
                <a:latin typeface="Courier"/>
                <a:cs typeface="Courier"/>
              </a:rPr>
              <a:t>sd</a:t>
            </a:r>
            <a:r>
              <a:rPr lang="en-US" sz="1100" dirty="0">
                <a:solidFill>
                  <a:schemeClr val="bg1"/>
                </a:solidFill>
                <a:latin typeface="Courier"/>
                <a:cs typeface="Courier"/>
              </a:rPr>
              <a:t>(x)</a:t>
            </a:r>
          </a:p>
          <a:p>
            <a:r>
              <a:rPr lang="en-US" sz="1100" dirty="0">
                <a:solidFill>
                  <a:schemeClr val="bg1"/>
                </a:solidFill>
                <a:latin typeface="Courier"/>
                <a:cs typeface="Courier"/>
              </a:rPr>
              <a:t>n    &lt;- length(x)</a:t>
            </a:r>
          </a:p>
          <a:p>
            <a:r>
              <a:rPr lang="en-US" sz="1100" dirty="0">
                <a:solidFill>
                  <a:schemeClr val="bg1"/>
                </a:solidFill>
                <a:latin typeface="Courier"/>
                <a:cs typeface="Courier"/>
              </a:rPr>
              <a:t>se   &lt;- </a:t>
            </a:r>
            <a:r>
              <a:rPr lang="en-US" sz="1100" dirty="0" err="1">
                <a:solidFill>
                  <a:schemeClr val="bg1"/>
                </a:solidFill>
                <a:latin typeface="Courier"/>
                <a:cs typeface="Courier"/>
              </a:rPr>
              <a:t>sdx</a:t>
            </a:r>
            <a:r>
              <a:rPr lang="en-US" sz="1100" dirty="0">
                <a:solidFill>
                  <a:schemeClr val="bg1"/>
                </a:solidFill>
                <a:latin typeface="Courier"/>
                <a:cs typeface="Courier"/>
              </a:rPr>
              <a:t>/sqrt(n)</a:t>
            </a:r>
          </a:p>
          <a:p>
            <a:r>
              <a:rPr lang="en-US" sz="1100" dirty="0">
                <a:solidFill>
                  <a:schemeClr val="bg1"/>
                </a:solidFill>
                <a:latin typeface="Courier"/>
                <a:cs typeface="Courier"/>
              </a:rPr>
              <a:t>alp  &lt;- 1-conf</a:t>
            </a:r>
          </a:p>
          <a:p>
            <a:endParaRPr lang="en-US" sz="1100" dirty="0">
              <a:solidFill>
                <a:schemeClr val="bg1"/>
              </a:solidFill>
              <a:latin typeface="Courier"/>
              <a:cs typeface="Courier"/>
            </a:endParaRPr>
          </a:p>
          <a:p>
            <a:r>
              <a:rPr lang="en-US" sz="1100" dirty="0" err="1">
                <a:solidFill>
                  <a:schemeClr val="bg1"/>
                </a:solidFill>
                <a:latin typeface="Courier"/>
                <a:cs typeface="Courier"/>
              </a:rPr>
              <a:t>t.samp</a:t>
            </a:r>
            <a:r>
              <a:rPr lang="en-US" sz="1100" dirty="0">
                <a:solidFill>
                  <a:schemeClr val="bg1"/>
                </a:solidFill>
                <a:latin typeface="Courier"/>
                <a:cs typeface="Courier"/>
              </a:rPr>
              <a:t> &lt;- (</a:t>
            </a:r>
            <a:r>
              <a:rPr lang="en-US" sz="1100" dirty="0" err="1">
                <a:solidFill>
                  <a:schemeClr val="bg1"/>
                </a:solidFill>
                <a:latin typeface="Courier"/>
                <a:cs typeface="Courier"/>
              </a:rPr>
              <a:t>xbar</a:t>
            </a:r>
            <a:r>
              <a:rPr lang="en-US" sz="1100" dirty="0">
                <a:solidFill>
                  <a:schemeClr val="bg1"/>
                </a:solidFill>
                <a:latin typeface="Courier"/>
                <a:cs typeface="Courier"/>
              </a:rPr>
              <a:t> - mu)/se         </a:t>
            </a:r>
            <a:r>
              <a:rPr lang="en-US" sz="1100" dirty="0">
                <a:solidFill>
                  <a:srgbClr val="FFFF00"/>
                </a:solidFill>
                <a:latin typeface="Courier"/>
                <a:cs typeface="Courier"/>
              </a:rPr>
              <a:t># sample's t-statistic</a:t>
            </a:r>
          </a:p>
          <a:p>
            <a:r>
              <a:rPr lang="en-US" sz="1100" dirty="0">
                <a:solidFill>
                  <a:schemeClr val="bg1"/>
                </a:solidFill>
                <a:latin typeface="Courier"/>
                <a:cs typeface="Courier"/>
              </a:rPr>
              <a:t>2*pt(q = -abs(</a:t>
            </a:r>
            <a:r>
              <a:rPr lang="en-US" sz="1100" dirty="0" err="1">
                <a:solidFill>
                  <a:schemeClr val="bg1"/>
                </a:solidFill>
                <a:latin typeface="Courier"/>
                <a:cs typeface="Courier"/>
              </a:rPr>
              <a:t>t.samp</a:t>
            </a:r>
            <a:r>
              <a:rPr lang="en-US" sz="1100" dirty="0">
                <a:solidFill>
                  <a:schemeClr val="bg1"/>
                </a:solidFill>
                <a:latin typeface="Courier"/>
                <a:cs typeface="Courier"/>
              </a:rPr>
              <a:t>), </a:t>
            </a:r>
            <a:r>
              <a:rPr lang="en-US" sz="1100" dirty="0" err="1">
                <a:solidFill>
                  <a:schemeClr val="bg1"/>
                </a:solidFill>
                <a:latin typeface="Courier"/>
                <a:cs typeface="Courier"/>
              </a:rPr>
              <a:t>df</a:t>
            </a:r>
            <a:r>
              <a:rPr lang="en-US" sz="1100" dirty="0">
                <a:solidFill>
                  <a:schemeClr val="bg1"/>
                </a:solidFill>
                <a:latin typeface="Courier"/>
                <a:cs typeface="Courier"/>
              </a:rPr>
              <a:t> = n-1) </a:t>
            </a:r>
            <a:r>
              <a:rPr lang="en-US" sz="1100" dirty="0">
                <a:solidFill>
                  <a:srgbClr val="FFFF00"/>
                </a:solidFill>
                <a:latin typeface="Courier"/>
                <a:cs typeface="Courier"/>
              </a:rPr>
              <a:t># (two-sided) p-value (i.e. for H0:mu=50 vs. </a:t>
            </a:r>
            <a:r>
              <a:rPr lang="en-US" sz="1100" dirty="0" err="1">
                <a:solidFill>
                  <a:srgbClr val="FFFF00"/>
                </a:solidFill>
                <a:latin typeface="Courier"/>
                <a:cs typeface="Courier"/>
              </a:rPr>
              <a:t>Ha:mu</a:t>
            </a:r>
            <a:r>
              <a:rPr lang="en-US" sz="1100" dirty="0">
                <a:solidFill>
                  <a:srgbClr val="FFFF00"/>
                </a:solidFill>
                <a:latin typeface="Courier"/>
                <a:cs typeface="Courier"/>
              </a:rPr>
              <a:t>!=50)</a:t>
            </a:r>
          </a:p>
        </p:txBody>
      </p:sp>
      <p:sp>
        <p:nvSpPr>
          <p:cNvPr id="9" name="TextBox 8">
            <a:extLst>
              <a:ext uri="{FF2B5EF4-FFF2-40B4-BE49-F238E27FC236}">
                <a16:creationId xmlns:a16="http://schemas.microsoft.com/office/drawing/2014/main" id="{3402E27F-9F4A-6B86-42C7-F9FA42A49336}"/>
              </a:ext>
            </a:extLst>
          </p:cNvPr>
          <p:cNvSpPr txBox="1"/>
          <p:nvPr/>
        </p:nvSpPr>
        <p:spPr>
          <a:xfrm>
            <a:off x="231775" y="4842123"/>
            <a:ext cx="1814195" cy="400110"/>
          </a:xfrm>
          <a:prstGeom prst="rect">
            <a:avLst/>
          </a:prstGeom>
          <a:noFill/>
        </p:spPr>
        <p:txBody>
          <a:bodyPr wrap="square">
            <a:spAutoFit/>
          </a:bodyPr>
          <a:lstStyle/>
          <a:p>
            <a:r>
              <a:rPr lang="en-US" sz="2000" dirty="0">
                <a:latin typeface="Times New Roman" panose="02020603050405020304" pitchFamily="18" charset="0"/>
                <a:cs typeface="Times New Roman" panose="02020603050405020304" pitchFamily="18" charset="0"/>
                <a:hlinkClick r:id="rId3"/>
              </a:rPr>
              <a:t>hand_tst_ex1.R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2420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1F397E-2732-9A17-A428-E6A0F7592FD7}"/>
              </a:ext>
            </a:extLst>
          </p:cNvPr>
          <p:cNvPicPr>
            <a:picLocks noChangeAspect="1"/>
          </p:cNvPicPr>
          <p:nvPr/>
        </p:nvPicPr>
        <p:blipFill>
          <a:blip r:embed="rId2"/>
          <a:stretch>
            <a:fillRect/>
          </a:stretch>
        </p:blipFill>
        <p:spPr>
          <a:xfrm>
            <a:off x="881843" y="1120468"/>
            <a:ext cx="7403169" cy="5293360"/>
          </a:xfrm>
          <a:prstGeom prst="rect">
            <a:avLst/>
          </a:prstGeom>
          <a:effectLst/>
        </p:spPr>
      </p:pic>
      <p:sp>
        <p:nvSpPr>
          <p:cNvPr id="3" name="TextBox 2">
            <a:extLst>
              <a:ext uri="{FF2B5EF4-FFF2-40B4-BE49-F238E27FC236}">
                <a16:creationId xmlns:a16="http://schemas.microsoft.com/office/drawing/2014/main" id="{7329F67C-CD33-C5D0-2604-57578A86ECE2}"/>
              </a:ext>
            </a:extLst>
          </p:cNvPr>
          <p:cNvSpPr txBox="1"/>
          <p:nvPr/>
        </p:nvSpPr>
        <p:spPr>
          <a:xfrm>
            <a:off x="3236334" y="4597498"/>
            <a:ext cx="1085554"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c</a:t>
            </a:r>
            <a:r>
              <a:rPr lang="en-US" dirty="0">
                <a:latin typeface="Times New Roman" panose="02020603050405020304" pitchFamily="18" charset="0"/>
                <a:cs typeface="Times New Roman" panose="02020603050405020304" pitchFamily="18" charset="0"/>
              </a:rPr>
              <a:t>: ±2.262</a:t>
            </a:r>
          </a:p>
        </p:txBody>
      </p:sp>
      <p:sp>
        <p:nvSpPr>
          <p:cNvPr id="4" name="TextBox 3">
            <a:extLst>
              <a:ext uri="{FF2B5EF4-FFF2-40B4-BE49-F238E27FC236}">
                <a16:creationId xmlns:a16="http://schemas.microsoft.com/office/drawing/2014/main" id="{A160B9E7-0214-323D-178E-6A70F77E9E05}"/>
              </a:ext>
            </a:extLst>
          </p:cNvPr>
          <p:cNvSpPr txBox="1"/>
          <p:nvPr/>
        </p:nvSpPr>
        <p:spPr>
          <a:xfrm>
            <a:off x="1729740" y="4861560"/>
            <a:ext cx="574196"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endParaRPr lang="en-US" baseline="-25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5CD25CAE-4690-38CA-C5F0-7670337EAA8A}"/>
              </a:ext>
            </a:extLst>
          </p:cNvPr>
          <p:cNvSpPr txBox="1"/>
          <p:nvPr/>
        </p:nvSpPr>
        <p:spPr>
          <a:xfrm>
            <a:off x="3132009" y="523602"/>
            <a:ext cx="3369833" cy="461665"/>
          </a:xfrm>
          <a:prstGeom prst="rect">
            <a:avLst/>
          </a:prstGeom>
          <a:noFill/>
          <a:effectLst/>
        </p:spPr>
        <p:txBody>
          <a:bodyPr wrap="none" rtlCol="0">
            <a:spAutoFit/>
          </a:bodyPr>
          <a:lstStyle/>
          <a:p>
            <a:r>
              <a:rPr lang="en-US" sz="2400" dirty="0">
                <a:latin typeface="Times New Roman" panose="02020603050405020304" pitchFamily="18" charset="0"/>
                <a:cs typeface="Times New Roman" panose="02020603050405020304" pitchFamily="18" charset="0"/>
              </a:rPr>
              <a:t>H0: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 50 vs. Ha: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 50</a:t>
            </a:r>
          </a:p>
        </p:txBody>
      </p:sp>
      <p:sp>
        <p:nvSpPr>
          <p:cNvPr id="7" name="TextBox 6">
            <a:extLst>
              <a:ext uri="{FF2B5EF4-FFF2-40B4-BE49-F238E27FC236}">
                <a16:creationId xmlns:a16="http://schemas.microsoft.com/office/drawing/2014/main" id="{13838BE5-9F58-503F-989C-4DA4457E5515}"/>
              </a:ext>
            </a:extLst>
          </p:cNvPr>
          <p:cNvSpPr txBox="1"/>
          <p:nvPr/>
        </p:nvSpPr>
        <p:spPr>
          <a:xfrm>
            <a:off x="5154930" y="1717770"/>
            <a:ext cx="2917850"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Null density, H0: </a:t>
            </a:r>
            <a:r>
              <a:rPr lang="en-US" i="1" dirty="0">
                <a:latin typeface="Times New Roman" panose="02020603050405020304" pitchFamily="18" charset="0"/>
                <a:cs typeface="Times New Roman" panose="02020603050405020304" pitchFamily="18" charset="0"/>
              </a:rPr>
              <a:t>p</a:t>
            </a:r>
            <a:r>
              <a:rPr lang="en-US" dirty="0">
                <a:latin typeface="Times New Roman" panose="02020603050405020304" pitchFamily="18" charset="0"/>
                <a:cs typeface="Times New Roman" panose="02020603050405020304" pitchFamily="18" charset="0"/>
              </a:rPr>
              <a:t>(</a:t>
            </a:r>
            <a:r>
              <a:rPr lang="en-US" i="1" dirty="0">
                <a:latin typeface="Times New Roman" panose="02020603050405020304" pitchFamily="18" charset="0"/>
                <a:cs typeface="Times New Roman" panose="02020603050405020304" pitchFamily="18" charset="0"/>
              </a:rPr>
              <a:t>t </a:t>
            </a:r>
            <a:r>
              <a:rPr lang="en-US" dirty="0">
                <a:latin typeface="Times New Roman" panose="02020603050405020304" pitchFamily="18" charset="0"/>
                <a:cs typeface="Times New Roman" panose="02020603050405020304" pitchFamily="18" charset="0"/>
              </a:rPr>
              <a:t>|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pic>
        <p:nvPicPr>
          <p:cNvPr id="8" name="Picture 7">
            <a:extLst>
              <a:ext uri="{FF2B5EF4-FFF2-40B4-BE49-F238E27FC236}">
                <a16:creationId xmlns:a16="http://schemas.microsoft.com/office/drawing/2014/main" id="{D8D39B44-C9D9-4733-CBE3-5C5DC699A6A0}"/>
              </a:ext>
            </a:extLst>
          </p:cNvPr>
          <p:cNvPicPr>
            <a:picLocks noChangeAspect="1" noChangeArrowheads="1"/>
          </p:cNvPicPr>
          <p:nvPr/>
        </p:nvPicPr>
        <p:blipFill>
          <a:blip r:embed="rId3" cstate="print"/>
          <a:srcRect/>
          <a:stretch>
            <a:fillRect/>
          </a:stretch>
        </p:blipFill>
        <p:spPr bwMode="auto">
          <a:xfrm>
            <a:off x="484188" y="76200"/>
            <a:ext cx="8202612" cy="239712"/>
          </a:xfrm>
          <a:prstGeom prst="rect">
            <a:avLst/>
          </a:prstGeom>
          <a:noFill/>
          <a:ln w="9525">
            <a:noFill/>
            <a:round/>
            <a:headEnd/>
            <a:tailEnd/>
          </a:ln>
          <a:effectLst/>
        </p:spPr>
      </p:pic>
      <p:cxnSp>
        <p:nvCxnSpPr>
          <p:cNvPr id="10" name="Straight Arrow Connector 9">
            <a:extLst>
              <a:ext uri="{FF2B5EF4-FFF2-40B4-BE49-F238E27FC236}">
                <a16:creationId xmlns:a16="http://schemas.microsoft.com/office/drawing/2014/main" id="{19281F87-43CB-FB69-D20C-CE58124ED6A2}"/>
              </a:ext>
            </a:extLst>
          </p:cNvPr>
          <p:cNvCxnSpPr>
            <a:cxnSpLocks/>
          </p:cNvCxnSpPr>
          <p:nvPr/>
        </p:nvCxnSpPr>
        <p:spPr>
          <a:xfrm>
            <a:off x="4023360" y="4932540"/>
            <a:ext cx="194310" cy="75960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4E6E632-5915-7F56-6D51-0E9F0B5924FF}"/>
              </a:ext>
            </a:extLst>
          </p:cNvPr>
          <p:cNvCxnSpPr>
            <a:cxnSpLocks/>
          </p:cNvCxnSpPr>
          <p:nvPr/>
        </p:nvCxnSpPr>
        <p:spPr>
          <a:xfrm>
            <a:off x="4023360" y="4932540"/>
            <a:ext cx="902972" cy="75960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09E42C4-D508-AF38-C3E6-1596B75F9314}"/>
              </a:ext>
            </a:extLst>
          </p:cNvPr>
          <p:cNvCxnSpPr>
            <a:cxnSpLocks/>
          </p:cNvCxnSpPr>
          <p:nvPr/>
        </p:nvCxnSpPr>
        <p:spPr>
          <a:xfrm flipH="1">
            <a:off x="1692507" y="5230892"/>
            <a:ext cx="324331" cy="461248"/>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E7907BF-BFFA-4230-31DF-C42AAC4F871D}"/>
              </a:ext>
            </a:extLst>
          </p:cNvPr>
          <p:cNvCxnSpPr>
            <a:cxnSpLocks/>
          </p:cNvCxnSpPr>
          <p:nvPr/>
        </p:nvCxnSpPr>
        <p:spPr>
          <a:xfrm flipH="1">
            <a:off x="4800600" y="1925460"/>
            <a:ext cx="417821" cy="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BA088E3-E7A1-5CB4-5B40-D57E69BA84AF}"/>
              </a:ext>
            </a:extLst>
          </p:cNvPr>
          <p:cNvSpPr txBox="1"/>
          <p:nvPr/>
        </p:nvSpPr>
        <p:spPr>
          <a:xfrm>
            <a:off x="1077799" y="1925460"/>
            <a:ext cx="3265602" cy="923330"/>
          </a:xfrm>
          <a:prstGeom prst="rect">
            <a:avLst/>
          </a:prstGeom>
          <a:noFill/>
          <a:effectLst/>
        </p:spPr>
        <p:txBody>
          <a:bodyPr wrap="square" rtlCol="0">
            <a:spAutoFit/>
          </a:bodyPr>
          <a:lstStyle/>
          <a:p>
            <a:pPr algn="just"/>
            <a:r>
              <a:rPr lang="en-US" u="sng" dirty="0">
                <a:latin typeface="Times New Roman" panose="02020603050405020304" pitchFamily="18" charset="0"/>
                <a:cs typeface="Times New Roman" panose="02020603050405020304" pitchFamily="18" charset="0"/>
              </a:rPr>
              <a:t>p-value</a:t>
            </a:r>
            <a:r>
              <a:rPr lang="en-US" dirty="0">
                <a:latin typeface="Times New Roman" panose="02020603050405020304" pitchFamily="18" charset="0"/>
                <a:cs typeface="Times New Roman" panose="02020603050405020304" pitchFamily="18" charset="0"/>
              </a:rPr>
              <a:t>: What’s the probability of observing a </a:t>
            </a:r>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r>
              <a:rPr lang="en-US" dirty="0">
                <a:latin typeface="Times New Roman" panose="02020603050405020304" pitchFamily="18" charset="0"/>
                <a:cs typeface="Times New Roman" panose="02020603050405020304" pitchFamily="18" charset="0"/>
              </a:rPr>
              <a:t> this extreme or more, given H0: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sp>
        <p:nvSpPr>
          <p:cNvPr id="25" name="Right Brace 24">
            <a:extLst>
              <a:ext uri="{FF2B5EF4-FFF2-40B4-BE49-F238E27FC236}">
                <a16:creationId xmlns:a16="http://schemas.microsoft.com/office/drawing/2014/main" id="{4A61DA35-044B-E68D-ADB1-67F07C0A773B}"/>
              </a:ext>
            </a:extLst>
          </p:cNvPr>
          <p:cNvSpPr/>
          <p:nvPr/>
        </p:nvSpPr>
        <p:spPr>
          <a:xfrm rot="16200000">
            <a:off x="1180833" y="5269066"/>
            <a:ext cx="376863" cy="560067"/>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e 25">
            <a:extLst>
              <a:ext uri="{FF2B5EF4-FFF2-40B4-BE49-F238E27FC236}">
                <a16:creationId xmlns:a16="http://schemas.microsoft.com/office/drawing/2014/main" id="{621F18B2-0680-90EE-DF99-42E943CF0FCF}"/>
              </a:ext>
            </a:extLst>
          </p:cNvPr>
          <p:cNvSpPr/>
          <p:nvPr/>
        </p:nvSpPr>
        <p:spPr>
          <a:xfrm rot="16200000">
            <a:off x="7683441" y="5235105"/>
            <a:ext cx="376863" cy="560067"/>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893BF725-2EE8-27E9-1B34-61D27CBAEAD4}"/>
              </a:ext>
            </a:extLst>
          </p:cNvPr>
          <p:cNvSpPr txBox="1"/>
          <p:nvPr/>
        </p:nvSpPr>
        <p:spPr>
          <a:xfrm>
            <a:off x="2016838" y="2840302"/>
            <a:ext cx="788999"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3×10</a:t>
            </a:r>
            <a:r>
              <a:rPr lang="en-US" baseline="30000" dirty="0">
                <a:latin typeface="Times New Roman" panose="02020603050405020304" pitchFamily="18" charset="0"/>
                <a:cs typeface="Times New Roman" panose="02020603050405020304" pitchFamily="18" charset="0"/>
              </a:rPr>
              <a:t>-8</a:t>
            </a:r>
          </a:p>
        </p:txBody>
      </p:sp>
      <p:cxnSp>
        <p:nvCxnSpPr>
          <p:cNvPr id="28" name="Straight Arrow Connector 27">
            <a:extLst>
              <a:ext uri="{FF2B5EF4-FFF2-40B4-BE49-F238E27FC236}">
                <a16:creationId xmlns:a16="http://schemas.microsoft.com/office/drawing/2014/main" id="{A59C6381-B053-2A13-1705-D4A2275B05A9}"/>
              </a:ext>
            </a:extLst>
          </p:cNvPr>
          <p:cNvCxnSpPr>
            <a:cxnSpLocks/>
          </p:cNvCxnSpPr>
          <p:nvPr/>
        </p:nvCxnSpPr>
        <p:spPr>
          <a:xfrm flipH="1">
            <a:off x="1357853" y="3120390"/>
            <a:ext cx="946083" cy="2206316"/>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F216D697-7829-37EA-0311-1CC7DF109F22}"/>
              </a:ext>
            </a:extLst>
          </p:cNvPr>
          <p:cNvCxnSpPr>
            <a:cxnSpLocks/>
          </p:cNvCxnSpPr>
          <p:nvPr/>
        </p:nvCxnSpPr>
        <p:spPr>
          <a:xfrm>
            <a:off x="2303936" y="3138439"/>
            <a:ext cx="5532209" cy="2162471"/>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1E6046CC-1AEB-84B0-3263-006FBCB6F4B3}"/>
              </a:ext>
            </a:extLst>
          </p:cNvPr>
          <p:cNvSpPr txBox="1"/>
          <p:nvPr/>
        </p:nvSpPr>
        <p:spPr>
          <a:xfrm>
            <a:off x="4023360" y="6366114"/>
            <a:ext cx="1327608" cy="461665"/>
          </a:xfrm>
          <a:prstGeom prst="rect">
            <a:avLst/>
          </a:prstGeom>
          <a:noFill/>
          <a:effectLst/>
        </p:spPr>
        <p:txBody>
          <a:bodyPr wrap="none" rtlCol="0">
            <a:spAutoFit/>
          </a:bodyPr>
          <a:lstStyle/>
          <a:p>
            <a:r>
              <a:rPr lang="en-US" sz="2400" i="1"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-statistic</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7233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 calcmode="lin" valueType="num">
                                      <p:cBhvr additive="base">
                                        <p:cTn id="17" dur="500" fill="hold"/>
                                        <p:tgtEl>
                                          <p:spTgt spid="3"/>
                                        </p:tgtEl>
                                        <p:attrNameLst>
                                          <p:attrName>ppt_x</p:attrName>
                                        </p:attrNameLst>
                                      </p:cBhvr>
                                      <p:tavLst>
                                        <p:tav tm="0">
                                          <p:val>
                                            <p:strVal val="#ppt_x"/>
                                          </p:val>
                                        </p:tav>
                                        <p:tav tm="100000">
                                          <p:val>
                                            <p:strVal val="#ppt_x"/>
                                          </p:val>
                                        </p:tav>
                                      </p:tavLst>
                                    </p:anim>
                                    <p:anim calcmode="lin" valueType="num">
                                      <p:cBhvr additive="base">
                                        <p:cTn id="18" dur="500" fill="hold"/>
                                        <p:tgtEl>
                                          <p:spTgt spid="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500" fill="hold"/>
                                        <p:tgtEl>
                                          <p:spTgt spid="10"/>
                                        </p:tgtEl>
                                        <p:attrNameLst>
                                          <p:attrName>ppt_x</p:attrName>
                                        </p:attrNameLst>
                                      </p:cBhvr>
                                      <p:tavLst>
                                        <p:tav tm="0">
                                          <p:val>
                                            <p:strVal val="#ppt_x"/>
                                          </p:val>
                                        </p:tav>
                                        <p:tav tm="100000">
                                          <p:val>
                                            <p:strVal val="#ppt_x"/>
                                          </p:val>
                                        </p:tav>
                                      </p:tavLst>
                                    </p:anim>
                                    <p:anim calcmode="lin" valueType="num">
                                      <p:cBhvr additive="base">
                                        <p:cTn id="22" dur="5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 calcmode="lin" valueType="num">
                                      <p:cBhvr additive="base">
                                        <p:cTn id="31" dur="500" fill="hold"/>
                                        <p:tgtEl>
                                          <p:spTgt spid="4"/>
                                        </p:tgtEl>
                                        <p:attrNameLst>
                                          <p:attrName>ppt_x</p:attrName>
                                        </p:attrNameLst>
                                      </p:cBhvr>
                                      <p:tavLst>
                                        <p:tav tm="0">
                                          <p:val>
                                            <p:strVal val="#ppt_x"/>
                                          </p:val>
                                        </p:tav>
                                        <p:tav tm="100000">
                                          <p:val>
                                            <p:strVal val="#ppt_x"/>
                                          </p:val>
                                        </p:tav>
                                      </p:tavLst>
                                    </p:anim>
                                    <p:anim calcmode="lin" valueType="num">
                                      <p:cBhvr additive="base">
                                        <p:cTn id="32" dur="500" fill="hold"/>
                                        <p:tgtEl>
                                          <p:spTgt spid="4"/>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500" fill="hold"/>
                                        <p:tgtEl>
                                          <p:spTgt spid="16"/>
                                        </p:tgtEl>
                                        <p:attrNameLst>
                                          <p:attrName>ppt_x</p:attrName>
                                        </p:attrNameLst>
                                      </p:cBhvr>
                                      <p:tavLst>
                                        <p:tav tm="0">
                                          <p:val>
                                            <p:strVal val="#ppt_x"/>
                                          </p:val>
                                        </p:tav>
                                        <p:tav tm="100000">
                                          <p:val>
                                            <p:strVal val="#ppt_x"/>
                                          </p:val>
                                        </p:tav>
                                      </p:tavLst>
                                    </p:anim>
                                    <p:anim calcmode="lin" valueType="num">
                                      <p:cBhvr additive="base">
                                        <p:cTn id="3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 calcmode="lin" valueType="num">
                                      <p:cBhvr additive="base">
                                        <p:cTn id="41" dur="500" fill="hold"/>
                                        <p:tgtEl>
                                          <p:spTgt spid="20"/>
                                        </p:tgtEl>
                                        <p:attrNameLst>
                                          <p:attrName>ppt_x</p:attrName>
                                        </p:attrNameLst>
                                      </p:cBhvr>
                                      <p:tavLst>
                                        <p:tav tm="0">
                                          <p:val>
                                            <p:strVal val="#ppt_x"/>
                                          </p:val>
                                        </p:tav>
                                        <p:tav tm="100000">
                                          <p:val>
                                            <p:strVal val="#ppt_x"/>
                                          </p:val>
                                        </p:tav>
                                      </p:tavLst>
                                    </p:anim>
                                    <p:anim calcmode="lin" valueType="num">
                                      <p:cBhvr additive="base">
                                        <p:cTn id="42"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additive="base">
                                        <p:cTn id="47" dur="500" fill="hold"/>
                                        <p:tgtEl>
                                          <p:spTgt spid="27"/>
                                        </p:tgtEl>
                                        <p:attrNameLst>
                                          <p:attrName>ppt_x</p:attrName>
                                        </p:attrNameLst>
                                      </p:cBhvr>
                                      <p:tavLst>
                                        <p:tav tm="0">
                                          <p:val>
                                            <p:strVal val="#ppt_x"/>
                                          </p:val>
                                        </p:tav>
                                        <p:tav tm="100000">
                                          <p:val>
                                            <p:strVal val="#ppt_x"/>
                                          </p:val>
                                        </p:tav>
                                      </p:tavLst>
                                    </p:anim>
                                    <p:anim calcmode="lin" valueType="num">
                                      <p:cBhvr additive="base">
                                        <p:cTn id="48" dur="500" fill="hold"/>
                                        <p:tgtEl>
                                          <p:spTgt spid="27"/>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 calcmode="lin" valueType="num">
                                      <p:cBhvr additive="base">
                                        <p:cTn id="51" dur="500" fill="hold"/>
                                        <p:tgtEl>
                                          <p:spTgt spid="28"/>
                                        </p:tgtEl>
                                        <p:attrNameLst>
                                          <p:attrName>ppt_x</p:attrName>
                                        </p:attrNameLst>
                                      </p:cBhvr>
                                      <p:tavLst>
                                        <p:tav tm="0">
                                          <p:val>
                                            <p:strVal val="#ppt_x"/>
                                          </p:val>
                                        </p:tav>
                                        <p:tav tm="100000">
                                          <p:val>
                                            <p:strVal val="#ppt_x"/>
                                          </p:val>
                                        </p:tav>
                                      </p:tavLst>
                                    </p:anim>
                                    <p:anim calcmode="lin" valueType="num">
                                      <p:cBhvr additive="base">
                                        <p:cTn id="52" dur="500" fill="hold"/>
                                        <p:tgtEl>
                                          <p:spTgt spid="28"/>
                                        </p:tgtEl>
                                        <p:attrNameLst>
                                          <p:attrName>ppt_y</p:attrName>
                                        </p:attrNameLst>
                                      </p:cBhvr>
                                      <p:tavLst>
                                        <p:tav tm="0">
                                          <p:val>
                                            <p:strVal val="1+#ppt_h/2"/>
                                          </p:val>
                                        </p:tav>
                                        <p:tav tm="100000">
                                          <p:val>
                                            <p:strVal val="#ppt_y"/>
                                          </p:val>
                                        </p:tav>
                                      </p:tavLst>
                                    </p:anim>
                                  </p:childTnLst>
                                </p:cTn>
                              </p:par>
                              <p:par>
                                <p:cTn id="53" presetID="2" presetClass="entr" presetSubtype="4" fill="hold" nodeType="withEffect">
                                  <p:stCondLst>
                                    <p:cond delay="0"/>
                                  </p:stCondLst>
                                  <p:childTnLst>
                                    <p:set>
                                      <p:cBhvr>
                                        <p:cTn id="54" dur="1" fill="hold">
                                          <p:stCondLst>
                                            <p:cond delay="0"/>
                                          </p:stCondLst>
                                        </p:cTn>
                                        <p:tgtEl>
                                          <p:spTgt spid="30"/>
                                        </p:tgtEl>
                                        <p:attrNameLst>
                                          <p:attrName>style.visibility</p:attrName>
                                        </p:attrNameLst>
                                      </p:cBhvr>
                                      <p:to>
                                        <p:strVal val="visible"/>
                                      </p:to>
                                    </p:set>
                                    <p:anim calcmode="lin" valueType="num">
                                      <p:cBhvr additive="base">
                                        <p:cTn id="55" dur="500" fill="hold"/>
                                        <p:tgtEl>
                                          <p:spTgt spid="30"/>
                                        </p:tgtEl>
                                        <p:attrNameLst>
                                          <p:attrName>ppt_x</p:attrName>
                                        </p:attrNameLst>
                                      </p:cBhvr>
                                      <p:tavLst>
                                        <p:tav tm="0">
                                          <p:val>
                                            <p:strVal val="#ppt_x"/>
                                          </p:val>
                                        </p:tav>
                                        <p:tav tm="100000">
                                          <p:val>
                                            <p:strVal val="#ppt_x"/>
                                          </p:val>
                                        </p:tav>
                                      </p:tavLst>
                                    </p:anim>
                                    <p:anim calcmode="lin" valueType="num">
                                      <p:cBhvr additive="base">
                                        <p:cTn id="56" dur="500" fill="hold"/>
                                        <p:tgtEl>
                                          <p:spTgt spid="30"/>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 calcmode="lin" valueType="num">
                                      <p:cBhvr additive="base">
                                        <p:cTn id="59" dur="500" fill="hold"/>
                                        <p:tgtEl>
                                          <p:spTgt spid="25"/>
                                        </p:tgtEl>
                                        <p:attrNameLst>
                                          <p:attrName>ppt_x</p:attrName>
                                        </p:attrNameLst>
                                      </p:cBhvr>
                                      <p:tavLst>
                                        <p:tav tm="0">
                                          <p:val>
                                            <p:strVal val="#ppt_x"/>
                                          </p:val>
                                        </p:tav>
                                        <p:tav tm="100000">
                                          <p:val>
                                            <p:strVal val="#ppt_x"/>
                                          </p:val>
                                        </p:tav>
                                      </p:tavLst>
                                    </p:anim>
                                    <p:anim calcmode="lin" valueType="num">
                                      <p:cBhvr additive="base">
                                        <p:cTn id="60" dur="500" fill="hold"/>
                                        <p:tgtEl>
                                          <p:spTgt spid="25"/>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500" fill="hold"/>
                                        <p:tgtEl>
                                          <p:spTgt spid="26"/>
                                        </p:tgtEl>
                                        <p:attrNameLst>
                                          <p:attrName>ppt_x</p:attrName>
                                        </p:attrNameLst>
                                      </p:cBhvr>
                                      <p:tavLst>
                                        <p:tav tm="0">
                                          <p:val>
                                            <p:strVal val="#ppt_x"/>
                                          </p:val>
                                        </p:tav>
                                        <p:tav tm="100000">
                                          <p:val>
                                            <p:strVal val="#ppt_x"/>
                                          </p:val>
                                        </p:tav>
                                      </p:tavLst>
                                    </p:anim>
                                    <p:anim calcmode="lin" valueType="num">
                                      <p:cBhvr additive="base">
                                        <p:cTn id="64"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7" grpId="0"/>
      <p:bldP spid="20" grpId="0"/>
      <p:bldP spid="25" grpId="0" animBg="1"/>
      <p:bldP spid="26" grpId="0" animBg="1"/>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BAB815-22A3-A485-A368-FBAD1E39D80A}"/>
              </a:ext>
            </a:extLst>
          </p:cNvPr>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a:effectLst/>
        </p:spPr>
      </p:pic>
      <p:sp>
        <p:nvSpPr>
          <p:cNvPr id="4" name="TextBox 3">
            <a:extLst>
              <a:ext uri="{FF2B5EF4-FFF2-40B4-BE49-F238E27FC236}">
                <a16:creationId xmlns:a16="http://schemas.microsoft.com/office/drawing/2014/main" id="{207F0D41-669B-A56F-5612-74CBF7EBA11A}"/>
              </a:ext>
            </a:extLst>
          </p:cNvPr>
          <p:cNvSpPr txBox="1"/>
          <p:nvPr/>
        </p:nvSpPr>
        <p:spPr>
          <a:xfrm>
            <a:off x="3132009" y="523602"/>
            <a:ext cx="3369833" cy="461665"/>
          </a:xfrm>
          <a:prstGeom prst="rect">
            <a:avLst/>
          </a:prstGeom>
          <a:noFill/>
          <a:effectLst/>
        </p:spPr>
        <p:txBody>
          <a:bodyPr wrap="none" rtlCol="0">
            <a:spAutoFit/>
          </a:bodyPr>
          <a:lstStyle/>
          <a:p>
            <a:r>
              <a:rPr lang="en-US" sz="2400" dirty="0">
                <a:latin typeface="Times New Roman" panose="02020603050405020304" pitchFamily="18" charset="0"/>
                <a:cs typeface="Times New Roman" panose="02020603050405020304" pitchFamily="18" charset="0"/>
              </a:rPr>
              <a:t>H0: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 50 vs. Ha: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&lt; 50</a:t>
            </a:r>
          </a:p>
        </p:txBody>
      </p:sp>
      <p:pic>
        <p:nvPicPr>
          <p:cNvPr id="5" name="Picture 4">
            <a:extLst>
              <a:ext uri="{FF2B5EF4-FFF2-40B4-BE49-F238E27FC236}">
                <a16:creationId xmlns:a16="http://schemas.microsoft.com/office/drawing/2014/main" id="{DAED4114-04E3-C4AA-4EC7-236C35074917}"/>
              </a:ext>
            </a:extLst>
          </p:cNvPr>
          <p:cNvPicPr>
            <a:picLocks noChangeAspect="1"/>
          </p:cNvPicPr>
          <p:nvPr/>
        </p:nvPicPr>
        <p:blipFill>
          <a:blip r:embed="rId3"/>
          <a:stretch>
            <a:fillRect/>
          </a:stretch>
        </p:blipFill>
        <p:spPr>
          <a:xfrm>
            <a:off x="685800" y="1113285"/>
            <a:ext cx="7772400" cy="5186823"/>
          </a:xfrm>
          <a:prstGeom prst="rect">
            <a:avLst/>
          </a:prstGeom>
          <a:effectLst/>
        </p:spPr>
      </p:pic>
      <p:sp>
        <p:nvSpPr>
          <p:cNvPr id="6" name="TextBox 5">
            <a:extLst>
              <a:ext uri="{FF2B5EF4-FFF2-40B4-BE49-F238E27FC236}">
                <a16:creationId xmlns:a16="http://schemas.microsoft.com/office/drawing/2014/main" id="{986C7C93-80D5-41E0-744B-660555211EF6}"/>
              </a:ext>
            </a:extLst>
          </p:cNvPr>
          <p:cNvSpPr txBox="1"/>
          <p:nvPr/>
        </p:nvSpPr>
        <p:spPr>
          <a:xfrm>
            <a:off x="3236334" y="4597498"/>
            <a:ext cx="1035861"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c</a:t>
            </a:r>
            <a:r>
              <a:rPr lang="en-US" dirty="0">
                <a:latin typeface="Times New Roman" panose="02020603050405020304" pitchFamily="18" charset="0"/>
                <a:cs typeface="Times New Roman" panose="02020603050405020304" pitchFamily="18" charset="0"/>
              </a:rPr>
              <a:t>: -1.833</a:t>
            </a:r>
          </a:p>
        </p:txBody>
      </p:sp>
      <p:sp>
        <p:nvSpPr>
          <p:cNvPr id="7" name="TextBox 6">
            <a:extLst>
              <a:ext uri="{FF2B5EF4-FFF2-40B4-BE49-F238E27FC236}">
                <a16:creationId xmlns:a16="http://schemas.microsoft.com/office/drawing/2014/main" id="{DAEA11CF-85FD-6CF8-A630-9BC8CA513677}"/>
              </a:ext>
            </a:extLst>
          </p:cNvPr>
          <p:cNvSpPr txBox="1"/>
          <p:nvPr/>
        </p:nvSpPr>
        <p:spPr>
          <a:xfrm>
            <a:off x="1684020" y="4884420"/>
            <a:ext cx="574196"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endParaRPr lang="en-US" baseline="-25000"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76EEAF0-AD75-D48A-CAC4-B5F6BEDD3B79}"/>
              </a:ext>
            </a:extLst>
          </p:cNvPr>
          <p:cNvSpPr txBox="1"/>
          <p:nvPr/>
        </p:nvSpPr>
        <p:spPr>
          <a:xfrm>
            <a:off x="5154930" y="1717770"/>
            <a:ext cx="2925224"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Null density, H0: </a:t>
            </a:r>
            <a:r>
              <a:rPr lang="en-US" i="1" dirty="0">
                <a:latin typeface="Times New Roman" panose="02020603050405020304" pitchFamily="18" charset="0"/>
                <a:cs typeface="Times New Roman" panose="02020603050405020304" pitchFamily="18" charset="0"/>
              </a:rPr>
              <a:t>p</a:t>
            </a:r>
            <a:r>
              <a:rPr lang="en-US" dirty="0">
                <a:latin typeface="Times New Roman" panose="02020603050405020304" pitchFamily="18" charset="0"/>
                <a:cs typeface="Times New Roman" panose="02020603050405020304" pitchFamily="18" charset="0"/>
              </a:rPr>
              <a:t>(</a:t>
            </a:r>
            <a:r>
              <a:rPr lang="en-US" i="1" dirty="0">
                <a:latin typeface="Times New Roman" panose="02020603050405020304" pitchFamily="18" charset="0"/>
                <a:cs typeface="Times New Roman" panose="02020603050405020304" pitchFamily="18" charset="0"/>
              </a:rPr>
              <a:t>t </a:t>
            </a:r>
            <a:r>
              <a:rPr lang="en-US" dirty="0">
                <a:latin typeface="Times New Roman" panose="02020603050405020304" pitchFamily="18" charset="0"/>
                <a:cs typeface="Times New Roman" panose="02020603050405020304" pitchFamily="18" charset="0"/>
              </a:rPr>
              <a:t>|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cxnSp>
        <p:nvCxnSpPr>
          <p:cNvPr id="9" name="Straight Arrow Connector 8">
            <a:extLst>
              <a:ext uri="{FF2B5EF4-FFF2-40B4-BE49-F238E27FC236}">
                <a16:creationId xmlns:a16="http://schemas.microsoft.com/office/drawing/2014/main" id="{3213CDE1-7D2A-38CA-11E1-DA864DFDDB4C}"/>
              </a:ext>
            </a:extLst>
          </p:cNvPr>
          <p:cNvCxnSpPr>
            <a:cxnSpLocks/>
          </p:cNvCxnSpPr>
          <p:nvPr/>
        </p:nvCxnSpPr>
        <p:spPr>
          <a:xfrm>
            <a:off x="4011930" y="4909680"/>
            <a:ext cx="194310" cy="75960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D87D2C6-8F94-A6AB-95D0-9F5BE47D6978}"/>
              </a:ext>
            </a:extLst>
          </p:cNvPr>
          <p:cNvCxnSpPr>
            <a:cxnSpLocks/>
          </p:cNvCxnSpPr>
          <p:nvPr/>
        </p:nvCxnSpPr>
        <p:spPr>
          <a:xfrm flipH="1">
            <a:off x="1452477" y="5230892"/>
            <a:ext cx="324331" cy="461248"/>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6A88944B-D12B-D975-E80F-BB5F91D8DF97}"/>
              </a:ext>
            </a:extLst>
          </p:cNvPr>
          <p:cNvCxnSpPr>
            <a:cxnSpLocks/>
          </p:cNvCxnSpPr>
          <p:nvPr/>
        </p:nvCxnSpPr>
        <p:spPr>
          <a:xfrm flipH="1">
            <a:off x="4800600" y="1925460"/>
            <a:ext cx="417821" cy="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7368FDD-1192-D74D-39A8-80325E279584}"/>
              </a:ext>
            </a:extLst>
          </p:cNvPr>
          <p:cNvSpPr txBox="1"/>
          <p:nvPr/>
        </p:nvSpPr>
        <p:spPr>
          <a:xfrm>
            <a:off x="1077799" y="1925460"/>
            <a:ext cx="3265602" cy="923330"/>
          </a:xfrm>
          <a:prstGeom prst="rect">
            <a:avLst/>
          </a:prstGeom>
          <a:noFill/>
          <a:effectLst/>
        </p:spPr>
        <p:txBody>
          <a:bodyPr wrap="square" rtlCol="0">
            <a:spAutoFit/>
          </a:bodyPr>
          <a:lstStyle/>
          <a:p>
            <a:pPr algn="just"/>
            <a:r>
              <a:rPr lang="en-US" u="sng" dirty="0">
                <a:latin typeface="Times New Roman" panose="02020603050405020304" pitchFamily="18" charset="0"/>
                <a:cs typeface="Times New Roman" panose="02020603050405020304" pitchFamily="18" charset="0"/>
              </a:rPr>
              <a:t>p-value</a:t>
            </a:r>
            <a:r>
              <a:rPr lang="en-US" dirty="0">
                <a:latin typeface="Times New Roman" panose="02020603050405020304" pitchFamily="18" charset="0"/>
                <a:cs typeface="Times New Roman" panose="02020603050405020304" pitchFamily="18" charset="0"/>
              </a:rPr>
              <a:t>: What’s the probability of observing a </a:t>
            </a:r>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r>
              <a:rPr lang="en-US" dirty="0">
                <a:latin typeface="Times New Roman" panose="02020603050405020304" pitchFamily="18" charset="0"/>
                <a:cs typeface="Times New Roman" panose="02020603050405020304" pitchFamily="18" charset="0"/>
              </a:rPr>
              <a:t> this extreme or more, given H0: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sp>
        <p:nvSpPr>
          <p:cNvPr id="14" name="Right Brace 13">
            <a:extLst>
              <a:ext uri="{FF2B5EF4-FFF2-40B4-BE49-F238E27FC236}">
                <a16:creationId xmlns:a16="http://schemas.microsoft.com/office/drawing/2014/main" id="{E1112EAC-FD41-D3B8-0DDD-2835B5C77D3B}"/>
              </a:ext>
            </a:extLst>
          </p:cNvPr>
          <p:cNvSpPr/>
          <p:nvPr/>
        </p:nvSpPr>
        <p:spPr>
          <a:xfrm rot="16200000">
            <a:off x="963663" y="5269066"/>
            <a:ext cx="376863" cy="560067"/>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807E5E62-BA14-24AE-6529-3B37727F3AEA}"/>
              </a:ext>
            </a:extLst>
          </p:cNvPr>
          <p:cNvSpPr txBox="1"/>
          <p:nvPr/>
        </p:nvSpPr>
        <p:spPr>
          <a:xfrm>
            <a:off x="1856818" y="2840302"/>
            <a:ext cx="962123"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1.4×10</a:t>
            </a:r>
            <a:r>
              <a:rPr lang="en-US" baseline="30000" dirty="0">
                <a:latin typeface="Times New Roman" panose="02020603050405020304" pitchFamily="18" charset="0"/>
                <a:cs typeface="Times New Roman" panose="02020603050405020304" pitchFamily="18" charset="0"/>
              </a:rPr>
              <a:t>-8</a:t>
            </a:r>
          </a:p>
        </p:txBody>
      </p:sp>
      <p:cxnSp>
        <p:nvCxnSpPr>
          <p:cNvPr id="17" name="Straight Arrow Connector 16">
            <a:extLst>
              <a:ext uri="{FF2B5EF4-FFF2-40B4-BE49-F238E27FC236}">
                <a16:creationId xmlns:a16="http://schemas.microsoft.com/office/drawing/2014/main" id="{9EB56807-83BB-8267-8E4C-1AE1B2FBD484}"/>
              </a:ext>
            </a:extLst>
          </p:cNvPr>
          <p:cNvCxnSpPr>
            <a:cxnSpLocks/>
          </p:cNvCxnSpPr>
          <p:nvPr/>
        </p:nvCxnSpPr>
        <p:spPr>
          <a:xfrm flipH="1">
            <a:off x="1165860" y="3120390"/>
            <a:ext cx="1138076" cy="2110502"/>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099AFF69-A0FF-D1FB-E1CB-2BFF1DEE77D0}"/>
              </a:ext>
            </a:extLst>
          </p:cNvPr>
          <p:cNvSpPr txBox="1"/>
          <p:nvPr/>
        </p:nvSpPr>
        <p:spPr>
          <a:xfrm>
            <a:off x="4023360" y="6366114"/>
            <a:ext cx="1327608" cy="461665"/>
          </a:xfrm>
          <a:prstGeom prst="rect">
            <a:avLst/>
          </a:prstGeom>
          <a:noFill/>
          <a:effectLst/>
        </p:spPr>
        <p:txBody>
          <a:bodyPr wrap="none" rtlCol="0">
            <a:spAutoFit/>
          </a:bodyPr>
          <a:lstStyle/>
          <a:p>
            <a:r>
              <a:rPr lang="en-US" sz="2400" i="1"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-statistic</a:t>
            </a:r>
            <a:endParaRPr lang="en-US" dirty="0">
              <a:latin typeface="Times New Roman" panose="02020603050405020304" pitchFamily="18" charset="0"/>
              <a:cs typeface="Times New Roman" panose="02020603050405020304" pitchFamily="18" charset="0"/>
            </a:endParaRPr>
          </a:p>
        </p:txBody>
      </p:sp>
      <p:sp>
        <p:nvSpPr>
          <p:cNvPr id="22" name="TextBox 21">
            <a:extLst>
              <a:ext uri="{FF2B5EF4-FFF2-40B4-BE49-F238E27FC236}">
                <a16:creationId xmlns:a16="http://schemas.microsoft.com/office/drawing/2014/main" id="{CC746118-8D08-FDCD-42AD-CE691E5191D8}"/>
              </a:ext>
            </a:extLst>
          </p:cNvPr>
          <p:cNvSpPr txBox="1"/>
          <p:nvPr/>
        </p:nvSpPr>
        <p:spPr>
          <a:xfrm>
            <a:off x="7109461" y="6381690"/>
            <a:ext cx="2034540" cy="400110"/>
          </a:xfrm>
          <a:prstGeom prst="rect">
            <a:avLst/>
          </a:prstGeom>
          <a:noFill/>
          <a:effectLst/>
        </p:spPr>
        <p:txBody>
          <a:bodyPr wrap="square">
            <a:spAutoFit/>
          </a:bodyPr>
          <a:lstStyle/>
          <a:p>
            <a:r>
              <a:rPr lang="en-US" sz="2000" dirty="0">
                <a:latin typeface="Times New Roman" panose="02020603050405020304" pitchFamily="18" charset="0"/>
                <a:cs typeface="Times New Roman" panose="02020603050405020304" pitchFamily="18" charset="0"/>
                <a:hlinkClick r:id="rId4"/>
              </a:rPr>
              <a:t>hand_ostl_ex1.R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9744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ppt_x</p:attrName>
                                        </p:attrNameLst>
                                      </p:cBhvr>
                                      <p:tavLst>
                                        <p:tav tm="0">
                                          <p:val>
                                            <p:strVal val="#ppt_x"/>
                                          </p:val>
                                        </p:tav>
                                        <p:tav tm="100000">
                                          <p:val>
                                            <p:strVal val="#ppt_x"/>
                                          </p:val>
                                        </p:tav>
                                      </p:tavLst>
                                    </p:anim>
                                    <p:anim calcmode="lin" valueType="num">
                                      <p:cBhvr additive="base">
                                        <p:cTn id="28" dur="500" fill="hold"/>
                                        <p:tgtEl>
                                          <p:spTgt spid="7"/>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500" fill="hold"/>
                                        <p:tgtEl>
                                          <p:spTgt spid="13"/>
                                        </p:tgtEl>
                                        <p:attrNameLst>
                                          <p:attrName>ppt_x</p:attrName>
                                        </p:attrNameLst>
                                      </p:cBhvr>
                                      <p:tavLst>
                                        <p:tav tm="0">
                                          <p:val>
                                            <p:strVal val="#ppt_x"/>
                                          </p:val>
                                        </p:tav>
                                        <p:tav tm="100000">
                                          <p:val>
                                            <p:strVal val="#ppt_x"/>
                                          </p:val>
                                        </p:tav>
                                      </p:tavLst>
                                    </p:anim>
                                    <p:anim calcmode="lin" valueType="num">
                                      <p:cBhvr additive="base">
                                        <p:cTn id="3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 calcmode="lin" valueType="num">
                                      <p:cBhvr additive="base">
                                        <p:cTn id="43" dur="500" fill="hold"/>
                                        <p:tgtEl>
                                          <p:spTgt spid="16"/>
                                        </p:tgtEl>
                                        <p:attrNameLst>
                                          <p:attrName>ppt_x</p:attrName>
                                        </p:attrNameLst>
                                      </p:cBhvr>
                                      <p:tavLst>
                                        <p:tav tm="0">
                                          <p:val>
                                            <p:strVal val="#ppt_x"/>
                                          </p:val>
                                        </p:tav>
                                        <p:tav tm="100000">
                                          <p:val>
                                            <p:strVal val="#ppt_x"/>
                                          </p:val>
                                        </p:tav>
                                      </p:tavLst>
                                    </p:anim>
                                    <p:anim calcmode="lin" valueType="num">
                                      <p:cBhvr additive="base">
                                        <p:cTn id="44" dur="500" fill="hold"/>
                                        <p:tgtEl>
                                          <p:spTgt spid="16"/>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 calcmode="lin" valueType="num">
                                      <p:cBhvr additive="base">
                                        <p:cTn id="47" dur="500" fill="hold"/>
                                        <p:tgtEl>
                                          <p:spTgt spid="17"/>
                                        </p:tgtEl>
                                        <p:attrNameLst>
                                          <p:attrName>ppt_x</p:attrName>
                                        </p:attrNameLst>
                                      </p:cBhvr>
                                      <p:tavLst>
                                        <p:tav tm="0">
                                          <p:val>
                                            <p:strVal val="#ppt_x"/>
                                          </p:val>
                                        </p:tav>
                                        <p:tav tm="100000">
                                          <p:val>
                                            <p:strVal val="#ppt_x"/>
                                          </p:val>
                                        </p:tav>
                                      </p:tavLst>
                                    </p:anim>
                                    <p:anim calcmode="lin" valueType="num">
                                      <p:cBhvr additive="base">
                                        <p:cTn id="48" dur="500" fill="hold"/>
                                        <p:tgtEl>
                                          <p:spTgt spid="17"/>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3" grpId="0"/>
      <p:bldP spid="14" grpId="0" animBg="1"/>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C11EC-1D2A-EF04-1CDF-BB38D586A24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E2A43EA-2017-31CA-FE1C-5313168BD165}"/>
              </a:ext>
            </a:extLst>
          </p:cNvPr>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a:effectLst/>
        </p:spPr>
      </p:pic>
      <p:sp>
        <p:nvSpPr>
          <p:cNvPr id="3" name="TextBox 2">
            <a:extLst>
              <a:ext uri="{FF2B5EF4-FFF2-40B4-BE49-F238E27FC236}">
                <a16:creationId xmlns:a16="http://schemas.microsoft.com/office/drawing/2014/main" id="{F4DE6F86-89E9-E1D1-B373-1D13E1481CB5}"/>
              </a:ext>
            </a:extLst>
          </p:cNvPr>
          <p:cNvSpPr txBox="1"/>
          <p:nvPr/>
        </p:nvSpPr>
        <p:spPr>
          <a:xfrm>
            <a:off x="3132009" y="523602"/>
            <a:ext cx="3369833" cy="461665"/>
          </a:xfrm>
          <a:prstGeom prst="rect">
            <a:avLst/>
          </a:prstGeom>
          <a:noFill/>
          <a:effectLst/>
        </p:spPr>
        <p:txBody>
          <a:bodyPr wrap="none" rtlCol="0">
            <a:spAutoFit/>
          </a:bodyPr>
          <a:lstStyle/>
          <a:p>
            <a:r>
              <a:rPr lang="en-US" sz="2400" dirty="0">
                <a:latin typeface="Times New Roman" panose="02020603050405020304" pitchFamily="18" charset="0"/>
                <a:cs typeface="Times New Roman" panose="02020603050405020304" pitchFamily="18" charset="0"/>
              </a:rPr>
              <a:t>H0: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 50 vs. Ha: </a:t>
            </a:r>
            <a:r>
              <a:rPr lang="en-US" sz="2400" i="1" dirty="0">
                <a:latin typeface="Symbol" pitchFamily="2" charset="2"/>
                <a:cs typeface="Times New Roman" panose="02020603050405020304" pitchFamily="18" charset="0"/>
              </a:rPr>
              <a:t>m</a:t>
            </a:r>
            <a:r>
              <a:rPr lang="en-US" sz="2400" dirty="0">
                <a:latin typeface="Times New Roman" panose="02020603050405020304" pitchFamily="18" charset="0"/>
                <a:cs typeface="Times New Roman" panose="02020603050405020304" pitchFamily="18" charset="0"/>
              </a:rPr>
              <a:t> &gt; 50</a:t>
            </a:r>
          </a:p>
        </p:txBody>
      </p:sp>
      <p:pic>
        <p:nvPicPr>
          <p:cNvPr id="4" name="Picture 3">
            <a:extLst>
              <a:ext uri="{FF2B5EF4-FFF2-40B4-BE49-F238E27FC236}">
                <a16:creationId xmlns:a16="http://schemas.microsoft.com/office/drawing/2014/main" id="{02C1D684-1400-5DD5-F3C8-84167B0BAB0F}"/>
              </a:ext>
            </a:extLst>
          </p:cNvPr>
          <p:cNvPicPr>
            <a:picLocks noChangeAspect="1"/>
          </p:cNvPicPr>
          <p:nvPr/>
        </p:nvPicPr>
        <p:blipFill>
          <a:blip r:embed="rId3"/>
          <a:stretch>
            <a:fillRect/>
          </a:stretch>
        </p:blipFill>
        <p:spPr>
          <a:xfrm>
            <a:off x="685800" y="1167058"/>
            <a:ext cx="7772400" cy="5186823"/>
          </a:xfrm>
          <a:prstGeom prst="rect">
            <a:avLst/>
          </a:prstGeom>
          <a:effectLst/>
        </p:spPr>
      </p:pic>
      <p:sp>
        <p:nvSpPr>
          <p:cNvPr id="5" name="TextBox 4">
            <a:extLst>
              <a:ext uri="{FF2B5EF4-FFF2-40B4-BE49-F238E27FC236}">
                <a16:creationId xmlns:a16="http://schemas.microsoft.com/office/drawing/2014/main" id="{B8327D67-76C6-1FD9-4518-97EFC7BB8D79}"/>
              </a:ext>
            </a:extLst>
          </p:cNvPr>
          <p:cNvSpPr txBox="1"/>
          <p:nvPr/>
        </p:nvSpPr>
        <p:spPr>
          <a:xfrm>
            <a:off x="3236334" y="4597498"/>
            <a:ext cx="958917"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c</a:t>
            </a:r>
            <a:r>
              <a:rPr lang="en-US" dirty="0">
                <a:latin typeface="Times New Roman" panose="02020603050405020304" pitchFamily="18" charset="0"/>
                <a:cs typeface="Times New Roman" panose="02020603050405020304" pitchFamily="18" charset="0"/>
              </a:rPr>
              <a:t>: 1.833</a:t>
            </a:r>
          </a:p>
        </p:txBody>
      </p:sp>
      <p:sp>
        <p:nvSpPr>
          <p:cNvPr id="6" name="TextBox 5">
            <a:extLst>
              <a:ext uri="{FF2B5EF4-FFF2-40B4-BE49-F238E27FC236}">
                <a16:creationId xmlns:a16="http://schemas.microsoft.com/office/drawing/2014/main" id="{6EDB85F5-7046-70A4-F1D5-0FD0D834493D}"/>
              </a:ext>
            </a:extLst>
          </p:cNvPr>
          <p:cNvSpPr txBox="1"/>
          <p:nvPr/>
        </p:nvSpPr>
        <p:spPr>
          <a:xfrm>
            <a:off x="1043940" y="4975860"/>
            <a:ext cx="574196" cy="369332"/>
          </a:xfrm>
          <a:prstGeom prst="rect">
            <a:avLst/>
          </a:prstGeom>
          <a:noFill/>
          <a:effectLst/>
        </p:spPr>
        <p:txBody>
          <a:bodyPr wrap="none" rtlCol="0">
            <a:spAutoFit/>
          </a:bodyPr>
          <a:lstStyle/>
          <a:p>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endParaRPr lang="en-US" baseline="-250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C7A3DA7C-B045-A503-9C35-387DD140D800}"/>
              </a:ext>
            </a:extLst>
          </p:cNvPr>
          <p:cNvSpPr txBox="1"/>
          <p:nvPr/>
        </p:nvSpPr>
        <p:spPr>
          <a:xfrm>
            <a:off x="5154930" y="1717770"/>
            <a:ext cx="2925224"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Null density, H0: </a:t>
            </a:r>
            <a:r>
              <a:rPr lang="en-US" i="1" dirty="0">
                <a:latin typeface="Times New Roman" panose="02020603050405020304" pitchFamily="18" charset="0"/>
                <a:cs typeface="Times New Roman" panose="02020603050405020304" pitchFamily="18" charset="0"/>
              </a:rPr>
              <a:t>p</a:t>
            </a:r>
            <a:r>
              <a:rPr lang="en-US" dirty="0">
                <a:latin typeface="Times New Roman" panose="02020603050405020304" pitchFamily="18" charset="0"/>
                <a:cs typeface="Times New Roman" panose="02020603050405020304" pitchFamily="18" charset="0"/>
              </a:rPr>
              <a:t>(</a:t>
            </a:r>
            <a:r>
              <a:rPr lang="en-US" i="1" dirty="0">
                <a:latin typeface="Times New Roman" panose="02020603050405020304" pitchFamily="18" charset="0"/>
                <a:cs typeface="Times New Roman" panose="02020603050405020304" pitchFamily="18" charset="0"/>
              </a:rPr>
              <a:t>t </a:t>
            </a:r>
            <a:r>
              <a:rPr lang="en-US" dirty="0">
                <a:latin typeface="Times New Roman" panose="02020603050405020304" pitchFamily="18" charset="0"/>
                <a:cs typeface="Times New Roman" panose="02020603050405020304" pitchFamily="18" charset="0"/>
              </a:rPr>
              <a:t>|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cxnSp>
        <p:nvCxnSpPr>
          <p:cNvPr id="8" name="Straight Arrow Connector 7">
            <a:extLst>
              <a:ext uri="{FF2B5EF4-FFF2-40B4-BE49-F238E27FC236}">
                <a16:creationId xmlns:a16="http://schemas.microsoft.com/office/drawing/2014/main" id="{58720AEF-8C0D-D381-A338-A451A74D55DE}"/>
              </a:ext>
            </a:extLst>
          </p:cNvPr>
          <p:cNvCxnSpPr>
            <a:cxnSpLocks/>
          </p:cNvCxnSpPr>
          <p:nvPr/>
        </p:nvCxnSpPr>
        <p:spPr>
          <a:xfrm>
            <a:off x="4011930" y="4909680"/>
            <a:ext cx="859877" cy="827851"/>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25E657E-F98B-B5E8-F983-84E0DA667530}"/>
              </a:ext>
            </a:extLst>
          </p:cNvPr>
          <p:cNvCxnSpPr>
            <a:cxnSpLocks/>
          </p:cNvCxnSpPr>
          <p:nvPr/>
        </p:nvCxnSpPr>
        <p:spPr>
          <a:xfrm>
            <a:off x="1156892" y="5338136"/>
            <a:ext cx="249865" cy="376864"/>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5C37EA8-8B70-3FF9-9D3B-5AA31AD93D20}"/>
              </a:ext>
            </a:extLst>
          </p:cNvPr>
          <p:cNvCxnSpPr>
            <a:cxnSpLocks/>
          </p:cNvCxnSpPr>
          <p:nvPr/>
        </p:nvCxnSpPr>
        <p:spPr>
          <a:xfrm flipH="1">
            <a:off x="4800600" y="1925460"/>
            <a:ext cx="417821" cy="0"/>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18900017-A423-D311-B691-7CCD62A43844}"/>
              </a:ext>
            </a:extLst>
          </p:cNvPr>
          <p:cNvSpPr txBox="1"/>
          <p:nvPr/>
        </p:nvSpPr>
        <p:spPr>
          <a:xfrm>
            <a:off x="1009219" y="1971180"/>
            <a:ext cx="3265602" cy="923330"/>
          </a:xfrm>
          <a:prstGeom prst="rect">
            <a:avLst/>
          </a:prstGeom>
          <a:noFill/>
          <a:effectLst/>
        </p:spPr>
        <p:txBody>
          <a:bodyPr wrap="square" rtlCol="0">
            <a:spAutoFit/>
          </a:bodyPr>
          <a:lstStyle/>
          <a:p>
            <a:pPr algn="just"/>
            <a:r>
              <a:rPr lang="en-US" u="sng" dirty="0">
                <a:latin typeface="Times New Roman" panose="02020603050405020304" pitchFamily="18" charset="0"/>
                <a:cs typeface="Times New Roman" panose="02020603050405020304" pitchFamily="18" charset="0"/>
              </a:rPr>
              <a:t>p-value</a:t>
            </a:r>
            <a:r>
              <a:rPr lang="en-US" dirty="0">
                <a:latin typeface="Times New Roman" panose="02020603050405020304" pitchFamily="18" charset="0"/>
                <a:cs typeface="Times New Roman" panose="02020603050405020304" pitchFamily="18" charset="0"/>
              </a:rPr>
              <a:t>: What’s the probability of observing a </a:t>
            </a:r>
            <a:r>
              <a:rPr lang="en-US" i="1" dirty="0" err="1">
                <a:latin typeface="Times New Roman" panose="02020603050405020304" pitchFamily="18" charset="0"/>
                <a:cs typeface="Times New Roman" panose="02020603050405020304" pitchFamily="18" charset="0"/>
              </a:rPr>
              <a:t>t</a:t>
            </a:r>
            <a:r>
              <a:rPr lang="en-US" baseline="-25000" dirty="0" err="1">
                <a:latin typeface="Times New Roman" panose="02020603050405020304" pitchFamily="18" charset="0"/>
                <a:cs typeface="Times New Roman" panose="02020603050405020304" pitchFamily="18" charset="0"/>
              </a:rPr>
              <a:t>samp</a:t>
            </a:r>
            <a:r>
              <a:rPr lang="en-US" dirty="0">
                <a:latin typeface="Times New Roman" panose="02020603050405020304" pitchFamily="18" charset="0"/>
                <a:cs typeface="Times New Roman" panose="02020603050405020304" pitchFamily="18" charset="0"/>
              </a:rPr>
              <a:t> this extreme or more, given H0: </a:t>
            </a:r>
            <a:r>
              <a:rPr lang="en-US" i="1" dirty="0">
                <a:latin typeface="Symbol" pitchFamily="2" charset="2"/>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 50?</a:t>
            </a:r>
          </a:p>
        </p:txBody>
      </p:sp>
      <p:sp>
        <p:nvSpPr>
          <p:cNvPr id="12" name="Right Brace 11">
            <a:extLst>
              <a:ext uri="{FF2B5EF4-FFF2-40B4-BE49-F238E27FC236}">
                <a16:creationId xmlns:a16="http://schemas.microsoft.com/office/drawing/2014/main" id="{6F8BF40C-D3FF-7E0D-45E2-BF0708CA1692}"/>
              </a:ext>
            </a:extLst>
          </p:cNvPr>
          <p:cNvSpPr/>
          <p:nvPr/>
        </p:nvSpPr>
        <p:spPr>
          <a:xfrm rot="16200000">
            <a:off x="4665294" y="2116074"/>
            <a:ext cx="376863" cy="6866049"/>
          </a:xfrm>
          <a:prstGeom prst="rightBrace">
            <a:avLst>
              <a:gd name="adj1" fmla="val 8333"/>
              <a:gd name="adj2" fmla="val 61653"/>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FE6F5E85-F0AD-7432-385C-DB11FB7DD668}"/>
              </a:ext>
            </a:extLst>
          </p:cNvPr>
          <p:cNvSpPr txBox="1"/>
          <p:nvPr/>
        </p:nvSpPr>
        <p:spPr>
          <a:xfrm>
            <a:off x="1971118" y="2840302"/>
            <a:ext cx="425116" cy="369332"/>
          </a:xfrm>
          <a:prstGeom prst="rect">
            <a:avLst/>
          </a:prstGeom>
          <a:noFill/>
          <a:effectLst/>
        </p:spPr>
        <p:txBody>
          <a:bodyPr wrap="none" rtlCol="0">
            <a:spAutoFit/>
          </a:bodyPr>
          <a:lstStyle/>
          <a:p>
            <a:r>
              <a:rPr lang="en-US" dirty="0">
                <a:latin typeface="Times New Roman" panose="02020603050405020304" pitchFamily="18" charset="0"/>
                <a:cs typeface="Times New Roman" panose="02020603050405020304" pitchFamily="18" charset="0"/>
              </a:rPr>
              <a:t>~1</a:t>
            </a:r>
            <a:endParaRPr lang="en-US" baseline="30000" dirty="0">
              <a:latin typeface="Times New Roman" panose="02020603050405020304" pitchFamily="18" charset="0"/>
              <a:cs typeface="Times New Roman" panose="02020603050405020304" pitchFamily="18" charset="0"/>
            </a:endParaRPr>
          </a:p>
        </p:txBody>
      </p:sp>
      <p:cxnSp>
        <p:nvCxnSpPr>
          <p:cNvPr id="14" name="Straight Arrow Connector 13">
            <a:extLst>
              <a:ext uri="{FF2B5EF4-FFF2-40B4-BE49-F238E27FC236}">
                <a16:creationId xmlns:a16="http://schemas.microsoft.com/office/drawing/2014/main" id="{CE771F56-1004-E124-2FDC-57F4524D3C2E}"/>
              </a:ext>
            </a:extLst>
          </p:cNvPr>
          <p:cNvCxnSpPr>
            <a:cxnSpLocks/>
          </p:cNvCxnSpPr>
          <p:nvPr/>
        </p:nvCxnSpPr>
        <p:spPr>
          <a:xfrm>
            <a:off x="2303936" y="3120390"/>
            <a:ext cx="3388204" cy="2212467"/>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3B788F56-DFAA-4182-4447-8E4F553439D9}"/>
              </a:ext>
            </a:extLst>
          </p:cNvPr>
          <p:cNvSpPr txBox="1"/>
          <p:nvPr/>
        </p:nvSpPr>
        <p:spPr>
          <a:xfrm>
            <a:off x="4023360" y="6366114"/>
            <a:ext cx="1327608" cy="461665"/>
          </a:xfrm>
          <a:prstGeom prst="rect">
            <a:avLst/>
          </a:prstGeom>
          <a:noFill/>
          <a:effectLst/>
        </p:spPr>
        <p:txBody>
          <a:bodyPr wrap="none" rtlCol="0">
            <a:spAutoFit/>
          </a:bodyPr>
          <a:lstStyle/>
          <a:p>
            <a:r>
              <a:rPr lang="en-US" sz="2400" i="1" dirty="0">
                <a:latin typeface="Times New Roman" panose="02020603050405020304" pitchFamily="18" charset="0"/>
                <a:cs typeface="Times New Roman" panose="02020603050405020304" pitchFamily="18" charset="0"/>
              </a:rPr>
              <a:t>t</a:t>
            </a:r>
            <a:r>
              <a:rPr lang="en-US" sz="2400" dirty="0">
                <a:latin typeface="Times New Roman" panose="02020603050405020304" pitchFamily="18" charset="0"/>
                <a:cs typeface="Times New Roman" panose="02020603050405020304" pitchFamily="18" charset="0"/>
              </a:rPr>
              <a:t>-statistic</a:t>
            </a:r>
            <a:endParaRPr lang="en-US" dirty="0">
              <a:latin typeface="Times New Roman" panose="02020603050405020304" pitchFamily="18" charset="0"/>
              <a:cs typeface="Times New Roman" panose="02020603050405020304" pitchFamily="18" charset="0"/>
            </a:endParaRPr>
          </a:p>
        </p:txBody>
      </p:sp>
      <p:sp>
        <p:nvSpPr>
          <p:cNvPr id="16" name="TextBox 15">
            <a:extLst>
              <a:ext uri="{FF2B5EF4-FFF2-40B4-BE49-F238E27FC236}">
                <a16:creationId xmlns:a16="http://schemas.microsoft.com/office/drawing/2014/main" id="{7F378DC3-DA9C-DAAE-7D9B-ED311AED28C1}"/>
              </a:ext>
            </a:extLst>
          </p:cNvPr>
          <p:cNvSpPr txBox="1"/>
          <p:nvPr/>
        </p:nvSpPr>
        <p:spPr>
          <a:xfrm>
            <a:off x="7109461" y="6381690"/>
            <a:ext cx="2034540" cy="400110"/>
          </a:xfrm>
          <a:prstGeom prst="rect">
            <a:avLst/>
          </a:prstGeom>
          <a:noFill/>
          <a:effectLst/>
        </p:spPr>
        <p:txBody>
          <a:bodyPr wrap="square">
            <a:spAutoFit/>
          </a:bodyPr>
          <a:lstStyle/>
          <a:p>
            <a:r>
              <a:rPr lang="en-US" sz="2000" dirty="0">
                <a:latin typeface="Times New Roman" panose="02020603050405020304" pitchFamily="18" charset="0"/>
                <a:cs typeface="Times New Roman" panose="02020603050405020304" pitchFamily="18" charset="0"/>
                <a:hlinkClick r:id="rId4"/>
              </a:rPr>
              <a:t>hand_ostu_ex1.R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8416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500" fill="hold"/>
                                        <p:tgtEl>
                                          <p:spTgt spid="6"/>
                                        </p:tgtEl>
                                        <p:attrNameLst>
                                          <p:attrName>ppt_x</p:attrName>
                                        </p:attrNameLst>
                                      </p:cBhvr>
                                      <p:tavLst>
                                        <p:tav tm="0">
                                          <p:val>
                                            <p:strVal val="#ppt_x"/>
                                          </p:val>
                                        </p:tav>
                                        <p:tav tm="100000">
                                          <p:val>
                                            <p:strVal val="#ppt_x"/>
                                          </p:val>
                                        </p:tav>
                                      </p:tavLst>
                                    </p:anim>
                                    <p:anim calcmode="lin" valueType="num">
                                      <p:cBhvr additive="base">
                                        <p:cTn id="28" dur="500" fill="hold"/>
                                        <p:tgtEl>
                                          <p:spTgt spid="6"/>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ppt_x</p:attrName>
                                        </p:attrNameLst>
                                      </p:cBhvr>
                                      <p:tavLst>
                                        <p:tav tm="0">
                                          <p:val>
                                            <p:strVal val="#ppt_x"/>
                                          </p:val>
                                        </p:tav>
                                        <p:tav tm="100000">
                                          <p:val>
                                            <p:strVal val="#ppt_x"/>
                                          </p:val>
                                        </p:tav>
                                      </p:tavLst>
                                    </p:anim>
                                    <p:anim calcmode="lin" valueType="num">
                                      <p:cBhvr additive="base">
                                        <p:cTn id="3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500" fill="hold"/>
                                        <p:tgtEl>
                                          <p:spTgt spid="13"/>
                                        </p:tgtEl>
                                        <p:attrNameLst>
                                          <p:attrName>ppt_x</p:attrName>
                                        </p:attrNameLst>
                                      </p:cBhvr>
                                      <p:tavLst>
                                        <p:tav tm="0">
                                          <p:val>
                                            <p:strVal val="#ppt_x"/>
                                          </p:val>
                                        </p:tav>
                                        <p:tav tm="100000">
                                          <p:val>
                                            <p:strVal val="#ppt_x"/>
                                          </p:val>
                                        </p:tav>
                                      </p:tavLst>
                                    </p:anim>
                                    <p:anim calcmode="lin" valueType="num">
                                      <p:cBhvr additive="base">
                                        <p:cTn id="44" dur="500" fill="hold"/>
                                        <p:tgtEl>
                                          <p:spTgt spid="13"/>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 calcmode="lin" valueType="num">
                                      <p:cBhvr additive="base">
                                        <p:cTn id="51" dur="500" fill="hold"/>
                                        <p:tgtEl>
                                          <p:spTgt spid="12"/>
                                        </p:tgtEl>
                                        <p:attrNameLst>
                                          <p:attrName>ppt_x</p:attrName>
                                        </p:attrNameLst>
                                      </p:cBhvr>
                                      <p:tavLst>
                                        <p:tav tm="0">
                                          <p:val>
                                            <p:strVal val="#ppt_x"/>
                                          </p:val>
                                        </p:tav>
                                        <p:tav tm="100000">
                                          <p:val>
                                            <p:strVal val="#ppt_x"/>
                                          </p:val>
                                        </p:tav>
                                      </p:tavLst>
                                    </p:anim>
                                    <p:anim calcmode="lin" valueType="num">
                                      <p:cBhvr additive="base">
                                        <p:cTn id="5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11" grpId="0"/>
      <p:bldP spid="12" grpId="0" animBg="1"/>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One Sample Hypothesis Testing for the Mean</a:t>
            </a:r>
          </a:p>
        </p:txBody>
      </p:sp>
      <p:pic>
        <p:nvPicPr>
          <p:cNvPr id="7" name="Picture 6"/>
          <p:cNvPicPr>
            <a:picLocks noChangeAspect="1" noChangeArrowheads="1"/>
          </p:cNvPicPr>
          <p:nvPr/>
        </p:nvPicPr>
        <p:blipFill>
          <a:blip r:embed="rId3" cstate="print"/>
          <a:srcRect/>
          <a:stretch>
            <a:fillRect/>
          </a:stretch>
        </p:blipFill>
        <p:spPr bwMode="auto">
          <a:xfrm>
            <a:off x="484188" y="76200"/>
            <a:ext cx="8202612" cy="239712"/>
          </a:xfrm>
          <a:prstGeom prst="rect">
            <a:avLst/>
          </a:prstGeom>
          <a:noFill/>
          <a:ln w="9525">
            <a:noFill/>
            <a:round/>
            <a:headEnd/>
            <a:tailEnd/>
          </a:ln>
        </p:spPr>
      </p:pic>
      <p:sp>
        <p:nvSpPr>
          <p:cNvPr id="11" name="Rectangle 10"/>
          <p:cNvSpPr/>
          <p:nvPr/>
        </p:nvSpPr>
        <p:spPr>
          <a:xfrm>
            <a:off x="3266746" y="6310678"/>
            <a:ext cx="2025201" cy="369332"/>
          </a:xfrm>
          <a:prstGeom prst="rect">
            <a:avLst/>
          </a:prstGeom>
        </p:spPr>
        <p:txBody>
          <a:bodyPr wrap="none">
            <a:spAutoFit/>
          </a:bodyPr>
          <a:lstStyle/>
          <a:p>
            <a:r>
              <a:rPr lang="en-US" dirty="0">
                <a:latin typeface="Symbol" charset="2"/>
                <a:cs typeface="Symbol" charset="2"/>
              </a:rPr>
              <a:t>H</a:t>
            </a:r>
            <a:r>
              <a:rPr lang="en-US" baseline="-25000" dirty="0">
                <a:latin typeface="Times New Roman"/>
                <a:cs typeface="Times New Roman"/>
              </a:rPr>
              <a:t>a</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a:t>
            </a:r>
            <a:endParaRPr lang="en-US" dirty="0"/>
          </a:p>
        </p:txBody>
      </p:sp>
      <p:sp>
        <p:nvSpPr>
          <p:cNvPr id="12" name="Rectangle 11"/>
          <p:cNvSpPr/>
          <p:nvPr/>
        </p:nvSpPr>
        <p:spPr>
          <a:xfrm>
            <a:off x="3218626" y="5934476"/>
            <a:ext cx="1986441" cy="369332"/>
          </a:xfrm>
          <a:prstGeom prst="rect">
            <a:avLst/>
          </a:prstGeom>
        </p:spPr>
        <p:txBody>
          <a:bodyPr wrap="none">
            <a:spAutoFit/>
          </a:bodyPr>
          <a:lstStyle/>
          <a:p>
            <a:r>
              <a:rPr lang="en-US" dirty="0">
                <a:latin typeface="Symbol" charset="2"/>
                <a:cs typeface="Symbol" charset="2"/>
              </a:rPr>
              <a:t>H</a:t>
            </a:r>
            <a:r>
              <a:rPr lang="en-US" baseline="-25000" dirty="0">
                <a:latin typeface="Times New Roman"/>
                <a:cs typeface="Times New Roman"/>
              </a:rPr>
              <a:t>0</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a:t>
            </a:r>
            <a:endParaRPr lang="en-US" dirty="0"/>
          </a:p>
        </p:txBody>
      </p:sp>
      <p:sp>
        <p:nvSpPr>
          <p:cNvPr id="13" name="Rectangle 12"/>
          <p:cNvSpPr/>
          <p:nvPr/>
        </p:nvSpPr>
        <p:spPr>
          <a:xfrm>
            <a:off x="93576" y="1330523"/>
            <a:ext cx="8996949" cy="3985706"/>
          </a:xfrm>
          <a:prstGeom prst="rect">
            <a:avLst/>
          </a:prstGeom>
          <a:solidFill>
            <a:srgbClr val="000C78"/>
          </a:solidFill>
        </p:spPr>
        <p:txBody>
          <a:bodyPr wrap="square">
            <a:spAutoFit/>
          </a:bodyPr>
          <a:lstStyle/>
          <a:p>
            <a:r>
              <a:rPr lang="en-US" sz="1100" dirty="0">
                <a:solidFill>
                  <a:srgbClr val="FF0000"/>
                </a:solidFill>
                <a:latin typeface="Courier"/>
                <a:cs typeface="Courier"/>
              </a:rPr>
              <a:t># Question of interest: Is the mean mass == 50.000g ? </a:t>
            </a:r>
          </a:p>
          <a:p>
            <a:endParaRPr lang="en-US" sz="1100" dirty="0">
              <a:solidFill>
                <a:schemeClr val="bg1"/>
              </a:solidFill>
              <a:latin typeface="Courier"/>
              <a:cs typeface="Courier"/>
            </a:endParaRPr>
          </a:p>
          <a:p>
            <a:r>
              <a:rPr lang="en-US" sz="1100" dirty="0">
                <a:solidFill>
                  <a:schemeClr val="bg1"/>
                </a:solidFill>
                <a:latin typeface="Courier"/>
                <a:cs typeface="Courier"/>
              </a:rPr>
              <a:t>x &lt;- c(49.9996,49.9994,49.9993,49.9996,49.9995,49.9995,49.9995,49.9994,49.9995,49.9994)</a:t>
            </a:r>
          </a:p>
          <a:p>
            <a:r>
              <a:rPr lang="en-US" sz="1100" dirty="0">
                <a:solidFill>
                  <a:schemeClr val="bg1"/>
                </a:solidFill>
                <a:latin typeface="Courier"/>
                <a:cs typeface="Courier"/>
              </a:rPr>
              <a:t>mean(x)</a:t>
            </a:r>
          </a:p>
          <a:p>
            <a:endParaRPr lang="en-US" sz="1100" dirty="0">
              <a:solidFill>
                <a:schemeClr val="bg1"/>
              </a:solidFill>
              <a:latin typeface="Courier"/>
              <a:cs typeface="Courier"/>
            </a:endParaRPr>
          </a:p>
          <a:p>
            <a:r>
              <a:rPr lang="en-US" sz="1100" dirty="0">
                <a:solidFill>
                  <a:srgbClr val="FF0000"/>
                </a:solidFill>
                <a:latin typeface="Courier"/>
                <a:cs typeface="Courier"/>
              </a:rPr>
              <a:t># NULL HYPOTHESIS:</a:t>
            </a:r>
            <a:r>
              <a:rPr lang="en-US" sz="1100" dirty="0">
                <a:solidFill>
                  <a:schemeClr val="bg1"/>
                </a:solidFill>
                <a:latin typeface="Courier"/>
                <a:cs typeface="Courier"/>
              </a:rPr>
              <a:t>        </a:t>
            </a:r>
            <a:r>
              <a:rPr lang="en-US" sz="1100" dirty="0">
                <a:solidFill>
                  <a:srgbClr val="FFFF00"/>
                </a:solidFill>
                <a:latin typeface="Courier"/>
                <a:cs typeface="Courier"/>
              </a:rPr>
              <a:t>mu == 50.000g</a:t>
            </a:r>
          </a:p>
          <a:p>
            <a:r>
              <a:rPr lang="en-US" sz="1100" dirty="0">
                <a:solidFill>
                  <a:srgbClr val="FF0000"/>
                </a:solidFill>
                <a:latin typeface="Courier"/>
                <a:cs typeface="Courier"/>
              </a:rPr>
              <a:t># ALTERNATIVE HYPOTHESIS:</a:t>
            </a:r>
            <a:r>
              <a:rPr lang="en-US" sz="1100" dirty="0">
                <a:solidFill>
                  <a:schemeClr val="bg1"/>
                </a:solidFill>
                <a:latin typeface="Courier"/>
                <a:cs typeface="Courier"/>
              </a:rPr>
              <a:t> </a:t>
            </a:r>
            <a:r>
              <a:rPr lang="en-US" sz="1100" dirty="0">
                <a:solidFill>
                  <a:srgbClr val="FFFF00"/>
                </a:solidFill>
                <a:latin typeface="Courier"/>
                <a:cs typeface="Courier"/>
              </a:rPr>
              <a:t>mu != 50.000g</a:t>
            </a:r>
          </a:p>
          <a:p>
            <a:endParaRPr lang="en-US" sz="1100" dirty="0">
              <a:solidFill>
                <a:schemeClr val="bg1"/>
              </a:solidFill>
              <a:latin typeface="Courier"/>
              <a:cs typeface="Courier"/>
            </a:endParaRPr>
          </a:p>
          <a:p>
            <a:r>
              <a:rPr lang="en-US" sz="1100" dirty="0" err="1">
                <a:solidFill>
                  <a:schemeClr val="bg1"/>
                </a:solidFill>
                <a:latin typeface="Courier"/>
                <a:cs typeface="Courier"/>
              </a:rPr>
              <a:t>t.test</a:t>
            </a:r>
            <a:r>
              <a:rPr lang="en-US" sz="1100" dirty="0">
                <a:solidFill>
                  <a:schemeClr val="bg1"/>
                </a:solidFill>
                <a:latin typeface="Courier"/>
                <a:cs typeface="Courier"/>
              </a:rPr>
              <a:t>(x, alternative = </a:t>
            </a:r>
            <a:r>
              <a:rPr lang="en-US" sz="1100" dirty="0">
                <a:solidFill>
                  <a:srgbClr val="00B050"/>
                </a:solidFill>
                <a:latin typeface="Courier"/>
                <a:cs typeface="Courier"/>
              </a:rPr>
              <a:t>"</a:t>
            </a:r>
            <a:r>
              <a:rPr lang="en-US" sz="1100" dirty="0" err="1">
                <a:solidFill>
                  <a:srgbClr val="00B050"/>
                </a:solidFill>
                <a:latin typeface="Courier"/>
                <a:cs typeface="Courier"/>
              </a:rPr>
              <a:t>two.sided</a:t>
            </a:r>
            <a:r>
              <a:rPr lang="en-US" sz="1100" dirty="0">
                <a:solidFill>
                  <a:srgbClr val="00B050"/>
                </a:solidFill>
                <a:latin typeface="Courier"/>
                <a:cs typeface="Courier"/>
              </a:rPr>
              <a:t>"</a:t>
            </a:r>
            <a:r>
              <a:rPr lang="en-US" sz="1100" dirty="0">
                <a:solidFill>
                  <a:schemeClr val="bg1"/>
                </a:solidFill>
                <a:latin typeface="Courier"/>
                <a:cs typeface="Courier"/>
              </a:rPr>
              <a:t>, mu = 50.000, </a:t>
            </a:r>
            <a:r>
              <a:rPr lang="en-US" sz="1100" dirty="0" err="1">
                <a:solidFill>
                  <a:schemeClr val="bg1"/>
                </a:solidFill>
                <a:latin typeface="Courier"/>
                <a:cs typeface="Courier"/>
              </a:rPr>
              <a:t>conf.level</a:t>
            </a:r>
            <a:r>
              <a:rPr lang="en-US" sz="1100" dirty="0">
                <a:solidFill>
                  <a:schemeClr val="bg1"/>
                </a:solidFill>
                <a:latin typeface="Courier"/>
                <a:cs typeface="Courier"/>
              </a:rPr>
              <a:t> = 0.95)</a:t>
            </a:r>
          </a:p>
          <a:p>
            <a:endParaRPr lang="en-US" sz="1100" dirty="0">
              <a:solidFill>
                <a:schemeClr val="bg1"/>
              </a:solidFill>
              <a:latin typeface="Courier"/>
              <a:cs typeface="Courier"/>
            </a:endParaRPr>
          </a:p>
          <a:p>
            <a:r>
              <a:rPr lang="en-US" sz="1100" dirty="0">
                <a:solidFill>
                  <a:srgbClr val="FFFF00"/>
                </a:solidFill>
                <a:latin typeface="Courier"/>
                <a:cs typeface="Courier"/>
              </a:rPr>
              <a:t># The meaning of the output for </a:t>
            </a:r>
            <a:r>
              <a:rPr lang="en-US" sz="1100" dirty="0" err="1">
                <a:solidFill>
                  <a:srgbClr val="FFFF00"/>
                </a:solidFill>
                <a:latin typeface="Courier"/>
                <a:cs typeface="Courier"/>
              </a:rPr>
              <a:t>t.test</a:t>
            </a:r>
            <a:r>
              <a:rPr lang="en-US" sz="1100" dirty="0">
                <a:solidFill>
                  <a:srgbClr val="FFFF00"/>
                </a:solidFill>
                <a:latin typeface="Courier"/>
                <a:cs typeface="Courier"/>
              </a:rPr>
              <a:t>: </a:t>
            </a:r>
          </a:p>
          <a:p>
            <a:endParaRPr lang="en-US" sz="1100" dirty="0">
              <a:solidFill>
                <a:schemeClr val="bg1"/>
              </a:solidFill>
              <a:latin typeface="Courier"/>
              <a:cs typeface="Courier"/>
            </a:endParaRPr>
          </a:p>
          <a:p>
            <a:r>
              <a:rPr lang="en-US" sz="1100" dirty="0">
                <a:solidFill>
                  <a:srgbClr val="FFFF00"/>
                </a:solidFill>
                <a:latin typeface="Courier"/>
                <a:cs typeface="Courier"/>
              </a:rPr>
              <a:t># Can we REJECT the NULL HYPOTHESIS? =&gt; Is there evidence that the mean mass is not equal to 50.000g?</a:t>
            </a:r>
          </a:p>
          <a:p>
            <a:r>
              <a:rPr lang="en-US" sz="1100" dirty="0">
                <a:solidFill>
                  <a:srgbClr val="FFFF00"/>
                </a:solidFill>
                <a:latin typeface="Courier"/>
                <a:cs typeface="Courier"/>
              </a:rPr>
              <a:t># p-value = 2.704e-08</a:t>
            </a:r>
          </a:p>
          <a:p>
            <a:r>
              <a:rPr lang="en-US" sz="1100" dirty="0">
                <a:solidFill>
                  <a:srgbClr val="FFFF00"/>
                </a:solidFill>
                <a:latin typeface="Courier"/>
                <a:cs typeface="Courier"/>
              </a:rPr>
              <a:t>#</a:t>
            </a:r>
          </a:p>
          <a:p>
            <a:r>
              <a:rPr lang="en-US" sz="1100" dirty="0">
                <a:solidFill>
                  <a:srgbClr val="FFFF00"/>
                </a:solidFill>
                <a:latin typeface="Courier"/>
                <a:cs typeface="Courier"/>
              </a:rPr>
              <a:t># So p &lt; 0.05. REJECT the NULL HYPOTHESIS. The data is "unlikely" under the null.</a:t>
            </a:r>
          </a:p>
          <a:p>
            <a:r>
              <a:rPr lang="en-US" sz="1100" dirty="0">
                <a:solidFill>
                  <a:srgbClr val="FFFF00"/>
                </a:solidFill>
                <a:latin typeface="Courier"/>
                <a:cs typeface="Courier"/>
              </a:rPr>
              <a:t># Another </a:t>
            </a:r>
            <a:r>
              <a:rPr lang="en-US" sz="1100" dirty="0" err="1">
                <a:solidFill>
                  <a:srgbClr val="FFFF00"/>
                </a:solidFill>
                <a:latin typeface="Courier"/>
                <a:cs typeface="Courier"/>
              </a:rPr>
              <a:t>interperitation</a:t>
            </a:r>
            <a:r>
              <a:rPr lang="en-US" sz="1100" dirty="0">
                <a:solidFill>
                  <a:srgbClr val="FFFF00"/>
                </a:solidFill>
                <a:latin typeface="Courier"/>
                <a:cs typeface="Courier"/>
              </a:rPr>
              <a:t>: If the Null were true, we wouldn't see data like this too often.</a:t>
            </a:r>
          </a:p>
          <a:p>
            <a:r>
              <a:rPr lang="en-US" sz="1100" dirty="0">
                <a:solidFill>
                  <a:srgbClr val="FFFF00"/>
                </a:solidFill>
                <a:latin typeface="Courier"/>
                <a:cs typeface="Courier"/>
              </a:rPr>
              <a:t># BUT: We CANNOT SAY that the data is more likely under the Alternative hypothesis.</a:t>
            </a:r>
          </a:p>
          <a:p>
            <a:endParaRPr lang="en-US" sz="1100" dirty="0">
              <a:solidFill>
                <a:schemeClr val="bg1"/>
              </a:solidFill>
              <a:latin typeface="Courier"/>
              <a:cs typeface="Courier"/>
            </a:endParaRPr>
          </a:p>
          <a:p>
            <a:r>
              <a:rPr lang="en-US" sz="1100" dirty="0">
                <a:solidFill>
                  <a:srgbClr val="FFFF00"/>
                </a:solidFill>
                <a:latin typeface="Courier"/>
                <a:cs typeface="Courier"/>
              </a:rPr>
              <a:t># 95 percent confidence interval:</a:t>
            </a:r>
          </a:p>
          <a:p>
            <a:r>
              <a:rPr lang="en-US" sz="1100" dirty="0">
                <a:solidFill>
                  <a:srgbClr val="FFFF00"/>
                </a:solidFill>
                <a:latin typeface="Courier"/>
                <a:cs typeface="Courier"/>
              </a:rPr>
              <a:t>#  49.99940 49.99954</a:t>
            </a:r>
          </a:p>
          <a:p>
            <a:r>
              <a:rPr lang="en-US" sz="1100" dirty="0">
                <a:solidFill>
                  <a:srgbClr val="FFFF00"/>
                </a:solidFill>
                <a:latin typeface="Courier"/>
                <a:cs typeface="Courier"/>
              </a:rPr>
              <a:t># This means: given your sample, a set of plausible values for the mean is [49.99940 49.99954], with 95% "plausibility"</a:t>
            </a:r>
          </a:p>
        </p:txBody>
      </p:sp>
      <p:sp>
        <p:nvSpPr>
          <p:cNvPr id="3" name="TextBox 2">
            <a:extLst>
              <a:ext uri="{FF2B5EF4-FFF2-40B4-BE49-F238E27FC236}">
                <a16:creationId xmlns:a16="http://schemas.microsoft.com/office/drawing/2014/main" id="{C44FF6EE-5816-94FE-A5F8-061DDAB8C48A}"/>
              </a:ext>
            </a:extLst>
          </p:cNvPr>
          <p:cNvSpPr txBox="1"/>
          <p:nvPr/>
        </p:nvSpPr>
        <p:spPr>
          <a:xfrm>
            <a:off x="93576" y="5342811"/>
            <a:ext cx="2383406" cy="400110"/>
          </a:xfrm>
          <a:prstGeom prst="rect">
            <a:avLst/>
          </a:prstGeom>
          <a:noFill/>
        </p:spPr>
        <p:txBody>
          <a:bodyPr wrap="square">
            <a:spAutoFit/>
          </a:bodyPr>
          <a:lstStyle/>
          <a:p>
            <a:r>
              <a:rPr lang="en-US" sz="2000" dirty="0" err="1">
                <a:latin typeface="Times New Roman" panose="02020603050405020304" pitchFamily="18" charset="0"/>
                <a:cs typeface="Times New Roman" panose="02020603050405020304" pitchFamily="18" charset="0"/>
                <a:hlinkClick r:id="rId4"/>
              </a:rPr>
              <a:t>hyp_test_twoside.R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24069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One Sample Hypothesis Testing for the Mean</a:t>
            </a:r>
          </a:p>
        </p:txBody>
      </p:sp>
      <p:pic>
        <p:nvPicPr>
          <p:cNvPr id="7" name="Picture 6"/>
          <p:cNvPicPr>
            <a:picLocks noChangeAspect="1" noChangeArrowheads="1"/>
          </p:cNvPicPr>
          <p:nvPr/>
        </p:nvPicPr>
        <p:blipFill>
          <a:blip r:embed="rId3" cstate="print"/>
          <a:srcRect/>
          <a:stretch>
            <a:fillRect/>
          </a:stretch>
        </p:blipFill>
        <p:spPr bwMode="auto">
          <a:xfrm>
            <a:off x="484188" y="76200"/>
            <a:ext cx="8202612" cy="239712"/>
          </a:xfrm>
          <a:prstGeom prst="rect">
            <a:avLst/>
          </a:prstGeom>
          <a:noFill/>
          <a:ln w="9525">
            <a:noFill/>
            <a:round/>
            <a:headEnd/>
            <a:tailEnd/>
          </a:ln>
        </p:spPr>
      </p:pic>
      <p:sp>
        <p:nvSpPr>
          <p:cNvPr id="10" name="Rectangle 9"/>
          <p:cNvSpPr/>
          <p:nvPr/>
        </p:nvSpPr>
        <p:spPr>
          <a:xfrm>
            <a:off x="93576" y="1330523"/>
            <a:ext cx="8996949" cy="3985706"/>
          </a:xfrm>
          <a:prstGeom prst="rect">
            <a:avLst/>
          </a:prstGeom>
          <a:solidFill>
            <a:srgbClr val="000C78"/>
          </a:solidFill>
        </p:spPr>
        <p:txBody>
          <a:bodyPr wrap="square">
            <a:spAutoFit/>
          </a:bodyPr>
          <a:lstStyle/>
          <a:p>
            <a:r>
              <a:rPr lang="en-US" sz="1100" dirty="0">
                <a:solidFill>
                  <a:srgbClr val="FF0000"/>
                </a:solidFill>
                <a:latin typeface="Courier"/>
                <a:cs typeface="Courier"/>
              </a:rPr>
              <a:t># Question of interest: Is there evidence that the mean mass is less than 50.000g ? </a:t>
            </a:r>
          </a:p>
          <a:p>
            <a:endParaRPr lang="en-US" sz="1100" dirty="0">
              <a:solidFill>
                <a:schemeClr val="bg1"/>
              </a:solidFill>
              <a:latin typeface="Courier"/>
              <a:cs typeface="Courier"/>
            </a:endParaRPr>
          </a:p>
          <a:p>
            <a:r>
              <a:rPr lang="en-US" sz="1100" dirty="0">
                <a:solidFill>
                  <a:schemeClr val="bg1"/>
                </a:solidFill>
                <a:latin typeface="Courier"/>
                <a:cs typeface="Courier"/>
              </a:rPr>
              <a:t>x &lt;- c(49.9996,49.9994,49.9993,49.9996,49.9995,49.9995,49.9995,49.9994,49.9995,49.9994)</a:t>
            </a:r>
          </a:p>
          <a:p>
            <a:r>
              <a:rPr lang="en-US" sz="1100" dirty="0">
                <a:solidFill>
                  <a:schemeClr val="bg1"/>
                </a:solidFill>
                <a:latin typeface="Courier"/>
                <a:cs typeface="Courier"/>
              </a:rPr>
              <a:t>mean(x)</a:t>
            </a:r>
          </a:p>
          <a:p>
            <a:endParaRPr lang="en-US" sz="1100" dirty="0">
              <a:solidFill>
                <a:schemeClr val="bg1"/>
              </a:solidFill>
              <a:latin typeface="Courier"/>
              <a:cs typeface="Courier"/>
            </a:endParaRPr>
          </a:p>
          <a:p>
            <a:r>
              <a:rPr lang="en-US" sz="1100" dirty="0">
                <a:solidFill>
                  <a:srgbClr val="FF0000"/>
                </a:solidFill>
                <a:latin typeface="Courier"/>
                <a:cs typeface="Courier"/>
              </a:rPr>
              <a:t># NULL HYPOTHESIS:</a:t>
            </a:r>
            <a:r>
              <a:rPr lang="en-US" sz="1100" dirty="0">
                <a:solidFill>
                  <a:schemeClr val="bg1"/>
                </a:solidFill>
                <a:latin typeface="Courier"/>
                <a:cs typeface="Courier"/>
              </a:rPr>
              <a:t>        </a:t>
            </a:r>
            <a:r>
              <a:rPr lang="en-US" sz="1100" dirty="0">
                <a:solidFill>
                  <a:srgbClr val="FFFF00"/>
                </a:solidFill>
                <a:latin typeface="Courier"/>
                <a:cs typeface="Courier"/>
              </a:rPr>
              <a:t>mu &gt;= 50.000g</a:t>
            </a:r>
          </a:p>
          <a:p>
            <a:r>
              <a:rPr lang="en-US" sz="1100" dirty="0">
                <a:solidFill>
                  <a:srgbClr val="FF0000"/>
                </a:solidFill>
                <a:latin typeface="Courier"/>
                <a:cs typeface="Courier"/>
              </a:rPr>
              <a:t># ALTERNATIVE HYPOTHESIS:</a:t>
            </a:r>
            <a:r>
              <a:rPr lang="en-US" sz="1100" dirty="0">
                <a:solidFill>
                  <a:schemeClr val="bg1"/>
                </a:solidFill>
                <a:latin typeface="Courier"/>
                <a:cs typeface="Courier"/>
              </a:rPr>
              <a:t> </a:t>
            </a:r>
            <a:r>
              <a:rPr lang="en-US" sz="1100" dirty="0">
                <a:solidFill>
                  <a:srgbClr val="FFFF00"/>
                </a:solidFill>
                <a:latin typeface="Courier"/>
                <a:cs typeface="Courier"/>
              </a:rPr>
              <a:t>mu &lt; 50.000g</a:t>
            </a:r>
          </a:p>
          <a:p>
            <a:endParaRPr lang="en-US" sz="1100" dirty="0">
              <a:solidFill>
                <a:schemeClr val="bg1"/>
              </a:solidFill>
              <a:latin typeface="Courier"/>
              <a:cs typeface="Courier"/>
            </a:endParaRPr>
          </a:p>
          <a:p>
            <a:r>
              <a:rPr lang="en-US" sz="1100" dirty="0" err="1">
                <a:solidFill>
                  <a:schemeClr val="bg1"/>
                </a:solidFill>
                <a:latin typeface="Courier"/>
                <a:cs typeface="Courier"/>
              </a:rPr>
              <a:t>t.test</a:t>
            </a:r>
            <a:r>
              <a:rPr lang="en-US" sz="1100" dirty="0">
                <a:solidFill>
                  <a:schemeClr val="bg1"/>
                </a:solidFill>
                <a:latin typeface="Courier"/>
                <a:cs typeface="Courier"/>
              </a:rPr>
              <a:t>(x, alternative = </a:t>
            </a:r>
            <a:r>
              <a:rPr lang="en-US" sz="1100" dirty="0">
                <a:solidFill>
                  <a:srgbClr val="00B050"/>
                </a:solidFill>
                <a:latin typeface="Courier"/>
                <a:cs typeface="Courier"/>
              </a:rPr>
              <a:t>"less"</a:t>
            </a:r>
            <a:r>
              <a:rPr lang="en-US" sz="1100" dirty="0">
                <a:solidFill>
                  <a:schemeClr val="bg1"/>
                </a:solidFill>
                <a:latin typeface="Courier"/>
                <a:cs typeface="Courier"/>
              </a:rPr>
              <a:t>, mu = 50.000, </a:t>
            </a:r>
            <a:r>
              <a:rPr lang="en-US" sz="1100" dirty="0" err="1">
                <a:solidFill>
                  <a:schemeClr val="bg1"/>
                </a:solidFill>
                <a:latin typeface="Courier"/>
                <a:cs typeface="Courier"/>
              </a:rPr>
              <a:t>conf.level</a:t>
            </a:r>
            <a:r>
              <a:rPr lang="en-US" sz="1100" dirty="0">
                <a:solidFill>
                  <a:schemeClr val="bg1"/>
                </a:solidFill>
                <a:latin typeface="Courier"/>
                <a:cs typeface="Courier"/>
              </a:rPr>
              <a:t> = 0.95)</a:t>
            </a:r>
          </a:p>
          <a:p>
            <a:endParaRPr lang="en-US" sz="1100" dirty="0">
              <a:solidFill>
                <a:schemeClr val="bg1"/>
              </a:solidFill>
              <a:latin typeface="Courier"/>
              <a:cs typeface="Courier"/>
            </a:endParaRPr>
          </a:p>
          <a:p>
            <a:r>
              <a:rPr lang="en-US" sz="1100" dirty="0">
                <a:solidFill>
                  <a:srgbClr val="FFFF00"/>
                </a:solidFill>
                <a:latin typeface="Courier"/>
                <a:cs typeface="Courier"/>
              </a:rPr>
              <a:t># The meaning of the output for </a:t>
            </a:r>
            <a:r>
              <a:rPr lang="en-US" sz="1100" dirty="0" err="1">
                <a:solidFill>
                  <a:srgbClr val="FFFF00"/>
                </a:solidFill>
                <a:latin typeface="Courier"/>
                <a:cs typeface="Courier"/>
              </a:rPr>
              <a:t>t.test</a:t>
            </a:r>
            <a:r>
              <a:rPr lang="en-US" sz="1100" dirty="0">
                <a:solidFill>
                  <a:srgbClr val="FFFF00"/>
                </a:solidFill>
                <a:latin typeface="Courier"/>
                <a:cs typeface="Courier"/>
              </a:rPr>
              <a:t>: </a:t>
            </a:r>
          </a:p>
          <a:p>
            <a:endParaRPr lang="en-US" sz="1100" dirty="0">
              <a:solidFill>
                <a:srgbClr val="FFFF00"/>
              </a:solidFill>
              <a:latin typeface="Courier"/>
              <a:cs typeface="Courier"/>
            </a:endParaRPr>
          </a:p>
          <a:p>
            <a:r>
              <a:rPr lang="en-US" sz="1100" dirty="0">
                <a:solidFill>
                  <a:srgbClr val="FFFF00"/>
                </a:solidFill>
                <a:latin typeface="Courier"/>
                <a:cs typeface="Courier"/>
              </a:rPr>
              <a:t># Can we REJECT the NULL HYPOTHESIS? =&gt; Is there evidence that the mean mass is less than 50.000g?</a:t>
            </a:r>
          </a:p>
          <a:p>
            <a:r>
              <a:rPr lang="en-US" sz="1100" dirty="0">
                <a:solidFill>
                  <a:srgbClr val="FFFF00"/>
                </a:solidFill>
                <a:latin typeface="Courier"/>
                <a:cs typeface="Courier"/>
              </a:rPr>
              <a:t># p-value = 1.352e-08</a:t>
            </a:r>
          </a:p>
          <a:p>
            <a:r>
              <a:rPr lang="en-US" sz="1100" dirty="0">
                <a:solidFill>
                  <a:srgbClr val="FFFF00"/>
                </a:solidFill>
                <a:latin typeface="Courier"/>
                <a:cs typeface="Courier"/>
              </a:rPr>
              <a:t>#</a:t>
            </a:r>
          </a:p>
          <a:p>
            <a:r>
              <a:rPr lang="en-US" sz="1100" dirty="0">
                <a:solidFill>
                  <a:srgbClr val="FFFF00"/>
                </a:solidFill>
                <a:latin typeface="Courier"/>
                <a:cs typeface="Courier"/>
              </a:rPr>
              <a:t># So p &lt; 0.05. REJECT the NULL HYPOTHESIS. The data is "unlikely" under the null.</a:t>
            </a:r>
          </a:p>
          <a:p>
            <a:r>
              <a:rPr lang="en-US" sz="1100" dirty="0">
                <a:solidFill>
                  <a:srgbClr val="FFFF00"/>
                </a:solidFill>
                <a:latin typeface="Courier"/>
                <a:cs typeface="Courier"/>
              </a:rPr>
              <a:t># Another </a:t>
            </a:r>
            <a:r>
              <a:rPr lang="en-US" sz="1100" dirty="0" err="1">
                <a:solidFill>
                  <a:srgbClr val="FFFF00"/>
                </a:solidFill>
                <a:latin typeface="Courier"/>
                <a:cs typeface="Courier"/>
              </a:rPr>
              <a:t>interperitation</a:t>
            </a:r>
            <a:r>
              <a:rPr lang="en-US" sz="1100" dirty="0">
                <a:solidFill>
                  <a:srgbClr val="FFFF00"/>
                </a:solidFill>
                <a:latin typeface="Courier"/>
                <a:cs typeface="Courier"/>
              </a:rPr>
              <a:t>: If the Null were true, we wouldn't see data like this too often.</a:t>
            </a:r>
          </a:p>
          <a:p>
            <a:r>
              <a:rPr lang="en-US" sz="1100" dirty="0">
                <a:solidFill>
                  <a:srgbClr val="FFFF00"/>
                </a:solidFill>
                <a:latin typeface="Courier"/>
                <a:cs typeface="Courier"/>
              </a:rPr>
              <a:t># BUT: We CANNOT SAY that the data is more likely under the Alternative hypothesis.</a:t>
            </a:r>
          </a:p>
          <a:p>
            <a:endParaRPr lang="en-US" sz="1100" dirty="0">
              <a:solidFill>
                <a:srgbClr val="FFFF00"/>
              </a:solidFill>
              <a:latin typeface="Courier"/>
              <a:cs typeface="Courier"/>
            </a:endParaRPr>
          </a:p>
          <a:p>
            <a:r>
              <a:rPr lang="en-US" sz="1100" dirty="0">
                <a:solidFill>
                  <a:srgbClr val="FFFF00"/>
                </a:solidFill>
                <a:latin typeface="Courier"/>
                <a:cs typeface="Courier"/>
              </a:rPr>
              <a:t># 95 percent confidence interval:</a:t>
            </a:r>
          </a:p>
          <a:p>
            <a:r>
              <a:rPr lang="en-US" sz="1100" dirty="0">
                <a:solidFill>
                  <a:srgbClr val="FFFF00"/>
                </a:solidFill>
                <a:latin typeface="Courier"/>
                <a:cs typeface="Courier"/>
              </a:rPr>
              <a:t>#  -</a:t>
            </a:r>
            <a:r>
              <a:rPr lang="en-US" sz="1100" dirty="0" err="1">
                <a:solidFill>
                  <a:srgbClr val="FFFF00"/>
                </a:solidFill>
                <a:latin typeface="Courier"/>
                <a:cs typeface="Courier"/>
              </a:rPr>
              <a:t>Inf</a:t>
            </a:r>
            <a:r>
              <a:rPr lang="en-US" sz="1100" dirty="0">
                <a:solidFill>
                  <a:srgbClr val="FFFF00"/>
                </a:solidFill>
                <a:latin typeface="Courier"/>
                <a:cs typeface="Courier"/>
              </a:rPr>
              <a:t> 49.99952</a:t>
            </a:r>
          </a:p>
          <a:p>
            <a:r>
              <a:rPr lang="en-US" sz="1100" dirty="0">
                <a:solidFill>
                  <a:srgbClr val="FFFF00"/>
                </a:solidFill>
                <a:latin typeface="Courier"/>
                <a:cs typeface="Courier"/>
              </a:rPr>
              <a:t># This means: given your sample, the GREATEST value the mean could be is 49.99952, with 95% "plausibility"</a:t>
            </a:r>
          </a:p>
        </p:txBody>
      </p:sp>
      <p:sp>
        <p:nvSpPr>
          <p:cNvPr id="11" name="Rectangle 10"/>
          <p:cNvSpPr/>
          <p:nvPr/>
        </p:nvSpPr>
        <p:spPr>
          <a:xfrm>
            <a:off x="3578635" y="6031673"/>
            <a:ext cx="1983235" cy="369332"/>
          </a:xfrm>
          <a:prstGeom prst="rect">
            <a:avLst/>
          </a:prstGeom>
        </p:spPr>
        <p:txBody>
          <a:bodyPr wrap="none">
            <a:spAutoFit/>
          </a:bodyPr>
          <a:lstStyle/>
          <a:p>
            <a:r>
              <a:rPr lang="en-US" dirty="0">
                <a:latin typeface="Symbol" charset="2"/>
                <a:cs typeface="Symbol" charset="2"/>
              </a:rPr>
              <a:t>H</a:t>
            </a:r>
            <a:r>
              <a:rPr lang="en-US" baseline="-25000" dirty="0">
                <a:latin typeface="Symbol" charset="2"/>
                <a:cs typeface="Symbol" charset="2"/>
              </a:rPr>
              <a:t>0</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a:t>
            </a:r>
            <a:endParaRPr lang="en-US" dirty="0"/>
          </a:p>
        </p:txBody>
      </p:sp>
      <p:sp>
        <p:nvSpPr>
          <p:cNvPr id="12" name="Rectangle 11"/>
          <p:cNvSpPr/>
          <p:nvPr/>
        </p:nvSpPr>
        <p:spPr>
          <a:xfrm>
            <a:off x="3600644" y="6435196"/>
            <a:ext cx="1978088" cy="369332"/>
          </a:xfrm>
          <a:prstGeom prst="rect">
            <a:avLst/>
          </a:prstGeom>
        </p:spPr>
        <p:txBody>
          <a:bodyPr wrap="none">
            <a:spAutoFit/>
          </a:bodyPr>
          <a:lstStyle/>
          <a:p>
            <a:r>
              <a:rPr lang="en-US" dirty="0">
                <a:latin typeface="Symbol" charset="2"/>
                <a:cs typeface="Symbol" charset="2"/>
              </a:rPr>
              <a:t>H</a:t>
            </a:r>
            <a:r>
              <a:rPr lang="en-US" baseline="-25000" dirty="0">
                <a:latin typeface="Times New Roman"/>
                <a:cs typeface="Times New Roman"/>
              </a:rPr>
              <a:t>a</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&lt; 50.000g</a:t>
            </a:r>
            <a:endParaRPr lang="en-US" dirty="0"/>
          </a:p>
        </p:txBody>
      </p:sp>
      <p:sp>
        <p:nvSpPr>
          <p:cNvPr id="3" name="TextBox 2">
            <a:extLst>
              <a:ext uri="{FF2B5EF4-FFF2-40B4-BE49-F238E27FC236}">
                <a16:creationId xmlns:a16="http://schemas.microsoft.com/office/drawing/2014/main" id="{3343BD6B-999A-0F0A-372B-124ECCDEC923}"/>
              </a:ext>
            </a:extLst>
          </p:cNvPr>
          <p:cNvSpPr txBox="1"/>
          <p:nvPr/>
        </p:nvSpPr>
        <p:spPr>
          <a:xfrm>
            <a:off x="74844" y="5289971"/>
            <a:ext cx="2383406" cy="400110"/>
          </a:xfrm>
          <a:prstGeom prst="rect">
            <a:avLst/>
          </a:prstGeom>
          <a:noFill/>
        </p:spPr>
        <p:txBody>
          <a:bodyPr wrap="square">
            <a:spAutoFit/>
          </a:bodyPr>
          <a:lstStyle/>
          <a:p>
            <a:r>
              <a:rPr lang="en-US" sz="2000" dirty="0">
                <a:latin typeface="Times New Roman" panose="02020603050405020304" pitchFamily="18" charset="0"/>
                <a:cs typeface="Times New Roman" panose="02020603050405020304" pitchFamily="18" charset="0"/>
                <a:hlinkClick r:id="rId4"/>
              </a:rPr>
              <a:t>hyp_test_less.R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88309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One Sample Hypothesis Testing for the Mean</a:t>
            </a:r>
          </a:p>
        </p:txBody>
      </p:sp>
      <p:pic>
        <p:nvPicPr>
          <p:cNvPr id="7" name="Picture 6"/>
          <p:cNvPicPr>
            <a:picLocks noChangeAspect="1" noChangeArrowheads="1"/>
          </p:cNvPicPr>
          <p:nvPr/>
        </p:nvPicPr>
        <p:blipFill>
          <a:blip r:embed="rId3" cstate="print"/>
          <a:srcRect/>
          <a:stretch>
            <a:fillRect/>
          </a:stretch>
        </p:blipFill>
        <p:spPr bwMode="auto">
          <a:xfrm>
            <a:off x="484188" y="76200"/>
            <a:ext cx="8202612" cy="239712"/>
          </a:xfrm>
          <a:prstGeom prst="rect">
            <a:avLst/>
          </a:prstGeom>
          <a:noFill/>
          <a:ln w="9525">
            <a:noFill/>
            <a:round/>
            <a:headEnd/>
            <a:tailEnd/>
          </a:ln>
        </p:spPr>
      </p:pic>
      <p:sp>
        <p:nvSpPr>
          <p:cNvPr id="10" name="Rectangle 9"/>
          <p:cNvSpPr/>
          <p:nvPr/>
        </p:nvSpPr>
        <p:spPr>
          <a:xfrm>
            <a:off x="93576" y="1330523"/>
            <a:ext cx="8996949" cy="3647152"/>
          </a:xfrm>
          <a:prstGeom prst="rect">
            <a:avLst/>
          </a:prstGeom>
          <a:solidFill>
            <a:srgbClr val="000C78"/>
          </a:solidFill>
        </p:spPr>
        <p:txBody>
          <a:bodyPr wrap="square">
            <a:spAutoFit/>
          </a:bodyPr>
          <a:lstStyle/>
          <a:p>
            <a:r>
              <a:rPr lang="en-US" sz="1100" dirty="0">
                <a:solidFill>
                  <a:srgbClr val="FF0000"/>
                </a:solidFill>
                <a:latin typeface="Courier"/>
                <a:cs typeface="Courier"/>
              </a:rPr>
              <a:t># Question of interest: Is there evidence that the mean mass is greater than or equal to 50.000g ? </a:t>
            </a:r>
          </a:p>
          <a:p>
            <a:endParaRPr lang="en-US" sz="1100" dirty="0">
              <a:solidFill>
                <a:schemeClr val="bg1"/>
              </a:solidFill>
              <a:latin typeface="Courier"/>
              <a:cs typeface="Courier"/>
            </a:endParaRPr>
          </a:p>
          <a:p>
            <a:r>
              <a:rPr lang="en-US" sz="1100" dirty="0">
                <a:solidFill>
                  <a:schemeClr val="bg1"/>
                </a:solidFill>
                <a:latin typeface="Courier"/>
                <a:cs typeface="Courier"/>
              </a:rPr>
              <a:t>x &lt;- c(49.9996,49.9994,49.9993,49.9996,49.9995,49.9995,49.9995,49.9994,49.9995,49.9994)</a:t>
            </a:r>
          </a:p>
          <a:p>
            <a:r>
              <a:rPr lang="en-US" sz="1100" dirty="0">
                <a:solidFill>
                  <a:schemeClr val="bg1"/>
                </a:solidFill>
                <a:latin typeface="Courier"/>
                <a:cs typeface="Courier"/>
              </a:rPr>
              <a:t>mean(x)</a:t>
            </a:r>
          </a:p>
          <a:p>
            <a:endParaRPr lang="en-US" sz="1100" dirty="0">
              <a:solidFill>
                <a:schemeClr val="bg1"/>
              </a:solidFill>
              <a:latin typeface="Courier"/>
              <a:cs typeface="Courier"/>
            </a:endParaRPr>
          </a:p>
          <a:p>
            <a:r>
              <a:rPr lang="en-US" sz="1100" dirty="0">
                <a:solidFill>
                  <a:srgbClr val="FF0000"/>
                </a:solidFill>
                <a:latin typeface="Courier"/>
                <a:cs typeface="Courier"/>
              </a:rPr>
              <a:t># NULL HYPOTHESIS:</a:t>
            </a:r>
            <a:r>
              <a:rPr lang="en-US" sz="1100" dirty="0">
                <a:solidFill>
                  <a:schemeClr val="bg1"/>
                </a:solidFill>
                <a:latin typeface="Courier"/>
                <a:cs typeface="Courier"/>
              </a:rPr>
              <a:t>        </a:t>
            </a:r>
            <a:r>
              <a:rPr lang="en-US" sz="1100" dirty="0">
                <a:solidFill>
                  <a:srgbClr val="FFFF00"/>
                </a:solidFill>
                <a:latin typeface="Courier"/>
                <a:cs typeface="Courier"/>
              </a:rPr>
              <a:t>mu &lt;= 50.000g  Assumes the opposite of what you seek evidence for.</a:t>
            </a:r>
          </a:p>
          <a:p>
            <a:r>
              <a:rPr lang="en-US" sz="1100" dirty="0">
                <a:solidFill>
                  <a:srgbClr val="FF0000"/>
                </a:solidFill>
                <a:latin typeface="Courier"/>
                <a:cs typeface="Courier"/>
              </a:rPr>
              <a:t># ALTERNATIVE HYPOTHESIS:</a:t>
            </a:r>
            <a:r>
              <a:rPr lang="en-US" sz="1100" dirty="0">
                <a:solidFill>
                  <a:schemeClr val="bg1"/>
                </a:solidFill>
                <a:latin typeface="Courier"/>
                <a:cs typeface="Courier"/>
              </a:rPr>
              <a:t> </a:t>
            </a:r>
            <a:r>
              <a:rPr lang="en-US" sz="1100" dirty="0">
                <a:solidFill>
                  <a:srgbClr val="FFFF00"/>
                </a:solidFill>
                <a:latin typeface="Courier"/>
                <a:cs typeface="Courier"/>
              </a:rPr>
              <a:t>mu &gt; 50.000g</a:t>
            </a:r>
          </a:p>
          <a:p>
            <a:endParaRPr lang="en-US" sz="1100" dirty="0">
              <a:solidFill>
                <a:schemeClr val="bg1"/>
              </a:solidFill>
              <a:latin typeface="Courier"/>
              <a:cs typeface="Courier"/>
            </a:endParaRPr>
          </a:p>
          <a:p>
            <a:r>
              <a:rPr lang="en-US" sz="1100" dirty="0" err="1">
                <a:solidFill>
                  <a:schemeClr val="bg1"/>
                </a:solidFill>
                <a:latin typeface="Courier"/>
                <a:cs typeface="Courier"/>
              </a:rPr>
              <a:t>t.test</a:t>
            </a:r>
            <a:r>
              <a:rPr lang="en-US" sz="1100" dirty="0">
                <a:solidFill>
                  <a:schemeClr val="bg1"/>
                </a:solidFill>
                <a:latin typeface="Courier"/>
                <a:cs typeface="Courier"/>
              </a:rPr>
              <a:t>(x, alternative = </a:t>
            </a:r>
            <a:r>
              <a:rPr lang="en-US" sz="1100" dirty="0">
                <a:solidFill>
                  <a:srgbClr val="00B050"/>
                </a:solidFill>
                <a:latin typeface="Courier"/>
                <a:cs typeface="Courier"/>
              </a:rPr>
              <a:t>"greater"</a:t>
            </a:r>
            <a:r>
              <a:rPr lang="en-US" sz="1100" dirty="0">
                <a:solidFill>
                  <a:schemeClr val="bg1"/>
                </a:solidFill>
                <a:latin typeface="Courier"/>
                <a:cs typeface="Courier"/>
              </a:rPr>
              <a:t>, mu = 50.000, </a:t>
            </a:r>
            <a:r>
              <a:rPr lang="en-US" sz="1100" dirty="0" err="1">
                <a:solidFill>
                  <a:schemeClr val="bg1"/>
                </a:solidFill>
                <a:latin typeface="Courier"/>
                <a:cs typeface="Courier"/>
              </a:rPr>
              <a:t>conf.level</a:t>
            </a:r>
            <a:r>
              <a:rPr lang="en-US" sz="1100" dirty="0">
                <a:solidFill>
                  <a:schemeClr val="bg1"/>
                </a:solidFill>
                <a:latin typeface="Courier"/>
                <a:cs typeface="Courier"/>
              </a:rPr>
              <a:t> = 0.95)</a:t>
            </a:r>
          </a:p>
          <a:p>
            <a:endParaRPr lang="en-US" sz="1100" dirty="0">
              <a:solidFill>
                <a:schemeClr val="bg1"/>
              </a:solidFill>
              <a:latin typeface="Courier"/>
              <a:cs typeface="Courier"/>
            </a:endParaRPr>
          </a:p>
          <a:p>
            <a:r>
              <a:rPr lang="en-US" sz="1100" dirty="0">
                <a:solidFill>
                  <a:srgbClr val="FFFF00"/>
                </a:solidFill>
                <a:latin typeface="Courier"/>
                <a:cs typeface="Courier"/>
              </a:rPr>
              <a:t># The meaning of the output for </a:t>
            </a:r>
            <a:r>
              <a:rPr lang="en-US" sz="1100" dirty="0" err="1">
                <a:solidFill>
                  <a:srgbClr val="FFFF00"/>
                </a:solidFill>
                <a:latin typeface="Courier"/>
                <a:cs typeface="Courier"/>
              </a:rPr>
              <a:t>t.test</a:t>
            </a:r>
            <a:r>
              <a:rPr lang="en-US" sz="1100" dirty="0">
                <a:solidFill>
                  <a:srgbClr val="FFFF00"/>
                </a:solidFill>
                <a:latin typeface="Courier"/>
                <a:cs typeface="Courier"/>
              </a:rPr>
              <a:t>: </a:t>
            </a:r>
          </a:p>
          <a:p>
            <a:endParaRPr lang="en-US" sz="1100" dirty="0">
              <a:solidFill>
                <a:srgbClr val="FFFF00"/>
              </a:solidFill>
              <a:latin typeface="Courier"/>
              <a:cs typeface="Courier"/>
            </a:endParaRPr>
          </a:p>
          <a:p>
            <a:r>
              <a:rPr lang="en-US" sz="1100" dirty="0">
                <a:solidFill>
                  <a:srgbClr val="FFFF00"/>
                </a:solidFill>
                <a:latin typeface="Courier"/>
                <a:cs typeface="Courier"/>
              </a:rPr>
              <a:t># Can we REJECT the NULL HYPOTHESIS? =&gt; Is there evidence that the mean mass is greater than 50.000g?</a:t>
            </a:r>
          </a:p>
          <a:p>
            <a:r>
              <a:rPr lang="en-US" sz="1100" dirty="0">
                <a:solidFill>
                  <a:srgbClr val="FFFF00"/>
                </a:solidFill>
                <a:latin typeface="Courier"/>
                <a:cs typeface="Courier"/>
              </a:rPr>
              <a:t># p-value = 1 (Wow!)</a:t>
            </a:r>
          </a:p>
          <a:p>
            <a:r>
              <a:rPr lang="en-US" sz="1100" dirty="0">
                <a:solidFill>
                  <a:srgbClr val="FFFF00"/>
                </a:solidFill>
                <a:latin typeface="Courier"/>
                <a:cs typeface="Courier"/>
              </a:rPr>
              <a:t>#</a:t>
            </a:r>
          </a:p>
          <a:p>
            <a:r>
              <a:rPr lang="en-US" sz="1100" dirty="0">
                <a:solidFill>
                  <a:srgbClr val="FFFF00"/>
                </a:solidFill>
                <a:latin typeface="Courier"/>
                <a:cs typeface="Courier"/>
              </a:rPr>
              <a:t># So p is not &lt; 0.05. CANNOT REJECT the NULL HYPOTHESIS. The data is "likely" under the null.</a:t>
            </a:r>
          </a:p>
          <a:p>
            <a:r>
              <a:rPr lang="en-US" sz="1100" dirty="0">
                <a:solidFill>
                  <a:srgbClr val="FFFF00"/>
                </a:solidFill>
                <a:latin typeface="Courier"/>
                <a:cs typeface="Courier"/>
              </a:rPr>
              <a:t># Another </a:t>
            </a:r>
            <a:r>
              <a:rPr lang="en-US" sz="1100" dirty="0" err="1">
                <a:solidFill>
                  <a:srgbClr val="FFFF00"/>
                </a:solidFill>
                <a:latin typeface="Courier"/>
                <a:cs typeface="Courier"/>
              </a:rPr>
              <a:t>interperitation</a:t>
            </a:r>
            <a:r>
              <a:rPr lang="en-US" sz="1100" dirty="0">
                <a:solidFill>
                  <a:srgbClr val="FFFF00"/>
                </a:solidFill>
                <a:latin typeface="Courier"/>
                <a:cs typeface="Courier"/>
              </a:rPr>
              <a:t>: If the Null were true, we would see data like this often.</a:t>
            </a:r>
          </a:p>
          <a:p>
            <a:endParaRPr lang="en-US" sz="1100" dirty="0">
              <a:solidFill>
                <a:srgbClr val="FFFF00"/>
              </a:solidFill>
              <a:latin typeface="Courier"/>
              <a:cs typeface="Courier"/>
            </a:endParaRPr>
          </a:p>
          <a:p>
            <a:r>
              <a:rPr lang="en-US" sz="1100" dirty="0">
                <a:solidFill>
                  <a:srgbClr val="FFFF00"/>
                </a:solidFill>
                <a:latin typeface="Courier"/>
                <a:cs typeface="Courier"/>
              </a:rPr>
              <a:t># 95 percent confidence interval:</a:t>
            </a:r>
          </a:p>
          <a:p>
            <a:r>
              <a:rPr lang="en-US" sz="1100" dirty="0">
                <a:solidFill>
                  <a:srgbClr val="FFFF00"/>
                </a:solidFill>
                <a:latin typeface="Courier"/>
                <a:cs typeface="Courier"/>
              </a:rPr>
              <a:t>#  49.99942      </a:t>
            </a:r>
            <a:r>
              <a:rPr lang="en-US" sz="1100" dirty="0" err="1">
                <a:solidFill>
                  <a:srgbClr val="FFFF00"/>
                </a:solidFill>
                <a:latin typeface="Courier"/>
                <a:cs typeface="Courier"/>
              </a:rPr>
              <a:t>Inf</a:t>
            </a:r>
            <a:endParaRPr lang="en-US" sz="1100" dirty="0">
              <a:solidFill>
                <a:srgbClr val="FFFF00"/>
              </a:solidFill>
              <a:latin typeface="Courier"/>
              <a:cs typeface="Courier"/>
            </a:endParaRPr>
          </a:p>
          <a:p>
            <a:r>
              <a:rPr lang="en-US" sz="1100" dirty="0">
                <a:solidFill>
                  <a:srgbClr val="FFFF00"/>
                </a:solidFill>
                <a:latin typeface="Courier"/>
                <a:cs typeface="Courier"/>
              </a:rPr>
              <a:t># This means: given your sample, the LEAST value the mean could be is 49.99942, with 95% "plausibility”</a:t>
            </a:r>
          </a:p>
        </p:txBody>
      </p:sp>
      <p:sp>
        <p:nvSpPr>
          <p:cNvPr id="11" name="Rectangle 10"/>
          <p:cNvSpPr/>
          <p:nvPr/>
        </p:nvSpPr>
        <p:spPr>
          <a:xfrm>
            <a:off x="3444950" y="6262178"/>
            <a:ext cx="1978427" cy="369332"/>
          </a:xfrm>
          <a:prstGeom prst="rect">
            <a:avLst/>
          </a:prstGeom>
        </p:spPr>
        <p:txBody>
          <a:bodyPr wrap="none">
            <a:spAutoFit/>
          </a:bodyPr>
          <a:lstStyle/>
          <a:p>
            <a:r>
              <a:rPr lang="en-US" dirty="0">
                <a:latin typeface="Symbol" charset="2"/>
                <a:cs typeface="Symbol" charset="2"/>
              </a:rPr>
              <a:t>H</a:t>
            </a:r>
            <a:r>
              <a:rPr lang="en-US" baseline="-25000" dirty="0">
                <a:latin typeface="Times New Roman"/>
                <a:cs typeface="Times New Roman"/>
              </a:rPr>
              <a:t>a</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&gt; 50.000g</a:t>
            </a:r>
            <a:endParaRPr lang="en-US" dirty="0"/>
          </a:p>
        </p:txBody>
      </p:sp>
      <p:sp>
        <p:nvSpPr>
          <p:cNvPr id="12" name="Rectangle 11"/>
          <p:cNvSpPr/>
          <p:nvPr/>
        </p:nvSpPr>
        <p:spPr>
          <a:xfrm>
            <a:off x="3436934" y="5934699"/>
            <a:ext cx="1983235" cy="369332"/>
          </a:xfrm>
          <a:prstGeom prst="rect">
            <a:avLst/>
          </a:prstGeom>
        </p:spPr>
        <p:txBody>
          <a:bodyPr wrap="none">
            <a:spAutoFit/>
          </a:bodyPr>
          <a:lstStyle/>
          <a:p>
            <a:r>
              <a:rPr lang="en-US" dirty="0">
                <a:latin typeface="Symbol" charset="2"/>
                <a:cs typeface="Symbol" charset="2"/>
              </a:rPr>
              <a:t>H</a:t>
            </a:r>
            <a:r>
              <a:rPr lang="en-US" baseline="-25000" dirty="0">
                <a:latin typeface="Symbol" charset="2"/>
                <a:cs typeface="Symbol" charset="2"/>
              </a:rPr>
              <a:t>0</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mass</a:t>
            </a:r>
            <a:r>
              <a:rPr lang="en-US" dirty="0">
                <a:latin typeface="Times New Roman"/>
                <a:cs typeface="Times New Roman"/>
              </a:rPr>
              <a:t> ≤ 50.000g</a:t>
            </a:r>
            <a:endParaRPr lang="en-US" dirty="0"/>
          </a:p>
        </p:txBody>
      </p:sp>
      <p:sp>
        <p:nvSpPr>
          <p:cNvPr id="2" name="TextBox 1">
            <a:extLst>
              <a:ext uri="{FF2B5EF4-FFF2-40B4-BE49-F238E27FC236}">
                <a16:creationId xmlns:a16="http://schemas.microsoft.com/office/drawing/2014/main" id="{EDFB9A10-AABF-58E8-8AC8-1309FC1FCDA2}"/>
              </a:ext>
            </a:extLst>
          </p:cNvPr>
          <p:cNvSpPr txBox="1"/>
          <p:nvPr/>
        </p:nvSpPr>
        <p:spPr>
          <a:xfrm>
            <a:off x="93576" y="5030293"/>
            <a:ext cx="2383406" cy="400110"/>
          </a:xfrm>
          <a:prstGeom prst="rect">
            <a:avLst/>
          </a:prstGeom>
          <a:noFill/>
        </p:spPr>
        <p:txBody>
          <a:bodyPr wrap="square">
            <a:spAutoFit/>
          </a:bodyPr>
          <a:lstStyle/>
          <a:p>
            <a:r>
              <a:rPr lang="en-US" sz="2000" dirty="0" err="1">
                <a:latin typeface="Times New Roman" panose="02020603050405020304" pitchFamily="18" charset="0"/>
                <a:cs typeface="Times New Roman" panose="02020603050405020304" pitchFamily="18" charset="0"/>
                <a:hlinkClick r:id="rId4"/>
              </a:rPr>
              <a:t>hyp_test_greater.R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685233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4"/>
          <p:cNvSpPr>
            <a:spLocks noChangeArrowheads="1"/>
          </p:cNvSpPr>
          <p:nvPr/>
        </p:nvSpPr>
        <p:spPr bwMode="auto">
          <a:xfrm>
            <a:off x="231775" y="2805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Sampling Density for Difference of Two Means</a:t>
            </a:r>
          </a:p>
        </p:txBody>
      </p:sp>
      <p:pic>
        <p:nvPicPr>
          <p:cNvPr id="9" name="Picture 8"/>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pic>
        <p:nvPicPr>
          <p:cNvPr id="13" name="Picture 12"/>
          <p:cNvPicPr>
            <a:picLocks noChangeAspect="1"/>
          </p:cNvPicPr>
          <p:nvPr/>
        </p:nvPicPr>
        <p:blipFill rotWithShape="1">
          <a:blip r:embed="rId3"/>
          <a:srcRect l="11211" t="12281" r="6668" b="14815"/>
          <a:stretch/>
        </p:blipFill>
        <p:spPr>
          <a:xfrm>
            <a:off x="1742456" y="1393378"/>
            <a:ext cx="5275965" cy="3915100"/>
          </a:xfrm>
          <a:prstGeom prst="rect">
            <a:avLst/>
          </a:prstGeom>
          <a:effectLst/>
        </p:spPr>
      </p:pic>
      <p:cxnSp>
        <p:nvCxnSpPr>
          <p:cNvPr id="14" name="Straight Connector 13"/>
          <p:cNvCxnSpPr/>
          <p:nvPr/>
        </p:nvCxnSpPr>
        <p:spPr>
          <a:xfrm>
            <a:off x="1379412" y="5428788"/>
            <a:ext cx="5868745" cy="53474"/>
          </a:xfrm>
          <a:prstGeom prst="line">
            <a:avLst/>
          </a:prstGeom>
          <a:ln w="57150" cmpd="sng">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345" y="1514855"/>
            <a:ext cx="3284222" cy="461665"/>
          </a:xfrm>
          <a:prstGeom prst="rect">
            <a:avLst/>
          </a:prstGeom>
          <a:noFill/>
          <a:effectLst/>
        </p:spPr>
        <p:txBody>
          <a:bodyPr wrap="none" rtlCol="0">
            <a:spAutoFit/>
          </a:bodyPr>
          <a:lstStyle/>
          <a:p>
            <a:r>
              <a:rPr lang="en-US" sz="2400" dirty="0">
                <a:latin typeface="Times New Roman"/>
                <a:cs typeface="Times New Roman"/>
              </a:rPr>
              <a:t>Sampling distribution for </a:t>
            </a:r>
          </a:p>
        </p:txBody>
      </p:sp>
      <p:cxnSp>
        <p:nvCxnSpPr>
          <p:cNvPr id="21" name="Straight Arrow Connector 20"/>
          <p:cNvCxnSpPr/>
          <p:nvPr/>
        </p:nvCxnSpPr>
        <p:spPr>
          <a:xfrm flipV="1">
            <a:off x="4505154" y="5482262"/>
            <a:ext cx="0" cy="413212"/>
          </a:xfrm>
          <a:prstGeom prst="straightConnector1">
            <a:avLst/>
          </a:prstGeom>
          <a:ln>
            <a:tailEnd type="arrow"/>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9793" y="2016624"/>
            <a:ext cx="3370103" cy="1200328"/>
          </a:xfrm>
          <a:prstGeom prst="rect">
            <a:avLst/>
          </a:prstGeom>
          <a:noFill/>
          <a:effectLst/>
        </p:spPr>
        <p:txBody>
          <a:bodyPr wrap="square" rtlCol="0">
            <a:spAutoFit/>
          </a:bodyPr>
          <a:lstStyle/>
          <a:p>
            <a:r>
              <a:rPr lang="en-US" sz="2400" dirty="0">
                <a:latin typeface="Times New Roman"/>
                <a:cs typeface="Times New Roman"/>
              </a:rPr>
              <a:t>The “Null distribution” for a two sample hypothesis test</a:t>
            </a:r>
          </a:p>
        </p:txBody>
      </p:sp>
      <p:pic>
        <p:nvPicPr>
          <p:cNvPr id="4" name="Picture 3"/>
          <p:cNvPicPr>
            <a:picLocks noChangeAspect="1"/>
          </p:cNvPicPr>
          <p:nvPr/>
        </p:nvPicPr>
        <p:blipFill>
          <a:blip r:embed="rId4"/>
          <a:stretch>
            <a:fillRect/>
          </a:stretch>
        </p:blipFill>
        <p:spPr>
          <a:xfrm>
            <a:off x="4365457" y="5964321"/>
            <a:ext cx="2679700" cy="317500"/>
          </a:xfrm>
          <a:prstGeom prst="rect">
            <a:avLst/>
          </a:prstGeom>
          <a:effectLst/>
        </p:spPr>
      </p:pic>
      <p:pic>
        <p:nvPicPr>
          <p:cNvPr id="5" name="Picture 4"/>
          <p:cNvPicPr>
            <a:picLocks noChangeAspect="1"/>
          </p:cNvPicPr>
          <p:nvPr/>
        </p:nvPicPr>
        <p:blipFill>
          <a:blip r:embed="rId5"/>
          <a:stretch>
            <a:fillRect/>
          </a:stretch>
        </p:blipFill>
        <p:spPr>
          <a:xfrm>
            <a:off x="3344459" y="1699124"/>
            <a:ext cx="420276" cy="244348"/>
          </a:xfrm>
          <a:prstGeom prst="rect">
            <a:avLst/>
          </a:prstGeom>
          <a:effectLst/>
        </p:spPr>
      </p:pic>
      <p:sp>
        <p:nvSpPr>
          <p:cNvPr id="10" name="Right Brace 9"/>
          <p:cNvSpPr/>
          <p:nvPr/>
        </p:nvSpPr>
        <p:spPr>
          <a:xfrm rot="16200000">
            <a:off x="3856785" y="4780419"/>
            <a:ext cx="534738" cy="762000"/>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12" name="Picture 11"/>
          <p:cNvPicPr>
            <a:picLocks noChangeAspect="1"/>
          </p:cNvPicPr>
          <p:nvPr/>
        </p:nvPicPr>
        <p:blipFill>
          <a:blip r:embed="rId6"/>
          <a:stretch>
            <a:fillRect/>
          </a:stretch>
        </p:blipFill>
        <p:spPr>
          <a:xfrm>
            <a:off x="4023225" y="4604621"/>
            <a:ext cx="711200" cy="342900"/>
          </a:xfrm>
          <a:prstGeom prst="rect">
            <a:avLst/>
          </a:prstGeom>
          <a:effectLst/>
        </p:spPr>
      </p:pic>
    </p:spTree>
    <p:extLst>
      <p:ext uri="{BB962C8B-B14F-4D97-AF65-F5344CB8AC3E}">
        <p14:creationId xmlns:p14="http://schemas.microsoft.com/office/powerpoint/2010/main" val="201353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1" fill="hold" nodeType="afterEffect">
                                  <p:stCondLst>
                                    <p:cond delay="0"/>
                                  </p:stCondLst>
                                  <p:childTnLst>
                                    <p:set>
                                      <p:cBhvr>
                                        <p:cTn id="11" dur="1" fill="hold">
                                          <p:stCondLst>
                                            <p:cond delay="0"/>
                                          </p:stCondLst>
                                        </p:cTn>
                                        <p:tgtEl>
                                          <p:spTgt spid="13"/>
                                        </p:tgtEl>
                                        <p:attrNameLst>
                                          <p:attrName>style.visibility</p:attrName>
                                        </p:attrNameLst>
                                      </p:cBhvr>
                                      <p:to>
                                        <p:strVal val="visible"/>
                                      </p:to>
                                    </p:set>
                                    <p:anim calcmode="lin" valueType="num">
                                      <p:cBhvr additive="base">
                                        <p:cTn id="12" dur="500" fill="hold"/>
                                        <p:tgtEl>
                                          <p:spTgt spid="13"/>
                                        </p:tgtEl>
                                        <p:attrNameLst>
                                          <p:attrName>ppt_x</p:attrName>
                                        </p:attrNameLst>
                                      </p:cBhvr>
                                      <p:tavLst>
                                        <p:tav tm="0">
                                          <p:val>
                                            <p:strVal val="#ppt_x"/>
                                          </p:val>
                                        </p:tav>
                                        <p:tav tm="100000">
                                          <p:val>
                                            <p:strVal val="#ppt_x"/>
                                          </p:val>
                                        </p:tav>
                                      </p:tavLst>
                                    </p:anim>
                                    <p:anim calcmode="lin" valueType="num">
                                      <p:cBhvr additive="base">
                                        <p:cTn id="13" dur="500" fill="hold"/>
                                        <p:tgtEl>
                                          <p:spTgt spid="13"/>
                                        </p:tgtEl>
                                        <p:attrNameLst>
                                          <p:attrName>ppt_y</p:attrName>
                                        </p:attrNameLst>
                                      </p:cBhvr>
                                      <p:tavLst>
                                        <p:tav tm="0">
                                          <p:val>
                                            <p:strVal val="0-#ppt_h/2"/>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14"/>
                                        </p:tgtEl>
                                        <p:attrNameLst>
                                          <p:attrName>style.visibility</p:attrName>
                                        </p:attrNameLst>
                                      </p:cBhvr>
                                      <p:to>
                                        <p:strVal val="visible"/>
                                      </p:to>
                                    </p:set>
                                    <p:anim calcmode="lin" valueType="num">
                                      <p:cBhvr additive="base">
                                        <p:cTn id="16" dur="500" fill="hold"/>
                                        <p:tgtEl>
                                          <p:spTgt spid="14"/>
                                        </p:tgtEl>
                                        <p:attrNameLst>
                                          <p:attrName>ppt_x</p:attrName>
                                        </p:attrNameLst>
                                      </p:cBhvr>
                                      <p:tavLst>
                                        <p:tav tm="0">
                                          <p:val>
                                            <p:strVal val="#ppt_x"/>
                                          </p:val>
                                        </p:tav>
                                        <p:tav tm="100000">
                                          <p:val>
                                            <p:strVal val="#ppt_x"/>
                                          </p:val>
                                        </p:tav>
                                      </p:tavLst>
                                    </p:anim>
                                    <p:anim calcmode="lin" valueType="num">
                                      <p:cBhvr additive="base">
                                        <p:cTn id="17"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1"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500" fill="hold"/>
                                        <p:tgtEl>
                                          <p:spTgt spid="10"/>
                                        </p:tgtEl>
                                        <p:attrNameLst>
                                          <p:attrName>ppt_x</p:attrName>
                                        </p:attrNameLst>
                                      </p:cBhvr>
                                      <p:tavLst>
                                        <p:tav tm="0">
                                          <p:val>
                                            <p:strVal val="#ppt_x"/>
                                          </p:val>
                                        </p:tav>
                                        <p:tav tm="100000">
                                          <p:val>
                                            <p:strVal val="#ppt_x"/>
                                          </p:val>
                                        </p:tav>
                                      </p:tavLst>
                                    </p:anim>
                                    <p:anim calcmode="lin" valueType="num">
                                      <p:cBhvr additive="base">
                                        <p:cTn id="23" dur="500" fill="hold"/>
                                        <p:tgtEl>
                                          <p:spTgt spid="10"/>
                                        </p:tgtEl>
                                        <p:attrNameLst>
                                          <p:attrName>ppt_y</p:attrName>
                                        </p:attrNameLst>
                                      </p:cBhvr>
                                      <p:tavLst>
                                        <p:tav tm="0">
                                          <p:val>
                                            <p:strVal val="0-#ppt_h/2"/>
                                          </p:val>
                                        </p:tav>
                                        <p:tav tm="100000">
                                          <p:val>
                                            <p:strVal val="#ppt_y"/>
                                          </p:val>
                                        </p:tav>
                                      </p:tavLst>
                                    </p:anim>
                                  </p:childTnLst>
                                </p:cTn>
                              </p:par>
                              <p:par>
                                <p:cTn id="24" presetID="2" presetClass="entr" presetSubtype="1"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 calcmode="lin" valueType="num">
                                      <p:cBhvr additive="base">
                                        <p:cTn id="26" dur="500" fill="hold"/>
                                        <p:tgtEl>
                                          <p:spTgt spid="12"/>
                                        </p:tgtEl>
                                        <p:attrNameLst>
                                          <p:attrName>ppt_x</p:attrName>
                                        </p:attrNameLst>
                                      </p:cBhvr>
                                      <p:tavLst>
                                        <p:tav tm="0">
                                          <p:val>
                                            <p:strVal val="#ppt_x"/>
                                          </p:val>
                                        </p:tav>
                                        <p:tav tm="100000">
                                          <p:val>
                                            <p:strVal val="#ppt_x"/>
                                          </p:val>
                                        </p:tav>
                                      </p:tavLst>
                                    </p:anim>
                                    <p:anim calcmode="lin" valueType="num">
                                      <p:cBhvr additive="base">
                                        <p:cTn id="27" dur="500" fill="hold"/>
                                        <p:tgtEl>
                                          <p:spTgt spid="1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0E6DFD-245A-3084-4AA2-22D41D4A91CD}"/>
              </a:ext>
            </a:extLst>
          </p:cNvPr>
          <p:cNvPicPr>
            <a:picLocks noChangeAspect="1"/>
          </p:cNvPicPr>
          <p:nvPr/>
        </p:nvPicPr>
        <p:blipFill>
          <a:blip r:embed="rId2"/>
          <a:stretch>
            <a:fillRect/>
          </a:stretch>
        </p:blipFill>
        <p:spPr>
          <a:xfrm>
            <a:off x="4990468" y="1610738"/>
            <a:ext cx="3910462" cy="3775424"/>
          </a:xfrm>
          <a:prstGeom prst="rect">
            <a:avLst/>
          </a:prstGeom>
          <a:effectLst/>
        </p:spPr>
      </p:pic>
      <p:pic>
        <p:nvPicPr>
          <p:cNvPr id="5" name="Picture 4">
            <a:extLst>
              <a:ext uri="{FF2B5EF4-FFF2-40B4-BE49-F238E27FC236}">
                <a16:creationId xmlns:a16="http://schemas.microsoft.com/office/drawing/2014/main" id="{3FED7070-4674-E1E5-C659-10E5C0EBBCF1}"/>
              </a:ext>
            </a:extLst>
          </p:cNvPr>
          <p:cNvPicPr>
            <a:picLocks noChangeAspect="1"/>
          </p:cNvPicPr>
          <p:nvPr/>
        </p:nvPicPr>
        <p:blipFill>
          <a:blip r:embed="rId3"/>
          <a:stretch>
            <a:fillRect/>
          </a:stretch>
        </p:blipFill>
        <p:spPr>
          <a:xfrm>
            <a:off x="314297" y="1610738"/>
            <a:ext cx="3910462" cy="3775424"/>
          </a:xfrm>
          <a:prstGeom prst="rect">
            <a:avLst/>
          </a:prstGeom>
          <a:effectLst/>
        </p:spPr>
      </p:pic>
      <p:sp>
        <p:nvSpPr>
          <p:cNvPr id="8" name="TextBox 7">
            <a:extLst>
              <a:ext uri="{FF2B5EF4-FFF2-40B4-BE49-F238E27FC236}">
                <a16:creationId xmlns:a16="http://schemas.microsoft.com/office/drawing/2014/main" id="{D760EF39-3B55-D819-7C52-90294D456984}"/>
              </a:ext>
            </a:extLst>
          </p:cNvPr>
          <p:cNvSpPr txBox="1"/>
          <p:nvPr/>
        </p:nvSpPr>
        <p:spPr>
          <a:xfrm>
            <a:off x="613458" y="2152893"/>
            <a:ext cx="434734" cy="584775"/>
          </a:xfrm>
          <a:prstGeom prst="rect">
            <a:avLst/>
          </a:prstGeom>
          <a:noFill/>
          <a:effectLst/>
        </p:spPr>
        <p:txBody>
          <a:bodyPr wrap="none" rtlCol="0">
            <a:spAutoFit/>
          </a:bodyPr>
          <a:lstStyle/>
          <a:p>
            <a:r>
              <a:rPr lang="en-US" sz="3200" i="1" dirty="0">
                <a:latin typeface="Times New Roman" panose="02020603050405020304" pitchFamily="18" charset="0"/>
                <a:cs typeface="Times New Roman" panose="02020603050405020304" pitchFamily="18" charset="0"/>
              </a:rPr>
              <a:t>A</a:t>
            </a:r>
            <a:endParaRPr lang="en-US"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901715D9-DDFC-0704-05F4-F1A2BF926669}"/>
              </a:ext>
            </a:extLst>
          </p:cNvPr>
          <p:cNvSpPr txBox="1"/>
          <p:nvPr/>
        </p:nvSpPr>
        <p:spPr>
          <a:xfrm>
            <a:off x="5361010" y="2154821"/>
            <a:ext cx="434734" cy="584775"/>
          </a:xfrm>
          <a:prstGeom prst="rect">
            <a:avLst/>
          </a:prstGeom>
          <a:noFill/>
          <a:effectLst/>
        </p:spPr>
        <p:txBody>
          <a:bodyPr wrap="none" rtlCol="0">
            <a:spAutoFit/>
          </a:bodyPr>
          <a:lstStyle/>
          <a:p>
            <a:r>
              <a:rPr lang="en-US" sz="3200" i="1" dirty="0">
                <a:latin typeface="Times New Roman" panose="02020603050405020304" pitchFamily="18" charset="0"/>
                <a:cs typeface="Times New Roman" panose="02020603050405020304" pitchFamily="18" charset="0"/>
              </a:rPr>
              <a:t>B</a:t>
            </a:r>
            <a:endParaRPr lang="en-US" dirty="0">
              <a:latin typeface="Times New Roman" panose="02020603050405020304" pitchFamily="18" charset="0"/>
              <a:cs typeface="Times New Roman" panose="02020603050405020304" pitchFamily="18" charset="0"/>
            </a:endParaRPr>
          </a:p>
        </p:txBody>
      </p:sp>
      <p:sp>
        <p:nvSpPr>
          <p:cNvPr id="10" name="Rectangle 4">
            <a:extLst>
              <a:ext uri="{FF2B5EF4-FFF2-40B4-BE49-F238E27FC236}">
                <a16:creationId xmlns:a16="http://schemas.microsoft.com/office/drawing/2014/main" id="{CE057DB2-E6DE-623D-C350-56B57DADF30D}"/>
              </a:ext>
            </a:extLst>
          </p:cNvPr>
          <p:cNvSpPr>
            <a:spLocks noChangeArrowheads="1"/>
          </p:cNvSpPr>
          <p:nvPr/>
        </p:nvSpPr>
        <p:spPr bwMode="auto">
          <a:xfrm>
            <a:off x="231775" y="21110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Check sample variances</a:t>
            </a:r>
          </a:p>
        </p:txBody>
      </p:sp>
      <p:pic>
        <p:nvPicPr>
          <p:cNvPr id="11" name="Picture 10">
            <a:extLst>
              <a:ext uri="{FF2B5EF4-FFF2-40B4-BE49-F238E27FC236}">
                <a16:creationId xmlns:a16="http://schemas.microsoft.com/office/drawing/2014/main" id="{D4867975-D7DF-263F-58B1-8D42694DC6CD}"/>
              </a:ext>
            </a:extLst>
          </p:cNvPr>
          <p:cNvPicPr>
            <a:picLocks noChangeAspect="1" noChangeArrowheads="1"/>
          </p:cNvPicPr>
          <p:nvPr/>
        </p:nvPicPr>
        <p:blipFill>
          <a:blip r:embed="rId4" cstate="print"/>
          <a:srcRect/>
          <a:stretch>
            <a:fillRect/>
          </a:stretch>
        </p:blipFill>
        <p:spPr bwMode="auto">
          <a:xfrm>
            <a:off x="484188" y="196056"/>
            <a:ext cx="8202612" cy="239712"/>
          </a:xfrm>
          <a:prstGeom prst="rect">
            <a:avLst/>
          </a:prstGeom>
          <a:noFill/>
          <a:ln w="9525">
            <a:noFill/>
            <a:round/>
            <a:headEnd/>
            <a:tailEnd/>
          </a:ln>
          <a:effectLst/>
        </p:spPr>
      </p:pic>
      <p:pic>
        <p:nvPicPr>
          <p:cNvPr id="12" name="Picture 11">
            <a:extLst>
              <a:ext uri="{FF2B5EF4-FFF2-40B4-BE49-F238E27FC236}">
                <a16:creationId xmlns:a16="http://schemas.microsoft.com/office/drawing/2014/main" id="{68E10378-1F79-E566-9613-A5872E8231BB}"/>
              </a:ext>
            </a:extLst>
          </p:cNvPr>
          <p:cNvPicPr>
            <a:picLocks noChangeAspect="1"/>
          </p:cNvPicPr>
          <p:nvPr/>
        </p:nvPicPr>
        <p:blipFill>
          <a:blip r:embed="rId5"/>
          <a:stretch>
            <a:fillRect/>
          </a:stretch>
        </p:blipFill>
        <p:spPr>
          <a:xfrm>
            <a:off x="3877517" y="1180484"/>
            <a:ext cx="1398346" cy="431069"/>
          </a:xfrm>
          <a:prstGeom prst="rect">
            <a:avLst/>
          </a:prstGeom>
          <a:effectLst/>
        </p:spPr>
      </p:pic>
      <p:pic>
        <p:nvPicPr>
          <p:cNvPr id="13" name="Picture 12">
            <a:extLst>
              <a:ext uri="{FF2B5EF4-FFF2-40B4-BE49-F238E27FC236}">
                <a16:creationId xmlns:a16="http://schemas.microsoft.com/office/drawing/2014/main" id="{2ACA8A83-38B7-806F-DC5D-29DC6604BF5D}"/>
              </a:ext>
            </a:extLst>
          </p:cNvPr>
          <p:cNvPicPr>
            <a:picLocks noChangeAspect="1"/>
          </p:cNvPicPr>
          <p:nvPr/>
        </p:nvPicPr>
        <p:blipFill>
          <a:blip r:embed="rId6"/>
          <a:stretch>
            <a:fillRect/>
          </a:stretch>
        </p:blipFill>
        <p:spPr>
          <a:xfrm>
            <a:off x="125371" y="5483586"/>
            <a:ext cx="2013562" cy="395005"/>
          </a:xfrm>
          <a:prstGeom prst="rect">
            <a:avLst/>
          </a:prstGeom>
          <a:effectLst/>
        </p:spPr>
      </p:pic>
      <p:pic>
        <p:nvPicPr>
          <p:cNvPr id="14" name="Picture 13">
            <a:extLst>
              <a:ext uri="{FF2B5EF4-FFF2-40B4-BE49-F238E27FC236}">
                <a16:creationId xmlns:a16="http://schemas.microsoft.com/office/drawing/2014/main" id="{59E00A9F-D8D4-56D0-EF9F-C286537E732A}"/>
              </a:ext>
            </a:extLst>
          </p:cNvPr>
          <p:cNvPicPr>
            <a:picLocks noChangeAspect="1"/>
          </p:cNvPicPr>
          <p:nvPr/>
        </p:nvPicPr>
        <p:blipFill>
          <a:blip r:embed="rId7"/>
          <a:stretch>
            <a:fillRect/>
          </a:stretch>
        </p:blipFill>
        <p:spPr>
          <a:xfrm>
            <a:off x="125371" y="6000721"/>
            <a:ext cx="2013562" cy="395005"/>
          </a:xfrm>
          <a:prstGeom prst="rect">
            <a:avLst/>
          </a:prstGeom>
          <a:effectLst/>
        </p:spPr>
      </p:pic>
      <p:sp>
        <p:nvSpPr>
          <p:cNvPr id="15" name="Down Arrow 14">
            <a:extLst>
              <a:ext uri="{FF2B5EF4-FFF2-40B4-BE49-F238E27FC236}">
                <a16:creationId xmlns:a16="http://schemas.microsoft.com/office/drawing/2014/main" id="{087F03F1-207E-5B6C-0594-9D5F0861FD99}"/>
              </a:ext>
            </a:extLst>
          </p:cNvPr>
          <p:cNvSpPr/>
          <p:nvPr/>
        </p:nvSpPr>
        <p:spPr>
          <a:xfrm rot="5400000">
            <a:off x="2357542" y="5490326"/>
            <a:ext cx="252764" cy="425944"/>
          </a:xfrm>
          <a:prstGeom prst="downArrow">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7A207FF8-9669-0DB3-2034-328835F02C76}"/>
              </a:ext>
            </a:extLst>
          </p:cNvPr>
          <p:cNvPicPr>
            <a:picLocks noChangeAspect="1"/>
          </p:cNvPicPr>
          <p:nvPr/>
        </p:nvPicPr>
        <p:blipFill>
          <a:blip r:embed="rId8"/>
          <a:stretch>
            <a:fillRect/>
          </a:stretch>
        </p:blipFill>
        <p:spPr>
          <a:xfrm>
            <a:off x="2850680" y="5537070"/>
            <a:ext cx="1294572" cy="292608"/>
          </a:xfrm>
          <a:prstGeom prst="rect">
            <a:avLst/>
          </a:prstGeom>
          <a:effectLst/>
        </p:spPr>
      </p:pic>
      <p:pic>
        <p:nvPicPr>
          <p:cNvPr id="18" name="Picture 17">
            <a:extLst>
              <a:ext uri="{FF2B5EF4-FFF2-40B4-BE49-F238E27FC236}">
                <a16:creationId xmlns:a16="http://schemas.microsoft.com/office/drawing/2014/main" id="{2C960792-FB87-779A-E5E3-66E6EE562E1F}"/>
              </a:ext>
            </a:extLst>
          </p:cNvPr>
          <p:cNvPicPr>
            <a:picLocks noChangeAspect="1"/>
          </p:cNvPicPr>
          <p:nvPr/>
        </p:nvPicPr>
        <p:blipFill>
          <a:blip r:embed="rId9"/>
          <a:stretch>
            <a:fillRect/>
          </a:stretch>
        </p:blipFill>
        <p:spPr>
          <a:xfrm>
            <a:off x="3374120" y="5947308"/>
            <a:ext cx="5658105" cy="841702"/>
          </a:xfrm>
          <a:prstGeom prst="rect">
            <a:avLst/>
          </a:prstGeom>
          <a:effectLst/>
        </p:spPr>
      </p:pic>
    </p:spTree>
    <p:extLst>
      <p:ext uri="{BB962C8B-B14F-4D97-AF65-F5344CB8AC3E}">
        <p14:creationId xmlns:p14="http://schemas.microsoft.com/office/powerpoint/2010/main" val="1657761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ED7070-4674-E1E5-C659-10E5C0EBBCF1}"/>
              </a:ext>
            </a:extLst>
          </p:cNvPr>
          <p:cNvPicPr>
            <a:picLocks noChangeAspect="1"/>
          </p:cNvPicPr>
          <p:nvPr/>
        </p:nvPicPr>
        <p:blipFill>
          <a:blip r:embed="rId2"/>
          <a:stretch>
            <a:fillRect/>
          </a:stretch>
        </p:blipFill>
        <p:spPr>
          <a:xfrm>
            <a:off x="314297" y="1610738"/>
            <a:ext cx="3910462" cy="3775424"/>
          </a:xfrm>
          <a:prstGeom prst="rect">
            <a:avLst/>
          </a:prstGeom>
          <a:effectLst/>
        </p:spPr>
      </p:pic>
      <p:sp>
        <p:nvSpPr>
          <p:cNvPr id="8" name="TextBox 7">
            <a:extLst>
              <a:ext uri="{FF2B5EF4-FFF2-40B4-BE49-F238E27FC236}">
                <a16:creationId xmlns:a16="http://schemas.microsoft.com/office/drawing/2014/main" id="{D760EF39-3B55-D819-7C52-90294D456984}"/>
              </a:ext>
            </a:extLst>
          </p:cNvPr>
          <p:cNvSpPr txBox="1"/>
          <p:nvPr/>
        </p:nvSpPr>
        <p:spPr>
          <a:xfrm>
            <a:off x="613458" y="2152893"/>
            <a:ext cx="434734" cy="584775"/>
          </a:xfrm>
          <a:prstGeom prst="rect">
            <a:avLst/>
          </a:prstGeom>
          <a:noFill/>
          <a:effectLst/>
        </p:spPr>
        <p:txBody>
          <a:bodyPr wrap="none" rtlCol="0">
            <a:spAutoFit/>
          </a:bodyPr>
          <a:lstStyle/>
          <a:p>
            <a:r>
              <a:rPr lang="en-US" sz="3200" i="1" dirty="0">
                <a:latin typeface="Times New Roman" panose="02020603050405020304" pitchFamily="18" charset="0"/>
                <a:cs typeface="Times New Roman" panose="02020603050405020304" pitchFamily="18" charset="0"/>
              </a:rPr>
              <a:t>A</a:t>
            </a:r>
            <a:endParaRPr lang="en-US" dirty="0">
              <a:latin typeface="Times New Roman" panose="02020603050405020304" pitchFamily="18" charset="0"/>
              <a:cs typeface="Times New Roman" panose="02020603050405020304" pitchFamily="18" charset="0"/>
            </a:endParaRPr>
          </a:p>
        </p:txBody>
      </p:sp>
      <p:sp>
        <p:nvSpPr>
          <p:cNvPr id="10" name="Rectangle 4">
            <a:extLst>
              <a:ext uri="{FF2B5EF4-FFF2-40B4-BE49-F238E27FC236}">
                <a16:creationId xmlns:a16="http://schemas.microsoft.com/office/drawing/2014/main" id="{CE057DB2-E6DE-623D-C350-56B57DADF30D}"/>
              </a:ext>
            </a:extLst>
          </p:cNvPr>
          <p:cNvSpPr>
            <a:spLocks noChangeArrowheads="1"/>
          </p:cNvSpPr>
          <p:nvPr/>
        </p:nvSpPr>
        <p:spPr bwMode="auto">
          <a:xfrm>
            <a:off x="231775" y="199525"/>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Check sample variances</a:t>
            </a:r>
          </a:p>
        </p:txBody>
      </p:sp>
      <p:pic>
        <p:nvPicPr>
          <p:cNvPr id="11" name="Picture 10">
            <a:extLst>
              <a:ext uri="{FF2B5EF4-FFF2-40B4-BE49-F238E27FC236}">
                <a16:creationId xmlns:a16="http://schemas.microsoft.com/office/drawing/2014/main" id="{D4867975-D7DF-263F-58B1-8D42694DC6CD}"/>
              </a:ext>
            </a:extLst>
          </p:cNvPr>
          <p:cNvPicPr>
            <a:picLocks noChangeAspect="1" noChangeArrowheads="1"/>
          </p:cNvPicPr>
          <p:nvPr/>
        </p:nvPicPr>
        <p:blipFill>
          <a:blip r:embed="rId3" cstate="print"/>
          <a:srcRect/>
          <a:stretch>
            <a:fillRect/>
          </a:stretch>
        </p:blipFill>
        <p:spPr bwMode="auto">
          <a:xfrm>
            <a:off x="484188" y="184481"/>
            <a:ext cx="8202612" cy="239712"/>
          </a:xfrm>
          <a:prstGeom prst="rect">
            <a:avLst/>
          </a:prstGeom>
          <a:noFill/>
          <a:ln w="9525">
            <a:noFill/>
            <a:round/>
            <a:headEnd/>
            <a:tailEnd/>
          </a:ln>
          <a:effectLst/>
        </p:spPr>
      </p:pic>
      <p:pic>
        <p:nvPicPr>
          <p:cNvPr id="13" name="Picture 12">
            <a:extLst>
              <a:ext uri="{FF2B5EF4-FFF2-40B4-BE49-F238E27FC236}">
                <a16:creationId xmlns:a16="http://schemas.microsoft.com/office/drawing/2014/main" id="{2ACA8A83-38B7-806F-DC5D-29DC6604BF5D}"/>
              </a:ext>
            </a:extLst>
          </p:cNvPr>
          <p:cNvPicPr>
            <a:picLocks noChangeAspect="1"/>
          </p:cNvPicPr>
          <p:nvPr/>
        </p:nvPicPr>
        <p:blipFill>
          <a:blip r:embed="rId4"/>
          <a:stretch>
            <a:fillRect/>
          </a:stretch>
        </p:blipFill>
        <p:spPr>
          <a:xfrm>
            <a:off x="125371" y="5483586"/>
            <a:ext cx="2013562" cy="395005"/>
          </a:xfrm>
          <a:prstGeom prst="rect">
            <a:avLst/>
          </a:prstGeom>
          <a:effectLst/>
        </p:spPr>
      </p:pic>
      <p:pic>
        <p:nvPicPr>
          <p:cNvPr id="14" name="Picture 13">
            <a:extLst>
              <a:ext uri="{FF2B5EF4-FFF2-40B4-BE49-F238E27FC236}">
                <a16:creationId xmlns:a16="http://schemas.microsoft.com/office/drawing/2014/main" id="{59E00A9F-D8D4-56D0-EF9F-C286537E732A}"/>
              </a:ext>
            </a:extLst>
          </p:cNvPr>
          <p:cNvPicPr>
            <a:picLocks noChangeAspect="1"/>
          </p:cNvPicPr>
          <p:nvPr/>
        </p:nvPicPr>
        <p:blipFill>
          <a:blip r:embed="rId5"/>
          <a:stretch>
            <a:fillRect/>
          </a:stretch>
        </p:blipFill>
        <p:spPr>
          <a:xfrm>
            <a:off x="125371" y="6000721"/>
            <a:ext cx="2013562" cy="395005"/>
          </a:xfrm>
          <a:prstGeom prst="rect">
            <a:avLst/>
          </a:prstGeom>
          <a:effectLst/>
        </p:spPr>
      </p:pic>
      <p:sp>
        <p:nvSpPr>
          <p:cNvPr id="15" name="Down Arrow 14">
            <a:extLst>
              <a:ext uri="{FF2B5EF4-FFF2-40B4-BE49-F238E27FC236}">
                <a16:creationId xmlns:a16="http://schemas.microsoft.com/office/drawing/2014/main" id="{087F03F1-207E-5B6C-0594-9D5F0861FD99}"/>
              </a:ext>
            </a:extLst>
          </p:cNvPr>
          <p:cNvSpPr/>
          <p:nvPr/>
        </p:nvSpPr>
        <p:spPr>
          <a:xfrm rot="5400000">
            <a:off x="2357542" y="6034336"/>
            <a:ext cx="252764" cy="425944"/>
          </a:xfrm>
          <a:prstGeom prst="downArrow">
            <a:avLst/>
          </a:prstGeom>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AC2E52F9-1EA1-290D-FD5E-293560C9C277}"/>
              </a:ext>
            </a:extLst>
          </p:cNvPr>
          <p:cNvPicPr>
            <a:picLocks noChangeAspect="1"/>
          </p:cNvPicPr>
          <p:nvPr/>
        </p:nvPicPr>
        <p:blipFill>
          <a:blip r:embed="rId6"/>
          <a:stretch>
            <a:fillRect/>
          </a:stretch>
        </p:blipFill>
        <p:spPr>
          <a:xfrm>
            <a:off x="4964026" y="5831073"/>
            <a:ext cx="4066178" cy="916800"/>
          </a:xfrm>
          <a:prstGeom prst="rect">
            <a:avLst/>
          </a:prstGeom>
          <a:effectLst/>
        </p:spPr>
      </p:pic>
      <p:pic>
        <p:nvPicPr>
          <p:cNvPr id="3" name="Picture 2">
            <a:extLst>
              <a:ext uri="{FF2B5EF4-FFF2-40B4-BE49-F238E27FC236}">
                <a16:creationId xmlns:a16="http://schemas.microsoft.com/office/drawing/2014/main" id="{9A814B7A-7466-90FD-AB9D-8A182C68019A}"/>
              </a:ext>
            </a:extLst>
          </p:cNvPr>
          <p:cNvPicPr>
            <a:picLocks noChangeAspect="1"/>
          </p:cNvPicPr>
          <p:nvPr/>
        </p:nvPicPr>
        <p:blipFill>
          <a:blip r:embed="rId7"/>
          <a:stretch>
            <a:fillRect/>
          </a:stretch>
        </p:blipFill>
        <p:spPr>
          <a:xfrm>
            <a:off x="4837526" y="1610738"/>
            <a:ext cx="3910462" cy="3775424"/>
          </a:xfrm>
          <a:prstGeom prst="rect">
            <a:avLst/>
          </a:prstGeom>
          <a:effectLst/>
        </p:spPr>
      </p:pic>
      <p:sp>
        <p:nvSpPr>
          <p:cNvPr id="6" name="TextBox 5">
            <a:extLst>
              <a:ext uri="{FF2B5EF4-FFF2-40B4-BE49-F238E27FC236}">
                <a16:creationId xmlns:a16="http://schemas.microsoft.com/office/drawing/2014/main" id="{04DE9D86-2EAE-37B8-3C0A-3A0DB00DDF75}"/>
              </a:ext>
            </a:extLst>
          </p:cNvPr>
          <p:cNvSpPr txBox="1"/>
          <p:nvPr/>
        </p:nvSpPr>
        <p:spPr>
          <a:xfrm>
            <a:off x="5175815" y="2154821"/>
            <a:ext cx="434734" cy="584775"/>
          </a:xfrm>
          <a:prstGeom prst="rect">
            <a:avLst/>
          </a:prstGeom>
          <a:noFill/>
          <a:effectLst/>
        </p:spPr>
        <p:txBody>
          <a:bodyPr wrap="none" rtlCol="0">
            <a:spAutoFit/>
          </a:bodyPr>
          <a:lstStyle/>
          <a:p>
            <a:r>
              <a:rPr lang="en-US" sz="3200" i="1" dirty="0">
                <a:latin typeface="Times New Roman" panose="02020603050405020304" pitchFamily="18" charset="0"/>
                <a:cs typeface="Times New Roman" panose="02020603050405020304" pitchFamily="18" charset="0"/>
              </a:rPr>
              <a:t>B</a:t>
            </a:r>
            <a:endParaRPr lang="en-US"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E0D7A7E9-1F1F-2CF8-DB1B-4ACD1E9ADBE0}"/>
              </a:ext>
            </a:extLst>
          </p:cNvPr>
          <p:cNvPicPr>
            <a:picLocks noChangeAspect="1"/>
          </p:cNvPicPr>
          <p:nvPr/>
        </p:nvPicPr>
        <p:blipFill>
          <a:blip r:embed="rId8"/>
          <a:stretch>
            <a:fillRect/>
          </a:stretch>
        </p:blipFill>
        <p:spPr>
          <a:xfrm>
            <a:off x="3850570" y="1201573"/>
            <a:ext cx="1370852" cy="422593"/>
          </a:xfrm>
          <a:prstGeom prst="rect">
            <a:avLst/>
          </a:prstGeom>
          <a:effectLst/>
        </p:spPr>
      </p:pic>
      <p:pic>
        <p:nvPicPr>
          <p:cNvPr id="17" name="Picture 16">
            <a:extLst>
              <a:ext uri="{FF2B5EF4-FFF2-40B4-BE49-F238E27FC236}">
                <a16:creationId xmlns:a16="http://schemas.microsoft.com/office/drawing/2014/main" id="{9F7B9F24-8D70-7F0B-E212-E332297A79B6}"/>
              </a:ext>
            </a:extLst>
          </p:cNvPr>
          <p:cNvPicPr>
            <a:picLocks noChangeAspect="1"/>
          </p:cNvPicPr>
          <p:nvPr/>
        </p:nvPicPr>
        <p:blipFill>
          <a:blip r:embed="rId9"/>
          <a:stretch>
            <a:fillRect/>
          </a:stretch>
        </p:blipFill>
        <p:spPr>
          <a:xfrm>
            <a:off x="2850680" y="6084512"/>
            <a:ext cx="1294572" cy="292609"/>
          </a:xfrm>
          <a:prstGeom prst="rect">
            <a:avLst/>
          </a:prstGeom>
          <a:effectLst/>
        </p:spPr>
      </p:pic>
      <p:sp>
        <p:nvSpPr>
          <p:cNvPr id="9" name="TextBox 8">
            <a:extLst>
              <a:ext uri="{FF2B5EF4-FFF2-40B4-BE49-F238E27FC236}">
                <a16:creationId xmlns:a16="http://schemas.microsoft.com/office/drawing/2014/main" id="{C4C13DC6-71BC-7ACD-A5DA-05847BA7B9C9}"/>
              </a:ext>
            </a:extLst>
          </p:cNvPr>
          <p:cNvSpPr txBox="1"/>
          <p:nvPr/>
        </p:nvSpPr>
        <p:spPr>
          <a:xfrm>
            <a:off x="6447788" y="5323331"/>
            <a:ext cx="2696209" cy="369332"/>
          </a:xfrm>
          <a:prstGeom prst="rect">
            <a:avLst/>
          </a:prstGeom>
          <a:noFill/>
          <a:effectLst/>
        </p:spPr>
        <p:txBody>
          <a:bodyPr wrap="square">
            <a:spAutoFit/>
          </a:bodyPr>
          <a:lstStyle/>
          <a:p>
            <a:r>
              <a:rPr lang="en-US" sz="1800" dirty="0">
                <a:latin typeface="Times New Roman" panose="02020603050405020304" pitchFamily="18" charset="0"/>
                <a:cs typeface="Times New Roman" panose="02020603050405020304" pitchFamily="18" charset="0"/>
              </a:rPr>
              <a:t>Check with </a:t>
            </a:r>
            <a:r>
              <a:rPr lang="en-US" sz="1800" b="1" dirty="0" err="1">
                <a:latin typeface="Courier"/>
                <a:cs typeface="Courier"/>
              </a:rPr>
              <a:t>var.test</a:t>
            </a:r>
            <a:r>
              <a:rPr lang="en-US" sz="1800" b="1" dirty="0">
                <a:latin typeface="Courier"/>
                <a:cs typeface="Courier"/>
              </a:rPr>
              <a:t>()</a:t>
            </a:r>
            <a:endParaRPr lang="en-US" b="1" dirty="0"/>
          </a:p>
        </p:txBody>
      </p:sp>
    </p:spTree>
    <p:extLst>
      <p:ext uri="{BB962C8B-B14F-4D97-AF65-F5344CB8AC3E}">
        <p14:creationId xmlns:p14="http://schemas.microsoft.com/office/powerpoint/2010/main" val="353444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4396" y="1417670"/>
            <a:ext cx="8202612" cy="461665"/>
          </a:xfrm>
          <a:prstGeom prst="rect">
            <a:avLst/>
          </a:prstGeom>
        </p:spPr>
        <p:txBody>
          <a:bodyPr wrap="square">
            <a:spAutoFit/>
          </a:bodyPr>
          <a:lstStyle/>
          <a:p>
            <a:r>
              <a:rPr lang="en-US" sz="2400" dirty="0">
                <a:latin typeface="Times New Roman"/>
                <a:cs typeface="Times New Roman"/>
              </a:rPr>
              <a:t>Could the two sets of glass shards be from the same window?</a:t>
            </a:r>
          </a:p>
        </p:txBody>
      </p:sp>
      <p:sp>
        <p:nvSpPr>
          <p:cNvPr id="4" name="Rectangle 3"/>
          <p:cNvSpPr/>
          <p:nvPr/>
        </p:nvSpPr>
        <p:spPr>
          <a:xfrm>
            <a:off x="0" y="2205571"/>
            <a:ext cx="9070975" cy="369332"/>
          </a:xfrm>
          <a:prstGeom prst="rect">
            <a:avLst/>
          </a:prstGeom>
        </p:spPr>
        <p:txBody>
          <a:bodyPr wrap="square">
            <a:spAutoFit/>
          </a:bodyPr>
          <a:lstStyle/>
          <a:p>
            <a:r>
              <a:rPr lang="en-US" dirty="0">
                <a:latin typeface="Times New Roman"/>
                <a:cs typeface="Times New Roman"/>
              </a:rPr>
              <a:t>RIs # 1: 1.53419 1.53275 1.53345 1.53267 1.53292 1.53332 1.53464 1.53299 1.53430 1.53550</a:t>
            </a:r>
          </a:p>
        </p:txBody>
      </p:sp>
      <p:sp>
        <p:nvSpPr>
          <p:cNvPr id="6" name="Rectangle 4"/>
          <p:cNvSpPr>
            <a:spLocks noChangeArrowheads="1"/>
          </p:cNvSpPr>
          <p:nvPr/>
        </p:nvSpPr>
        <p:spPr bwMode="auto">
          <a:xfrm>
            <a:off x="231775" y="394726"/>
            <a:ext cx="8607425"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Two Sample Hypothesis Testing for the Mean</a:t>
            </a:r>
          </a:p>
        </p:txBody>
      </p:sp>
      <p:pic>
        <p:nvPicPr>
          <p:cNvPr id="7" name="Picture 6"/>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p:spPr>
      </p:pic>
      <p:sp>
        <p:nvSpPr>
          <p:cNvPr id="8" name="Rectangle 7"/>
          <p:cNvSpPr/>
          <p:nvPr/>
        </p:nvSpPr>
        <p:spPr>
          <a:xfrm>
            <a:off x="231494" y="4040044"/>
            <a:ext cx="8686800" cy="400110"/>
          </a:xfrm>
          <a:prstGeom prst="rect">
            <a:avLst/>
          </a:prstGeom>
        </p:spPr>
        <p:txBody>
          <a:bodyPr wrap="square">
            <a:spAutoFit/>
          </a:bodyPr>
          <a:lstStyle/>
          <a:p>
            <a:pPr marL="342900" indent="-342900">
              <a:buFontTx/>
              <a:buAutoNum type="alphaLcPeriod"/>
            </a:pPr>
            <a:r>
              <a:rPr lang="en-US" sz="2000" dirty="0">
                <a:latin typeface="Times New Roman"/>
                <a:cs typeface="Times New Roman"/>
              </a:rPr>
              <a:t>Do a two sample 95% confidence hypothesis test to test if </a:t>
            </a:r>
            <a:r>
              <a:rPr lang="en-US" sz="2000" dirty="0">
                <a:latin typeface="Symbol" charset="2"/>
                <a:cs typeface="Symbol" charset="2"/>
              </a:rPr>
              <a:t>: </a:t>
            </a:r>
            <a:r>
              <a:rPr lang="en-US" sz="2000" dirty="0" err="1">
                <a:latin typeface="Symbol" charset="2"/>
                <a:cs typeface="Symbol" charset="2"/>
              </a:rPr>
              <a:t>m</a:t>
            </a:r>
            <a:r>
              <a:rPr lang="en-US" sz="2000" baseline="-25000" dirty="0" err="1">
                <a:latin typeface="Times New Roman"/>
                <a:cs typeface="Times New Roman"/>
              </a:rPr>
              <a:t>RI</a:t>
            </a:r>
            <a:r>
              <a:rPr lang="en-US" sz="2000" baseline="-25000" dirty="0">
                <a:latin typeface="Times New Roman"/>
                <a:cs typeface="Times New Roman"/>
              </a:rPr>
              <a:t> #1</a:t>
            </a:r>
            <a:r>
              <a:rPr lang="en-US" sz="2000" dirty="0">
                <a:latin typeface="Times New Roman"/>
                <a:cs typeface="Times New Roman"/>
              </a:rPr>
              <a:t>  ≠ </a:t>
            </a:r>
            <a:r>
              <a:rPr lang="en-US" sz="2000" dirty="0" err="1">
                <a:latin typeface="Symbol" charset="2"/>
                <a:cs typeface="Symbol" charset="2"/>
              </a:rPr>
              <a:t>m</a:t>
            </a:r>
            <a:r>
              <a:rPr lang="en-US" sz="2000" baseline="-25000" dirty="0" err="1">
                <a:latin typeface="Times New Roman"/>
                <a:cs typeface="Times New Roman"/>
              </a:rPr>
              <a:t>RI</a:t>
            </a:r>
            <a:r>
              <a:rPr lang="en-US" sz="2000" baseline="-25000" dirty="0">
                <a:latin typeface="Times New Roman"/>
                <a:cs typeface="Times New Roman"/>
              </a:rPr>
              <a:t> #2</a:t>
            </a:r>
            <a:r>
              <a:rPr lang="en-US" sz="2000" dirty="0">
                <a:latin typeface="Times New Roman"/>
                <a:cs typeface="Times New Roman"/>
              </a:rPr>
              <a:t> (H</a:t>
            </a:r>
            <a:r>
              <a:rPr lang="en-US" sz="2000" baseline="-25000" dirty="0">
                <a:latin typeface="Times New Roman"/>
                <a:cs typeface="Times New Roman"/>
              </a:rPr>
              <a:t>a</a:t>
            </a:r>
            <a:r>
              <a:rPr lang="en-US" sz="2000" dirty="0">
                <a:latin typeface="Times New Roman"/>
                <a:cs typeface="Times New Roman"/>
              </a:rPr>
              <a:t>). </a:t>
            </a:r>
          </a:p>
        </p:txBody>
      </p:sp>
      <p:sp>
        <p:nvSpPr>
          <p:cNvPr id="9" name="Rectangle 8"/>
          <p:cNvSpPr/>
          <p:nvPr/>
        </p:nvSpPr>
        <p:spPr>
          <a:xfrm>
            <a:off x="0" y="2625331"/>
            <a:ext cx="9076327" cy="369332"/>
          </a:xfrm>
          <a:prstGeom prst="rect">
            <a:avLst/>
          </a:prstGeom>
        </p:spPr>
        <p:txBody>
          <a:bodyPr wrap="square">
            <a:spAutoFit/>
          </a:bodyPr>
          <a:lstStyle/>
          <a:p>
            <a:r>
              <a:rPr lang="en-US" dirty="0">
                <a:latin typeface="Times New Roman"/>
                <a:cs typeface="Times New Roman"/>
              </a:rPr>
              <a:t>RIs # 2: 1.53577 1.53606 1.53602 1.53544 1.53618 1.53604 1.53551 1.53572 1.53580 1.53567</a:t>
            </a:r>
          </a:p>
        </p:txBody>
      </p:sp>
    </p:spTree>
    <p:extLst>
      <p:ext uri="{BB962C8B-B14F-4D97-AF65-F5344CB8AC3E}">
        <p14:creationId xmlns:p14="http://schemas.microsoft.com/office/powerpoint/2010/main" val="2992477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4"/>
          <p:cNvSpPr>
            <a:spLocks noChangeArrowheads="1"/>
          </p:cNvSpPr>
          <p:nvPr/>
        </p:nvSpPr>
        <p:spPr bwMode="auto">
          <a:xfrm>
            <a:off x="713039" y="401768"/>
            <a:ext cx="7562014" cy="762000"/>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dirty="0">
                <a:solidFill>
                  <a:srgbClr val="000000"/>
                </a:solidFill>
                <a:latin typeface="Times New Roman" pitchFamily="18" charset="0"/>
              </a:rPr>
              <a:t>Example: Two Sample Hypothesis Testing for equivalence of  Means</a:t>
            </a:r>
          </a:p>
        </p:txBody>
      </p:sp>
      <p:pic>
        <p:nvPicPr>
          <p:cNvPr id="7" name="Picture 6"/>
          <p:cNvPicPr>
            <a:picLocks noChangeAspect="1" noChangeArrowheads="1"/>
          </p:cNvPicPr>
          <p:nvPr/>
        </p:nvPicPr>
        <p:blipFill>
          <a:blip r:embed="rId2" cstate="print"/>
          <a:srcRect/>
          <a:stretch>
            <a:fillRect/>
          </a:stretch>
        </p:blipFill>
        <p:spPr bwMode="auto">
          <a:xfrm>
            <a:off x="484188" y="76200"/>
            <a:ext cx="8202612" cy="239712"/>
          </a:xfrm>
          <a:prstGeom prst="rect">
            <a:avLst/>
          </a:prstGeom>
          <a:noFill/>
          <a:ln w="9525">
            <a:noFill/>
            <a:round/>
            <a:headEnd/>
            <a:tailEnd/>
          </a:ln>
        </p:spPr>
      </p:pic>
      <p:sp>
        <p:nvSpPr>
          <p:cNvPr id="8" name="Rectangle 7"/>
          <p:cNvSpPr/>
          <p:nvPr/>
        </p:nvSpPr>
        <p:spPr>
          <a:xfrm>
            <a:off x="93576" y="1718195"/>
            <a:ext cx="8996949" cy="3647152"/>
          </a:xfrm>
          <a:prstGeom prst="rect">
            <a:avLst/>
          </a:prstGeom>
          <a:solidFill>
            <a:srgbClr val="000C78"/>
          </a:solidFill>
        </p:spPr>
        <p:txBody>
          <a:bodyPr wrap="square">
            <a:spAutoFit/>
          </a:bodyPr>
          <a:lstStyle/>
          <a:p>
            <a:r>
              <a:rPr lang="en-US" sz="1100" dirty="0">
                <a:solidFill>
                  <a:srgbClr val="FF0000"/>
                </a:solidFill>
                <a:latin typeface="Courier"/>
                <a:cs typeface="Courier"/>
              </a:rPr>
              <a:t># Question of interest: Could the two sets of glass shards be from the same window ? </a:t>
            </a:r>
          </a:p>
          <a:p>
            <a:endParaRPr lang="en-US" sz="1100" dirty="0">
              <a:solidFill>
                <a:srgbClr val="FF0000"/>
              </a:solidFill>
              <a:latin typeface="Courier"/>
              <a:cs typeface="Courier"/>
            </a:endParaRPr>
          </a:p>
          <a:p>
            <a:r>
              <a:rPr lang="en-US" sz="1100" dirty="0">
                <a:solidFill>
                  <a:srgbClr val="FF0000"/>
                </a:solidFill>
                <a:latin typeface="Courier"/>
                <a:cs typeface="Courier"/>
              </a:rPr>
              <a:t># NULL HYPOTHESIS:</a:t>
            </a:r>
            <a:r>
              <a:rPr lang="en-US" sz="1100" dirty="0">
                <a:solidFill>
                  <a:schemeClr val="bg1"/>
                </a:solidFill>
                <a:latin typeface="Courier"/>
                <a:cs typeface="Courier"/>
              </a:rPr>
              <a:t>        </a:t>
            </a:r>
            <a:r>
              <a:rPr lang="en-US" sz="1100" dirty="0">
                <a:solidFill>
                  <a:srgbClr val="FFFF00"/>
                </a:solidFill>
                <a:latin typeface="Courier"/>
                <a:cs typeface="Courier"/>
              </a:rPr>
              <a:t>RI1 == RI2 (Side question: Problem here?)</a:t>
            </a:r>
          </a:p>
          <a:p>
            <a:r>
              <a:rPr lang="en-US" sz="1100" dirty="0">
                <a:solidFill>
                  <a:srgbClr val="FF0000"/>
                </a:solidFill>
                <a:latin typeface="Courier"/>
                <a:cs typeface="Courier"/>
              </a:rPr>
              <a:t># ALTERNATIVE HYPOTHESIS:</a:t>
            </a:r>
            <a:r>
              <a:rPr lang="en-US" sz="1100" dirty="0">
                <a:solidFill>
                  <a:schemeClr val="bg1"/>
                </a:solidFill>
                <a:latin typeface="Courier"/>
                <a:cs typeface="Courier"/>
              </a:rPr>
              <a:t> </a:t>
            </a:r>
            <a:r>
              <a:rPr lang="en-US" sz="1100" dirty="0">
                <a:solidFill>
                  <a:srgbClr val="FFFF00"/>
                </a:solidFill>
                <a:latin typeface="Courier"/>
                <a:cs typeface="Courier"/>
              </a:rPr>
              <a:t>RI1 != RI2</a:t>
            </a:r>
            <a:endParaRPr lang="en-US" sz="1100" dirty="0">
              <a:solidFill>
                <a:schemeClr val="bg1"/>
              </a:solidFill>
              <a:latin typeface="Courier"/>
              <a:cs typeface="Courier"/>
            </a:endParaRPr>
          </a:p>
          <a:p>
            <a:endParaRPr lang="en-US" sz="1100" dirty="0">
              <a:solidFill>
                <a:schemeClr val="bg1"/>
              </a:solidFill>
              <a:latin typeface="Courier"/>
              <a:cs typeface="Courier"/>
            </a:endParaRPr>
          </a:p>
          <a:p>
            <a:r>
              <a:rPr lang="en-US" sz="1100" dirty="0">
                <a:solidFill>
                  <a:srgbClr val="FFFF00"/>
                </a:solidFill>
                <a:latin typeface="Courier"/>
                <a:cs typeface="Courier"/>
              </a:rPr>
              <a:t># RIs of shards from glass pane 1</a:t>
            </a:r>
          </a:p>
          <a:p>
            <a:r>
              <a:rPr lang="en-US" sz="1100" dirty="0">
                <a:solidFill>
                  <a:schemeClr val="bg1"/>
                </a:solidFill>
                <a:latin typeface="Courier"/>
                <a:cs typeface="Courier"/>
              </a:rPr>
              <a:t>RI1 &lt;- c(1.53419, 1.53275, 1.53345, 1.53267, 1.53292, 1.53332, 1.53464, 1.53299, 1.53430, 1.53550)</a:t>
            </a:r>
          </a:p>
          <a:p>
            <a:endParaRPr lang="en-US" sz="1100" dirty="0">
              <a:solidFill>
                <a:schemeClr val="bg1"/>
              </a:solidFill>
              <a:latin typeface="Courier"/>
              <a:cs typeface="Courier"/>
            </a:endParaRPr>
          </a:p>
          <a:p>
            <a:r>
              <a:rPr lang="en-US" sz="1100" dirty="0">
                <a:solidFill>
                  <a:srgbClr val="FFFF00"/>
                </a:solidFill>
                <a:latin typeface="Courier"/>
                <a:cs typeface="Courier"/>
              </a:rPr>
              <a:t># RIs of shards from glass pane 2</a:t>
            </a:r>
          </a:p>
          <a:p>
            <a:r>
              <a:rPr lang="en-US" sz="1100" dirty="0">
                <a:solidFill>
                  <a:schemeClr val="bg1"/>
                </a:solidFill>
                <a:latin typeface="Courier"/>
                <a:cs typeface="Courier"/>
              </a:rPr>
              <a:t>RI2 &lt;- c(1.53577, 1.53606, 1.53602, 1.53544, 1.53618, 1.53604, 1.53551, 1.53572, 1.53580, 1.53567)</a:t>
            </a:r>
          </a:p>
          <a:p>
            <a:endParaRPr lang="en-US" sz="1100" dirty="0">
              <a:solidFill>
                <a:schemeClr val="bg1"/>
              </a:solidFill>
              <a:latin typeface="Courier"/>
              <a:cs typeface="Courier"/>
            </a:endParaRPr>
          </a:p>
          <a:p>
            <a:r>
              <a:rPr lang="en-US" sz="1100" dirty="0">
                <a:solidFill>
                  <a:srgbClr val="FFFF00"/>
                </a:solidFill>
                <a:latin typeface="Courier"/>
                <a:cs typeface="Courier"/>
              </a:rPr>
              <a:t># It helps to look at a box-and-whiskers plot for two-sample tests:</a:t>
            </a:r>
          </a:p>
          <a:p>
            <a:r>
              <a:rPr lang="en-US" sz="1100" dirty="0">
                <a:solidFill>
                  <a:schemeClr val="bg1"/>
                </a:solidFill>
                <a:latin typeface="Courier"/>
                <a:cs typeface="Courier"/>
              </a:rPr>
              <a:t>boxplot(RI1, RI2)</a:t>
            </a:r>
          </a:p>
          <a:p>
            <a:endParaRPr lang="en-US" sz="1100" dirty="0">
              <a:solidFill>
                <a:schemeClr val="bg1"/>
              </a:solidFill>
              <a:latin typeface="Courier"/>
              <a:cs typeface="Courier"/>
            </a:endParaRPr>
          </a:p>
          <a:p>
            <a:r>
              <a:rPr lang="en-US" sz="1100" dirty="0">
                <a:solidFill>
                  <a:srgbClr val="FFFF00"/>
                </a:solidFill>
                <a:latin typeface="Courier"/>
                <a:cs typeface="Courier"/>
              </a:rPr>
              <a:t># ****Check to see if (H0) variances of the two samples equal = 1 </a:t>
            </a:r>
          </a:p>
          <a:p>
            <a:r>
              <a:rPr lang="en-US" sz="1100" dirty="0">
                <a:solidFill>
                  <a:srgbClr val="FFFF00"/>
                </a:solidFill>
                <a:latin typeface="Courier"/>
                <a:cs typeface="Courier"/>
              </a:rPr>
              <a:t># (i.e. evidence that </a:t>
            </a:r>
            <a:r>
              <a:rPr lang="en-US" sz="1100" dirty="0" err="1">
                <a:solidFill>
                  <a:srgbClr val="FFFF00"/>
                </a:solidFill>
                <a:latin typeface="Courier"/>
                <a:cs typeface="Courier"/>
              </a:rPr>
              <a:t>vars</a:t>
            </a:r>
            <a:r>
              <a:rPr lang="en-US" sz="1100" dirty="0">
                <a:solidFill>
                  <a:srgbClr val="FFFF00"/>
                </a:solidFill>
                <a:latin typeface="Courier"/>
                <a:cs typeface="Courier"/>
              </a:rPr>
              <a:t> are not equal??):</a:t>
            </a:r>
          </a:p>
          <a:p>
            <a:r>
              <a:rPr lang="en-US" sz="1100" dirty="0" err="1">
                <a:solidFill>
                  <a:schemeClr val="bg1"/>
                </a:solidFill>
                <a:latin typeface="Courier"/>
                <a:cs typeface="Courier"/>
              </a:rPr>
              <a:t>var.test</a:t>
            </a:r>
            <a:r>
              <a:rPr lang="en-US" sz="1100" dirty="0">
                <a:solidFill>
                  <a:schemeClr val="bg1"/>
                </a:solidFill>
                <a:latin typeface="Courier"/>
                <a:cs typeface="Courier"/>
              </a:rPr>
              <a:t>(RI1, RI2)</a:t>
            </a:r>
          </a:p>
          <a:p>
            <a:endParaRPr lang="en-US" sz="1100" dirty="0">
              <a:solidFill>
                <a:schemeClr val="bg1"/>
              </a:solidFill>
              <a:latin typeface="Courier"/>
              <a:cs typeface="Courier"/>
            </a:endParaRPr>
          </a:p>
          <a:p>
            <a:r>
              <a:rPr lang="en-US" sz="1100" dirty="0">
                <a:solidFill>
                  <a:srgbClr val="FFFF00"/>
                </a:solidFill>
                <a:latin typeface="Courier"/>
                <a:cs typeface="Courier"/>
              </a:rPr>
              <a:t># Two sample two sided hypothesis test for equivalence between means:</a:t>
            </a:r>
          </a:p>
          <a:p>
            <a:r>
              <a:rPr lang="en-US" sz="1100" dirty="0" err="1">
                <a:solidFill>
                  <a:schemeClr val="bg1"/>
                </a:solidFill>
                <a:latin typeface="Courier"/>
                <a:cs typeface="Courier"/>
              </a:rPr>
              <a:t>t.test</a:t>
            </a:r>
            <a:r>
              <a:rPr lang="en-US" sz="1100" dirty="0">
                <a:solidFill>
                  <a:schemeClr val="bg1"/>
                </a:solidFill>
                <a:latin typeface="Courier"/>
                <a:cs typeface="Courier"/>
              </a:rPr>
              <a:t>(RI1, RI2, </a:t>
            </a:r>
            <a:r>
              <a:rPr lang="en-US" sz="1100" dirty="0" err="1">
                <a:solidFill>
                  <a:schemeClr val="bg1"/>
                </a:solidFill>
                <a:latin typeface="Courier"/>
                <a:cs typeface="Courier"/>
              </a:rPr>
              <a:t>var.equal</a:t>
            </a:r>
            <a:r>
              <a:rPr lang="en-US" sz="1100" dirty="0">
                <a:solidFill>
                  <a:schemeClr val="bg1"/>
                </a:solidFill>
                <a:latin typeface="Courier"/>
                <a:cs typeface="Courier"/>
              </a:rPr>
              <a:t> = </a:t>
            </a:r>
            <a:r>
              <a:rPr lang="en-US" sz="1100" dirty="0">
                <a:solidFill>
                  <a:srgbClr val="FF0000"/>
                </a:solidFill>
                <a:latin typeface="Courier"/>
                <a:cs typeface="Courier"/>
              </a:rPr>
              <a:t>FALSE</a:t>
            </a:r>
            <a:r>
              <a:rPr lang="en-US" sz="1100" dirty="0">
                <a:solidFill>
                  <a:schemeClr val="bg1"/>
                </a:solidFill>
                <a:latin typeface="Courier"/>
                <a:cs typeface="Courier"/>
              </a:rPr>
              <a:t>, alternative = </a:t>
            </a:r>
            <a:r>
              <a:rPr lang="en-US" sz="1100" dirty="0">
                <a:solidFill>
                  <a:srgbClr val="00B050"/>
                </a:solidFill>
                <a:latin typeface="Courier"/>
                <a:cs typeface="Courier"/>
              </a:rPr>
              <a:t>"</a:t>
            </a:r>
            <a:r>
              <a:rPr lang="en-US" sz="1100" dirty="0" err="1">
                <a:solidFill>
                  <a:srgbClr val="00B050"/>
                </a:solidFill>
                <a:latin typeface="Courier"/>
                <a:cs typeface="Courier"/>
              </a:rPr>
              <a:t>two.sided</a:t>
            </a:r>
            <a:r>
              <a:rPr lang="en-US" sz="1100" dirty="0">
                <a:solidFill>
                  <a:srgbClr val="00B050"/>
                </a:solidFill>
                <a:latin typeface="Courier"/>
                <a:cs typeface="Courier"/>
              </a:rPr>
              <a:t>"</a:t>
            </a:r>
            <a:r>
              <a:rPr lang="en-US" sz="1100" dirty="0">
                <a:solidFill>
                  <a:schemeClr val="bg1"/>
                </a:solidFill>
                <a:latin typeface="Courier"/>
                <a:cs typeface="Courier"/>
              </a:rPr>
              <a:t>, </a:t>
            </a:r>
            <a:r>
              <a:rPr lang="en-US" sz="1100" dirty="0" err="1">
                <a:solidFill>
                  <a:schemeClr val="bg1"/>
                </a:solidFill>
                <a:latin typeface="Courier"/>
                <a:cs typeface="Courier"/>
              </a:rPr>
              <a:t>conf.level</a:t>
            </a:r>
            <a:r>
              <a:rPr lang="en-US" sz="1100" dirty="0">
                <a:solidFill>
                  <a:schemeClr val="bg1"/>
                </a:solidFill>
                <a:latin typeface="Courier"/>
                <a:cs typeface="Courier"/>
              </a:rPr>
              <a:t> = 0.95)</a:t>
            </a:r>
          </a:p>
          <a:p>
            <a:endParaRPr lang="en-US" sz="1100" dirty="0">
              <a:solidFill>
                <a:schemeClr val="bg1"/>
              </a:solidFill>
              <a:latin typeface="Courier"/>
              <a:cs typeface="Courier"/>
            </a:endParaRPr>
          </a:p>
        </p:txBody>
      </p:sp>
      <p:sp>
        <p:nvSpPr>
          <p:cNvPr id="11" name="Rectangle 10"/>
          <p:cNvSpPr/>
          <p:nvPr/>
        </p:nvSpPr>
        <p:spPr>
          <a:xfrm>
            <a:off x="3436934" y="5934699"/>
            <a:ext cx="1808458" cy="369332"/>
          </a:xfrm>
          <a:prstGeom prst="rect">
            <a:avLst/>
          </a:prstGeom>
        </p:spPr>
        <p:txBody>
          <a:bodyPr wrap="none">
            <a:spAutoFit/>
          </a:bodyPr>
          <a:lstStyle/>
          <a:p>
            <a:r>
              <a:rPr lang="en-US" dirty="0">
                <a:latin typeface="Symbol" charset="2"/>
                <a:cs typeface="Symbol" charset="2"/>
              </a:rPr>
              <a:t>H</a:t>
            </a:r>
            <a:r>
              <a:rPr lang="en-US" baseline="-25000" dirty="0">
                <a:latin typeface="Symbol" charset="2"/>
                <a:cs typeface="Symbol" charset="2"/>
              </a:rPr>
              <a:t>0</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RI</a:t>
            </a:r>
            <a:r>
              <a:rPr lang="en-US" baseline="-25000" dirty="0">
                <a:latin typeface="Times New Roman"/>
                <a:cs typeface="Times New Roman"/>
              </a:rPr>
              <a:t> #1</a:t>
            </a:r>
            <a:r>
              <a:rPr lang="en-US" dirty="0">
                <a:latin typeface="Times New Roman"/>
                <a:cs typeface="Times New Roman"/>
              </a:rPr>
              <a:t>  = </a:t>
            </a:r>
            <a:r>
              <a:rPr lang="en-US" dirty="0" err="1">
                <a:latin typeface="Symbol" charset="2"/>
                <a:cs typeface="Symbol" charset="2"/>
              </a:rPr>
              <a:t>m</a:t>
            </a:r>
            <a:r>
              <a:rPr lang="en-US" baseline="-25000" dirty="0" err="1">
                <a:latin typeface="Times New Roman"/>
                <a:cs typeface="Times New Roman"/>
              </a:rPr>
              <a:t>RI</a:t>
            </a:r>
            <a:r>
              <a:rPr lang="en-US" baseline="-25000" dirty="0">
                <a:latin typeface="Times New Roman"/>
                <a:cs typeface="Times New Roman"/>
              </a:rPr>
              <a:t> #2</a:t>
            </a:r>
            <a:endParaRPr lang="en-US" dirty="0"/>
          </a:p>
        </p:txBody>
      </p:sp>
      <p:sp>
        <p:nvSpPr>
          <p:cNvPr id="12" name="Rectangle 11"/>
          <p:cNvSpPr/>
          <p:nvPr/>
        </p:nvSpPr>
        <p:spPr>
          <a:xfrm>
            <a:off x="3471689" y="6339900"/>
            <a:ext cx="1828596" cy="369332"/>
          </a:xfrm>
          <a:prstGeom prst="rect">
            <a:avLst/>
          </a:prstGeom>
        </p:spPr>
        <p:txBody>
          <a:bodyPr wrap="none">
            <a:spAutoFit/>
          </a:bodyPr>
          <a:lstStyle/>
          <a:p>
            <a:r>
              <a:rPr lang="en-US" dirty="0">
                <a:latin typeface="Symbol" charset="2"/>
                <a:cs typeface="Symbol" charset="2"/>
              </a:rPr>
              <a:t>H</a:t>
            </a:r>
            <a:r>
              <a:rPr lang="en-US" baseline="-25000" dirty="0">
                <a:latin typeface="Times New Roman"/>
                <a:cs typeface="Times New Roman"/>
              </a:rPr>
              <a:t>a</a:t>
            </a:r>
            <a:r>
              <a:rPr lang="en-US" dirty="0">
                <a:latin typeface="Symbol" charset="2"/>
                <a:cs typeface="Symbol" charset="2"/>
              </a:rPr>
              <a:t>: </a:t>
            </a:r>
            <a:r>
              <a:rPr lang="en-US" dirty="0" err="1">
                <a:latin typeface="Symbol" charset="2"/>
                <a:cs typeface="Symbol" charset="2"/>
              </a:rPr>
              <a:t>m</a:t>
            </a:r>
            <a:r>
              <a:rPr lang="en-US" baseline="-25000" dirty="0" err="1">
                <a:latin typeface="Times New Roman"/>
                <a:cs typeface="Times New Roman"/>
              </a:rPr>
              <a:t>RI</a:t>
            </a:r>
            <a:r>
              <a:rPr lang="en-US" baseline="-25000" dirty="0">
                <a:latin typeface="Times New Roman"/>
                <a:cs typeface="Times New Roman"/>
              </a:rPr>
              <a:t> #1</a:t>
            </a:r>
            <a:r>
              <a:rPr lang="en-US" dirty="0">
                <a:latin typeface="Times New Roman"/>
                <a:cs typeface="Times New Roman"/>
              </a:rPr>
              <a:t>  ≠ </a:t>
            </a:r>
            <a:r>
              <a:rPr lang="en-US" dirty="0" err="1">
                <a:latin typeface="Symbol" charset="2"/>
                <a:cs typeface="Symbol" charset="2"/>
              </a:rPr>
              <a:t>m</a:t>
            </a:r>
            <a:r>
              <a:rPr lang="en-US" baseline="-25000" dirty="0" err="1">
                <a:latin typeface="Times New Roman"/>
                <a:cs typeface="Times New Roman"/>
              </a:rPr>
              <a:t>RI</a:t>
            </a:r>
            <a:r>
              <a:rPr lang="en-US" baseline="-25000" dirty="0">
                <a:latin typeface="Times New Roman"/>
                <a:cs typeface="Times New Roman"/>
              </a:rPr>
              <a:t> #2</a:t>
            </a:r>
            <a:endParaRPr lang="en-US" dirty="0"/>
          </a:p>
        </p:txBody>
      </p:sp>
      <p:sp>
        <p:nvSpPr>
          <p:cNvPr id="4" name="TextBox 3">
            <a:extLst>
              <a:ext uri="{FF2B5EF4-FFF2-40B4-BE49-F238E27FC236}">
                <a16:creationId xmlns:a16="http://schemas.microsoft.com/office/drawing/2014/main" id="{DE9E5033-401A-9A28-64BA-30A39456F3B5}"/>
              </a:ext>
            </a:extLst>
          </p:cNvPr>
          <p:cNvSpPr txBox="1"/>
          <p:nvPr/>
        </p:nvSpPr>
        <p:spPr>
          <a:xfrm>
            <a:off x="93576" y="5400684"/>
            <a:ext cx="2649624" cy="400110"/>
          </a:xfrm>
          <a:prstGeom prst="rect">
            <a:avLst/>
          </a:prstGeom>
          <a:noFill/>
        </p:spPr>
        <p:txBody>
          <a:bodyPr wrap="square">
            <a:spAutoFit/>
          </a:bodyPr>
          <a:lstStyle/>
          <a:p>
            <a:r>
              <a:rPr lang="en-US" sz="2000" dirty="0" err="1">
                <a:latin typeface="Times New Roman" panose="02020603050405020304" pitchFamily="18" charset="0"/>
                <a:cs typeface="Times New Roman" panose="02020603050405020304" pitchFamily="18" charset="0"/>
                <a:hlinkClick r:id="rId3"/>
              </a:rPr>
              <a:t>hyp_test_two_samp.R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0419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F8DA12A-C713-18EE-6C42-6ECE94CC6E43}"/>
              </a:ext>
            </a:extLst>
          </p:cNvPr>
          <p:cNvSpPr>
            <a:spLocks noChangeArrowheads="1"/>
          </p:cNvSpPr>
          <p:nvPr/>
        </p:nvSpPr>
        <p:spPr bwMode="auto">
          <a:xfrm>
            <a:off x="231775" y="21110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Paired T-Tests</a:t>
            </a:r>
          </a:p>
        </p:txBody>
      </p:sp>
      <p:pic>
        <p:nvPicPr>
          <p:cNvPr id="3" name="Picture 2">
            <a:extLst>
              <a:ext uri="{FF2B5EF4-FFF2-40B4-BE49-F238E27FC236}">
                <a16:creationId xmlns:a16="http://schemas.microsoft.com/office/drawing/2014/main" id="{59A5488C-D8F3-CF0A-B778-919947DCC633}"/>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4" name="TextBox 3">
            <a:extLst>
              <a:ext uri="{FF2B5EF4-FFF2-40B4-BE49-F238E27FC236}">
                <a16:creationId xmlns:a16="http://schemas.microsoft.com/office/drawing/2014/main" id="{1BF2F947-E9A3-C3E1-7CBC-874018C65587}"/>
              </a:ext>
            </a:extLst>
          </p:cNvPr>
          <p:cNvSpPr txBox="1"/>
          <p:nvPr/>
        </p:nvSpPr>
        <p:spPr>
          <a:xfrm>
            <a:off x="484189" y="1261638"/>
            <a:ext cx="8202612" cy="830997"/>
          </a:xfrm>
          <a:prstGeom prst="rect">
            <a:avLst/>
          </a:prstGeom>
          <a:noFill/>
          <a:effectLst/>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If two samples come from paired observations, there can be some correlation:</a:t>
            </a:r>
          </a:p>
        </p:txBody>
      </p:sp>
      <p:sp>
        <p:nvSpPr>
          <p:cNvPr id="5" name="TextBox 4">
            <a:extLst>
              <a:ext uri="{FF2B5EF4-FFF2-40B4-BE49-F238E27FC236}">
                <a16:creationId xmlns:a16="http://schemas.microsoft.com/office/drawing/2014/main" id="{B99917CD-9E53-CC92-7C27-D7F46B05F6FD}"/>
              </a:ext>
            </a:extLst>
          </p:cNvPr>
          <p:cNvSpPr txBox="1"/>
          <p:nvPr/>
        </p:nvSpPr>
        <p:spPr>
          <a:xfrm>
            <a:off x="902805" y="2190728"/>
            <a:ext cx="6880410" cy="1107996"/>
          </a:xfrm>
          <a:prstGeom prst="rect">
            <a:avLst/>
          </a:prstGeom>
          <a:noFill/>
          <a:effectLst/>
        </p:spPr>
        <p:txBody>
          <a:bodyPr wrap="none" rtlCol="0">
            <a:spAutoFit/>
          </a:bodyPr>
          <a:lstStyle/>
          <a:p>
            <a:pPr marL="285750" indent="-285750">
              <a:buFont typeface="Arial" panose="020B0604020202020204" pitchFamily="34" charset="0"/>
              <a:buChar char="•"/>
            </a:pPr>
            <a:r>
              <a:rPr lang="en-US" sz="2200" i="1" dirty="0">
                <a:latin typeface="Times New Roman" panose="02020603050405020304" pitchFamily="18" charset="0"/>
                <a:cs typeface="Times New Roman" panose="02020603050405020304" pitchFamily="18" charset="0"/>
              </a:rPr>
              <a:t>e.g.</a:t>
            </a:r>
            <a:r>
              <a:rPr lang="en-US" sz="2200" dirty="0">
                <a:latin typeface="Times New Roman" panose="02020603050405020304" pitchFamily="18" charset="0"/>
                <a:cs typeface="Times New Roman" panose="02020603050405020304" pitchFamily="18" charset="0"/>
              </a:rPr>
              <a:t> two experiments made on the same person or object</a:t>
            </a:r>
          </a:p>
          <a:p>
            <a:pPr marL="285750" indent="-285750">
              <a:buFont typeface="Arial" panose="020B0604020202020204" pitchFamily="34" charset="0"/>
              <a:buChar char="•"/>
            </a:pPr>
            <a:r>
              <a:rPr lang="en-US" sz="2200" i="1" dirty="0">
                <a:latin typeface="Times New Roman" panose="02020603050405020304" pitchFamily="18" charset="0"/>
                <a:cs typeface="Times New Roman" panose="02020603050405020304" pitchFamily="18" charset="0"/>
              </a:rPr>
              <a:t>e.g. </a:t>
            </a:r>
            <a:r>
              <a:rPr lang="en-US" sz="2200" dirty="0">
                <a:latin typeface="Times New Roman" panose="02020603050405020304" pitchFamily="18" charset="0"/>
                <a:cs typeface="Times New Roman" panose="02020603050405020304" pitchFamily="18" charset="0"/>
              </a:rPr>
              <a:t>two</a:t>
            </a:r>
            <a:r>
              <a:rPr lang="en-US" sz="2200" i="1" dirty="0">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cs typeface="Times New Roman" panose="02020603050405020304" pitchFamily="18" charset="0"/>
              </a:rPr>
              <a:t>experiments at the same location</a:t>
            </a:r>
          </a:p>
          <a:p>
            <a:pPr marL="285750" indent="-285750">
              <a:buFont typeface="Arial" panose="020B0604020202020204" pitchFamily="34" charset="0"/>
              <a:buChar char="•"/>
            </a:pPr>
            <a:r>
              <a:rPr lang="en-US" sz="2200" i="1" dirty="0">
                <a:latin typeface="Times New Roman" panose="02020603050405020304" pitchFamily="18" charset="0"/>
                <a:cs typeface="Times New Roman" panose="02020603050405020304" pitchFamily="18" charset="0"/>
              </a:rPr>
              <a:t>e.g. </a:t>
            </a:r>
            <a:r>
              <a:rPr lang="en-US" sz="2200" dirty="0">
                <a:latin typeface="Times New Roman" panose="02020603050405020304" pitchFamily="18" charset="0"/>
                <a:cs typeface="Times New Roman" panose="02020603050405020304" pitchFamily="18" charset="0"/>
              </a:rPr>
              <a:t>experimental results </a:t>
            </a:r>
            <a:r>
              <a:rPr lang="en-US" sz="2200" i="1" dirty="0">
                <a:latin typeface="Times New Roman" panose="02020603050405020304" pitchFamily="18" charset="0"/>
                <a:cs typeface="Times New Roman" panose="02020603050405020304" pitchFamily="18" charset="0"/>
              </a:rPr>
              <a:t>before</a:t>
            </a:r>
            <a:r>
              <a:rPr lang="en-US" sz="2200" dirty="0">
                <a:latin typeface="Times New Roman" panose="02020603050405020304" pitchFamily="18" charset="0"/>
                <a:cs typeface="Times New Roman" panose="02020603050405020304" pitchFamily="18" charset="0"/>
              </a:rPr>
              <a:t> and </a:t>
            </a:r>
            <a:r>
              <a:rPr lang="en-US" sz="2200" i="1" dirty="0">
                <a:latin typeface="Times New Roman" panose="02020603050405020304" pitchFamily="18" charset="0"/>
                <a:cs typeface="Times New Roman" panose="02020603050405020304" pitchFamily="18" charset="0"/>
              </a:rPr>
              <a:t>after</a:t>
            </a:r>
          </a:p>
        </p:txBody>
      </p:sp>
      <p:sp>
        <p:nvSpPr>
          <p:cNvPr id="6" name="TextBox 5">
            <a:extLst>
              <a:ext uri="{FF2B5EF4-FFF2-40B4-BE49-F238E27FC236}">
                <a16:creationId xmlns:a16="http://schemas.microsoft.com/office/drawing/2014/main" id="{FEE628A5-6DFE-0C6B-8DC0-F92C3570F634}"/>
              </a:ext>
            </a:extLst>
          </p:cNvPr>
          <p:cNvSpPr txBox="1"/>
          <p:nvPr/>
        </p:nvSpPr>
        <p:spPr>
          <a:xfrm>
            <a:off x="434181" y="3647952"/>
            <a:ext cx="8202612" cy="1200329"/>
          </a:xfrm>
          <a:prstGeom prst="rect">
            <a:avLst/>
          </a:prstGeom>
          <a:noFill/>
          <a:effectLst/>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correlation can actually </a:t>
            </a:r>
            <a:r>
              <a:rPr lang="en-US" sz="2400" i="1" u="sng" dirty="0">
                <a:latin typeface="Times New Roman" panose="02020603050405020304" pitchFamily="18" charset="0"/>
                <a:cs typeface="Times New Roman" panose="02020603050405020304" pitchFamily="18" charset="0"/>
              </a:rPr>
              <a:t>reduce</a:t>
            </a:r>
            <a:r>
              <a:rPr lang="en-US" sz="2400" dirty="0">
                <a:latin typeface="Times New Roman" panose="02020603050405020304" pitchFamily="18" charset="0"/>
                <a:cs typeface="Times New Roman" panose="02020603050405020304" pitchFamily="18" charset="0"/>
              </a:rPr>
              <a:t> the standard error of difference between the sample means because the variance between the (correlated) sample differences is:</a:t>
            </a:r>
          </a:p>
        </p:txBody>
      </p:sp>
      <p:sp>
        <p:nvSpPr>
          <p:cNvPr id="8" name="Rectangle 7">
            <a:extLst>
              <a:ext uri="{FF2B5EF4-FFF2-40B4-BE49-F238E27FC236}">
                <a16:creationId xmlns:a16="http://schemas.microsoft.com/office/drawing/2014/main" id="{9AD78C48-CB22-675E-351B-90347751E22A}"/>
              </a:ext>
            </a:extLst>
          </p:cNvPr>
          <p:cNvSpPr/>
          <p:nvPr/>
        </p:nvSpPr>
        <p:spPr>
          <a:xfrm>
            <a:off x="5231756" y="5059089"/>
            <a:ext cx="2060294" cy="572512"/>
          </a:xfrm>
          <a:prstGeom prst="rect">
            <a:avLst/>
          </a:prstGeom>
          <a:noFill/>
          <a:ln w="28575"/>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9" name="Picture 8">
            <a:extLst>
              <a:ext uri="{FF2B5EF4-FFF2-40B4-BE49-F238E27FC236}">
                <a16:creationId xmlns:a16="http://schemas.microsoft.com/office/drawing/2014/main" id="{8C641651-C0B1-A2A0-AF68-D561AC0297B1}"/>
              </a:ext>
            </a:extLst>
          </p:cNvPr>
          <p:cNvPicPr>
            <a:picLocks noChangeAspect="1"/>
          </p:cNvPicPr>
          <p:nvPr/>
        </p:nvPicPr>
        <p:blipFill>
          <a:blip r:embed="rId3"/>
          <a:stretch>
            <a:fillRect/>
          </a:stretch>
        </p:blipFill>
        <p:spPr>
          <a:xfrm>
            <a:off x="868080" y="5197509"/>
            <a:ext cx="6386332" cy="338530"/>
          </a:xfrm>
          <a:prstGeom prst="rect">
            <a:avLst/>
          </a:prstGeom>
          <a:effectLst/>
        </p:spPr>
      </p:pic>
    </p:spTree>
    <p:extLst>
      <p:ext uri="{BB962C8B-B14F-4D97-AF65-F5344CB8AC3E}">
        <p14:creationId xmlns:p14="http://schemas.microsoft.com/office/powerpoint/2010/main" val="29099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par>
                          <p:cTn id="15" fill="hold">
                            <p:stCondLst>
                              <p:cond delay="500"/>
                            </p:stCondLst>
                            <p:childTnLst>
                              <p:par>
                                <p:cTn id="16" presetID="2" presetClass="entr" presetSubtype="4"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ppt_x"/>
                                          </p:val>
                                        </p:tav>
                                        <p:tav tm="100000">
                                          <p:val>
                                            <p:strVal val="#ppt_x"/>
                                          </p:val>
                                        </p:tav>
                                      </p:tavLst>
                                    </p:anim>
                                    <p:anim calcmode="lin" valueType="num">
                                      <p:cBhvr additive="base">
                                        <p:cTn id="19"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DC8AA2FD-8D7B-1199-69C2-F3E2E2400022}"/>
              </a:ext>
            </a:extLst>
          </p:cNvPr>
          <p:cNvSpPr>
            <a:spLocks noChangeArrowheads="1"/>
          </p:cNvSpPr>
          <p:nvPr/>
        </p:nvSpPr>
        <p:spPr bwMode="auto">
          <a:xfrm>
            <a:off x="231775" y="21110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Paired T-Tests</a:t>
            </a:r>
          </a:p>
        </p:txBody>
      </p:sp>
      <p:sp>
        <p:nvSpPr>
          <p:cNvPr id="3" name="TextBox 2">
            <a:extLst>
              <a:ext uri="{FF2B5EF4-FFF2-40B4-BE49-F238E27FC236}">
                <a16:creationId xmlns:a16="http://schemas.microsoft.com/office/drawing/2014/main" id="{B4717D10-1DA7-006F-997B-DE3B35D5F277}"/>
              </a:ext>
            </a:extLst>
          </p:cNvPr>
          <p:cNvSpPr txBox="1"/>
          <p:nvPr/>
        </p:nvSpPr>
        <p:spPr>
          <a:xfrm>
            <a:off x="484189" y="1377388"/>
            <a:ext cx="8202612"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Doing a t-tests which takes into account pairing is easy:</a:t>
            </a:r>
          </a:p>
        </p:txBody>
      </p:sp>
      <p:sp>
        <p:nvSpPr>
          <p:cNvPr id="4" name="TextBox 3">
            <a:extLst>
              <a:ext uri="{FF2B5EF4-FFF2-40B4-BE49-F238E27FC236}">
                <a16:creationId xmlns:a16="http://schemas.microsoft.com/office/drawing/2014/main" id="{2835A962-6EE6-248F-BF04-B82B8ECEF8FD}"/>
              </a:ext>
            </a:extLst>
          </p:cNvPr>
          <p:cNvSpPr txBox="1"/>
          <p:nvPr/>
        </p:nvSpPr>
        <p:spPr>
          <a:xfrm>
            <a:off x="833357" y="1862203"/>
            <a:ext cx="7708759" cy="769441"/>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Do a one-sample t-test on the sample differences with respect to the mean difference = 0 (i.e. set </a:t>
            </a:r>
            <a:r>
              <a:rPr lang="en-US" sz="2200" b="1" dirty="0">
                <a:latin typeface="Courier New" panose="02070309020205020404" pitchFamily="49" charset="0"/>
                <a:cs typeface="Courier New" panose="02070309020205020404" pitchFamily="49" charset="0"/>
              </a:rPr>
              <a:t>mu = 0</a:t>
            </a:r>
            <a:r>
              <a:rPr lang="en-US" sz="2200" dirty="0">
                <a:latin typeface="Times New Roman" panose="02020603050405020304" pitchFamily="18" charset="0"/>
                <a:cs typeface="Times New Roman" panose="02020603050405020304" pitchFamily="18" charset="0"/>
              </a:rPr>
              <a:t> in </a:t>
            </a:r>
            <a:r>
              <a:rPr lang="en-US" sz="2200" b="1" dirty="0" err="1">
                <a:latin typeface="Courier New" panose="02070309020205020404" pitchFamily="49" charset="0"/>
                <a:cs typeface="Courier New" panose="02070309020205020404" pitchFamily="49" charset="0"/>
              </a:rPr>
              <a:t>t.test</a:t>
            </a:r>
            <a:r>
              <a:rPr lang="en-US" sz="2200" dirty="0">
                <a:latin typeface="Times New Roman" panose="02020603050405020304" pitchFamily="18" charset="0"/>
                <a:cs typeface="Times New Roman" panose="02020603050405020304" pitchFamily="18" charset="0"/>
              </a:rPr>
              <a:t>) –or–</a:t>
            </a:r>
          </a:p>
        </p:txBody>
      </p:sp>
      <p:sp>
        <p:nvSpPr>
          <p:cNvPr id="5" name="TextBox 4">
            <a:extLst>
              <a:ext uri="{FF2B5EF4-FFF2-40B4-BE49-F238E27FC236}">
                <a16:creationId xmlns:a16="http://schemas.microsoft.com/office/drawing/2014/main" id="{1E301D74-F473-FD0C-7CFD-2BA3E70174CB}"/>
              </a:ext>
            </a:extLst>
          </p:cNvPr>
          <p:cNvSpPr txBox="1"/>
          <p:nvPr/>
        </p:nvSpPr>
        <p:spPr>
          <a:xfrm>
            <a:off x="833357" y="2660858"/>
            <a:ext cx="7708759" cy="430887"/>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Do a two-sample t-test but set </a:t>
            </a:r>
            <a:r>
              <a:rPr lang="en-US" sz="2200" b="1" dirty="0">
                <a:latin typeface="Courier New" panose="02070309020205020404" pitchFamily="49" charset="0"/>
                <a:cs typeface="Courier New" panose="02070309020205020404" pitchFamily="49" charset="0"/>
              </a:rPr>
              <a:t>paired = T</a:t>
            </a:r>
          </a:p>
        </p:txBody>
      </p:sp>
      <p:sp>
        <p:nvSpPr>
          <p:cNvPr id="6" name="TextBox 5">
            <a:extLst>
              <a:ext uri="{FF2B5EF4-FFF2-40B4-BE49-F238E27FC236}">
                <a16:creationId xmlns:a16="http://schemas.microsoft.com/office/drawing/2014/main" id="{86B3DD3D-0D63-D4CF-95F1-11DBA200409A}"/>
              </a:ext>
            </a:extLst>
          </p:cNvPr>
          <p:cNvSpPr txBox="1"/>
          <p:nvPr/>
        </p:nvSpPr>
        <p:spPr>
          <a:xfrm>
            <a:off x="484189" y="3474330"/>
            <a:ext cx="820261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If you suspect correlation between your samples, it doesn’t hurt to do the t-test as paired.</a:t>
            </a:r>
          </a:p>
        </p:txBody>
      </p:sp>
      <p:pic>
        <p:nvPicPr>
          <p:cNvPr id="7" name="Picture 6">
            <a:extLst>
              <a:ext uri="{FF2B5EF4-FFF2-40B4-BE49-F238E27FC236}">
                <a16:creationId xmlns:a16="http://schemas.microsoft.com/office/drawing/2014/main" id="{C9A4FFE9-B4FB-49E4-AAA9-DA8D0AD35E27}"/>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Tree>
    <p:extLst>
      <p:ext uri="{BB962C8B-B14F-4D97-AF65-F5344CB8AC3E}">
        <p14:creationId xmlns:p14="http://schemas.microsoft.com/office/powerpoint/2010/main" val="2263611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9C6AFA36-CE0D-78BE-BA3E-DAB0A7E21C4D}"/>
              </a:ext>
            </a:extLst>
          </p:cNvPr>
          <p:cNvSpPr>
            <a:spLocks noChangeArrowheads="1"/>
          </p:cNvSpPr>
          <p:nvPr/>
        </p:nvSpPr>
        <p:spPr bwMode="auto">
          <a:xfrm>
            <a:off x="231775" y="21110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Example Paired T-Tests</a:t>
            </a:r>
          </a:p>
        </p:txBody>
      </p:sp>
      <p:pic>
        <p:nvPicPr>
          <p:cNvPr id="3" name="Picture 2">
            <a:extLst>
              <a:ext uri="{FF2B5EF4-FFF2-40B4-BE49-F238E27FC236}">
                <a16:creationId xmlns:a16="http://schemas.microsoft.com/office/drawing/2014/main" id="{FF60D894-A6E1-E78A-A4F8-C6C5DDD9C115}"/>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4" name="TextBox 3">
            <a:extLst>
              <a:ext uri="{FF2B5EF4-FFF2-40B4-BE49-F238E27FC236}">
                <a16:creationId xmlns:a16="http://schemas.microsoft.com/office/drawing/2014/main" id="{0084EEB6-B307-1E99-7842-1CDBD5F54FA1}"/>
              </a:ext>
            </a:extLst>
          </p:cNvPr>
          <p:cNvSpPr txBox="1"/>
          <p:nvPr/>
        </p:nvSpPr>
        <p:spPr>
          <a:xfrm>
            <a:off x="364603" y="1562582"/>
            <a:ext cx="8322197" cy="1938992"/>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Wear was measured on the shoe soles worn by 10 people. The sole material on the shoes for each person differed in composition. There were two materials examined A and B. The material was randomized between left (L) and right (R) shoes. The data below lists the wear measurements. </a:t>
            </a:r>
          </a:p>
        </p:txBody>
      </p:sp>
      <p:sp>
        <p:nvSpPr>
          <p:cNvPr id="5" name="TextBox 4">
            <a:extLst>
              <a:ext uri="{FF2B5EF4-FFF2-40B4-BE49-F238E27FC236}">
                <a16:creationId xmlns:a16="http://schemas.microsoft.com/office/drawing/2014/main" id="{82B656AD-539B-D118-B3D0-E20B6F9F29BB}"/>
              </a:ext>
            </a:extLst>
          </p:cNvPr>
          <p:cNvSpPr txBox="1"/>
          <p:nvPr/>
        </p:nvSpPr>
        <p:spPr>
          <a:xfrm>
            <a:off x="2319615" y="3900667"/>
            <a:ext cx="6340197" cy="461665"/>
          </a:xfrm>
          <a:prstGeom prst="rect">
            <a:avLst/>
          </a:prstGeom>
          <a:noFill/>
        </p:spPr>
        <p:txBody>
          <a:bodyPr wrap="none" rtlCol="0">
            <a:spAutoFit/>
          </a:bodyPr>
          <a:lstStyle/>
          <a:p>
            <a:r>
              <a:rPr lang="en-US" sz="2400" dirty="0">
                <a:latin typeface="Times New Roman" panose="02020603050405020304" pitchFamily="18" charset="0"/>
                <a:cs typeface="Times New Roman" panose="02020603050405020304" pitchFamily="18" charset="0"/>
              </a:rPr>
              <a:t>13.2, 8.2, 10.9, 14.3, 10.7, 6.6, 9.5, 10.8, 8.8, 13.3</a:t>
            </a:r>
          </a:p>
        </p:txBody>
      </p:sp>
      <p:sp>
        <p:nvSpPr>
          <p:cNvPr id="6" name="TextBox 5">
            <a:extLst>
              <a:ext uri="{FF2B5EF4-FFF2-40B4-BE49-F238E27FC236}">
                <a16:creationId xmlns:a16="http://schemas.microsoft.com/office/drawing/2014/main" id="{D875528F-54EB-11AD-8838-9984DCAB4F44}"/>
              </a:ext>
            </a:extLst>
          </p:cNvPr>
          <p:cNvSpPr txBox="1"/>
          <p:nvPr/>
        </p:nvSpPr>
        <p:spPr>
          <a:xfrm>
            <a:off x="2319615" y="4558636"/>
            <a:ext cx="6305957" cy="461665"/>
          </a:xfrm>
          <a:prstGeom prst="rect">
            <a:avLst/>
          </a:prstGeom>
          <a:noFill/>
        </p:spPr>
        <p:txBody>
          <a:bodyPr wrap="none" rtlCol="0">
            <a:spAutoFit/>
          </a:bodyPr>
          <a:lstStyle/>
          <a:p>
            <a:r>
              <a:rPr lang="en-US" sz="2400" dirty="0">
                <a:latin typeface="Times New Roman" panose="02020603050405020304" pitchFamily="18" charset="0"/>
                <a:cs typeface="Times New Roman" panose="02020603050405020304" pitchFamily="18" charset="0"/>
              </a:rPr>
              <a:t>14.0, 8.8, 11.2, 14.2, 11.8, 6.4, 9.8, 11.3, 9.3, 13.6</a:t>
            </a:r>
          </a:p>
        </p:txBody>
      </p:sp>
      <p:sp>
        <p:nvSpPr>
          <p:cNvPr id="7" name="TextBox 6">
            <a:extLst>
              <a:ext uri="{FF2B5EF4-FFF2-40B4-BE49-F238E27FC236}">
                <a16:creationId xmlns:a16="http://schemas.microsoft.com/office/drawing/2014/main" id="{CFA7B61E-D3ED-B3CB-EBFB-3C92CA57418F}"/>
              </a:ext>
            </a:extLst>
          </p:cNvPr>
          <p:cNvSpPr txBox="1"/>
          <p:nvPr/>
        </p:nvSpPr>
        <p:spPr>
          <a:xfrm>
            <a:off x="484188" y="3900667"/>
            <a:ext cx="1592744" cy="461665"/>
          </a:xfrm>
          <a:prstGeom prst="rect">
            <a:avLst/>
          </a:prstGeom>
          <a:noFill/>
        </p:spPr>
        <p:txBody>
          <a:bodyPr wrap="none" rtlCol="0">
            <a:spAutoFit/>
          </a:bodyPr>
          <a:lstStyle/>
          <a:p>
            <a:r>
              <a:rPr lang="en-US" sz="2400" dirty="0">
                <a:latin typeface="Times New Roman" panose="02020603050405020304" pitchFamily="18" charset="0"/>
                <a:cs typeface="Times New Roman" panose="02020603050405020304" pitchFamily="18" charset="0"/>
              </a:rPr>
              <a:t>Material A:</a:t>
            </a:r>
          </a:p>
        </p:txBody>
      </p:sp>
      <p:sp>
        <p:nvSpPr>
          <p:cNvPr id="8" name="TextBox 7">
            <a:extLst>
              <a:ext uri="{FF2B5EF4-FFF2-40B4-BE49-F238E27FC236}">
                <a16:creationId xmlns:a16="http://schemas.microsoft.com/office/drawing/2014/main" id="{67239DEB-ED8F-815F-6657-15C705B4F553}"/>
              </a:ext>
            </a:extLst>
          </p:cNvPr>
          <p:cNvSpPr txBox="1"/>
          <p:nvPr/>
        </p:nvSpPr>
        <p:spPr>
          <a:xfrm>
            <a:off x="484188" y="4558636"/>
            <a:ext cx="1592103" cy="461665"/>
          </a:xfrm>
          <a:prstGeom prst="rect">
            <a:avLst/>
          </a:prstGeom>
          <a:noFill/>
        </p:spPr>
        <p:txBody>
          <a:bodyPr wrap="none" rtlCol="0">
            <a:spAutoFit/>
          </a:bodyPr>
          <a:lstStyle/>
          <a:p>
            <a:r>
              <a:rPr lang="en-US" sz="2400" dirty="0">
                <a:latin typeface="Times New Roman" panose="02020603050405020304" pitchFamily="18" charset="0"/>
                <a:cs typeface="Times New Roman" panose="02020603050405020304" pitchFamily="18" charset="0"/>
              </a:rPr>
              <a:t>Material B:</a:t>
            </a:r>
          </a:p>
        </p:txBody>
      </p:sp>
    </p:spTree>
    <p:extLst>
      <p:ext uri="{BB962C8B-B14F-4D97-AF65-F5344CB8AC3E}">
        <p14:creationId xmlns:p14="http://schemas.microsoft.com/office/powerpoint/2010/main" val="20846439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C39BB19-7D9A-F457-103C-A2CACB3AC7B8}"/>
              </a:ext>
            </a:extLst>
          </p:cNvPr>
          <p:cNvPicPr>
            <a:picLocks noChangeAspect="1"/>
          </p:cNvPicPr>
          <p:nvPr/>
        </p:nvPicPr>
        <p:blipFill>
          <a:blip r:embed="rId2"/>
          <a:stretch>
            <a:fillRect/>
          </a:stretch>
        </p:blipFill>
        <p:spPr>
          <a:xfrm>
            <a:off x="1309044" y="3907362"/>
            <a:ext cx="6399695" cy="2950638"/>
          </a:xfrm>
          <a:prstGeom prst="rect">
            <a:avLst/>
          </a:prstGeom>
        </p:spPr>
      </p:pic>
      <p:sp>
        <p:nvSpPr>
          <p:cNvPr id="3" name="Rectangle 4">
            <a:extLst>
              <a:ext uri="{FF2B5EF4-FFF2-40B4-BE49-F238E27FC236}">
                <a16:creationId xmlns:a16="http://schemas.microsoft.com/office/drawing/2014/main" id="{EBC2AED8-A254-E2AB-1D39-DF98E11D6372}"/>
              </a:ext>
            </a:extLst>
          </p:cNvPr>
          <p:cNvSpPr>
            <a:spLocks noChangeArrowheads="1"/>
          </p:cNvSpPr>
          <p:nvPr/>
        </p:nvSpPr>
        <p:spPr bwMode="auto">
          <a:xfrm>
            <a:off x="231775" y="21110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Example Paired T-Tests</a:t>
            </a:r>
          </a:p>
        </p:txBody>
      </p:sp>
      <p:pic>
        <p:nvPicPr>
          <p:cNvPr id="4" name="Picture 3">
            <a:extLst>
              <a:ext uri="{FF2B5EF4-FFF2-40B4-BE49-F238E27FC236}">
                <a16:creationId xmlns:a16="http://schemas.microsoft.com/office/drawing/2014/main" id="{F8AAFA56-8ECB-7A85-DB80-30CC8F055CDA}"/>
              </a:ext>
            </a:extLst>
          </p:cNvPr>
          <p:cNvPicPr>
            <a:picLocks noChangeAspect="1" noChangeArrowheads="1"/>
          </p:cNvPicPr>
          <p:nvPr/>
        </p:nvPicPr>
        <p:blipFill>
          <a:blip r:embed="rId3" cstate="print"/>
          <a:srcRect/>
          <a:stretch>
            <a:fillRect/>
          </a:stretch>
        </p:blipFill>
        <p:spPr bwMode="auto">
          <a:xfrm>
            <a:off x="484188" y="196056"/>
            <a:ext cx="8202612" cy="239712"/>
          </a:xfrm>
          <a:prstGeom prst="rect">
            <a:avLst/>
          </a:prstGeom>
          <a:noFill/>
          <a:ln w="9525">
            <a:noFill/>
            <a:round/>
            <a:headEnd/>
            <a:tailEnd/>
          </a:ln>
        </p:spPr>
      </p:pic>
      <p:pic>
        <p:nvPicPr>
          <p:cNvPr id="5" name="Picture 4">
            <a:extLst>
              <a:ext uri="{FF2B5EF4-FFF2-40B4-BE49-F238E27FC236}">
                <a16:creationId xmlns:a16="http://schemas.microsoft.com/office/drawing/2014/main" id="{F5F245BD-5801-3E49-B2BD-2F752E564DED}"/>
              </a:ext>
            </a:extLst>
          </p:cNvPr>
          <p:cNvPicPr>
            <a:picLocks noChangeAspect="1"/>
          </p:cNvPicPr>
          <p:nvPr/>
        </p:nvPicPr>
        <p:blipFill>
          <a:blip r:embed="rId4"/>
          <a:stretch>
            <a:fillRect/>
          </a:stretch>
        </p:blipFill>
        <p:spPr>
          <a:xfrm>
            <a:off x="2685326" y="1198939"/>
            <a:ext cx="3415496" cy="2614575"/>
          </a:xfrm>
          <a:prstGeom prst="rect">
            <a:avLst/>
          </a:prstGeom>
        </p:spPr>
      </p:pic>
    </p:spTree>
    <p:extLst>
      <p:ext uri="{BB962C8B-B14F-4D97-AF65-F5344CB8AC3E}">
        <p14:creationId xmlns:p14="http://schemas.microsoft.com/office/powerpoint/2010/main" val="3582093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F789EC-AE64-4C4F-4772-DD04C34CFF28}"/>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3" name="TextBox 2">
            <a:extLst>
              <a:ext uri="{FF2B5EF4-FFF2-40B4-BE49-F238E27FC236}">
                <a16:creationId xmlns:a16="http://schemas.microsoft.com/office/drawing/2014/main" id="{2D29B332-85D7-968F-BC74-6E7D0B3EAAF7}"/>
              </a:ext>
            </a:extLst>
          </p:cNvPr>
          <p:cNvSpPr txBox="1"/>
          <p:nvPr/>
        </p:nvSpPr>
        <p:spPr>
          <a:xfrm>
            <a:off x="127322" y="1163956"/>
            <a:ext cx="8784903" cy="2862322"/>
          </a:xfrm>
          <a:prstGeom prst="rect">
            <a:avLst/>
          </a:prstGeom>
          <a:solidFill>
            <a:srgbClr val="000045"/>
          </a:solidFill>
          <a:effectLst/>
        </p:spPr>
        <p:txBody>
          <a:bodyPr wrap="square" rtlCol="0">
            <a:spAutoFit/>
          </a:bodyPr>
          <a:lstStyle/>
          <a:p>
            <a:r>
              <a:rPr lang="en-US" dirty="0">
                <a:solidFill>
                  <a:schemeClr val="bg1"/>
                </a:solidFill>
                <a:latin typeface="Courier"/>
                <a:cs typeface="Courier"/>
              </a:rPr>
              <a:t>A &lt;- c(13.2, 8.2, 10.9, 14.3, 10.7, 6.6, 9.5, 10.8, 8.8, 13.3)</a:t>
            </a:r>
          </a:p>
          <a:p>
            <a:r>
              <a:rPr lang="en-US" dirty="0">
                <a:solidFill>
                  <a:schemeClr val="bg1"/>
                </a:solidFill>
                <a:latin typeface="Courier"/>
                <a:cs typeface="Courier"/>
              </a:rPr>
              <a:t>B &lt;- c(14.0, 8.8, 11.2, 14.2, 11.8, 6.4, 9.8, 11.3, 9.3, 13.6)</a:t>
            </a:r>
          </a:p>
          <a:p>
            <a:endParaRPr lang="en-US" dirty="0">
              <a:solidFill>
                <a:schemeClr val="bg1"/>
              </a:solidFill>
              <a:latin typeface="Courier"/>
              <a:cs typeface="Courier"/>
            </a:endParaRPr>
          </a:p>
          <a:p>
            <a:r>
              <a:rPr lang="en-US" dirty="0">
                <a:solidFill>
                  <a:schemeClr val="bg1"/>
                </a:solidFill>
                <a:latin typeface="Courier"/>
                <a:cs typeface="Courier"/>
              </a:rPr>
              <a:t>boxplot(A,B, names = c(</a:t>
            </a:r>
            <a:r>
              <a:rPr lang="en-US" dirty="0">
                <a:solidFill>
                  <a:srgbClr val="00B050"/>
                </a:solidFill>
                <a:latin typeface="Courier"/>
                <a:cs typeface="Courier"/>
              </a:rPr>
              <a:t>"A"</a:t>
            </a:r>
            <a:r>
              <a:rPr lang="en-US" dirty="0">
                <a:solidFill>
                  <a:schemeClr val="bg1"/>
                </a:solidFill>
                <a:latin typeface="Courier"/>
                <a:cs typeface="Courier"/>
              </a:rPr>
              <a:t>, </a:t>
            </a:r>
            <a:r>
              <a:rPr lang="en-US" dirty="0">
                <a:solidFill>
                  <a:srgbClr val="00B050"/>
                </a:solidFill>
                <a:latin typeface="Courier"/>
                <a:cs typeface="Courier"/>
              </a:rPr>
              <a:t>"B"</a:t>
            </a:r>
            <a:r>
              <a:rPr lang="en-US" dirty="0">
                <a:solidFill>
                  <a:schemeClr val="bg1"/>
                </a:solidFill>
                <a:latin typeface="Courier"/>
                <a:cs typeface="Courier"/>
              </a:rPr>
              <a:t>), </a:t>
            </a:r>
            <a:r>
              <a:rPr lang="en-US" dirty="0" err="1">
                <a:solidFill>
                  <a:schemeClr val="bg1"/>
                </a:solidFill>
                <a:latin typeface="Courier"/>
                <a:cs typeface="Courier"/>
              </a:rPr>
              <a:t>ylab</a:t>
            </a:r>
            <a:r>
              <a:rPr lang="en-US" dirty="0">
                <a:solidFill>
                  <a:schemeClr val="bg1"/>
                </a:solidFill>
                <a:latin typeface="Courier"/>
                <a:cs typeface="Courier"/>
              </a:rPr>
              <a:t>=</a:t>
            </a:r>
            <a:r>
              <a:rPr lang="en-US" dirty="0">
                <a:solidFill>
                  <a:srgbClr val="00B050"/>
                </a:solidFill>
                <a:latin typeface="Courier"/>
                <a:cs typeface="Courier"/>
              </a:rPr>
              <a:t>"wear amt"</a:t>
            </a:r>
            <a:r>
              <a:rPr lang="en-US" dirty="0">
                <a:solidFill>
                  <a:schemeClr val="bg1"/>
                </a:solidFill>
                <a:latin typeface="Courier"/>
                <a:cs typeface="Courier"/>
              </a:rPr>
              <a:t>)</a:t>
            </a:r>
          </a:p>
          <a:p>
            <a:r>
              <a:rPr lang="en-US" dirty="0">
                <a:solidFill>
                  <a:schemeClr val="bg1"/>
                </a:solidFill>
                <a:latin typeface="Courier"/>
                <a:cs typeface="Courier"/>
              </a:rPr>
              <a:t>plot(1:10, A, </a:t>
            </a:r>
            <a:r>
              <a:rPr lang="en-US" dirty="0" err="1">
                <a:solidFill>
                  <a:schemeClr val="bg1"/>
                </a:solidFill>
                <a:latin typeface="Courier"/>
                <a:cs typeface="Courier"/>
              </a:rPr>
              <a:t>xlab</a:t>
            </a:r>
            <a:r>
              <a:rPr lang="en-US" dirty="0">
                <a:solidFill>
                  <a:schemeClr val="bg1"/>
                </a:solidFill>
                <a:latin typeface="Courier"/>
                <a:cs typeface="Courier"/>
              </a:rPr>
              <a:t>=</a:t>
            </a:r>
            <a:r>
              <a:rPr lang="en-US" dirty="0">
                <a:solidFill>
                  <a:srgbClr val="00B050"/>
                </a:solidFill>
                <a:latin typeface="Courier"/>
                <a:cs typeface="Courier"/>
              </a:rPr>
              <a:t>"subject"</a:t>
            </a:r>
            <a:r>
              <a:rPr lang="en-US" dirty="0">
                <a:solidFill>
                  <a:schemeClr val="bg1"/>
                </a:solidFill>
                <a:latin typeface="Courier"/>
                <a:cs typeface="Courier"/>
              </a:rPr>
              <a:t>, </a:t>
            </a:r>
            <a:r>
              <a:rPr lang="en-US" dirty="0" err="1">
                <a:solidFill>
                  <a:schemeClr val="bg1"/>
                </a:solidFill>
                <a:latin typeface="Courier"/>
                <a:cs typeface="Courier"/>
              </a:rPr>
              <a:t>ylab</a:t>
            </a:r>
            <a:r>
              <a:rPr lang="en-US" dirty="0">
                <a:solidFill>
                  <a:schemeClr val="bg1"/>
                </a:solidFill>
                <a:latin typeface="Courier"/>
                <a:cs typeface="Courier"/>
              </a:rPr>
              <a:t>=</a:t>
            </a:r>
            <a:r>
              <a:rPr lang="en-US" dirty="0">
                <a:solidFill>
                  <a:srgbClr val="00B050"/>
                </a:solidFill>
                <a:latin typeface="Courier"/>
                <a:cs typeface="Courier"/>
              </a:rPr>
              <a:t>"wear amt"</a:t>
            </a:r>
            <a:r>
              <a:rPr lang="en-US" dirty="0">
                <a:solidFill>
                  <a:schemeClr val="bg1"/>
                </a:solidFill>
                <a:latin typeface="Courier"/>
                <a:cs typeface="Courier"/>
              </a:rPr>
              <a:t>)</a:t>
            </a:r>
          </a:p>
          <a:p>
            <a:r>
              <a:rPr lang="en-US" dirty="0">
                <a:solidFill>
                  <a:schemeClr val="bg1"/>
                </a:solidFill>
                <a:latin typeface="Courier"/>
                <a:cs typeface="Courier"/>
              </a:rPr>
              <a:t>points(1:10, B, </a:t>
            </a:r>
            <a:r>
              <a:rPr lang="en-US" dirty="0" err="1">
                <a:solidFill>
                  <a:schemeClr val="bg1"/>
                </a:solidFill>
                <a:latin typeface="Courier"/>
                <a:cs typeface="Courier"/>
              </a:rPr>
              <a:t>pch</a:t>
            </a:r>
            <a:r>
              <a:rPr lang="en-US" dirty="0">
                <a:solidFill>
                  <a:schemeClr val="bg1"/>
                </a:solidFill>
                <a:latin typeface="Courier"/>
                <a:cs typeface="Courier"/>
              </a:rPr>
              <a:t>=16)</a:t>
            </a:r>
          </a:p>
          <a:p>
            <a:endParaRPr lang="en-US" dirty="0">
              <a:solidFill>
                <a:schemeClr val="bg1"/>
              </a:solidFill>
              <a:latin typeface="Courier"/>
              <a:cs typeface="Courier"/>
            </a:endParaRPr>
          </a:p>
          <a:p>
            <a:r>
              <a:rPr lang="en-US" dirty="0" err="1">
                <a:solidFill>
                  <a:schemeClr val="bg1"/>
                </a:solidFill>
                <a:latin typeface="Courier"/>
                <a:cs typeface="Courier"/>
              </a:rPr>
              <a:t>t.test</a:t>
            </a:r>
            <a:r>
              <a:rPr lang="en-US" dirty="0">
                <a:solidFill>
                  <a:schemeClr val="bg1"/>
                </a:solidFill>
                <a:latin typeface="Courier"/>
                <a:cs typeface="Courier"/>
              </a:rPr>
              <a:t>(A, B)</a:t>
            </a:r>
          </a:p>
          <a:p>
            <a:r>
              <a:rPr lang="en-US" dirty="0" err="1">
                <a:solidFill>
                  <a:schemeClr val="bg1"/>
                </a:solidFill>
                <a:latin typeface="Courier"/>
                <a:cs typeface="Courier"/>
              </a:rPr>
              <a:t>t.test</a:t>
            </a:r>
            <a:r>
              <a:rPr lang="en-US" dirty="0">
                <a:solidFill>
                  <a:schemeClr val="bg1"/>
                </a:solidFill>
                <a:latin typeface="Courier"/>
                <a:cs typeface="Courier"/>
              </a:rPr>
              <a:t>(A, B, paired = T)</a:t>
            </a:r>
          </a:p>
          <a:p>
            <a:r>
              <a:rPr lang="en-US" dirty="0" err="1">
                <a:solidFill>
                  <a:schemeClr val="bg1"/>
                </a:solidFill>
                <a:latin typeface="Courier"/>
                <a:cs typeface="Courier"/>
              </a:rPr>
              <a:t>t.test</a:t>
            </a:r>
            <a:r>
              <a:rPr lang="en-US" dirty="0">
                <a:solidFill>
                  <a:schemeClr val="bg1"/>
                </a:solidFill>
                <a:latin typeface="Courier"/>
                <a:cs typeface="Courier"/>
              </a:rPr>
              <a:t>(A-B, mu = 0) </a:t>
            </a:r>
            <a:r>
              <a:rPr lang="en-US" dirty="0">
                <a:solidFill>
                  <a:srgbClr val="FFFF00"/>
                </a:solidFill>
                <a:latin typeface="Courier"/>
                <a:cs typeface="Courier"/>
              </a:rPr>
              <a:t># This works for testing paired samples too</a:t>
            </a:r>
          </a:p>
        </p:txBody>
      </p:sp>
      <p:sp>
        <p:nvSpPr>
          <p:cNvPr id="4" name="Rectangle 4">
            <a:extLst>
              <a:ext uri="{FF2B5EF4-FFF2-40B4-BE49-F238E27FC236}">
                <a16:creationId xmlns:a16="http://schemas.microsoft.com/office/drawing/2014/main" id="{4479AA17-3588-AAB5-AC77-CE0B7D6D5CDF}"/>
              </a:ext>
            </a:extLst>
          </p:cNvPr>
          <p:cNvSpPr>
            <a:spLocks noChangeArrowheads="1"/>
          </p:cNvSpPr>
          <p:nvPr/>
        </p:nvSpPr>
        <p:spPr bwMode="auto">
          <a:xfrm>
            <a:off x="231775" y="21110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Example Paired T-Tests</a:t>
            </a:r>
          </a:p>
        </p:txBody>
      </p:sp>
      <p:pic>
        <p:nvPicPr>
          <p:cNvPr id="5" name="Picture 4">
            <a:extLst>
              <a:ext uri="{FF2B5EF4-FFF2-40B4-BE49-F238E27FC236}">
                <a16:creationId xmlns:a16="http://schemas.microsoft.com/office/drawing/2014/main" id="{9BBB5CA4-75E1-EC57-FBE4-85D7755145E0}"/>
              </a:ext>
            </a:extLst>
          </p:cNvPr>
          <p:cNvPicPr>
            <a:picLocks noChangeAspect="1"/>
          </p:cNvPicPr>
          <p:nvPr/>
        </p:nvPicPr>
        <p:blipFill>
          <a:blip r:embed="rId3"/>
          <a:stretch>
            <a:fillRect/>
          </a:stretch>
        </p:blipFill>
        <p:spPr>
          <a:xfrm>
            <a:off x="57872" y="4419592"/>
            <a:ext cx="4340506" cy="1867427"/>
          </a:xfrm>
          <a:prstGeom prst="rect">
            <a:avLst/>
          </a:prstGeom>
          <a:effectLst/>
        </p:spPr>
      </p:pic>
      <p:pic>
        <p:nvPicPr>
          <p:cNvPr id="6" name="Picture 5">
            <a:extLst>
              <a:ext uri="{FF2B5EF4-FFF2-40B4-BE49-F238E27FC236}">
                <a16:creationId xmlns:a16="http://schemas.microsoft.com/office/drawing/2014/main" id="{483FA7E4-382F-0BDA-2A97-D44D4A6C4EDD}"/>
              </a:ext>
            </a:extLst>
          </p:cNvPr>
          <p:cNvPicPr>
            <a:picLocks noChangeAspect="1"/>
          </p:cNvPicPr>
          <p:nvPr/>
        </p:nvPicPr>
        <p:blipFill>
          <a:blip r:embed="rId4"/>
          <a:stretch>
            <a:fillRect/>
          </a:stretch>
        </p:blipFill>
        <p:spPr>
          <a:xfrm>
            <a:off x="4745622" y="4419591"/>
            <a:ext cx="4340506" cy="1867427"/>
          </a:xfrm>
          <a:prstGeom prst="rect">
            <a:avLst/>
          </a:prstGeom>
          <a:effectLst/>
        </p:spPr>
      </p:pic>
      <p:cxnSp>
        <p:nvCxnSpPr>
          <p:cNvPr id="8" name="Straight Arrow Connector 7">
            <a:extLst>
              <a:ext uri="{FF2B5EF4-FFF2-40B4-BE49-F238E27FC236}">
                <a16:creationId xmlns:a16="http://schemas.microsoft.com/office/drawing/2014/main" id="{B550754D-F2F3-B2DE-06AD-01D95118FFCB}"/>
              </a:ext>
            </a:extLst>
          </p:cNvPr>
          <p:cNvCxnSpPr/>
          <p:nvPr/>
        </p:nvCxnSpPr>
        <p:spPr>
          <a:xfrm>
            <a:off x="3530278" y="3576577"/>
            <a:ext cx="3287211" cy="1551008"/>
          </a:xfrm>
          <a:prstGeom prst="straightConnector1">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910FA42-BC90-9119-E571-9720B829FAC6}"/>
              </a:ext>
            </a:extLst>
          </p:cNvPr>
          <p:cNvCxnSpPr>
            <a:cxnSpLocks/>
          </p:cNvCxnSpPr>
          <p:nvPr/>
        </p:nvCxnSpPr>
        <p:spPr>
          <a:xfrm>
            <a:off x="1853880" y="3281423"/>
            <a:ext cx="912471" cy="1846162"/>
          </a:xfrm>
          <a:prstGeom prst="straightConnector1">
            <a:avLst/>
          </a:prstGeom>
          <a:ln w="34925">
            <a:solidFill>
              <a:srgbClr val="FF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C2716AB-9BCD-D828-ECA3-62581D239B6C}"/>
              </a:ext>
            </a:extLst>
          </p:cNvPr>
          <p:cNvSpPr txBox="1"/>
          <p:nvPr/>
        </p:nvSpPr>
        <p:spPr>
          <a:xfrm>
            <a:off x="5272269" y="2937712"/>
            <a:ext cx="3287211" cy="400110"/>
          </a:xfrm>
          <a:prstGeom prst="rect">
            <a:avLst/>
          </a:prstGeom>
          <a:solidFill>
            <a:schemeClr val="bg1"/>
          </a:solidFill>
          <a:effectLst/>
        </p:spPr>
        <p:txBody>
          <a:bodyPr wrap="square">
            <a:spAutoFit/>
          </a:bodyPr>
          <a:lstStyle/>
          <a:p>
            <a:r>
              <a:rPr lang="en-US" sz="2000" dirty="0" err="1">
                <a:latin typeface="Times New Roman" panose="02020603050405020304" pitchFamily="18" charset="0"/>
                <a:cs typeface="Times New Roman" panose="02020603050405020304" pitchFamily="18" charset="0"/>
                <a:hlinkClick r:id="rId5"/>
              </a:rPr>
              <a:t>hyp_test_two_samp_paired.R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0080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ppt_x"/>
                                          </p:val>
                                        </p:tav>
                                        <p:tav tm="100000">
                                          <p:val>
                                            <p:strVal val="#ppt_x"/>
                                          </p:val>
                                        </p:tav>
                                      </p:tavLst>
                                    </p:anim>
                                    <p:anim calcmode="lin" valueType="num">
                                      <p:cBhvr additive="base">
                                        <p:cTn id="2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17626-CEB8-ADDD-B588-D26275D81C1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0F67801-9805-9A20-FFD1-CC0783FF9EE5}"/>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EF27B2BA-7BDC-C061-6217-06DDF6807626}"/>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Non-parametric Tests</a:t>
            </a:r>
          </a:p>
        </p:txBody>
      </p:sp>
      <p:sp>
        <p:nvSpPr>
          <p:cNvPr id="4" name="TextBox 3">
            <a:extLst>
              <a:ext uri="{FF2B5EF4-FFF2-40B4-BE49-F238E27FC236}">
                <a16:creationId xmlns:a16="http://schemas.microsoft.com/office/drawing/2014/main" id="{7E21D515-D09D-5491-4203-682EC4BA8263}"/>
              </a:ext>
            </a:extLst>
          </p:cNvPr>
          <p:cNvSpPr txBox="1"/>
          <p:nvPr/>
        </p:nvSpPr>
        <p:spPr>
          <a:xfrm>
            <a:off x="125373" y="1500275"/>
            <a:ext cx="8202612"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If it is suspected that the data is not normal and/or the data set is small non-parametric tests can serve as alternatives to (parametric) t-tests</a:t>
            </a:r>
            <a:endParaRPr lang="en-US" sz="2200"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873E8495-A3DB-B3AC-63EC-D14742416863}"/>
              </a:ext>
            </a:extLst>
          </p:cNvPr>
          <p:cNvSpPr txBox="1"/>
          <p:nvPr/>
        </p:nvSpPr>
        <p:spPr>
          <a:xfrm>
            <a:off x="463291" y="2943320"/>
            <a:ext cx="8202612" cy="769441"/>
          </a:xfrm>
          <a:prstGeom prst="rect">
            <a:avLst/>
          </a:prstGeom>
          <a:noFill/>
        </p:spPr>
        <p:txBody>
          <a:bodyPr wrap="square">
            <a:spAutoFit/>
          </a:bodyPr>
          <a:lstStyle/>
          <a:p>
            <a:pPr marL="342900" indent="-342900">
              <a:buFont typeface="Arial" panose="020B0604020202020204" pitchFamily="34" charset="0"/>
              <a:buChar char="•"/>
            </a:pPr>
            <a:r>
              <a:rPr lang="en-US" sz="2200" u="sng" dirty="0">
                <a:latin typeface="Times New Roman" panose="02020603050405020304" pitchFamily="18" charset="0"/>
                <a:cs typeface="Times New Roman" panose="02020603050405020304" pitchFamily="18" charset="0"/>
              </a:rPr>
              <a:t>One sample</a:t>
            </a:r>
            <a:r>
              <a:rPr lang="en-US" sz="2200" dirty="0">
                <a:latin typeface="Times New Roman" panose="02020603050405020304" pitchFamily="18" charset="0"/>
                <a:cs typeface="Times New Roman" panose="02020603050405020304" pitchFamily="18" charset="0"/>
              </a:rPr>
              <a:t> for fixed “location” (mu): </a:t>
            </a:r>
            <a:r>
              <a:rPr lang="en-US" sz="2200" b="1" dirty="0">
                <a:latin typeface="Times New Roman" panose="02020603050405020304" pitchFamily="18" charset="0"/>
                <a:cs typeface="Times New Roman" panose="02020603050405020304" pitchFamily="18" charset="0"/>
              </a:rPr>
              <a:t>one-sample Wilcoxon signed-rank test</a:t>
            </a:r>
          </a:p>
        </p:txBody>
      </p:sp>
      <p:sp>
        <p:nvSpPr>
          <p:cNvPr id="10" name="TextBox 9">
            <a:extLst>
              <a:ext uri="{FF2B5EF4-FFF2-40B4-BE49-F238E27FC236}">
                <a16:creationId xmlns:a16="http://schemas.microsoft.com/office/drawing/2014/main" id="{3535F3C3-75F4-56BD-0ACB-DF0D5E6E51D9}"/>
              </a:ext>
            </a:extLst>
          </p:cNvPr>
          <p:cNvSpPr txBox="1"/>
          <p:nvPr/>
        </p:nvSpPr>
        <p:spPr>
          <a:xfrm>
            <a:off x="463291" y="3955477"/>
            <a:ext cx="8680709" cy="1107996"/>
          </a:xfrm>
          <a:prstGeom prst="rect">
            <a:avLst/>
          </a:prstGeom>
          <a:noFill/>
        </p:spPr>
        <p:txBody>
          <a:bodyPr wrap="square">
            <a:spAutoFit/>
          </a:bodyPr>
          <a:lstStyle/>
          <a:p>
            <a:pPr marL="342900" indent="-342900">
              <a:buFont typeface="Arial" panose="020B0604020202020204" pitchFamily="34" charset="0"/>
              <a:buChar char="•"/>
            </a:pPr>
            <a:r>
              <a:rPr lang="en-US" sz="2200" u="sng" dirty="0">
                <a:latin typeface="Times New Roman" panose="02020603050405020304" pitchFamily="18" charset="0"/>
                <a:cs typeface="Times New Roman" panose="02020603050405020304" pitchFamily="18" charset="0"/>
              </a:rPr>
              <a:t>Two independent samples</a:t>
            </a:r>
            <a:r>
              <a:rPr lang="en-US" sz="2200" dirty="0">
                <a:latin typeface="Times New Roman" panose="02020603050405020304" pitchFamily="18" charset="0"/>
                <a:cs typeface="Times New Roman" panose="02020603050405020304" pitchFamily="18" charset="0"/>
              </a:rPr>
              <a:t> for “location” comparison: </a:t>
            </a:r>
            <a:r>
              <a:rPr lang="en-US" sz="2200" b="1" dirty="0">
                <a:latin typeface="Times New Roman" panose="02020603050405020304" pitchFamily="18" charset="0"/>
                <a:cs typeface="Times New Roman" panose="02020603050405020304" pitchFamily="18" charset="0"/>
              </a:rPr>
              <a:t>Mann-Whitney U</a:t>
            </a:r>
            <a:r>
              <a:rPr lang="en-US" sz="2200" dirty="0">
                <a:latin typeface="Times New Roman" panose="02020603050405020304" pitchFamily="18" charset="0"/>
                <a:cs typeface="Times New Roman" panose="02020603050405020304" pitchFamily="18" charset="0"/>
              </a:rPr>
              <a:t> test (also called Mann-Whitney-Wilcoxon test and Wilcoxon rank sum test)</a:t>
            </a:r>
          </a:p>
        </p:txBody>
      </p:sp>
      <p:sp>
        <p:nvSpPr>
          <p:cNvPr id="11" name="TextBox 10">
            <a:extLst>
              <a:ext uri="{FF2B5EF4-FFF2-40B4-BE49-F238E27FC236}">
                <a16:creationId xmlns:a16="http://schemas.microsoft.com/office/drawing/2014/main" id="{2CAF1432-9AB0-1093-484C-7399647902BA}"/>
              </a:ext>
            </a:extLst>
          </p:cNvPr>
          <p:cNvSpPr txBox="1"/>
          <p:nvPr/>
        </p:nvSpPr>
        <p:spPr>
          <a:xfrm>
            <a:off x="484188" y="5306189"/>
            <a:ext cx="8680709" cy="769441"/>
          </a:xfrm>
          <a:prstGeom prst="rect">
            <a:avLst/>
          </a:prstGeom>
          <a:noFill/>
        </p:spPr>
        <p:txBody>
          <a:bodyPr wrap="square">
            <a:spAutoFit/>
          </a:bodyPr>
          <a:lstStyle/>
          <a:p>
            <a:pPr marL="342900" indent="-342900">
              <a:buFont typeface="Arial" panose="020B0604020202020204" pitchFamily="34" charset="0"/>
              <a:buChar char="•"/>
            </a:pPr>
            <a:r>
              <a:rPr lang="en-US" sz="2200" u="sng" dirty="0">
                <a:latin typeface="Times New Roman" panose="02020603050405020304" pitchFamily="18" charset="0"/>
                <a:cs typeface="Times New Roman" panose="02020603050405020304" pitchFamily="18" charset="0"/>
              </a:rPr>
              <a:t>Two paired samples</a:t>
            </a:r>
            <a:r>
              <a:rPr lang="en-US" sz="2200" dirty="0">
                <a:latin typeface="Times New Roman" panose="02020603050405020304" pitchFamily="18" charset="0"/>
                <a:cs typeface="Times New Roman" panose="02020603050405020304" pitchFamily="18" charset="0"/>
              </a:rPr>
              <a:t> for “location” comparison: </a:t>
            </a:r>
            <a:r>
              <a:rPr lang="en-US" sz="2200" b="1" dirty="0">
                <a:latin typeface="Times New Roman" panose="02020603050405020304" pitchFamily="18" charset="0"/>
                <a:cs typeface="Times New Roman" panose="02020603050405020304" pitchFamily="18" charset="0"/>
              </a:rPr>
              <a:t>Wilcoxon signed rank</a:t>
            </a:r>
            <a:r>
              <a:rPr lang="en-US" sz="2200" dirty="0">
                <a:latin typeface="Times New Roman" panose="02020603050405020304" pitchFamily="18" charset="0"/>
                <a:cs typeface="Times New Roman" panose="02020603050405020304" pitchFamily="18" charset="0"/>
              </a:rPr>
              <a:t> test</a:t>
            </a:r>
          </a:p>
        </p:txBody>
      </p:sp>
      <p:sp>
        <p:nvSpPr>
          <p:cNvPr id="13" name="TextBox 12">
            <a:extLst>
              <a:ext uri="{FF2B5EF4-FFF2-40B4-BE49-F238E27FC236}">
                <a16:creationId xmlns:a16="http://schemas.microsoft.com/office/drawing/2014/main" id="{F0D620FD-7199-DA7E-3622-7B7C7B9AF708}"/>
              </a:ext>
            </a:extLst>
          </p:cNvPr>
          <p:cNvSpPr txBox="1"/>
          <p:nvPr/>
        </p:nvSpPr>
        <p:spPr>
          <a:xfrm>
            <a:off x="1296516" y="6184315"/>
            <a:ext cx="7014258" cy="430887"/>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All of the above are implemented with </a:t>
            </a:r>
            <a:r>
              <a:rPr lang="en-US" sz="2200" b="1" dirty="0" err="1">
                <a:latin typeface="Courier New" panose="02070309020205020404" pitchFamily="49" charset="0"/>
                <a:cs typeface="Courier New" panose="02070309020205020404" pitchFamily="49" charset="0"/>
              </a:rPr>
              <a:t>wilcox.test</a:t>
            </a:r>
            <a:r>
              <a:rPr lang="en-US" sz="2200" b="1"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03322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1" grpId="0"/>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C019C04-3054-A4C7-F1ED-11478F11F966}"/>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56B55C69-CBC9-85EE-4961-D0DF16EE4967}"/>
              </a:ext>
            </a:extLst>
          </p:cNvPr>
          <p:cNvSpPr>
            <a:spLocks noChangeArrowheads="1"/>
          </p:cNvSpPr>
          <p:nvPr/>
        </p:nvSpPr>
        <p:spPr bwMode="auto">
          <a:xfrm>
            <a:off x="1391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Example Non-parametric Test</a:t>
            </a:r>
          </a:p>
        </p:txBody>
      </p:sp>
      <p:sp>
        <p:nvSpPr>
          <p:cNvPr id="4" name="TextBox 3">
            <a:extLst>
              <a:ext uri="{FF2B5EF4-FFF2-40B4-BE49-F238E27FC236}">
                <a16:creationId xmlns:a16="http://schemas.microsoft.com/office/drawing/2014/main" id="{2B611B52-D6F9-FE2F-CF55-14CBC50C9A28}"/>
              </a:ext>
            </a:extLst>
          </p:cNvPr>
          <p:cNvSpPr txBox="1"/>
          <p:nvPr/>
        </p:nvSpPr>
        <p:spPr>
          <a:xfrm>
            <a:off x="696900" y="1794075"/>
            <a:ext cx="6977116" cy="830997"/>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Consider the two independent data sets know not to be normally distributed</a:t>
            </a:r>
            <a:r>
              <a:rPr lang="en-US" sz="2400" baseline="30000" dirty="0">
                <a:latin typeface="Times New Roman" panose="02020603050405020304" pitchFamily="18" charset="0"/>
                <a:cs typeface="Times New Roman" panose="02020603050405020304" pitchFamily="18" charset="0"/>
              </a:rPr>
              <a:t>*</a:t>
            </a:r>
            <a:r>
              <a:rPr lang="en-US" sz="2400" dirty="0">
                <a:latin typeface="Times New Roman" panose="02020603050405020304" pitchFamily="18" charset="0"/>
                <a:cs typeface="Times New Roman" panose="02020603050405020304" pitchFamily="18" charset="0"/>
              </a:rPr>
              <a:t>:</a:t>
            </a:r>
          </a:p>
        </p:txBody>
      </p:sp>
      <p:sp>
        <p:nvSpPr>
          <p:cNvPr id="5" name="TextBox 4">
            <a:extLst>
              <a:ext uri="{FF2B5EF4-FFF2-40B4-BE49-F238E27FC236}">
                <a16:creationId xmlns:a16="http://schemas.microsoft.com/office/drawing/2014/main" id="{85F352C1-015C-5676-0AFE-81A453686EE9}"/>
              </a:ext>
            </a:extLst>
          </p:cNvPr>
          <p:cNvSpPr txBox="1"/>
          <p:nvPr/>
        </p:nvSpPr>
        <p:spPr>
          <a:xfrm>
            <a:off x="606232" y="4712824"/>
            <a:ext cx="6977116" cy="1569660"/>
          </a:xfrm>
          <a:prstGeom prst="rect">
            <a:avLst/>
          </a:prstGeom>
          <a:noFill/>
        </p:spPr>
        <p:txBody>
          <a:bodyPr wrap="square" rtlCol="0">
            <a:spAutoFit/>
          </a:bodyPr>
          <a:lstStyle/>
          <a:p>
            <a:pPr marL="457200" indent="-457200">
              <a:buAutoNum type="alphaLcPeriod"/>
            </a:pPr>
            <a:r>
              <a:rPr lang="en-US" sz="2400" dirty="0">
                <a:latin typeface="Times New Roman" panose="02020603050405020304" pitchFamily="18" charset="0"/>
                <a:cs typeface="Times New Roman" panose="02020603050405020304" pitchFamily="18" charset="0"/>
              </a:rPr>
              <a:t>Perform a two-sample t-test to compare their mean.</a:t>
            </a:r>
          </a:p>
          <a:p>
            <a:pPr marL="457200" indent="-457200">
              <a:buAutoNum type="alphaLcPeriod"/>
            </a:pPr>
            <a:r>
              <a:rPr lang="en-US" sz="2400" dirty="0">
                <a:latin typeface="Times New Roman" panose="02020603050405020304" pitchFamily="18" charset="0"/>
                <a:cs typeface="Times New Roman" panose="02020603050405020304" pitchFamily="18" charset="0"/>
              </a:rPr>
              <a:t>Perform a two sample Wilcoxon rank signed test to compare their location</a:t>
            </a:r>
          </a:p>
          <a:p>
            <a:pPr marL="457200" indent="-457200">
              <a:buAutoNum type="alphaLcPeriod"/>
            </a:pPr>
            <a:r>
              <a:rPr lang="en-US" sz="2400" dirty="0">
                <a:latin typeface="Times New Roman" panose="02020603050405020304" pitchFamily="18" charset="0"/>
                <a:cs typeface="Times New Roman" panose="02020603050405020304" pitchFamily="18" charset="0"/>
              </a:rPr>
              <a:t>Discuss the differences </a:t>
            </a:r>
          </a:p>
        </p:txBody>
      </p:sp>
      <p:sp>
        <p:nvSpPr>
          <p:cNvPr id="7" name="TextBox 6">
            <a:extLst>
              <a:ext uri="{FF2B5EF4-FFF2-40B4-BE49-F238E27FC236}">
                <a16:creationId xmlns:a16="http://schemas.microsoft.com/office/drawing/2014/main" id="{8BE8358F-EAD1-35DF-BD90-F28C04EB73EC}"/>
              </a:ext>
            </a:extLst>
          </p:cNvPr>
          <p:cNvSpPr txBox="1"/>
          <p:nvPr/>
        </p:nvSpPr>
        <p:spPr>
          <a:xfrm>
            <a:off x="2367967" y="2825160"/>
            <a:ext cx="4735994" cy="707886"/>
          </a:xfrm>
          <a:prstGeom prst="rect">
            <a:avLst/>
          </a:prstGeom>
          <a:noFill/>
        </p:spPr>
        <p:txBody>
          <a:bodyPr wrap="square">
            <a:spAutoFit/>
          </a:bodyPr>
          <a:lstStyle/>
          <a:p>
            <a:r>
              <a:rPr lang="en-US" sz="2000" dirty="0">
                <a:latin typeface="Times New Roman" panose="02020603050405020304" pitchFamily="18" charset="0"/>
                <a:cs typeface="Times New Roman" panose="02020603050405020304" pitchFamily="18" charset="0"/>
              </a:rPr>
              <a:t>0.50, 0.23, 1.10, 2.17, 0.24, 1.08, 0.41, 0.56, 0.89, 1.62, 0.92, 0.94, 0.61, 1.03, 1.28</a:t>
            </a:r>
          </a:p>
        </p:txBody>
      </p:sp>
      <p:sp>
        <p:nvSpPr>
          <p:cNvPr id="8" name="TextBox 7">
            <a:extLst>
              <a:ext uri="{FF2B5EF4-FFF2-40B4-BE49-F238E27FC236}">
                <a16:creationId xmlns:a16="http://schemas.microsoft.com/office/drawing/2014/main" id="{808CB433-FAE8-1937-9179-538753B61D14}"/>
              </a:ext>
            </a:extLst>
          </p:cNvPr>
          <p:cNvSpPr txBox="1"/>
          <p:nvPr/>
        </p:nvSpPr>
        <p:spPr>
          <a:xfrm>
            <a:off x="851637" y="2955898"/>
            <a:ext cx="1188402" cy="400110"/>
          </a:xfrm>
          <a:prstGeom prst="rect">
            <a:avLst/>
          </a:prstGeom>
          <a:noFill/>
        </p:spPr>
        <p:txBody>
          <a:bodyPr wrap="none" rtlCol="0">
            <a:spAutoFit/>
          </a:bodyPr>
          <a:lstStyle/>
          <a:p>
            <a:r>
              <a:rPr lang="en-US" sz="2000" dirty="0">
                <a:latin typeface="Times New Roman" panose="02020603050405020304" pitchFamily="18" charset="0"/>
                <a:cs typeface="Times New Roman" panose="02020603050405020304" pitchFamily="18" charset="0"/>
              </a:rPr>
              <a:t>Sample A</a:t>
            </a:r>
          </a:p>
        </p:txBody>
      </p:sp>
      <p:sp>
        <p:nvSpPr>
          <p:cNvPr id="10" name="TextBox 9">
            <a:extLst>
              <a:ext uri="{FF2B5EF4-FFF2-40B4-BE49-F238E27FC236}">
                <a16:creationId xmlns:a16="http://schemas.microsoft.com/office/drawing/2014/main" id="{C28B74E1-103F-C8B6-5984-C4F1024A1FF4}"/>
              </a:ext>
            </a:extLst>
          </p:cNvPr>
          <p:cNvSpPr txBox="1"/>
          <p:nvPr/>
        </p:nvSpPr>
        <p:spPr>
          <a:xfrm>
            <a:off x="2367967" y="3733134"/>
            <a:ext cx="4572000" cy="707886"/>
          </a:xfrm>
          <a:prstGeom prst="rect">
            <a:avLst/>
          </a:prstGeom>
          <a:noFill/>
        </p:spPr>
        <p:txBody>
          <a:bodyPr wrap="square">
            <a:spAutoFit/>
          </a:bodyPr>
          <a:lstStyle/>
          <a:p>
            <a:r>
              <a:rPr lang="en-US" sz="2000" dirty="0">
                <a:latin typeface="Times New Roman" panose="02020603050405020304" pitchFamily="18" charset="0"/>
                <a:cs typeface="Times New Roman" panose="02020603050405020304" pitchFamily="18" charset="0"/>
              </a:rPr>
              <a:t>1.19, 0.97, 1.32, 1.79, 1.50, 1.34, 0.96, 1.29, 1.48, 1.23, 0.88, 1.09, 1.03</a:t>
            </a:r>
          </a:p>
        </p:txBody>
      </p:sp>
      <p:sp>
        <p:nvSpPr>
          <p:cNvPr id="11" name="TextBox 10">
            <a:extLst>
              <a:ext uri="{FF2B5EF4-FFF2-40B4-BE49-F238E27FC236}">
                <a16:creationId xmlns:a16="http://schemas.microsoft.com/office/drawing/2014/main" id="{F80C20D9-72F6-18CF-4EE6-29407677D080}"/>
              </a:ext>
            </a:extLst>
          </p:cNvPr>
          <p:cNvSpPr txBox="1"/>
          <p:nvPr/>
        </p:nvSpPr>
        <p:spPr>
          <a:xfrm>
            <a:off x="853564" y="3887022"/>
            <a:ext cx="1188402" cy="400110"/>
          </a:xfrm>
          <a:prstGeom prst="rect">
            <a:avLst/>
          </a:prstGeom>
          <a:noFill/>
        </p:spPr>
        <p:txBody>
          <a:bodyPr wrap="none" rtlCol="0">
            <a:spAutoFit/>
          </a:bodyPr>
          <a:lstStyle/>
          <a:p>
            <a:r>
              <a:rPr lang="en-US" sz="2000" dirty="0">
                <a:latin typeface="Times New Roman" panose="02020603050405020304" pitchFamily="18" charset="0"/>
                <a:cs typeface="Times New Roman" panose="02020603050405020304" pitchFamily="18" charset="0"/>
              </a:rPr>
              <a:t>Sample B</a:t>
            </a:r>
          </a:p>
        </p:txBody>
      </p:sp>
      <p:sp>
        <p:nvSpPr>
          <p:cNvPr id="13" name="TextBox 12">
            <a:extLst>
              <a:ext uri="{FF2B5EF4-FFF2-40B4-BE49-F238E27FC236}">
                <a16:creationId xmlns:a16="http://schemas.microsoft.com/office/drawing/2014/main" id="{9D4D17E4-0957-1E8D-7734-CEFAF75378EF}"/>
              </a:ext>
            </a:extLst>
          </p:cNvPr>
          <p:cNvSpPr txBox="1"/>
          <p:nvPr/>
        </p:nvSpPr>
        <p:spPr>
          <a:xfrm>
            <a:off x="0" y="6604706"/>
            <a:ext cx="3761772" cy="307777"/>
          </a:xfrm>
          <a:prstGeom prst="rect">
            <a:avLst/>
          </a:prstGeom>
          <a:noFill/>
        </p:spPr>
        <p:txBody>
          <a:bodyPr wrap="square">
            <a:spAutoFit/>
          </a:bodyPr>
          <a:lstStyle/>
          <a:p>
            <a:r>
              <a:rPr lang="en-US" sz="1400" baseline="30000" dirty="0">
                <a:latin typeface="Times New Roman" panose="02020603050405020304" pitchFamily="18" charset="0"/>
                <a:cs typeface="Times New Roman" panose="02020603050405020304" pitchFamily="18" charset="0"/>
              </a:rPr>
              <a:t>*</a:t>
            </a:r>
            <a:r>
              <a:rPr lang="en-US" sz="1400" dirty="0">
                <a:latin typeface="Times New Roman" panose="02020603050405020304" pitchFamily="18" charset="0"/>
                <a:cs typeface="Times New Roman" panose="02020603050405020304" pitchFamily="18" charset="0"/>
              </a:rPr>
              <a:t>The samples are from two different Weibull dist.</a:t>
            </a:r>
            <a:endParaRPr lang="en-US" sz="1400" dirty="0"/>
          </a:p>
        </p:txBody>
      </p:sp>
    </p:spTree>
    <p:extLst>
      <p:ext uri="{BB962C8B-B14F-4D97-AF65-F5344CB8AC3E}">
        <p14:creationId xmlns:p14="http://schemas.microsoft.com/office/powerpoint/2010/main" val="3532486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941856F-FF2F-3B8F-A822-4FDE08699B5E}"/>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FCF893D1-E26F-5CBE-E08C-778EC82506E8}"/>
              </a:ext>
            </a:extLst>
          </p:cNvPr>
          <p:cNvSpPr>
            <a:spLocks noChangeArrowheads="1"/>
          </p:cNvSpPr>
          <p:nvPr/>
        </p:nvSpPr>
        <p:spPr bwMode="auto">
          <a:xfrm>
            <a:off x="1391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Example Non-parametric Test</a:t>
            </a:r>
          </a:p>
        </p:txBody>
      </p:sp>
      <p:sp>
        <p:nvSpPr>
          <p:cNvPr id="4" name="TextBox 3">
            <a:extLst>
              <a:ext uri="{FF2B5EF4-FFF2-40B4-BE49-F238E27FC236}">
                <a16:creationId xmlns:a16="http://schemas.microsoft.com/office/drawing/2014/main" id="{BD552B43-DAB6-86C0-DBD2-72A1D935C0EF}"/>
              </a:ext>
            </a:extLst>
          </p:cNvPr>
          <p:cNvSpPr txBox="1"/>
          <p:nvPr/>
        </p:nvSpPr>
        <p:spPr>
          <a:xfrm>
            <a:off x="648460" y="1338225"/>
            <a:ext cx="8202613" cy="3293209"/>
          </a:xfrm>
          <a:prstGeom prst="rect">
            <a:avLst/>
          </a:prstGeom>
          <a:solidFill>
            <a:srgbClr val="000045"/>
          </a:solidFill>
        </p:spPr>
        <p:txBody>
          <a:bodyPr wrap="square" rtlCol="0">
            <a:spAutoFit/>
          </a:bodyPr>
          <a:lstStyle/>
          <a:p>
            <a:r>
              <a:rPr lang="en-US" sz="1600" dirty="0">
                <a:solidFill>
                  <a:schemeClr val="bg1"/>
                </a:solidFill>
                <a:latin typeface="Courier"/>
                <a:cs typeface="Courier"/>
              </a:rPr>
              <a:t>A &lt;- c(0.50, 0.23, 1.10, 2.17, 0.24, 1.08, 0.41, 0.56, 0.89, </a:t>
            </a:r>
          </a:p>
          <a:p>
            <a:r>
              <a:rPr lang="en-US" sz="1600" dirty="0">
                <a:solidFill>
                  <a:schemeClr val="bg1"/>
                </a:solidFill>
                <a:latin typeface="Courier"/>
                <a:cs typeface="Courier"/>
              </a:rPr>
              <a:t>       1.62, 0.92, 0.94, 0.61, 1.03, 1.28)</a:t>
            </a:r>
          </a:p>
          <a:p>
            <a:r>
              <a:rPr lang="en-US" sz="1600" dirty="0">
                <a:solidFill>
                  <a:schemeClr val="bg1"/>
                </a:solidFill>
                <a:latin typeface="Courier"/>
                <a:cs typeface="Courier"/>
              </a:rPr>
              <a:t>B &lt;- c(1.19, 0.97, 1.32, 1.79, 1.50, 1.34, 0.96, 1.29, 1.48, </a:t>
            </a:r>
          </a:p>
          <a:p>
            <a:r>
              <a:rPr lang="en-US" sz="1600" dirty="0">
                <a:solidFill>
                  <a:schemeClr val="bg1"/>
                </a:solidFill>
                <a:latin typeface="Courier"/>
                <a:cs typeface="Courier"/>
              </a:rPr>
              <a:t>       1.23, 0.88, 1.09, 1.03)</a:t>
            </a:r>
          </a:p>
          <a:p>
            <a:endParaRPr lang="en-US" sz="1600" dirty="0">
              <a:solidFill>
                <a:schemeClr val="bg1"/>
              </a:solidFill>
              <a:latin typeface="Courier"/>
              <a:cs typeface="Courier"/>
            </a:endParaRPr>
          </a:p>
          <a:p>
            <a:r>
              <a:rPr lang="en-US" sz="1600" dirty="0">
                <a:solidFill>
                  <a:schemeClr val="bg1"/>
                </a:solidFill>
                <a:latin typeface="Courier"/>
                <a:cs typeface="Courier"/>
              </a:rPr>
              <a:t>boxplot(A, B)</a:t>
            </a:r>
          </a:p>
          <a:p>
            <a:endParaRPr lang="en-US" sz="1600" dirty="0">
              <a:solidFill>
                <a:schemeClr val="bg1"/>
              </a:solidFill>
              <a:latin typeface="Courier"/>
              <a:cs typeface="Courier"/>
            </a:endParaRPr>
          </a:p>
          <a:p>
            <a:r>
              <a:rPr lang="en-US" sz="1600" dirty="0">
                <a:solidFill>
                  <a:srgbClr val="FFFF00"/>
                </a:solidFill>
                <a:latin typeface="Courier"/>
                <a:cs typeface="Courier"/>
              </a:rPr>
              <a:t># Parametric Test:</a:t>
            </a:r>
          </a:p>
          <a:p>
            <a:r>
              <a:rPr lang="en-US" sz="1600" dirty="0" err="1">
                <a:solidFill>
                  <a:schemeClr val="bg1"/>
                </a:solidFill>
                <a:latin typeface="Courier"/>
                <a:cs typeface="Courier"/>
              </a:rPr>
              <a:t>var.test</a:t>
            </a:r>
            <a:r>
              <a:rPr lang="en-US" sz="1600" dirty="0">
                <a:solidFill>
                  <a:schemeClr val="bg1"/>
                </a:solidFill>
                <a:latin typeface="Courier"/>
                <a:cs typeface="Courier"/>
              </a:rPr>
              <a:t>(A, B, alternative = </a:t>
            </a:r>
            <a:r>
              <a:rPr lang="en-US" sz="1600" dirty="0">
                <a:solidFill>
                  <a:srgbClr val="00B050"/>
                </a:solidFill>
                <a:latin typeface="Courier"/>
                <a:cs typeface="Courier"/>
              </a:rPr>
              <a:t>"</a:t>
            </a:r>
            <a:r>
              <a:rPr lang="en-US" sz="1600" dirty="0" err="1">
                <a:solidFill>
                  <a:srgbClr val="00B050"/>
                </a:solidFill>
                <a:latin typeface="Courier"/>
                <a:cs typeface="Courier"/>
              </a:rPr>
              <a:t>two.sided</a:t>
            </a:r>
            <a:r>
              <a:rPr lang="en-US" sz="1600" dirty="0">
                <a:solidFill>
                  <a:srgbClr val="00B050"/>
                </a:solidFill>
                <a:latin typeface="Courier"/>
                <a:cs typeface="Courier"/>
              </a:rPr>
              <a:t>"</a:t>
            </a:r>
            <a:r>
              <a:rPr lang="en-US" sz="1600" dirty="0">
                <a:solidFill>
                  <a:schemeClr val="bg1"/>
                </a:solidFill>
                <a:latin typeface="Courier"/>
                <a:cs typeface="Courier"/>
              </a:rPr>
              <a:t>)</a:t>
            </a:r>
          </a:p>
          <a:p>
            <a:r>
              <a:rPr lang="en-US" sz="1600" dirty="0" err="1">
                <a:solidFill>
                  <a:schemeClr val="bg1"/>
                </a:solidFill>
                <a:latin typeface="Courier"/>
                <a:cs typeface="Courier"/>
              </a:rPr>
              <a:t>t.test</a:t>
            </a:r>
            <a:r>
              <a:rPr lang="en-US" sz="1600" dirty="0">
                <a:solidFill>
                  <a:schemeClr val="bg1"/>
                </a:solidFill>
                <a:latin typeface="Courier"/>
                <a:cs typeface="Courier"/>
              </a:rPr>
              <a:t>(A, B, alternative = </a:t>
            </a:r>
            <a:r>
              <a:rPr lang="en-US" sz="1600" dirty="0">
                <a:solidFill>
                  <a:srgbClr val="00B050"/>
                </a:solidFill>
                <a:latin typeface="Courier"/>
                <a:cs typeface="Courier"/>
              </a:rPr>
              <a:t>"</a:t>
            </a:r>
            <a:r>
              <a:rPr lang="en-US" sz="1600" dirty="0" err="1">
                <a:solidFill>
                  <a:srgbClr val="00B050"/>
                </a:solidFill>
                <a:latin typeface="Courier"/>
                <a:cs typeface="Courier"/>
              </a:rPr>
              <a:t>two.sided</a:t>
            </a:r>
            <a:r>
              <a:rPr lang="en-US" sz="1600" dirty="0">
                <a:solidFill>
                  <a:srgbClr val="00B050"/>
                </a:solidFill>
                <a:latin typeface="Courier"/>
                <a:cs typeface="Courier"/>
              </a:rPr>
              <a:t>"</a:t>
            </a:r>
            <a:r>
              <a:rPr lang="en-US" sz="1600" dirty="0">
                <a:solidFill>
                  <a:schemeClr val="bg1"/>
                </a:solidFill>
                <a:latin typeface="Courier"/>
                <a:cs typeface="Courier"/>
              </a:rPr>
              <a:t>, </a:t>
            </a:r>
            <a:r>
              <a:rPr lang="en-US" sz="1600" dirty="0" err="1">
                <a:solidFill>
                  <a:schemeClr val="bg1"/>
                </a:solidFill>
                <a:latin typeface="Courier"/>
                <a:cs typeface="Courier"/>
              </a:rPr>
              <a:t>var.equal</a:t>
            </a:r>
            <a:r>
              <a:rPr lang="en-US" sz="1600" dirty="0">
                <a:solidFill>
                  <a:schemeClr val="bg1"/>
                </a:solidFill>
                <a:latin typeface="Courier"/>
                <a:cs typeface="Courier"/>
              </a:rPr>
              <a:t> = F)</a:t>
            </a:r>
          </a:p>
          <a:p>
            <a:endParaRPr lang="en-US" sz="1600" dirty="0">
              <a:solidFill>
                <a:schemeClr val="bg1"/>
              </a:solidFill>
              <a:latin typeface="Courier"/>
              <a:cs typeface="Courier"/>
            </a:endParaRPr>
          </a:p>
          <a:p>
            <a:r>
              <a:rPr lang="en-US" sz="1600" dirty="0">
                <a:solidFill>
                  <a:srgbClr val="FFFF00"/>
                </a:solidFill>
                <a:latin typeface="Courier"/>
                <a:cs typeface="Courier"/>
              </a:rPr>
              <a:t># Non-parametric Test:</a:t>
            </a:r>
          </a:p>
          <a:p>
            <a:r>
              <a:rPr lang="en-US" sz="1600" dirty="0" err="1">
                <a:solidFill>
                  <a:schemeClr val="bg1"/>
                </a:solidFill>
                <a:latin typeface="Courier"/>
                <a:cs typeface="Courier"/>
              </a:rPr>
              <a:t>wilcox.test</a:t>
            </a:r>
            <a:r>
              <a:rPr lang="en-US" sz="1600" dirty="0">
                <a:solidFill>
                  <a:schemeClr val="bg1"/>
                </a:solidFill>
                <a:latin typeface="Courier"/>
                <a:cs typeface="Courier"/>
              </a:rPr>
              <a:t>(A, B, alternative = </a:t>
            </a:r>
            <a:r>
              <a:rPr lang="en-US" sz="1600" dirty="0">
                <a:solidFill>
                  <a:srgbClr val="00B050"/>
                </a:solidFill>
                <a:latin typeface="Courier"/>
                <a:cs typeface="Courier"/>
              </a:rPr>
              <a:t>"</a:t>
            </a:r>
            <a:r>
              <a:rPr lang="en-US" sz="1600" dirty="0" err="1">
                <a:solidFill>
                  <a:srgbClr val="00B050"/>
                </a:solidFill>
                <a:latin typeface="Courier"/>
                <a:cs typeface="Courier"/>
              </a:rPr>
              <a:t>two.sided</a:t>
            </a:r>
            <a:r>
              <a:rPr lang="en-US" sz="1600" dirty="0">
                <a:solidFill>
                  <a:srgbClr val="00B050"/>
                </a:solidFill>
                <a:latin typeface="Courier"/>
                <a:cs typeface="Courier"/>
              </a:rPr>
              <a:t>"</a:t>
            </a:r>
            <a:r>
              <a:rPr lang="en-US" sz="1600" dirty="0">
                <a:solidFill>
                  <a:schemeClr val="bg1"/>
                </a:solidFill>
                <a:latin typeface="Courier"/>
                <a:cs typeface="Courier"/>
              </a:rPr>
              <a:t>)</a:t>
            </a:r>
          </a:p>
        </p:txBody>
      </p:sp>
      <p:pic>
        <p:nvPicPr>
          <p:cNvPr id="5" name="Picture 4">
            <a:extLst>
              <a:ext uri="{FF2B5EF4-FFF2-40B4-BE49-F238E27FC236}">
                <a16:creationId xmlns:a16="http://schemas.microsoft.com/office/drawing/2014/main" id="{B64CFC0E-D738-B012-0D02-1A56C53DF383}"/>
              </a:ext>
            </a:extLst>
          </p:cNvPr>
          <p:cNvPicPr>
            <a:picLocks noChangeAspect="1"/>
          </p:cNvPicPr>
          <p:nvPr/>
        </p:nvPicPr>
        <p:blipFill>
          <a:blip r:embed="rId3"/>
          <a:stretch>
            <a:fillRect/>
          </a:stretch>
        </p:blipFill>
        <p:spPr>
          <a:xfrm>
            <a:off x="219922" y="5104386"/>
            <a:ext cx="3574833" cy="1544754"/>
          </a:xfrm>
          <a:prstGeom prst="rect">
            <a:avLst/>
          </a:prstGeom>
        </p:spPr>
      </p:pic>
      <p:pic>
        <p:nvPicPr>
          <p:cNvPr id="6" name="Picture 5">
            <a:extLst>
              <a:ext uri="{FF2B5EF4-FFF2-40B4-BE49-F238E27FC236}">
                <a16:creationId xmlns:a16="http://schemas.microsoft.com/office/drawing/2014/main" id="{4CC40E1C-F3E6-3773-7D1E-B6C388827048}"/>
              </a:ext>
            </a:extLst>
          </p:cNvPr>
          <p:cNvPicPr>
            <a:picLocks noChangeAspect="1"/>
          </p:cNvPicPr>
          <p:nvPr/>
        </p:nvPicPr>
        <p:blipFill>
          <a:blip r:embed="rId4"/>
          <a:stretch>
            <a:fillRect/>
          </a:stretch>
        </p:blipFill>
        <p:spPr>
          <a:xfrm>
            <a:off x="4654763" y="5270672"/>
            <a:ext cx="4269315" cy="1212181"/>
          </a:xfrm>
          <a:prstGeom prst="rect">
            <a:avLst/>
          </a:prstGeom>
        </p:spPr>
      </p:pic>
      <p:sp>
        <p:nvSpPr>
          <p:cNvPr id="7" name="TextBox 6">
            <a:extLst>
              <a:ext uri="{FF2B5EF4-FFF2-40B4-BE49-F238E27FC236}">
                <a16:creationId xmlns:a16="http://schemas.microsoft.com/office/drawing/2014/main" id="{9988038D-428E-8DFD-B7BF-A9710083F7AE}"/>
              </a:ext>
            </a:extLst>
          </p:cNvPr>
          <p:cNvSpPr txBox="1"/>
          <p:nvPr/>
        </p:nvSpPr>
        <p:spPr>
          <a:xfrm>
            <a:off x="5445888" y="2451571"/>
            <a:ext cx="2968907" cy="400110"/>
          </a:xfrm>
          <a:prstGeom prst="rect">
            <a:avLst/>
          </a:prstGeom>
          <a:solidFill>
            <a:schemeClr val="bg1"/>
          </a:solidFill>
        </p:spPr>
        <p:txBody>
          <a:bodyPr wrap="square">
            <a:spAutoFit/>
          </a:bodyPr>
          <a:lstStyle/>
          <a:p>
            <a:r>
              <a:rPr lang="en-US" sz="2000" dirty="0" err="1">
                <a:latin typeface="Times New Roman" panose="02020603050405020304" pitchFamily="18" charset="0"/>
                <a:cs typeface="Times New Roman" panose="02020603050405020304" pitchFamily="18" charset="0"/>
                <a:hlinkClick r:id="rId5"/>
              </a:rPr>
              <a:t>hyp_test_nonparametric.R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501906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DF29379-36F8-5678-CE7A-5E6B385E99BE}"/>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4601B24E-E1A4-EF5D-7546-56DCFB3CE01B}"/>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Hypothesis Tests for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Categorical/Discrete Variables</a:t>
            </a:r>
          </a:p>
        </p:txBody>
      </p:sp>
      <p:sp>
        <p:nvSpPr>
          <p:cNvPr id="4" name="TextBox 3">
            <a:extLst>
              <a:ext uri="{FF2B5EF4-FFF2-40B4-BE49-F238E27FC236}">
                <a16:creationId xmlns:a16="http://schemas.microsoft.com/office/drawing/2014/main" id="{84B4DB4C-0075-04AD-6227-F953805959C7}"/>
              </a:ext>
            </a:extLst>
          </p:cNvPr>
          <p:cNvSpPr txBox="1"/>
          <p:nvPr/>
        </p:nvSpPr>
        <p:spPr>
          <a:xfrm>
            <a:off x="484189" y="1643606"/>
            <a:ext cx="8202612" cy="1138773"/>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A </a:t>
            </a:r>
            <a:r>
              <a:rPr lang="en-US" sz="2400" b="1" dirty="0">
                <a:latin typeface="Times New Roman" panose="02020603050405020304" pitchFamily="18" charset="0"/>
                <a:cs typeface="Times New Roman" panose="02020603050405020304" pitchFamily="18" charset="0"/>
              </a:rPr>
              <a:t>contingency</a:t>
            </a:r>
            <a:r>
              <a:rPr lang="en-US" sz="2400" dirty="0">
                <a:latin typeface="Times New Roman" panose="02020603050405020304" pitchFamily="18" charset="0"/>
                <a:cs typeface="Times New Roman" panose="02020603050405020304" pitchFamily="18" charset="0"/>
              </a:rPr>
              <a:t> is the outcome of a discrete random variate.</a:t>
            </a:r>
          </a:p>
          <a:p>
            <a:pPr marL="742950" lvl="1" indent="-28575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Contingency table</a:t>
            </a:r>
            <a:r>
              <a:rPr lang="en-US" sz="2200" dirty="0">
                <a:latin typeface="Times New Roman" panose="02020603050405020304" pitchFamily="18" charset="0"/>
                <a:cs typeface="Times New Roman" panose="02020603050405020304" pitchFamily="18" charset="0"/>
              </a:rPr>
              <a:t>: collection of counts of outcomes for discrete random variates:</a:t>
            </a:r>
          </a:p>
        </p:txBody>
      </p:sp>
      <p:graphicFrame>
        <p:nvGraphicFramePr>
          <p:cNvPr id="5" name="Table 4">
            <a:extLst>
              <a:ext uri="{FF2B5EF4-FFF2-40B4-BE49-F238E27FC236}">
                <a16:creationId xmlns:a16="http://schemas.microsoft.com/office/drawing/2014/main" id="{76C5D060-EE23-43A2-42F2-5353487269D3}"/>
              </a:ext>
            </a:extLst>
          </p:cNvPr>
          <p:cNvGraphicFramePr>
            <a:graphicFrameLocks noGrp="1"/>
          </p:cNvGraphicFramePr>
          <p:nvPr>
            <p:extLst>
              <p:ext uri="{D42A27DB-BD31-4B8C-83A1-F6EECF244321}">
                <p14:modId xmlns:p14="http://schemas.microsoft.com/office/powerpoint/2010/main" val="397797352"/>
              </p:ext>
            </p:extLst>
          </p:nvPr>
        </p:nvGraphicFramePr>
        <p:xfrm>
          <a:off x="457199" y="3499781"/>
          <a:ext cx="8229601" cy="1992438"/>
        </p:xfrm>
        <a:graphic>
          <a:graphicData uri="http://schemas.openxmlformats.org/drawingml/2006/table">
            <a:tbl>
              <a:tblPr>
                <a:tableStyleId>{5C22544A-7EE6-4342-B048-85BDC9FD1C3A}</a:tableStyleId>
              </a:tblPr>
              <a:tblGrid>
                <a:gridCol w="2135530">
                  <a:extLst>
                    <a:ext uri="{9D8B030D-6E8A-4147-A177-3AD203B41FA5}">
                      <a16:colId xmlns:a16="http://schemas.microsoft.com/office/drawing/2014/main" val="2316688254"/>
                    </a:ext>
                  </a:extLst>
                </a:gridCol>
                <a:gridCol w="1349752">
                  <a:extLst>
                    <a:ext uri="{9D8B030D-6E8A-4147-A177-3AD203B41FA5}">
                      <a16:colId xmlns:a16="http://schemas.microsoft.com/office/drawing/2014/main" val="2266290951"/>
                    </a:ext>
                  </a:extLst>
                </a:gridCol>
                <a:gridCol w="1259037">
                  <a:extLst>
                    <a:ext uri="{9D8B030D-6E8A-4147-A177-3AD203B41FA5}">
                      <a16:colId xmlns:a16="http://schemas.microsoft.com/office/drawing/2014/main" val="3309236867"/>
                    </a:ext>
                  </a:extLst>
                </a:gridCol>
                <a:gridCol w="1259037">
                  <a:extLst>
                    <a:ext uri="{9D8B030D-6E8A-4147-A177-3AD203B41FA5}">
                      <a16:colId xmlns:a16="http://schemas.microsoft.com/office/drawing/2014/main" val="3506315510"/>
                    </a:ext>
                  </a:extLst>
                </a:gridCol>
                <a:gridCol w="2226245">
                  <a:extLst>
                    <a:ext uri="{9D8B030D-6E8A-4147-A177-3AD203B41FA5}">
                      <a16:colId xmlns:a16="http://schemas.microsoft.com/office/drawing/2014/main" val="1128868017"/>
                    </a:ext>
                  </a:extLst>
                </a:gridCol>
              </a:tblGrid>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Factor A</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l" fontAlgn="b"/>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654030002"/>
                  </a:ext>
                </a:extLst>
              </a:tr>
              <a:tr h="289539">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Factor B</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A</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A</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A</a:t>
                      </a:r>
                      <a:r>
                        <a:rPr lang="en-US" sz="1800" u="none" strike="noStrike" baseline="-25000" dirty="0">
                          <a:effectLst/>
                          <a:latin typeface="Times New Roman" panose="02020603050405020304" pitchFamily="18" charset="0"/>
                          <a:cs typeface="Times New Roman" panose="02020603050405020304" pitchFamily="18" charset="0"/>
                        </a:rPr>
                        <a:t>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B w="38100" cap="flat" cmpd="sng" algn="ctr">
                      <a:solidFill>
                        <a:schemeClr val="tx1"/>
                      </a:solidFill>
                      <a:prstDash val="solid"/>
                      <a:round/>
                      <a:headEnd type="none" w="med" len="med"/>
                      <a:tailEnd type="none" w="med" len="med"/>
                    </a:lnB>
                  </a:tcPr>
                </a:tc>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Row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364216789"/>
                  </a:ext>
                </a:extLst>
              </a:tr>
              <a:tr h="289539">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449035773"/>
                  </a:ext>
                </a:extLst>
              </a:tr>
              <a:tr h="278403">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21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22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23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859355300"/>
                  </a:ext>
                </a:extLst>
              </a:tr>
              <a:tr h="278403">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31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32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33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342781116"/>
                  </a:ext>
                </a:extLst>
              </a:tr>
              <a:tr h="278403">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4</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41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42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43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4</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261026029"/>
                  </a:ext>
                </a:extLst>
              </a:tr>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Col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no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no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3</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N, Grand Total</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978091856"/>
                  </a:ext>
                </a:extLst>
              </a:tr>
            </a:tbl>
          </a:graphicData>
        </a:graphic>
      </p:graphicFrame>
      <p:sp>
        <p:nvSpPr>
          <p:cNvPr id="6" name="Rectangle 5">
            <a:extLst>
              <a:ext uri="{FF2B5EF4-FFF2-40B4-BE49-F238E27FC236}">
                <a16:creationId xmlns:a16="http://schemas.microsoft.com/office/drawing/2014/main" id="{662EED11-5B9B-38B8-2215-616246731FDE}"/>
              </a:ext>
            </a:extLst>
          </p:cNvPr>
          <p:cNvSpPr/>
          <p:nvPr/>
        </p:nvSpPr>
        <p:spPr>
          <a:xfrm>
            <a:off x="2963119" y="4093912"/>
            <a:ext cx="3113590" cy="1132057"/>
          </a:xfrm>
          <a:prstGeom prst="rect">
            <a:avLst/>
          </a:prstGeom>
          <a:noFill/>
          <a:ln w="2857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1943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8215367-EF85-92C1-0E54-E63B063EED86}"/>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588E26A5-30DF-12AF-DCAC-0BBD746AF882}"/>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Hypothesis Tests for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Categorical/Discrete Variables</a:t>
            </a:r>
          </a:p>
        </p:txBody>
      </p:sp>
      <p:sp>
        <p:nvSpPr>
          <p:cNvPr id="4" name="TextBox 3">
            <a:extLst>
              <a:ext uri="{FF2B5EF4-FFF2-40B4-BE49-F238E27FC236}">
                <a16:creationId xmlns:a16="http://schemas.microsoft.com/office/drawing/2014/main" id="{EF0B7C85-B0E9-9B4E-81E8-A3EF4F19C164}"/>
              </a:ext>
            </a:extLst>
          </p:cNvPr>
          <p:cNvSpPr txBox="1"/>
          <p:nvPr/>
        </p:nvSpPr>
        <p:spPr>
          <a:xfrm>
            <a:off x="484189" y="1643606"/>
            <a:ext cx="820261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For contingency tables, we are usually interested in uncovering if there is a relationship between the factors</a:t>
            </a:r>
            <a:endParaRPr lang="en-US" sz="22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A9504FC7-FBB2-0C46-026E-625A9C236BCE}"/>
              </a:ext>
            </a:extLst>
          </p:cNvPr>
          <p:cNvSpPr txBox="1"/>
          <p:nvPr/>
        </p:nvSpPr>
        <p:spPr>
          <a:xfrm>
            <a:off x="821784" y="2721980"/>
            <a:ext cx="8202612" cy="769441"/>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simplest relationship model to hypothesize is the independence model</a:t>
            </a:r>
          </a:p>
        </p:txBody>
      </p:sp>
      <p:sp>
        <p:nvSpPr>
          <p:cNvPr id="6" name="TextBox 5">
            <a:extLst>
              <a:ext uri="{FF2B5EF4-FFF2-40B4-BE49-F238E27FC236}">
                <a16:creationId xmlns:a16="http://schemas.microsoft.com/office/drawing/2014/main" id="{02D1B34F-DB6D-DAD0-BE6B-6C3AC4EE9A11}"/>
              </a:ext>
            </a:extLst>
          </p:cNvPr>
          <p:cNvSpPr txBox="1"/>
          <p:nvPr/>
        </p:nvSpPr>
        <p:spPr>
          <a:xfrm>
            <a:off x="1248118" y="3623048"/>
            <a:ext cx="7349943" cy="1015663"/>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Under this model we want to predict the cell counts </a:t>
            </a:r>
            <a:r>
              <a:rPr lang="en-US" sz="2000" b="1" dirty="0">
                <a:latin typeface="Times New Roman" panose="02020603050405020304" pitchFamily="18" charset="0"/>
                <a:cs typeface="Times New Roman" panose="02020603050405020304" pitchFamily="18" charset="0"/>
              </a:rPr>
              <a:t>assuming the factors are statistically independent </a:t>
            </a:r>
            <a:r>
              <a:rPr lang="en-US" sz="2000" dirty="0">
                <a:latin typeface="Times New Roman" panose="02020603050405020304" pitchFamily="18" charset="0"/>
                <a:cs typeface="Times New Roman" panose="02020603050405020304" pitchFamily="18" charset="0"/>
              </a:rPr>
              <a:t>(i.e. the expected counts under the model)</a:t>
            </a:r>
          </a:p>
        </p:txBody>
      </p:sp>
      <p:sp>
        <p:nvSpPr>
          <p:cNvPr id="7" name="TextBox 6">
            <a:extLst>
              <a:ext uri="{FF2B5EF4-FFF2-40B4-BE49-F238E27FC236}">
                <a16:creationId xmlns:a16="http://schemas.microsoft.com/office/drawing/2014/main" id="{58B860AB-91D0-39F4-2801-17356AFEAE04}"/>
              </a:ext>
            </a:extLst>
          </p:cNvPr>
          <p:cNvSpPr txBox="1"/>
          <p:nvPr/>
        </p:nvSpPr>
        <p:spPr>
          <a:xfrm>
            <a:off x="1248117" y="5500084"/>
            <a:ext cx="7349943" cy="1015663"/>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Next, we test if there is evidence in the data that the observed counts (</a:t>
            </a:r>
            <a:r>
              <a:rPr lang="en-US" sz="2000" i="1" dirty="0">
                <a:latin typeface="Times New Roman" panose="02020603050405020304" pitchFamily="18" charset="0"/>
                <a:cs typeface="Times New Roman" panose="02020603050405020304" pitchFamily="18" charset="0"/>
              </a:rPr>
              <a:t>O</a:t>
            </a:r>
            <a:r>
              <a:rPr lang="en-US" sz="2000" dirty="0">
                <a:latin typeface="Times New Roman" panose="02020603050405020304" pitchFamily="18" charset="0"/>
                <a:cs typeface="Times New Roman" panose="02020603050405020304" pitchFamily="18" charset="0"/>
              </a:rPr>
              <a:t>) significantly deviate from the expected counts (</a:t>
            </a:r>
            <a:r>
              <a:rPr lang="en-US" sz="2000" i="1" dirty="0">
                <a:latin typeface="Times New Roman" panose="02020603050405020304" pitchFamily="18" charset="0"/>
                <a:cs typeface="Times New Roman" panose="02020603050405020304" pitchFamily="18" charset="0"/>
              </a:rPr>
              <a:t>E</a:t>
            </a:r>
            <a:r>
              <a:rPr lang="en-US" sz="2000" dirty="0">
                <a:latin typeface="Times New Roman" panose="02020603050405020304" pitchFamily="18" charset="0"/>
                <a:cs typeface="Times New Roman" panose="02020603050405020304" pitchFamily="18" charset="0"/>
              </a:rPr>
              <a:t>) under the independence model</a:t>
            </a:r>
          </a:p>
        </p:txBody>
      </p:sp>
      <p:pic>
        <p:nvPicPr>
          <p:cNvPr id="8" name="Picture 7">
            <a:extLst>
              <a:ext uri="{FF2B5EF4-FFF2-40B4-BE49-F238E27FC236}">
                <a16:creationId xmlns:a16="http://schemas.microsoft.com/office/drawing/2014/main" id="{CD8F3A4F-EEA2-7C3D-1171-0DB09E75A7D7}"/>
              </a:ext>
            </a:extLst>
          </p:cNvPr>
          <p:cNvPicPr>
            <a:picLocks noChangeAspect="1"/>
          </p:cNvPicPr>
          <p:nvPr/>
        </p:nvPicPr>
        <p:blipFill>
          <a:blip r:embed="rId3"/>
          <a:stretch>
            <a:fillRect/>
          </a:stretch>
        </p:blipFill>
        <p:spPr>
          <a:xfrm>
            <a:off x="4151178" y="4570608"/>
            <a:ext cx="1547084" cy="626427"/>
          </a:xfrm>
          <a:prstGeom prst="rect">
            <a:avLst/>
          </a:prstGeom>
        </p:spPr>
      </p:pic>
    </p:spTree>
    <p:extLst>
      <p:ext uri="{BB962C8B-B14F-4D97-AF65-F5344CB8AC3E}">
        <p14:creationId xmlns:p14="http://schemas.microsoft.com/office/powerpoint/2010/main" val="581387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CE03D-75D6-1DC8-2412-6BE12DC5C50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D0E37AA-4C1F-6236-2840-4E0107019AFE}"/>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EB964F3E-B5BA-7242-601C-D44EA05EDB3A}"/>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Chi-Squared Test</a:t>
            </a:r>
          </a:p>
        </p:txBody>
      </p:sp>
      <p:sp>
        <p:nvSpPr>
          <p:cNvPr id="4" name="TextBox 3">
            <a:extLst>
              <a:ext uri="{FF2B5EF4-FFF2-40B4-BE49-F238E27FC236}">
                <a16:creationId xmlns:a16="http://schemas.microsoft.com/office/drawing/2014/main" id="{72008FB4-A13A-1845-9941-1D7F4BBDA9F4}"/>
              </a:ext>
            </a:extLst>
          </p:cNvPr>
          <p:cNvSpPr txBox="1"/>
          <p:nvPr/>
        </p:nvSpPr>
        <p:spPr>
          <a:xfrm>
            <a:off x="484189" y="1551006"/>
            <a:ext cx="8202612"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If there are </a:t>
            </a:r>
            <a:r>
              <a:rPr lang="en-US" sz="2400" b="1" i="1" u="sng" dirty="0">
                <a:latin typeface="Times New Roman" panose="02020603050405020304" pitchFamily="18" charset="0"/>
                <a:cs typeface="Times New Roman" panose="02020603050405020304" pitchFamily="18" charset="0"/>
              </a:rPr>
              <a:t>no cells with zero counts </a:t>
            </a:r>
            <a:r>
              <a:rPr lang="en-US" sz="2400" dirty="0">
                <a:latin typeface="Times New Roman" panose="02020603050405020304" pitchFamily="18" charset="0"/>
                <a:cs typeface="Times New Roman" panose="02020603050405020304" pitchFamily="18" charset="0"/>
              </a:rPr>
              <a:t>and the </a:t>
            </a:r>
            <a:r>
              <a:rPr lang="en-US" sz="2400" b="1" i="1" u="sng" dirty="0">
                <a:latin typeface="Times New Roman" panose="02020603050405020304" pitchFamily="18" charset="0"/>
                <a:cs typeface="Times New Roman" panose="02020603050405020304" pitchFamily="18" charset="0"/>
              </a:rPr>
              <a:t>sample size is fairly large</a:t>
            </a:r>
            <a:r>
              <a:rPr lang="en-US" sz="2400" dirty="0">
                <a:latin typeface="Times New Roman" panose="02020603050405020304" pitchFamily="18" charset="0"/>
                <a:cs typeface="Times New Roman" panose="02020603050405020304" pitchFamily="18" charset="0"/>
              </a:rPr>
              <a:t>, then the sampling distribution for the statistic below is a chi-squared distribution under the Null (independence) hypothesis:</a:t>
            </a:r>
            <a:endParaRPr lang="en-US" sz="2200" dirty="0">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4CFE0F38-3F57-E70D-EA63-48C16C87A498}"/>
              </a:ext>
            </a:extLst>
          </p:cNvPr>
          <p:cNvPicPr>
            <a:picLocks noChangeAspect="1"/>
          </p:cNvPicPr>
          <p:nvPr/>
        </p:nvPicPr>
        <p:blipFill>
          <a:blip r:embed="rId3"/>
          <a:stretch>
            <a:fillRect/>
          </a:stretch>
        </p:blipFill>
        <p:spPr>
          <a:xfrm>
            <a:off x="2654071" y="3424813"/>
            <a:ext cx="3835858" cy="989899"/>
          </a:xfrm>
          <a:prstGeom prst="rect">
            <a:avLst/>
          </a:prstGeom>
        </p:spPr>
      </p:pic>
      <p:pic>
        <p:nvPicPr>
          <p:cNvPr id="11" name="Picture 10">
            <a:extLst>
              <a:ext uri="{FF2B5EF4-FFF2-40B4-BE49-F238E27FC236}">
                <a16:creationId xmlns:a16="http://schemas.microsoft.com/office/drawing/2014/main" id="{6DC81467-982E-980B-7946-75B4972FD4DA}"/>
              </a:ext>
            </a:extLst>
          </p:cNvPr>
          <p:cNvPicPr>
            <a:picLocks noChangeAspect="1"/>
          </p:cNvPicPr>
          <p:nvPr/>
        </p:nvPicPr>
        <p:blipFill>
          <a:blip r:embed="rId4"/>
          <a:stretch>
            <a:fillRect/>
          </a:stretch>
        </p:blipFill>
        <p:spPr>
          <a:xfrm>
            <a:off x="1296364" y="4847936"/>
            <a:ext cx="6940128" cy="365739"/>
          </a:xfrm>
          <a:prstGeom prst="rect">
            <a:avLst/>
          </a:prstGeom>
        </p:spPr>
      </p:pic>
      <p:sp>
        <p:nvSpPr>
          <p:cNvPr id="13" name="TextBox 12">
            <a:extLst>
              <a:ext uri="{FF2B5EF4-FFF2-40B4-BE49-F238E27FC236}">
                <a16:creationId xmlns:a16="http://schemas.microsoft.com/office/drawing/2014/main" id="{7A520B0A-8E44-16B9-5E94-8DE526ACE9AE}"/>
              </a:ext>
            </a:extLst>
          </p:cNvPr>
          <p:cNvSpPr txBox="1"/>
          <p:nvPr/>
        </p:nvSpPr>
        <p:spPr>
          <a:xfrm>
            <a:off x="3015205" y="5293715"/>
            <a:ext cx="3474724" cy="369332"/>
          </a:xfrm>
          <a:prstGeom prst="rect">
            <a:avLst/>
          </a:prstGeom>
          <a:noFill/>
        </p:spPr>
        <p:txBody>
          <a:bodyPr wrap="square">
            <a:spAutoFit/>
          </a:bodyPr>
          <a:lstStyle/>
          <a:p>
            <a:r>
              <a:rPr lang="en-US" sz="1800" dirty="0">
                <a:latin typeface="Times New Roman" panose="02020603050405020304" pitchFamily="18" charset="0"/>
                <a:cs typeface="Times New Roman" panose="02020603050405020304" pitchFamily="18" charset="0"/>
              </a:rPr>
              <a:t>Under H</a:t>
            </a:r>
            <a:r>
              <a:rPr lang="en-US" sz="1800" baseline="-25000" dirty="0">
                <a:latin typeface="Times New Roman" panose="02020603050405020304" pitchFamily="18" charset="0"/>
                <a:cs typeface="Times New Roman" panose="02020603050405020304" pitchFamily="18" charset="0"/>
              </a:rPr>
              <a:t>0</a:t>
            </a:r>
            <a:r>
              <a:rPr lang="en-US" sz="1800" dirty="0">
                <a:latin typeface="Times New Roman" panose="02020603050405020304" pitchFamily="18" charset="0"/>
                <a:cs typeface="Times New Roman" panose="02020603050405020304" pitchFamily="18" charset="0"/>
              </a:rPr>
              <a:t>: factors are independent</a:t>
            </a:r>
            <a:endParaRPr lang="en-US" dirty="0"/>
          </a:p>
        </p:txBody>
      </p:sp>
      <p:sp>
        <p:nvSpPr>
          <p:cNvPr id="14" name="TextBox 13">
            <a:extLst>
              <a:ext uri="{FF2B5EF4-FFF2-40B4-BE49-F238E27FC236}">
                <a16:creationId xmlns:a16="http://schemas.microsoft.com/office/drawing/2014/main" id="{F4410F7E-703F-8F6E-495D-89046CD3CC0F}"/>
              </a:ext>
            </a:extLst>
          </p:cNvPr>
          <p:cNvSpPr txBox="1"/>
          <p:nvPr/>
        </p:nvSpPr>
        <p:spPr>
          <a:xfrm>
            <a:off x="484187" y="6206865"/>
            <a:ext cx="5071661"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Called the Pearson </a:t>
            </a:r>
            <a:r>
              <a:rPr lang="en-US" sz="2400" b="1" dirty="0">
                <a:latin typeface="Times New Roman" panose="02020603050405020304" pitchFamily="18" charset="0"/>
                <a:cs typeface="Times New Roman" panose="02020603050405020304" pitchFamily="18" charset="0"/>
              </a:rPr>
              <a:t>chi-squared test</a:t>
            </a:r>
            <a:endParaRPr lang="en-US" sz="2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6094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2BE8-1B03-F13E-E4AD-FDE1997A575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DE287A3-3576-5E0E-6BBC-788BECE2B7CB}"/>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44AC6A39-B583-95D6-0F05-B72CBB695F49}"/>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Example Chi-Square Test</a:t>
            </a:r>
          </a:p>
        </p:txBody>
      </p:sp>
      <p:sp>
        <p:nvSpPr>
          <p:cNvPr id="4" name="TextBox 3">
            <a:extLst>
              <a:ext uri="{FF2B5EF4-FFF2-40B4-BE49-F238E27FC236}">
                <a16:creationId xmlns:a16="http://schemas.microsoft.com/office/drawing/2014/main" id="{4858C96C-6267-A40A-8644-3868D0D5A45A}"/>
              </a:ext>
            </a:extLst>
          </p:cNvPr>
          <p:cNvSpPr txBox="1"/>
          <p:nvPr/>
        </p:nvSpPr>
        <p:spPr>
          <a:xfrm>
            <a:off x="484189" y="1643606"/>
            <a:ext cx="8202612"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In 1013 samples of dust trace evidence, the number of occurrences of samples that have dog hair and cat hair are listed in the contingency table below:</a:t>
            </a:r>
            <a:endParaRPr lang="en-US" sz="2200"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59CE2FDF-CC93-D21D-2128-CC5F79EB1CDD}"/>
              </a:ext>
            </a:extLst>
          </p:cNvPr>
          <p:cNvGraphicFramePr>
            <a:graphicFrameLocks noGrp="1"/>
          </p:cNvGraphicFramePr>
          <p:nvPr/>
        </p:nvGraphicFramePr>
        <p:xfrm>
          <a:off x="954911" y="3429000"/>
          <a:ext cx="6970564" cy="1427094"/>
        </p:xfrm>
        <a:graphic>
          <a:graphicData uri="http://schemas.openxmlformats.org/drawingml/2006/table">
            <a:tbl>
              <a:tblPr>
                <a:tableStyleId>{5C22544A-7EE6-4342-B048-85BDC9FD1C3A}</a:tableStyleId>
              </a:tblPr>
              <a:tblGrid>
                <a:gridCol w="2135530">
                  <a:extLst>
                    <a:ext uri="{9D8B030D-6E8A-4147-A177-3AD203B41FA5}">
                      <a16:colId xmlns:a16="http://schemas.microsoft.com/office/drawing/2014/main" val="2316688254"/>
                    </a:ext>
                  </a:extLst>
                </a:gridCol>
                <a:gridCol w="1349752">
                  <a:extLst>
                    <a:ext uri="{9D8B030D-6E8A-4147-A177-3AD203B41FA5}">
                      <a16:colId xmlns:a16="http://schemas.microsoft.com/office/drawing/2014/main" val="2266290951"/>
                    </a:ext>
                  </a:extLst>
                </a:gridCol>
                <a:gridCol w="1259037">
                  <a:extLst>
                    <a:ext uri="{9D8B030D-6E8A-4147-A177-3AD203B41FA5}">
                      <a16:colId xmlns:a16="http://schemas.microsoft.com/office/drawing/2014/main" val="3309236867"/>
                    </a:ext>
                  </a:extLst>
                </a:gridCol>
                <a:gridCol w="2226245">
                  <a:extLst>
                    <a:ext uri="{9D8B030D-6E8A-4147-A177-3AD203B41FA5}">
                      <a16:colId xmlns:a16="http://schemas.microsoft.com/office/drawing/2014/main" val="1128868017"/>
                    </a:ext>
                  </a:extLst>
                </a:gridCol>
              </a:tblGrid>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Cat Hair?</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l" fontAlgn="b"/>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654030002"/>
                  </a:ext>
                </a:extLst>
              </a:tr>
              <a:tr h="289539">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Dog Hair?</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Yes</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No</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B w="38100" cap="flat" cmpd="sng" algn="ctr">
                      <a:solidFill>
                        <a:schemeClr val="tx1"/>
                      </a:solidFill>
                      <a:prstDash val="solid"/>
                      <a:round/>
                      <a:headEnd type="none" w="med" len="med"/>
                      <a:tailEnd type="none" w="med" len="med"/>
                    </a:lnB>
                  </a:tcPr>
                </a:tc>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Row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364216789"/>
                  </a:ext>
                </a:extLst>
              </a:tr>
              <a:tr h="289539">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Yes</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144</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210</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354</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449035773"/>
                  </a:ext>
                </a:extLst>
              </a:tr>
              <a:tr h="278403">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No</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260</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399</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659</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859355300"/>
                  </a:ext>
                </a:extLst>
              </a:tr>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Col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no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404</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noFill/>
                      <a:prstDash val="solid"/>
                      <a:round/>
                      <a:headEnd type="none" w="med" len="med"/>
                      <a:tailEnd type="none" w="med" len="med"/>
                    </a:lnL>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609</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1013 (Grand Total)</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978091856"/>
                  </a:ext>
                </a:extLst>
              </a:tr>
            </a:tbl>
          </a:graphicData>
        </a:graphic>
      </p:graphicFrame>
      <p:sp>
        <p:nvSpPr>
          <p:cNvPr id="7" name="TextBox 6">
            <a:extLst>
              <a:ext uri="{FF2B5EF4-FFF2-40B4-BE49-F238E27FC236}">
                <a16:creationId xmlns:a16="http://schemas.microsoft.com/office/drawing/2014/main" id="{B6908E2D-C3F7-F4C1-92A2-9B69B44627F5}"/>
              </a:ext>
            </a:extLst>
          </p:cNvPr>
          <p:cNvSpPr txBox="1"/>
          <p:nvPr/>
        </p:nvSpPr>
        <p:spPr>
          <a:xfrm>
            <a:off x="434181" y="5564934"/>
            <a:ext cx="8202611" cy="769441"/>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Test the independence of Dog hair/Cat hair occurrence in the trace evidence dust samples using a chi-squared test.</a:t>
            </a:r>
            <a:endParaRPr lang="en-US" sz="2200" dirty="0"/>
          </a:p>
        </p:txBody>
      </p:sp>
    </p:spTree>
    <p:extLst>
      <p:ext uri="{BB962C8B-B14F-4D97-AF65-F5344CB8AC3E}">
        <p14:creationId xmlns:p14="http://schemas.microsoft.com/office/powerpoint/2010/main" val="1618897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68299-EA98-3287-CD28-5EBF1982344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37304CD-CA8F-A9B0-34BA-3456612E2B6F}"/>
              </a:ext>
            </a:extLst>
          </p:cNvPr>
          <p:cNvPicPr>
            <a:picLocks noChangeAspect="1" noChangeArrowheads="1"/>
          </p:cNvPicPr>
          <p:nvPr/>
        </p:nvPicPr>
        <p:blipFill>
          <a:blip r:embed="rId3" cstate="print"/>
          <a:srcRect/>
          <a:stretch>
            <a:fillRect/>
          </a:stretch>
        </p:blipFill>
        <p:spPr bwMode="auto">
          <a:xfrm>
            <a:off x="484188" y="196056"/>
            <a:ext cx="8202612" cy="239712"/>
          </a:xfrm>
          <a:prstGeom prst="rect">
            <a:avLst/>
          </a:prstGeom>
          <a:noFill/>
          <a:ln w="9525">
            <a:noFill/>
            <a:round/>
            <a:headEnd/>
            <a:tailEnd/>
          </a:ln>
          <a:effectLst/>
        </p:spPr>
      </p:pic>
      <p:sp>
        <p:nvSpPr>
          <p:cNvPr id="2" name="TextBox 1">
            <a:extLst>
              <a:ext uri="{FF2B5EF4-FFF2-40B4-BE49-F238E27FC236}">
                <a16:creationId xmlns:a16="http://schemas.microsoft.com/office/drawing/2014/main" id="{06E6B43C-0859-CD70-A9DB-F3CA9E5E3686}"/>
              </a:ext>
            </a:extLst>
          </p:cNvPr>
          <p:cNvSpPr txBox="1"/>
          <p:nvPr/>
        </p:nvSpPr>
        <p:spPr>
          <a:xfrm>
            <a:off x="1032068" y="608371"/>
            <a:ext cx="7245751" cy="4247317"/>
          </a:xfrm>
          <a:prstGeom prst="rect">
            <a:avLst/>
          </a:prstGeom>
          <a:solidFill>
            <a:srgbClr val="000045"/>
          </a:solidFill>
          <a:effectLst/>
        </p:spPr>
        <p:txBody>
          <a:bodyPr wrap="square" rtlCol="0">
            <a:spAutoFit/>
          </a:bodyPr>
          <a:lstStyle/>
          <a:p>
            <a:r>
              <a:rPr lang="en-US" dirty="0" err="1">
                <a:solidFill>
                  <a:schemeClr val="bg1"/>
                </a:solidFill>
                <a:latin typeface="Courier"/>
                <a:cs typeface="Courier"/>
              </a:rPr>
              <a:t>O.tab</a:t>
            </a:r>
            <a:r>
              <a:rPr lang="en-US" dirty="0">
                <a:solidFill>
                  <a:schemeClr val="bg1"/>
                </a:solidFill>
                <a:latin typeface="Courier"/>
                <a:cs typeface="Courier"/>
              </a:rPr>
              <a:t> &lt;- </a:t>
            </a:r>
            <a:r>
              <a:rPr lang="en-US" dirty="0" err="1">
                <a:solidFill>
                  <a:schemeClr val="bg1"/>
                </a:solidFill>
                <a:latin typeface="Courier"/>
                <a:cs typeface="Courier"/>
              </a:rPr>
              <a:t>rbind</a:t>
            </a:r>
            <a:r>
              <a:rPr lang="en-US" dirty="0">
                <a:solidFill>
                  <a:schemeClr val="bg1"/>
                </a:solidFill>
                <a:latin typeface="Courier"/>
                <a:cs typeface="Courier"/>
              </a:rPr>
              <a:t>(</a:t>
            </a:r>
          </a:p>
          <a:p>
            <a:r>
              <a:rPr lang="en-US" dirty="0">
                <a:solidFill>
                  <a:schemeClr val="bg1"/>
                </a:solidFill>
                <a:latin typeface="Courier"/>
                <a:cs typeface="Courier"/>
              </a:rPr>
              <a:t>  c(144,210),</a:t>
            </a:r>
          </a:p>
          <a:p>
            <a:r>
              <a:rPr lang="en-US" dirty="0">
                <a:solidFill>
                  <a:schemeClr val="bg1"/>
                </a:solidFill>
                <a:latin typeface="Courier"/>
                <a:cs typeface="Courier"/>
              </a:rPr>
              <a:t>  c(260,399)  </a:t>
            </a:r>
          </a:p>
          <a:p>
            <a:r>
              <a:rPr lang="en-US" dirty="0">
                <a:solidFill>
                  <a:schemeClr val="bg1"/>
                </a:solidFill>
                <a:latin typeface="Courier"/>
                <a:cs typeface="Courier"/>
              </a:rPr>
              <a:t>)</a:t>
            </a:r>
          </a:p>
          <a:p>
            <a:endParaRPr lang="en-US" dirty="0">
              <a:solidFill>
                <a:schemeClr val="bg1"/>
              </a:solidFill>
              <a:latin typeface="Courier"/>
              <a:cs typeface="Courier"/>
            </a:endParaRPr>
          </a:p>
          <a:p>
            <a:r>
              <a:rPr lang="en-US" dirty="0">
                <a:solidFill>
                  <a:schemeClr val="bg1"/>
                </a:solidFill>
                <a:latin typeface="Courier"/>
                <a:cs typeface="Courier"/>
              </a:rPr>
              <a:t>N      &lt;- sum(</a:t>
            </a:r>
            <a:r>
              <a:rPr lang="en-US" dirty="0" err="1">
                <a:solidFill>
                  <a:schemeClr val="bg1"/>
                </a:solidFill>
                <a:latin typeface="Courier"/>
                <a:cs typeface="Courier"/>
              </a:rPr>
              <a:t>O.tab</a:t>
            </a:r>
            <a:r>
              <a:rPr lang="en-US" dirty="0">
                <a:solidFill>
                  <a:schemeClr val="bg1"/>
                </a:solidFill>
                <a:latin typeface="Courier"/>
                <a:cs typeface="Courier"/>
              </a:rPr>
              <a:t>)</a:t>
            </a:r>
          </a:p>
          <a:p>
            <a:r>
              <a:rPr lang="en-US" dirty="0" err="1">
                <a:solidFill>
                  <a:schemeClr val="bg1"/>
                </a:solidFill>
                <a:latin typeface="Courier"/>
                <a:cs typeface="Courier"/>
              </a:rPr>
              <a:t>r.tots</a:t>
            </a:r>
            <a:r>
              <a:rPr lang="en-US" dirty="0">
                <a:solidFill>
                  <a:schemeClr val="bg1"/>
                </a:solidFill>
                <a:latin typeface="Courier"/>
                <a:cs typeface="Courier"/>
              </a:rPr>
              <a:t> &lt;- </a:t>
            </a:r>
            <a:r>
              <a:rPr lang="en-US" dirty="0" err="1">
                <a:solidFill>
                  <a:schemeClr val="bg1"/>
                </a:solidFill>
                <a:latin typeface="Courier"/>
                <a:cs typeface="Courier"/>
              </a:rPr>
              <a:t>rowSums</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a:t>
            </a:r>
          </a:p>
          <a:p>
            <a:r>
              <a:rPr lang="en-US" dirty="0" err="1">
                <a:solidFill>
                  <a:schemeClr val="bg1"/>
                </a:solidFill>
                <a:latin typeface="Courier"/>
                <a:cs typeface="Courier"/>
              </a:rPr>
              <a:t>c.tots</a:t>
            </a:r>
            <a:r>
              <a:rPr lang="en-US" dirty="0">
                <a:solidFill>
                  <a:schemeClr val="bg1"/>
                </a:solidFill>
                <a:latin typeface="Courier"/>
                <a:cs typeface="Courier"/>
              </a:rPr>
              <a:t> &lt;- </a:t>
            </a:r>
            <a:r>
              <a:rPr lang="en-US" dirty="0" err="1">
                <a:solidFill>
                  <a:schemeClr val="bg1"/>
                </a:solidFill>
                <a:latin typeface="Courier"/>
                <a:cs typeface="Courier"/>
              </a:rPr>
              <a:t>colSums</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a:t>
            </a:r>
          </a:p>
          <a:p>
            <a:endParaRPr lang="en-US" dirty="0">
              <a:solidFill>
                <a:schemeClr val="bg1"/>
              </a:solidFill>
              <a:latin typeface="Courier"/>
              <a:cs typeface="Courier"/>
            </a:endParaRPr>
          </a:p>
          <a:p>
            <a:r>
              <a:rPr lang="en-US" dirty="0" err="1">
                <a:solidFill>
                  <a:schemeClr val="bg1"/>
                </a:solidFill>
                <a:latin typeface="Courier"/>
                <a:cs typeface="Courier"/>
              </a:rPr>
              <a:t>E.tab</a:t>
            </a:r>
            <a:r>
              <a:rPr lang="en-US" dirty="0">
                <a:solidFill>
                  <a:schemeClr val="bg1"/>
                </a:solidFill>
                <a:latin typeface="Courier"/>
                <a:cs typeface="Courier"/>
              </a:rPr>
              <a:t> &lt;- outer(</a:t>
            </a:r>
            <a:r>
              <a:rPr lang="en-US" dirty="0" err="1">
                <a:solidFill>
                  <a:schemeClr val="bg1"/>
                </a:solidFill>
                <a:latin typeface="Courier"/>
                <a:cs typeface="Courier"/>
              </a:rPr>
              <a:t>rowSums</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 </a:t>
            </a:r>
            <a:r>
              <a:rPr lang="en-US" dirty="0" err="1">
                <a:solidFill>
                  <a:schemeClr val="bg1"/>
                </a:solidFill>
                <a:latin typeface="Courier"/>
                <a:cs typeface="Courier"/>
              </a:rPr>
              <a:t>colSums</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))/N</a:t>
            </a:r>
          </a:p>
          <a:p>
            <a:r>
              <a:rPr lang="en-US" dirty="0" err="1">
                <a:solidFill>
                  <a:schemeClr val="bg1"/>
                </a:solidFill>
                <a:latin typeface="Courier"/>
                <a:cs typeface="Courier"/>
              </a:rPr>
              <a:t>E.tab</a:t>
            </a:r>
            <a:endParaRPr lang="en-US" dirty="0">
              <a:solidFill>
                <a:schemeClr val="bg1"/>
              </a:solidFill>
              <a:latin typeface="Courier"/>
              <a:cs typeface="Courier"/>
            </a:endParaRPr>
          </a:p>
          <a:p>
            <a:endParaRPr lang="en-US" dirty="0">
              <a:solidFill>
                <a:schemeClr val="bg1"/>
              </a:solidFill>
              <a:latin typeface="Courier"/>
              <a:cs typeface="Courier"/>
            </a:endParaRPr>
          </a:p>
          <a:p>
            <a:r>
              <a:rPr lang="en-US" dirty="0">
                <a:solidFill>
                  <a:srgbClr val="FFFF00"/>
                </a:solidFill>
                <a:latin typeface="Courier"/>
                <a:cs typeface="Courier"/>
              </a:rPr>
              <a:t># Chi-square test:</a:t>
            </a:r>
          </a:p>
          <a:p>
            <a:r>
              <a:rPr lang="en-US" dirty="0" err="1">
                <a:solidFill>
                  <a:schemeClr val="bg1"/>
                </a:solidFill>
                <a:latin typeface="Courier"/>
                <a:cs typeface="Courier"/>
              </a:rPr>
              <a:t>Xsq.fit</a:t>
            </a:r>
            <a:r>
              <a:rPr lang="en-US" dirty="0">
                <a:solidFill>
                  <a:schemeClr val="bg1"/>
                </a:solidFill>
                <a:latin typeface="Courier"/>
                <a:cs typeface="Courier"/>
              </a:rPr>
              <a:t> &lt;- </a:t>
            </a:r>
            <a:r>
              <a:rPr lang="en-US" dirty="0" err="1">
                <a:solidFill>
                  <a:schemeClr val="bg1"/>
                </a:solidFill>
                <a:latin typeface="Courier"/>
                <a:cs typeface="Courier"/>
              </a:rPr>
              <a:t>chisq.test</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 correct = T)</a:t>
            </a:r>
          </a:p>
          <a:p>
            <a:r>
              <a:rPr lang="en-US" dirty="0" err="1">
                <a:solidFill>
                  <a:schemeClr val="bg1"/>
                </a:solidFill>
                <a:latin typeface="Courier"/>
                <a:cs typeface="Courier"/>
              </a:rPr>
              <a:t>Xsq.fit</a:t>
            </a:r>
            <a:endParaRPr lang="en-US" dirty="0">
              <a:solidFill>
                <a:schemeClr val="bg1"/>
              </a:solidFill>
              <a:latin typeface="Courier"/>
              <a:cs typeface="Courier"/>
            </a:endParaRPr>
          </a:p>
        </p:txBody>
      </p:sp>
      <p:pic>
        <p:nvPicPr>
          <p:cNvPr id="4" name="Picture 3">
            <a:extLst>
              <a:ext uri="{FF2B5EF4-FFF2-40B4-BE49-F238E27FC236}">
                <a16:creationId xmlns:a16="http://schemas.microsoft.com/office/drawing/2014/main" id="{53547AB3-AA51-D139-BB6E-F02FDC6ADDAB}"/>
              </a:ext>
            </a:extLst>
          </p:cNvPr>
          <p:cNvPicPr>
            <a:picLocks noChangeAspect="1"/>
          </p:cNvPicPr>
          <p:nvPr/>
        </p:nvPicPr>
        <p:blipFill>
          <a:blip r:embed="rId4"/>
          <a:stretch>
            <a:fillRect/>
          </a:stretch>
        </p:blipFill>
        <p:spPr>
          <a:xfrm>
            <a:off x="138896" y="5268003"/>
            <a:ext cx="6157732" cy="1320933"/>
          </a:xfrm>
          <a:prstGeom prst="rect">
            <a:avLst/>
          </a:prstGeom>
          <a:effectLst/>
        </p:spPr>
      </p:pic>
      <p:sp>
        <p:nvSpPr>
          <p:cNvPr id="7" name="TextBox 6">
            <a:extLst>
              <a:ext uri="{FF2B5EF4-FFF2-40B4-BE49-F238E27FC236}">
                <a16:creationId xmlns:a16="http://schemas.microsoft.com/office/drawing/2014/main" id="{88CCB90C-0E45-4B43-853D-8AA6AC6053B3}"/>
              </a:ext>
            </a:extLst>
          </p:cNvPr>
          <p:cNvSpPr txBox="1"/>
          <p:nvPr/>
        </p:nvSpPr>
        <p:spPr>
          <a:xfrm>
            <a:off x="6686307" y="5243555"/>
            <a:ext cx="2515568" cy="584775"/>
          </a:xfrm>
          <a:prstGeom prst="rect">
            <a:avLst/>
          </a:prstGeom>
          <a:noFill/>
          <a:effectLst/>
        </p:spPr>
        <p:txBody>
          <a:bodyPr wrap="square" rtlCol="0">
            <a:spAutoFit/>
          </a:bodyPr>
          <a:lstStyle/>
          <a:p>
            <a:r>
              <a:rPr lang="en-US" sz="1600" dirty="0">
                <a:latin typeface="Times New Roman" panose="02020603050405020304" pitchFamily="18" charset="0"/>
                <a:cs typeface="Times New Roman" panose="02020603050405020304" pitchFamily="18" charset="0"/>
              </a:rPr>
              <a:t>no evidence against assumption of independence</a:t>
            </a:r>
          </a:p>
        </p:txBody>
      </p:sp>
      <p:cxnSp>
        <p:nvCxnSpPr>
          <p:cNvPr id="8" name="Straight Arrow Connector 7">
            <a:extLst>
              <a:ext uri="{FF2B5EF4-FFF2-40B4-BE49-F238E27FC236}">
                <a16:creationId xmlns:a16="http://schemas.microsoft.com/office/drawing/2014/main" id="{3190D4B3-5ABE-184E-5E2A-9857EC15C221}"/>
              </a:ext>
            </a:extLst>
          </p:cNvPr>
          <p:cNvCxnSpPr>
            <a:cxnSpLocks/>
          </p:cNvCxnSpPr>
          <p:nvPr/>
        </p:nvCxnSpPr>
        <p:spPr>
          <a:xfrm flipH="1">
            <a:off x="4394518" y="5741043"/>
            <a:ext cx="2291789" cy="711497"/>
          </a:xfrm>
          <a:prstGeom prst="straightConnector1">
            <a:avLst/>
          </a:prstGeom>
          <a:ln>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EEA42829-1726-1406-56EF-8CAC119A3259}"/>
              </a:ext>
            </a:extLst>
          </p:cNvPr>
          <p:cNvSpPr txBox="1"/>
          <p:nvPr/>
        </p:nvSpPr>
        <p:spPr>
          <a:xfrm>
            <a:off x="5457459" y="1236232"/>
            <a:ext cx="2077657" cy="400110"/>
          </a:xfrm>
          <a:prstGeom prst="rect">
            <a:avLst/>
          </a:prstGeom>
          <a:solidFill>
            <a:schemeClr val="bg1"/>
          </a:solidFill>
          <a:effectLst/>
        </p:spPr>
        <p:txBody>
          <a:bodyPr wrap="square">
            <a:spAutoFit/>
          </a:bodyPr>
          <a:lstStyle/>
          <a:p>
            <a:r>
              <a:rPr lang="en-US" sz="2000" dirty="0" err="1">
                <a:latin typeface="Times New Roman" panose="02020603050405020304" pitchFamily="18" charset="0"/>
                <a:cs typeface="Times New Roman" panose="02020603050405020304" pitchFamily="18" charset="0"/>
                <a:hlinkClick r:id="rId5"/>
              </a:rPr>
              <a:t>chi_square_test.R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624132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856F84-D133-6EED-14CD-962BB06D75BB}"/>
              </a:ext>
            </a:extLst>
          </p:cNvPr>
          <p:cNvPicPr>
            <a:picLocks noChangeAspect="1"/>
          </p:cNvPicPr>
          <p:nvPr/>
        </p:nvPicPr>
        <p:blipFill>
          <a:blip r:embed="rId2"/>
          <a:stretch>
            <a:fillRect/>
          </a:stretch>
        </p:blipFill>
        <p:spPr>
          <a:xfrm>
            <a:off x="1484305" y="1787371"/>
            <a:ext cx="7659695" cy="4140517"/>
          </a:xfrm>
          <a:prstGeom prst="rect">
            <a:avLst/>
          </a:prstGeom>
        </p:spPr>
      </p:pic>
      <p:sp>
        <p:nvSpPr>
          <p:cNvPr id="6" name="TextBox 5">
            <a:extLst>
              <a:ext uri="{FF2B5EF4-FFF2-40B4-BE49-F238E27FC236}">
                <a16:creationId xmlns:a16="http://schemas.microsoft.com/office/drawing/2014/main" id="{817F2209-9A05-EBE0-1803-D53AAF7E98E3}"/>
              </a:ext>
            </a:extLst>
          </p:cNvPr>
          <p:cNvSpPr txBox="1"/>
          <p:nvPr/>
        </p:nvSpPr>
        <p:spPr>
          <a:xfrm>
            <a:off x="88087" y="1601795"/>
            <a:ext cx="2759103" cy="646331"/>
          </a:xfrm>
          <a:prstGeom prst="rect">
            <a:avLst/>
          </a:prstGeom>
          <a:noFill/>
        </p:spPr>
        <p:txBody>
          <a:bodyPr wrap="square" rtlCol="0">
            <a:spAutoFit/>
          </a:bodyPr>
          <a:lstStyle/>
          <a:p>
            <a:r>
              <a:rPr lang="en-US" sz="1200" dirty="0"/>
              <a:t>color =Class,</a:t>
            </a:r>
          </a:p>
          <a:p>
            <a:r>
              <a:rPr lang="en-US" sz="1200" dirty="0"/>
              <a:t>shape=Subclass in Class</a:t>
            </a:r>
          </a:p>
          <a:p>
            <a:r>
              <a:rPr lang="en-US" sz="1200" dirty="0"/>
              <a:t>number=Attribute, Subclass, Class code</a:t>
            </a:r>
          </a:p>
        </p:txBody>
      </p:sp>
      <p:sp>
        <p:nvSpPr>
          <p:cNvPr id="8" name="Rectangle 7">
            <a:extLst>
              <a:ext uri="{FF2B5EF4-FFF2-40B4-BE49-F238E27FC236}">
                <a16:creationId xmlns:a16="http://schemas.microsoft.com/office/drawing/2014/main" id="{344C9BEA-EAA6-42F1-2C95-36CC83A450F9}"/>
              </a:ext>
            </a:extLst>
          </p:cNvPr>
          <p:cNvSpPr/>
          <p:nvPr/>
        </p:nvSpPr>
        <p:spPr>
          <a:xfrm>
            <a:off x="88087" y="5056586"/>
            <a:ext cx="2574090" cy="1754326"/>
          </a:xfrm>
          <a:prstGeom prst="rect">
            <a:avLst/>
          </a:prstGeom>
        </p:spPr>
        <p:txBody>
          <a:bodyPr wrap="square">
            <a:spAutoFit/>
          </a:bodyPr>
          <a:lstStyle/>
          <a:p>
            <a:r>
              <a:rPr lang="en-US" sz="1350" b="1" dirty="0"/>
              <a:t>Grey</a:t>
            </a:r>
            <a:r>
              <a:rPr lang="en-US" sz="1350" dirty="0"/>
              <a:t> = animal hair</a:t>
            </a:r>
          </a:p>
          <a:p>
            <a:r>
              <a:rPr lang="en-US" sz="1350" b="1" dirty="0"/>
              <a:t>Violet</a:t>
            </a:r>
            <a:r>
              <a:rPr lang="en-US" sz="1350" dirty="0"/>
              <a:t> = human hair natural</a:t>
            </a:r>
          </a:p>
          <a:p>
            <a:r>
              <a:rPr lang="en-US" sz="1350" b="1" dirty="0"/>
              <a:t>Turquoise</a:t>
            </a:r>
            <a:r>
              <a:rPr lang="en-US" sz="1350" dirty="0"/>
              <a:t> = human hair treated</a:t>
            </a:r>
          </a:p>
          <a:p>
            <a:r>
              <a:rPr lang="en-US" sz="1350" b="1" dirty="0"/>
              <a:t>Blue</a:t>
            </a:r>
            <a:r>
              <a:rPr lang="en-US" sz="1350" dirty="0"/>
              <a:t> = inorganic fibers</a:t>
            </a:r>
          </a:p>
          <a:p>
            <a:r>
              <a:rPr lang="en-US" sz="1350" b="1" dirty="0"/>
              <a:t>Green</a:t>
            </a:r>
            <a:r>
              <a:rPr lang="en-US" sz="1350" dirty="0"/>
              <a:t> = inorganic grains</a:t>
            </a:r>
          </a:p>
          <a:p>
            <a:r>
              <a:rPr lang="en-US" sz="1350" b="1" dirty="0"/>
              <a:t>Dark Yellow</a:t>
            </a:r>
            <a:r>
              <a:rPr lang="en-US" sz="1350" dirty="0"/>
              <a:t> = natural fibers</a:t>
            </a:r>
          </a:p>
          <a:p>
            <a:r>
              <a:rPr lang="en-US" sz="1350" b="1" dirty="0"/>
              <a:t>Orange</a:t>
            </a:r>
            <a:r>
              <a:rPr lang="en-US" sz="1350" dirty="0"/>
              <a:t> = synthetic fibers</a:t>
            </a:r>
          </a:p>
          <a:p>
            <a:r>
              <a:rPr lang="en-US" sz="1350" b="1" dirty="0"/>
              <a:t>Red</a:t>
            </a:r>
            <a:r>
              <a:rPr lang="en-US" sz="1350" dirty="0"/>
              <a:t> = various</a:t>
            </a:r>
          </a:p>
        </p:txBody>
      </p:sp>
      <p:pic>
        <p:nvPicPr>
          <p:cNvPr id="3" name="Picture 2">
            <a:extLst>
              <a:ext uri="{FF2B5EF4-FFF2-40B4-BE49-F238E27FC236}">
                <a16:creationId xmlns:a16="http://schemas.microsoft.com/office/drawing/2014/main" id="{FF75118E-1281-85FA-EC5B-67651365A7C8}"/>
              </a:ext>
            </a:extLst>
          </p:cNvPr>
          <p:cNvPicPr>
            <a:picLocks noChangeAspect="1" noChangeArrowheads="1"/>
          </p:cNvPicPr>
          <p:nvPr/>
        </p:nvPicPr>
        <p:blipFill>
          <a:blip r:embed="rId3" cstate="print"/>
          <a:srcRect/>
          <a:stretch>
            <a:fillRect/>
          </a:stretch>
        </p:blipFill>
        <p:spPr bwMode="auto">
          <a:xfrm>
            <a:off x="484188" y="196056"/>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09632F20-F7FF-88B6-CDDA-D987028E9DD8}"/>
              </a:ext>
            </a:extLst>
          </p:cNvPr>
          <p:cNvSpPr>
            <a:spLocks noChangeArrowheads="1"/>
          </p:cNvSpPr>
          <p:nvPr/>
        </p:nvSpPr>
        <p:spPr bwMode="auto">
          <a:xfrm>
            <a:off x="231775" y="442595"/>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600" dirty="0">
                <a:solidFill>
                  <a:srgbClr val="000000"/>
                </a:solidFill>
                <a:latin typeface="Times New Roman" pitchFamily="18" charset="0"/>
              </a:rPr>
              <a:t>A Distribution of Materials Components in Household Dust</a:t>
            </a:r>
          </a:p>
        </p:txBody>
      </p:sp>
    </p:spTree>
    <p:extLst>
      <p:ext uri="{BB962C8B-B14F-4D97-AF65-F5344CB8AC3E}">
        <p14:creationId xmlns:p14="http://schemas.microsoft.com/office/powerpoint/2010/main" val="9686367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F3D52-1B4B-E8EA-FB5F-D4D4A77E17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ACEBC7-C8D3-E2DD-2EB5-1D5CF35D1F0A}"/>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E5FDC3E8-31FD-776D-E080-461C4F28019D}"/>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Fisher Exact Test</a:t>
            </a:r>
          </a:p>
        </p:txBody>
      </p:sp>
      <p:sp>
        <p:nvSpPr>
          <p:cNvPr id="4" name="TextBox 3">
            <a:extLst>
              <a:ext uri="{FF2B5EF4-FFF2-40B4-BE49-F238E27FC236}">
                <a16:creationId xmlns:a16="http://schemas.microsoft.com/office/drawing/2014/main" id="{5BA40019-4EAB-2ECE-4479-680B76413E05}"/>
              </a:ext>
            </a:extLst>
          </p:cNvPr>
          <p:cNvSpPr txBox="1"/>
          <p:nvPr/>
        </p:nvSpPr>
        <p:spPr>
          <a:xfrm>
            <a:off x="484189" y="1551006"/>
            <a:ext cx="820261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If there are </a:t>
            </a:r>
            <a:r>
              <a:rPr lang="en-US" sz="2400" b="1" i="1" u="sng" dirty="0">
                <a:latin typeface="Times New Roman" panose="02020603050405020304" pitchFamily="18" charset="0"/>
                <a:cs typeface="Times New Roman" panose="02020603050405020304" pitchFamily="18" charset="0"/>
              </a:rPr>
              <a:t>cells with zero counts </a:t>
            </a:r>
            <a:r>
              <a:rPr lang="en-US" sz="2400" dirty="0">
                <a:latin typeface="Times New Roman" panose="02020603050405020304" pitchFamily="18" charset="0"/>
                <a:cs typeface="Times New Roman" panose="02020603050405020304" pitchFamily="18" charset="0"/>
              </a:rPr>
              <a:t>and/or the </a:t>
            </a:r>
            <a:r>
              <a:rPr lang="en-US" sz="2400" b="1" i="1" u="sng" dirty="0">
                <a:latin typeface="Times New Roman" panose="02020603050405020304" pitchFamily="18" charset="0"/>
                <a:cs typeface="Times New Roman" panose="02020603050405020304" pitchFamily="18" charset="0"/>
              </a:rPr>
              <a:t>sample size is small</a:t>
            </a:r>
            <a:r>
              <a:rPr lang="en-US" sz="2400" dirty="0">
                <a:latin typeface="Times New Roman" panose="02020603050405020304" pitchFamily="18" charset="0"/>
                <a:cs typeface="Times New Roman" panose="02020603050405020304" pitchFamily="18" charset="0"/>
              </a:rPr>
              <a:t>, use the the Fisher exact tests</a:t>
            </a:r>
            <a:endParaRPr lang="en-US" sz="22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AF543A6-7865-B150-48BF-CF83D8F2597C}"/>
              </a:ext>
            </a:extLst>
          </p:cNvPr>
          <p:cNvSpPr txBox="1"/>
          <p:nvPr/>
        </p:nvSpPr>
        <p:spPr>
          <a:xfrm>
            <a:off x="821784" y="2640955"/>
            <a:ext cx="8202612" cy="430887"/>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Small cell counts cause the </a:t>
            </a:r>
            <a:r>
              <a:rPr lang="en-US" sz="2200" dirty="0">
                <a:latin typeface="Symbol" pitchFamily="2" charset="2"/>
                <a:cs typeface="Times New Roman" panose="02020603050405020304" pitchFamily="18" charset="0"/>
              </a:rPr>
              <a:t>c</a:t>
            </a:r>
            <a:r>
              <a:rPr lang="en-US" sz="2200" baseline="30000" dirty="0">
                <a:latin typeface="Times New Roman" panose="02020603050405020304" pitchFamily="18" charset="0"/>
                <a:cs typeface="Times New Roman" panose="02020603050405020304" pitchFamily="18" charset="0"/>
              </a:rPr>
              <a:t>2</a:t>
            </a:r>
            <a:r>
              <a:rPr lang="en-US" sz="2200" dirty="0">
                <a:latin typeface="Times New Roman" panose="02020603050405020304" pitchFamily="18" charset="0"/>
                <a:cs typeface="Times New Roman" panose="02020603050405020304" pitchFamily="18" charset="0"/>
              </a:rPr>
              <a:t> statistic to be over-estimated.</a:t>
            </a:r>
          </a:p>
        </p:txBody>
      </p:sp>
      <p:sp>
        <p:nvSpPr>
          <p:cNvPr id="6" name="TextBox 5">
            <a:extLst>
              <a:ext uri="{FF2B5EF4-FFF2-40B4-BE49-F238E27FC236}">
                <a16:creationId xmlns:a16="http://schemas.microsoft.com/office/drawing/2014/main" id="{6D80BD40-9E63-A62A-6A3F-696685A9B815}"/>
              </a:ext>
            </a:extLst>
          </p:cNvPr>
          <p:cNvSpPr txBox="1"/>
          <p:nvPr/>
        </p:nvSpPr>
        <p:spPr>
          <a:xfrm>
            <a:off x="821784" y="3196375"/>
            <a:ext cx="8202612" cy="769441"/>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To get around this we can calculate the probability of any pattern of counts in the contingency table (2 × 2 only shown):</a:t>
            </a:r>
          </a:p>
        </p:txBody>
      </p:sp>
      <p:sp>
        <p:nvSpPr>
          <p:cNvPr id="7" name="TextBox 6">
            <a:extLst>
              <a:ext uri="{FF2B5EF4-FFF2-40B4-BE49-F238E27FC236}">
                <a16:creationId xmlns:a16="http://schemas.microsoft.com/office/drawing/2014/main" id="{F2ED4EA3-E7BE-E7EC-D9A3-F2F4351AC03A}"/>
              </a:ext>
            </a:extLst>
          </p:cNvPr>
          <p:cNvSpPr txBox="1"/>
          <p:nvPr/>
        </p:nvSpPr>
        <p:spPr>
          <a:xfrm>
            <a:off x="1105363" y="5362768"/>
            <a:ext cx="7635453" cy="707886"/>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is the probability of a count pattern occurring by chance alone, given the factors are independent.</a:t>
            </a:r>
          </a:p>
        </p:txBody>
      </p:sp>
      <p:pic>
        <p:nvPicPr>
          <p:cNvPr id="8" name="Picture 7">
            <a:extLst>
              <a:ext uri="{FF2B5EF4-FFF2-40B4-BE49-F238E27FC236}">
                <a16:creationId xmlns:a16="http://schemas.microsoft.com/office/drawing/2014/main" id="{D12EC485-869C-53DA-8456-469A24D662F0}"/>
              </a:ext>
            </a:extLst>
          </p:cNvPr>
          <p:cNvPicPr>
            <a:picLocks noChangeAspect="1"/>
          </p:cNvPicPr>
          <p:nvPr/>
        </p:nvPicPr>
        <p:blipFill>
          <a:blip r:embed="rId3"/>
          <a:stretch>
            <a:fillRect/>
          </a:stretch>
        </p:blipFill>
        <p:spPr>
          <a:xfrm>
            <a:off x="2290511" y="4271366"/>
            <a:ext cx="4562977" cy="730607"/>
          </a:xfrm>
          <a:prstGeom prst="rect">
            <a:avLst/>
          </a:prstGeom>
        </p:spPr>
      </p:pic>
      <p:sp>
        <p:nvSpPr>
          <p:cNvPr id="9" name="TextBox 8">
            <a:extLst>
              <a:ext uri="{FF2B5EF4-FFF2-40B4-BE49-F238E27FC236}">
                <a16:creationId xmlns:a16="http://schemas.microsoft.com/office/drawing/2014/main" id="{4B7F6CB1-59A6-0AD7-A5DD-A235E08589E4}"/>
              </a:ext>
            </a:extLst>
          </p:cNvPr>
          <p:cNvSpPr txBox="1"/>
          <p:nvPr/>
        </p:nvSpPr>
        <p:spPr>
          <a:xfrm>
            <a:off x="1105363" y="6284795"/>
            <a:ext cx="7635453" cy="400110"/>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There is no problem handling 0 and small cell counts</a:t>
            </a:r>
          </a:p>
        </p:txBody>
      </p:sp>
    </p:spTree>
    <p:extLst>
      <p:ext uri="{BB962C8B-B14F-4D97-AF65-F5344CB8AC3E}">
        <p14:creationId xmlns:p14="http://schemas.microsoft.com/office/powerpoint/2010/main" val="238437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ppt_x</p:attrName>
                                        </p:attrNameLst>
                                      </p:cBhvr>
                                      <p:tavLst>
                                        <p:tav tm="0">
                                          <p:val>
                                            <p:strVal val="#ppt_x"/>
                                          </p:val>
                                        </p:tav>
                                        <p:tav tm="100000">
                                          <p:val>
                                            <p:strVal val="#ppt_x"/>
                                          </p:val>
                                        </p:tav>
                                      </p:tavLst>
                                    </p:anim>
                                    <p:anim calcmode="lin" valueType="num">
                                      <p:cBhvr additive="base">
                                        <p:cTn id="3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9"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6CAF-BE93-EBF3-0875-F3EDF5DF198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EBF227-F518-48A7-1B8C-860F178F7D8C}"/>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6CFE1831-EBD9-3FF1-7CBD-AE495D999ABE}"/>
              </a:ext>
            </a:extLst>
          </p:cNvPr>
          <p:cNvSpPr>
            <a:spLocks noChangeArrowheads="1"/>
          </p:cNvSpPr>
          <p:nvPr/>
        </p:nvSpPr>
        <p:spPr bwMode="auto">
          <a:xfrm>
            <a:off x="231775" y="477324"/>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Aside: A parameterization of a </a:t>
            </a:r>
            <a:r>
              <a:rPr lang="en-US" sz="3200" dirty="0">
                <a:latin typeface="Times New Roman" panose="02020603050405020304" pitchFamily="18" charset="0"/>
                <a:cs typeface="Times New Roman" panose="02020603050405020304" pitchFamily="18" charset="0"/>
              </a:rPr>
              <a:t>2 × 2 Table and the Hypergeometric Distribution</a:t>
            </a:r>
            <a:r>
              <a:rPr lang="en-GB" sz="3200" dirty="0">
                <a:solidFill>
                  <a:srgbClr val="000000"/>
                </a:solidFill>
                <a:latin typeface="Times New Roman" pitchFamily="18" charset="0"/>
              </a:rPr>
              <a:t> </a:t>
            </a:r>
          </a:p>
        </p:txBody>
      </p:sp>
      <p:sp>
        <p:nvSpPr>
          <p:cNvPr id="4" name="TextBox 3">
            <a:extLst>
              <a:ext uri="{FF2B5EF4-FFF2-40B4-BE49-F238E27FC236}">
                <a16:creationId xmlns:a16="http://schemas.microsoft.com/office/drawing/2014/main" id="{724647D4-D6C9-E692-3161-E4A39D1E3094}"/>
              </a:ext>
            </a:extLst>
          </p:cNvPr>
          <p:cNvSpPr txBox="1"/>
          <p:nvPr/>
        </p:nvSpPr>
        <p:spPr>
          <a:xfrm>
            <a:off x="484189" y="1724631"/>
            <a:ext cx="8202612"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Note the relationships (parameterization) in a 2 × 2 table:</a:t>
            </a:r>
          </a:p>
        </p:txBody>
      </p:sp>
      <p:graphicFrame>
        <p:nvGraphicFramePr>
          <p:cNvPr id="5" name="Table 4">
            <a:extLst>
              <a:ext uri="{FF2B5EF4-FFF2-40B4-BE49-F238E27FC236}">
                <a16:creationId xmlns:a16="http://schemas.microsoft.com/office/drawing/2014/main" id="{70E1FC4E-E80F-B297-5EAF-CD5399637DA9}"/>
              </a:ext>
            </a:extLst>
          </p:cNvPr>
          <p:cNvGraphicFramePr>
            <a:graphicFrameLocks noGrp="1"/>
          </p:cNvGraphicFramePr>
          <p:nvPr>
            <p:extLst>
              <p:ext uri="{D42A27DB-BD31-4B8C-83A1-F6EECF244321}">
                <p14:modId xmlns:p14="http://schemas.microsoft.com/office/powerpoint/2010/main" val="288542783"/>
              </p:ext>
            </p:extLst>
          </p:nvPr>
        </p:nvGraphicFramePr>
        <p:xfrm>
          <a:off x="734991" y="2547001"/>
          <a:ext cx="7251541" cy="1427094"/>
        </p:xfrm>
        <a:graphic>
          <a:graphicData uri="http://schemas.openxmlformats.org/drawingml/2006/table">
            <a:tbl>
              <a:tblPr>
                <a:tableStyleId>{5C22544A-7EE6-4342-B048-85BDC9FD1C3A}</a:tableStyleId>
              </a:tblPr>
              <a:tblGrid>
                <a:gridCol w="2135530">
                  <a:extLst>
                    <a:ext uri="{9D8B030D-6E8A-4147-A177-3AD203B41FA5}">
                      <a16:colId xmlns:a16="http://schemas.microsoft.com/office/drawing/2014/main" val="2316688254"/>
                    </a:ext>
                  </a:extLst>
                </a:gridCol>
                <a:gridCol w="1349752">
                  <a:extLst>
                    <a:ext uri="{9D8B030D-6E8A-4147-A177-3AD203B41FA5}">
                      <a16:colId xmlns:a16="http://schemas.microsoft.com/office/drawing/2014/main" val="2266290951"/>
                    </a:ext>
                  </a:extLst>
                </a:gridCol>
                <a:gridCol w="1509195">
                  <a:extLst>
                    <a:ext uri="{9D8B030D-6E8A-4147-A177-3AD203B41FA5}">
                      <a16:colId xmlns:a16="http://schemas.microsoft.com/office/drawing/2014/main" val="3309236867"/>
                    </a:ext>
                  </a:extLst>
                </a:gridCol>
                <a:gridCol w="2257064">
                  <a:extLst>
                    <a:ext uri="{9D8B030D-6E8A-4147-A177-3AD203B41FA5}">
                      <a16:colId xmlns:a16="http://schemas.microsoft.com/office/drawing/2014/main" val="1128868017"/>
                    </a:ext>
                  </a:extLst>
                </a:gridCol>
              </a:tblGrid>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 </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Factor A</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endParaRPr lang="en-US" sz="1800" b="0" i="0" u="none" strike="noStrike">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l" fontAlgn="b"/>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654030002"/>
                  </a:ext>
                </a:extLst>
              </a:tr>
              <a:tr h="289539">
                <a:tc>
                  <a:txBody>
                    <a:bodyPr/>
                    <a:lstStyle/>
                    <a:p>
                      <a:pPr algn="ctr" fontAlgn="b"/>
                      <a:r>
                        <a:rPr lang="en-US" sz="1800" b="1" u="none" strike="noStrike" dirty="0">
                          <a:effectLst/>
                          <a:latin typeface="Times New Roman" panose="02020603050405020304" pitchFamily="18" charset="0"/>
                          <a:cs typeface="Times New Roman" panose="02020603050405020304" pitchFamily="18" charset="0"/>
                        </a:rPr>
                        <a:t>Factor B</a:t>
                      </a:r>
                      <a:endParaRPr lang="en-US" sz="18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A</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A</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B w="38100" cap="flat" cmpd="sng" algn="ctr">
                      <a:solidFill>
                        <a:schemeClr val="tx1"/>
                      </a:solidFill>
                      <a:prstDash val="solid"/>
                      <a:round/>
                      <a:headEnd type="none" w="med" len="med"/>
                      <a:tailEnd type="none" w="med" len="med"/>
                    </a:lnB>
                  </a:tcPr>
                </a:tc>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Row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364216789"/>
                  </a:ext>
                </a:extLst>
              </a:tr>
              <a:tr h="289539">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marL="0" marR="0" lvl="0" indent="0" algn="ctr" defTabSz="457200" rtl="0" eaLnBrk="1" fontAlgn="b" latinLnBrk="0" hangingPunct="1">
                        <a:lnSpc>
                          <a:spcPct val="100000"/>
                        </a:lnSpc>
                        <a:spcBef>
                          <a:spcPts val="0"/>
                        </a:spcBef>
                        <a:spcAft>
                          <a:spcPts val="0"/>
                        </a:spcAft>
                        <a:buClrTx/>
                        <a:buSzTx/>
                        <a:buFontTx/>
                        <a:buNone/>
                        <a:tabLst/>
                        <a:defRPr/>
                      </a:pPr>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1</a:t>
                      </a:r>
                      <a:r>
                        <a:rPr lang="en-US" sz="1800" u="none" strike="noStrike" baseline="0" dirty="0">
                          <a:effectLst/>
                          <a:latin typeface="Times New Roman" panose="02020603050405020304" pitchFamily="18" charset="0"/>
                          <a:cs typeface="Times New Roman" panose="02020603050405020304" pitchFamily="18" charset="0"/>
                        </a:rPr>
                        <a:t> </a:t>
                      </a:r>
                      <a:r>
                        <a:rPr lang="en-US" sz="1800" b="0" i="0" u="none" strike="noStrike" baseline="0" dirty="0">
                          <a:solidFill>
                            <a:srgbClr val="000000"/>
                          </a:solidFill>
                          <a:effectLst/>
                          <a:latin typeface="Times New Roman" panose="02020603050405020304" pitchFamily="18" charset="0"/>
                          <a:cs typeface="Times New Roman" panose="02020603050405020304" pitchFamily="18" charset="0"/>
                        </a:rPr>
                        <a:t>− </a:t>
                      </a: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T w="381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449035773"/>
                  </a:ext>
                </a:extLst>
              </a:tr>
              <a:tr h="278403">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Outcome B</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marL="0" marR="0" lvl="0" indent="0" algn="ctr" defTabSz="457200" rtl="0" eaLnBrk="1" fontAlgn="b" latinLnBrk="0" hangingPunct="1">
                        <a:lnSpc>
                          <a:spcPct val="100000"/>
                        </a:lnSpc>
                        <a:spcBef>
                          <a:spcPts val="0"/>
                        </a:spcBef>
                        <a:spcAft>
                          <a:spcPts val="0"/>
                        </a:spcAft>
                        <a:buClrTx/>
                        <a:buSzTx/>
                        <a:buFontTx/>
                        <a:buNone/>
                        <a:tabLst/>
                        <a:defRPr/>
                      </a:pP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a:t>
                      </a:r>
                      <a:r>
                        <a:rPr lang="en-US" sz="1800" u="none" strike="noStrike" baseline="0" dirty="0">
                          <a:effectLst/>
                          <a:latin typeface="Times New Roman" panose="02020603050405020304" pitchFamily="18" charset="0"/>
                          <a:cs typeface="Times New Roman" panose="02020603050405020304" pitchFamily="18" charset="0"/>
                        </a:rPr>
                        <a:t> </a:t>
                      </a:r>
                      <a:r>
                        <a:rPr lang="en-US" sz="1800" b="0" i="0" u="none" strike="noStrike" baseline="0" dirty="0">
                          <a:solidFill>
                            <a:srgbClr val="000000"/>
                          </a:solidFill>
                          <a:effectLst/>
                          <a:latin typeface="Times New Roman" panose="02020603050405020304" pitchFamily="18" charset="0"/>
                          <a:cs typeface="Times New Roman" panose="02020603050405020304" pitchFamily="18" charset="0"/>
                        </a:rPr>
                        <a:t>− </a:t>
                      </a: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marL="0" marR="0" lvl="0" indent="0" algn="ctr" defTabSz="457200" rtl="0" eaLnBrk="1" fontAlgn="b" latinLnBrk="0" hangingPunct="1">
                        <a:lnSpc>
                          <a:spcPct val="100000"/>
                        </a:lnSpc>
                        <a:spcBef>
                          <a:spcPts val="0"/>
                        </a:spcBef>
                        <a:spcAft>
                          <a:spcPts val="0"/>
                        </a:spcAft>
                        <a:buClrTx/>
                        <a:buSzTx/>
                        <a:buFontTx/>
                        <a:buNone/>
                        <a:tabLst/>
                        <a:defRPr/>
                      </a:pPr>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2</a:t>
                      </a:r>
                      <a:r>
                        <a:rPr lang="en-US" sz="1800" u="none" strike="noStrike" dirty="0">
                          <a:effectLst/>
                          <a:latin typeface="Times New Roman" panose="02020603050405020304" pitchFamily="18" charset="0"/>
                          <a:cs typeface="Times New Roman" panose="02020603050405020304" pitchFamily="18" charset="0"/>
                        </a:rPr>
                        <a:t> </a:t>
                      </a:r>
                      <a:r>
                        <a:rPr lang="en-US" sz="1800" b="0" i="0" u="none" strike="noStrike" baseline="0" dirty="0">
                          <a:solidFill>
                            <a:srgbClr val="000000"/>
                          </a:solidFill>
                          <a:effectLst/>
                          <a:latin typeface="Times New Roman" panose="02020603050405020304" pitchFamily="18" charset="0"/>
                          <a:cs typeface="Times New Roman" panose="02020603050405020304" pitchFamily="18" charset="0"/>
                        </a:rPr>
                        <a:t>− </a:t>
                      </a: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a:t>
                      </a:r>
                      <a:r>
                        <a:rPr lang="en-US" sz="1800" u="none" strike="noStrike" baseline="0" dirty="0">
                          <a:effectLst/>
                          <a:latin typeface="Times New Roman" panose="02020603050405020304" pitchFamily="18" charset="0"/>
                          <a:cs typeface="Times New Roman" panose="02020603050405020304" pitchFamily="18" charset="0"/>
                        </a:rPr>
                        <a:t> </a:t>
                      </a:r>
                      <a:r>
                        <a:rPr lang="en-US" sz="1800" b="0" i="0" u="none" strike="noStrike" baseline="0" dirty="0">
                          <a:solidFill>
                            <a:srgbClr val="000000"/>
                          </a:solidFill>
                          <a:effectLst/>
                          <a:latin typeface="Times New Roman" panose="02020603050405020304" pitchFamily="18" charset="0"/>
                          <a:cs typeface="Times New Roman" panose="02020603050405020304" pitchFamily="18" charset="0"/>
                        </a:rPr>
                        <a:t>− </a:t>
                      </a: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11</a:t>
                      </a:r>
                      <a:r>
                        <a:rPr lang="en-US" sz="1800" u="none" strike="noStrike" dirty="0">
                          <a:effectLst/>
                          <a:latin typeface="Times New Roman" panose="02020603050405020304" pitchFamily="18" charset="0"/>
                          <a:cs typeface="Times New Roman" panose="02020603050405020304" pitchFamily="18" charset="0"/>
                        </a:rPr>
                        <a:t>)</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859355300"/>
                  </a:ext>
                </a:extLst>
              </a:tr>
              <a:tr h="278403">
                <a:tc>
                  <a:txBody>
                    <a:bodyPr/>
                    <a:lstStyle/>
                    <a:p>
                      <a:pPr algn="l" fontAlgn="b"/>
                      <a:r>
                        <a:rPr lang="en-US" sz="1800" u="none" strike="noStrike" dirty="0">
                          <a:effectLst/>
                          <a:latin typeface="Times New Roman" panose="02020603050405020304" pitchFamily="18" charset="0"/>
                          <a:cs typeface="Times New Roman" panose="02020603050405020304" pitchFamily="18" charset="0"/>
                        </a:rPr>
                        <a:t>Col (Marginal) Totals:</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noFill/>
                      <a:prstDash val="solid"/>
                      <a:round/>
                      <a:headEnd type="none" w="med" len="med"/>
                      <a:tailEnd type="none" w="med" len="med"/>
                    </a:lnR>
                  </a:tcPr>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noFill/>
                      <a:prstDash val="solid"/>
                      <a:round/>
                      <a:headEnd type="none" w="med" len="med"/>
                      <a:tailEnd type="none" w="med" len="med"/>
                    </a:lnL>
                  </a:tcPr>
                </a:tc>
                <a:tc>
                  <a:txBody>
                    <a:bodyPr/>
                    <a:lstStyle/>
                    <a:p>
                      <a:pPr marL="0" marR="0" lvl="0" indent="0" algn="ctr" defTabSz="457200" rtl="0" eaLnBrk="1" fontAlgn="b" latinLnBrk="0" hangingPunct="1">
                        <a:lnSpc>
                          <a:spcPct val="100000"/>
                        </a:lnSpc>
                        <a:spcBef>
                          <a:spcPts val="0"/>
                        </a:spcBef>
                        <a:spcAft>
                          <a:spcPts val="0"/>
                        </a:spcAft>
                        <a:buClrTx/>
                        <a:buSzTx/>
                        <a:buFontTx/>
                        <a:buNone/>
                        <a:tabLst/>
                        <a:defRPr/>
                      </a:pPr>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1</a:t>
                      </a:r>
                      <a:r>
                        <a:rPr lang="en-US" sz="1800" u="none" strike="noStrike" dirty="0">
                          <a:effectLst/>
                          <a:latin typeface="Times New Roman" panose="02020603050405020304" pitchFamily="18" charset="0"/>
                          <a:cs typeface="Times New Roman" panose="02020603050405020304" pitchFamily="18" charset="0"/>
                        </a:rPr>
                        <a:t> + r</a:t>
                      </a:r>
                      <a:r>
                        <a:rPr lang="en-US" sz="1800" u="none" strike="noStrike" baseline="-25000" dirty="0">
                          <a:effectLst/>
                          <a:latin typeface="Times New Roman" panose="02020603050405020304" pitchFamily="18" charset="0"/>
                          <a:cs typeface="Times New Roman" panose="02020603050405020304" pitchFamily="18" charset="0"/>
                        </a:rPr>
                        <a:t>2</a:t>
                      </a:r>
                      <a:r>
                        <a:rPr lang="en-US" sz="1800" u="none" strike="noStrike" baseline="0" dirty="0">
                          <a:effectLst/>
                          <a:latin typeface="Times New Roman" panose="02020603050405020304" pitchFamily="18" charset="0"/>
                          <a:cs typeface="Times New Roman" panose="02020603050405020304" pitchFamily="18" charset="0"/>
                        </a:rPr>
                        <a:t> </a:t>
                      </a:r>
                      <a:r>
                        <a:rPr lang="en-US" sz="1800" b="0" i="0" u="none" strike="noStrike" baseline="0" dirty="0">
                          <a:solidFill>
                            <a:srgbClr val="000000"/>
                          </a:solidFill>
                          <a:effectLst/>
                          <a:latin typeface="Times New Roman" panose="02020603050405020304" pitchFamily="18" charset="0"/>
                          <a:cs typeface="Times New Roman" panose="02020603050405020304" pitchFamily="18" charset="0"/>
                        </a:rPr>
                        <a:t>− </a:t>
                      </a:r>
                      <a:r>
                        <a:rPr lang="en-US" sz="1800" u="none" strike="noStrike" dirty="0">
                          <a:effectLst/>
                          <a:latin typeface="Times New Roman" panose="02020603050405020304" pitchFamily="18" charset="0"/>
                          <a:cs typeface="Times New Roman" panose="02020603050405020304" pitchFamily="18" charset="0"/>
                        </a:rPr>
                        <a:t>c</a:t>
                      </a:r>
                      <a:r>
                        <a:rPr lang="en-US" sz="1800" u="none" strike="noStrike" baseline="-25000" dirty="0">
                          <a:effectLst/>
                          <a:latin typeface="Times New Roman" panose="02020603050405020304" pitchFamily="18" charset="0"/>
                          <a:cs typeface="Times New Roman" panose="02020603050405020304" pitchFamily="18" charset="0"/>
                        </a:rPr>
                        <a:t>1</a:t>
                      </a:r>
                      <a:endParaRPr lang="en-US" sz="18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tc>
                  <a:txBody>
                    <a:bodyPr/>
                    <a:lstStyle/>
                    <a:p>
                      <a:pPr algn="ctr" fontAlgn="b"/>
                      <a:r>
                        <a:rPr lang="en-US" sz="1800" u="none" strike="noStrike" dirty="0">
                          <a:effectLst/>
                          <a:latin typeface="Times New Roman" panose="02020603050405020304" pitchFamily="18" charset="0"/>
                          <a:cs typeface="Times New Roman" panose="02020603050405020304" pitchFamily="18" charset="0"/>
                        </a:rPr>
                        <a:t>r</a:t>
                      </a:r>
                      <a:r>
                        <a:rPr lang="en-US" sz="1800" u="none" strike="noStrike" baseline="-25000" dirty="0">
                          <a:effectLst/>
                          <a:latin typeface="Times New Roman" panose="02020603050405020304" pitchFamily="18" charset="0"/>
                          <a:cs typeface="Times New Roman" panose="02020603050405020304" pitchFamily="18" charset="0"/>
                        </a:rPr>
                        <a:t>1</a:t>
                      </a:r>
                      <a:r>
                        <a:rPr lang="en-US" sz="1800" u="none" strike="noStrike" dirty="0">
                          <a:effectLst/>
                          <a:latin typeface="Times New Roman" panose="02020603050405020304" pitchFamily="18" charset="0"/>
                          <a:cs typeface="Times New Roman" panose="02020603050405020304" pitchFamily="18" charset="0"/>
                        </a:rPr>
                        <a:t> + r</a:t>
                      </a:r>
                      <a:r>
                        <a:rPr lang="en-US" sz="1800" u="none" strike="noStrike" baseline="-25000" dirty="0">
                          <a:effectLst/>
                          <a:latin typeface="Times New Roman" panose="02020603050405020304" pitchFamily="18" charset="0"/>
                          <a:cs typeface="Times New Roman" panose="02020603050405020304" pitchFamily="18" charset="0"/>
                        </a:rPr>
                        <a:t>2</a:t>
                      </a:r>
                      <a:endParaRPr lang="en-US" sz="18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978091856"/>
                  </a:ext>
                </a:extLst>
              </a:tr>
            </a:tbl>
          </a:graphicData>
        </a:graphic>
      </p:graphicFrame>
      <p:sp>
        <p:nvSpPr>
          <p:cNvPr id="7" name="TextBox 6">
            <a:extLst>
              <a:ext uri="{FF2B5EF4-FFF2-40B4-BE49-F238E27FC236}">
                <a16:creationId xmlns:a16="http://schemas.microsoft.com/office/drawing/2014/main" id="{8CDE358B-CAFB-E4AC-330A-74511ED133B6}"/>
              </a:ext>
            </a:extLst>
          </p:cNvPr>
          <p:cNvSpPr txBox="1"/>
          <p:nvPr/>
        </p:nvSpPr>
        <p:spPr>
          <a:xfrm>
            <a:off x="644455" y="4404250"/>
            <a:ext cx="7882078" cy="769441"/>
          </a:xfrm>
          <a:prstGeom prst="rect">
            <a:avLst/>
          </a:prstGeom>
          <a:noFill/>
        </p:spPr>
        <p:txBody>
          <a:bodyPr wrap="square">
            <a:spAutoFit/>
          </a:bodyPr>
          <a:lstStyle/>
          <a:p>
            <a:pPr algn="ctr"/>
            <a:r>
              <a:rPr lang="en-US" sz="2200" dirty="0">
                <a:latin typeface="Times New Roman" panose="02020603050405020304" pitchFamily="18" charset="0"/>
                <a:cs typeface="Times New Roman" panose="02020603050405020304" pitchFamily="18" charset="0"/>
              </a:rPr>
              <a:t>This is the parameterization of the hypergeometric distribution in R: </a:t>
            </a:r>
          </a:p>
          <a:p>
            <a:pPr algn="ctr"/>
            <a:r>
              <a:rPr lang="en-US" sz="2200" b="1" dirty="0" err="1">
                <a:latin typeface="Courier New" panose="02070309020205020404" pitchFamily="49" charset="0"/>
                <a:cs typeface="Courier New" panose="02070309020205020404" pitchFamily="49" charset="0"/>
              </a:rPr>
              <a:t>dhyper</a:t>
            </a:r>
            <a:r>
              <a:rPr lang="en-US" sz="2200" b="1" dirty="0">
                <a:latin typeface="Courier New" panose="02070309020205020404" pitchFamily="49" charset="0"/>
                <a:cs typeface="Courier New" panose="02070309020205020404" pitchFamily="49" charset="0"/>
              </a:rPr>
              <a:t>(C11, r1, r2, c1) </a:t>
            </a:r>
          </a:p>
        </p:txBody>
      </p:sp>
      <p:pic>
        <p:nvPicPr>
          <p:cNvPr id="6" name="Picture 5">
            <a:extLst>
              <a:ext uri="{FF2B5EF4-FFF2-40B4-BE49-F238E27FC236}">
                <a16:creationId xmlns:a16="http://schemas.microsoft.com/office/drawing/2014/main" id="{18AE6A65-895F-2AD2-4B97-9C93E378A75E}"/>
              </a:ext>
            </a:extLst>
          </p:cNvPr>
          <p:cNvPicPr>
            <a:picLocks noChangeAspect="1"/>
          </p:cNvPicPr>
          <p:nvPr/>
        </p:nvPicPr>
        <p:blipFill>
          <a:blip r:embed="rId3"/>
          <a:stretch>
            <a:fillRect/>
          </a:stretch>
        </p:blipFill>
        <p:spPr>
          <a:xfrm>
            <a:off x="644455" y="5650069"/>
            <a:ext cx="4562977" cy="730607"/>
          </a:xfrm>
          <a:prstGeom prst="rect">
            <a:avLst/>
          </a:prstGeom>
        </p:spPr>
      </p:pic>
      <p:sp>
        <p:nvSpPr>
          <p:cNvPr id="9" name="TextBox 8">
            <a:extLst>
              <a:ext uri="{FF2B5EF4-FFF2-40B4-BE49-F238E27FC236}">
                <a16:creationId xmlns:a16="http://schemas.microsoft.com/office/drawing/2014/main" id="{E1F48D01-89F4-69C1-174F-BE1AB43B92AB}"/>
              </a:ext>
            </a:extLst>
          </p:cNvPr>
          <p:cNvSpPr txBox="1"/>
          <p:nvPr/>
        </p:nvSpPr>
        <p:spPr>
          <a:xfrm>
            <a:off x="5561635" y="5553707"/>
            <a:ext cx="3277565" cy="923330"/>
          </a:xfrm>
          <a:prstGeom prst="rect">
            <a:avLst/>
          </a:prstGeom>
          <a:noFill/>
        </p:spPr>
        <p:txBody>
          <a:bodyPr wrap="square">
            <a:spAutoFit/>
          </a:bodyPr>
          <a:lstStyle/>
          <a:p>
            <a:r>
              <a:rPr lang="en-US" sz="1800" dirty="0">
                <a:latin typeface="Times New Roman" panose="02020603050405020304" pitchFamily="18" charset="0"/>
                <a:cs typeface="Times New Roman" panose="02020603050405020304" pitchFamily="18" charset="0"/>
              </a:rPr>
              <a:t>is also the hypergeometric distribution, </a:t>
            </a:r>
            <a:r>
              <a:rPr lang="en-US" dirty="0">
                <a:latin typeface="Times New Roman" panose="02020603050405020304" pitchFamily="18" charset="0"/>
                <a:cs typeface="Times New Roman" panose="02020603050405020304" pitchFamily="18" charset="0"/>
              </a:rPr>
              <a:t>but </a:t>
            </a:r>
            <a:r>
              <a:rPr lang="en-US" sz="1800" dirty="0">
                <a:latin typeface="Times New Roman" panose="02020603050405020304" pitchFamily="18" charset="0"/>
                <a:cs typeface="Times New Roman" panose="02020603050405020304" pitchFamily="18" charset="0"/>
              </a:rPr>
              <a:t>parameterized in terms of  cell counts</a:t>
            </a:r>
            <a:endParaRPr lang="en-US" dirty="0"/>
          </a:p>
        </p:txBody>
      </p:sp>
    </p:spTree>
    <p:extLst>
      <p:ext uri="{BB962C8B-B14F-4D97-AF65-F5344CB8AC3E}">
        <p14:creationId xmlns:p14="http://schemas.microsoft.com/office/powerpoint/2010/main" val="1459038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4623BA3-F36A-C929-B43D-11F3F3AEEECE}"/>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F53EB4D9-DAB7-459C-88F0-F84F9A9AB8BA}"/>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Fisher Exact Test</a:t>
            </a:r>
          </a:p>
        </p:txBody>
      </p:sp>
      <p:sp>
        <p:nvSpPr>
          <p:cNvPr id="4" name="TextBox 3">
            <a:extLst>
              <a:ext uri="{FF2B5EF4-FFF2-40B4-BE49-F238E27FC236}">
                <a16:creationId xmlns:a16="http://schemas.microsoft.com/office/drawing/2014/main" id="{FCCDFD0F-A864-BC51-AFE1-F0CAFE0DB42A}"/>
              </a:ext>
            </a:extLst>
          </p:cNvPr>
          <p:cNvSpPr txBox="1"/>
          <p:nvPr/>
        </p:nvSpPr>
        <p:spPr>
          <a:xfrm>
            <a:off x="484189" y="1551006"/>
            <a:ext cx="8202612"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Fisher exact test works by computing the probability of the observed contingency table </a:t>
            </a:r>
            <a:r>
              <a:rPr lang="en-US" sz="2400" i="1" u="sng" dirty="0">
                <a:latin typeface="Times New Roman" panose="02020603050405020304" pitchFamily="18" charset="0"/>
                <a:cs typeface="Times New Roman" panose="02020603050405020304" pitchFamily="18" charset="0"/>
              </a:rPr>
              <a:t>and</a:t>
            </a:r>
            <a:r>
              <a:rPr lang="en-US" sz="2400" dirty="0">
                <a:latin typeface="Times New Roman" panose="02020603050405020304" pitchFamily="18" charset="0"/>
                <a:cs typeface="Times New Roman" panose="02020603050405020304" pitchFamily="18" charset="0"/>
              </a:rPr>
              <a:t> the probabilities of any rearrangement of cell counts that gives a lower probability.</a:t>
            </a:r>
            <a:endParaRPr lang="en-US" sz="22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34C0409-3D50-E043-6403-06C61403EAE2}"/>
              </a:ext>
            </a:extLst>
          </p:cNvPr>
          <p:cNvSpPr txBox="1"/>
          <p:nvPr/>
        </p:nvSpPr>
        <p:spPr>
          <a:xfrm>
            <a:off x="821784" y="2872449"/>
            <a:ext cx="8202612" cy="1107996"/>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sum of the observed table probability and any that are smaller (while maintaining the row and column totals) gives the p-value of the test</a:t>
            </a:r>
          </a:p>
        </p:txBody>
      </p:sp>
      <p:sp>
        <p:nvSpPr>
          <p:cNvPr id="6" name="TextBox 5">
            <a:extLst>
              <a:ext uri="{FF2B5EF4-FFF2-40B4-BE49-F238E27FC236}">
                <a16:creationId xmlns:a16="http://schemas.microsoft.com/office/drawing/2014/main" id="{A872E402-9EB8-BA06-F07E-F865856CCA6B}"/>
              </a:ext>
            </a:extLst>
          </p:cNvPr>
          <p:cNvSpPr txBox="1"/>
          <p:nvPr/>
        </p:nvSpPr>
        <p:spPr>
          <a:xfrm>
            <a:off x="821784" y="4078148"/>
            <a:ext cx="8202612" cy="1107996"/>
          </a:xfrm>
          <a:prstGeom prst="rect">
            <a:avLst/>
          </a:prstGeom>
          <a:noFill/>
        </p:spPr>
        <p:txBody>
          <a:bodyPr wrap="square" rtlCol="0">
            <a:spAutoFit/>
          </a:bodyPr>
          <a:lstStyle/>
          <a:p>
            <a:pPr marL="285750"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It can become extremely tedious determining all the contingency tables to do the above p-value calculation </a:t>
            </a:r>
          </a:p>
          <a:p>
            <a:pPr marL="742950" lvl="1" indent="-28575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We let R do it for us using </a:t>
            </a:r>
            <a:r>
              <a:rPr lang="en-US" sz="2200" b="1" dirty="0" err="1">
                <a:latin typeface="Courier New" panose="02070309020205020404" pitchFamily="49" charset="0"/>
                <a:cs typeface="Courier New" panose="02070309020205020404" pitchFamily="49" charset="0"/>
              </a:rPr>
              <a:t>fisher.exact</a:t>
            </a:r>
            <a:r>
              <a:rPr lang="en-US" sz="2200" b="1"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94411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7017-F632-B792-4620-A8EDC2B99AE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7F824D7-A83E-DC06-EF41-D3BC1F1B7A1D}"/>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2FE0A933-325F-9877-5B5F-860162C3CFAC}"/>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Fisher Exact Test Example</a:t>
            </a:r>
          </a:p>
        </p:txBody>
      </p:sp>
      <p:sp>
        <p:nvSpPr>
          <p:cNvPr id="5" name="TextBox 4">
            <a:extLst>
              <a:ext uri="{FF2B5EF4-FFF2-40B4-BE49-F238E27FC236}">
                <a16:creationId xmlns:a16="http://schemas.microsoft.com/office/drawing/2014/main" id="{35DCD951-A5FB-6E7B-0461-27334A06F809}"/>
              </a:ext>
            </a:extLst>
          </p:cNvPr>
          <p:cNvSpPr txBox="1"/>
          <p:nvPr/>
        </p:nvSpPr>
        <p:spPr>
          <a:xfrm>
            <a:off x="386160" y="1396100"/>
            <a:ext cx="8300640" cy="1107996"/>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Genes are characteristic of specific cell types. Genes are also associated with biological signaling pathways. Knowing the genes’ cell type (e.g. cancer) and signal pathway association can be used to treat disease.</a:t>
            </a:r>
          </a:p>
        </p:txBody>
      </p:sp>
      <p:sp>
        <p:nvSpPr>
          <p:cNvPr id="6" name="TextBox 5">
            <a:extLst>
              <a:ext uri="{FF2B5EF4-FFF2-40B4-BE49-F238E27FC236}">
                <a16:creationId xmlns:a16="http://schemas.microsoft.com/office/drawing/2014/main" id="{1CE1CD67-D0A5-2F62-1CF3-3F8B04A97BA4}"/>
              </a:ext>
            </a:extLst>
          </p:cNvPr>
          <p:cNvSpPr txBox="1"/>
          <p:nvPr/>
        </p:nvSpPr>
        <p:spPr>
          <a:xfrm>
            <a:off x="386160" y="2734320"/>
            <a:ext cx="8453040" cy="769441"/>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50 genes are found to be characteristic of a type of tumor cells. 30 genes are involved in a suspected signaling pathway causing the tumor.</a:t>
            </a:r>
            <a:endParaRPr lang="en-US" sz="2000" dirty="0">
              <a:latin typeface="Times New Roman" panose="020206030504050203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A06C8F80-7BF7-4FE2-50BA-3F7FAFA1EB55}"/>
              </a:ext>
            </a:extLst>
          </p:cNvPr>
          <p:cNvGraphicFramePr>
            <a:graphicFrameLocks noGrp="1"/>
          </p:cNvGraphicFramePr>
          <p:nvPr>
            <p:extLst>
              <p:ext uri="{D42A27DB-BD31-4B8C-83A1-F6EECF244321}">
                <p14:modId xmlns:p14="http://schemas.microsoft.com/office/powerpoint/2010/main" val="2833523854"/>
              </p:ext>
            </p:extLst>
          </p:nvPr>
        </p:nvGraphicFramePr>
        <p:xfrm>
          <a:off x="2343874" y="4215856"/>
          <a:ext cx="4044718" cy="1135884"/>
        </p:xfrm>
        <a:graphic>
          <a:graphicData uri="http://schemas.openxmlformats.org/drawingml/2006/table">
            <a:tbl>
              <a:tblPr>
                <a:tableStyleId>{5C22544A-7EE6-4342-B048-85BDC9FD1C3A}</a:tableStyleId>
              </a:tblPr>
              <a:tblGrid>
                <a:gridCol w="1435929">
                  <a:extLst>
                    <a:ext uri="{9D8B030D-6E8A-4147-A177-3AD203B41FA5}">
                      <a16:colId xmlns:a16="http://schemas.microsoft.com/office/drawing/2014/main" val="2316688254"/>
                    </a:ext>
                  </a:extLst>
                </a:gridCol>
                <a:gridCol w="1822344">
                  <a:extLst>
                    <a:ext uri="{9D8B030D-6E8A-4147-A177-3AD203B41FA5}">
                      <a16:colId xmlns:a16="http://schemas.microsoft.com/office/drawing/2014/main" val="2266290951"/>
                    </a:ext>
                  </a:extLst>
                </a:gridCol>
                <a:gridCol w="786445">
                  <a:extLst>
                    <a:ext uri="{9D8B030D-6E8A-4147-A177-3AD203B41FA5}">
                      <a16:colId xmlns:a16="http://schemas.microsoft.com/office/drawing/2014/main" val="3309236867"/>
                    </a:ext>
                  </a:extLst>
                </a:gridCol>
              </a:tblGrid>
              <a:tr h="278403">
                <a:tc>
                  <a:txBody>
                    <a:bodyPr/>
                    <a:lstStyle/>
                    <a:p>
                      <a:pPr algn="l" fontAlgn="b"/>
                      <a:r>
                        <a:rPr lang="en-US" sz="1600" u="none" strike="noStrike" dirty="0">
                          <a:effectLst/>
                          <a:latin typeface="Times New Roman" panose="02020603050405020304" pitchFamily="18" charset="0"/>
                          <a:cs typeface="Times New Roman" panose="02020603050405020304" pitchFamily="18" charset="0"/>
                        </a:rPr>
                        <a:t> </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600" b="1" u="none" strike="noStrike" dirty="0">
                          <a:effectLst/>
                          <a:latin typeface="Times New Roman" panose="02020603050405020304" pitchFamily="18" charset="0"/>
                          <a:cs typeface="Times New Roman" panose="02020603050405020304" pitchFamily="18" charset="0"/>
                        </a:rPr>
                        <a:t>Gene in pathway?</a:t>
                      </a:r>
                      <a:endParaRPr lang="en-US"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654030002"/>
                  </a:ext>
                </a:extLst>
              </a:tr>
              <a:tr h="289539">
                <a:tc>
                  <a:txBody>
                    <a:bodyPr/>
                    <a:lstStyle/>
                    <a:p>
                      <a:pPr algn="ctr" fontAlgn="b"/>
                      <a:r>
                        <a:rPr lang="en-US" sz="1600" b="1" u="none" strike="noStrike" dirty="0">
                          <a:effectLst/>
                          <a:latin typeface="Times New Roman" panose="02020603050405020304" pitchFamily="18" charset="0"/>
                          <a:cs typeface="Times New Roman" panose="02020603050405020304" pitchFamily="18" charset="0"/>
                        </a:rPr>
                        <a:t>Gene in tumor?</a:t>
                      </a:r>
                      <a:endParaRPr lang="en-US" sz="16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B w="38100" cap="flat" cmpd="sng" algn="ctr">
                      <a:solidFill>
                        <a:schemeClr val="tx1"/>
                      </a:solidFill>
                      <a:prstDash val="solid"/>
                      <a:round/>
                      <a:headEnd type="none" w="med" len="med"/>
                      <a:tailEnd type="none" w="med" len="med"/>
                    </a:lnB>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Yes</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B w="38100" cap="flat" cmpd="sng" algn="ctr">
                      <a:solidFill>
                        <a:schemeClr val="tx1"/>
                      </a:solidFill>
                      <a:prstDash val="solid"/>
                      <a:round/>
                      <a:headEnd type="none" w="med" len="med"/>
                      <a:tailEnd type="none" w="med" len="med"/>
                    </a:lnB>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No</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216789"/>
                  </a:ext>
                </a:extLst>
              </a:tr>
              <a:tr h="289539">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Yes</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10</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lnT w="38100" cap="flat" cmpd="sng" algn="ctr">
                      <a:solidFill>
                        <a:schemeClr val="tx1"/>
                      </a:solidFill>
                      <a:prstDash val="solid"/>
                      <a:round/>
                      <a:headEnd type="none" w="med" len="med"/>
                      <a:tailEnd type="none" w="med" len="med"/>
                    </a:lnT>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40</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T w="381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449035773"/>
                  </a:ext>
                </a:extLst>
              </a:tr>
              <a:tr h="278403">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No</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R w="38100" cap="flat" cmpd="sng" algn="ctr">
                      <a:solidFill>
                        <a:schemeClr val="tx1"/>
                      </a:solidFill>
                      <a:prstDash val="solid"/>
                      <a:round/>
                      <a:headEnd type="none" w="med" len="med"/>
                      <a:tailEnd type="none" w="med" len="med"/>
                    </a:lnR>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30</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lnL w="38100" cap="flat" cmpd="sng" algn="ctr">
                      <a:solidFill>
                        <a:schemeClr val="tx1"/>
                      </a:solidFill>
                      <a:prstDash val="solid"/>
                      <a:round/>
                      <a:headEnd type="none" w="med" len="med"/>
                      <a:tailEnd type="none" w="med" len="med"/>
                    </a:lnL>
                  </a:tcPr>
                </a:tc>
                <a:tc>
                  <a:txBody>
                    <a:bodyPr/>
                    <a:lstStyle/>
                    <a:p>
                      <a:pPr algn="ctr" fontAlgn="b"/>
                      <a:r>
                        <a:rPr lang="en-US" sz="1600" u="none" strike="noStrike" dirty="0">
                          <a:effectLst/>
                          <a:latin typeface="Times New Roman" panose="02020603050405020304" pitchFamily="18" charset="0"/>
                          <a:cs typeface="Times New Roman" panose="02020603050405020304" pitchFamily="18" charset="0"/>
                        </a:rPr>
                        <a:t>0</a:t>
                      </a:r>
                      <a:endParaRPr lang="en-US" sz="1600" b="0" i="0" u="none" strike="noStrike" baseline="-25000" dirty="0">
                        <a:solidFill>
                          <a:srgbClr val="000000"/>
                        </a:solidFill>
                        <a:effectLst/>
                        <a:latin typeface="Times New Roman" panose="02020603050405020304" pitchFamily="18" charset="0"/>
                        <a:cs typeface="Times New Roman" panose="02020603050405020304" pitchFamily="18" charset="0"/>
                      </a:endParaRPr>
                    </a:p>
                  </a:txBody>
                  <a:tcPr marL="8352" marR="8352" marT="8352" marB="0" anchor="b"/>
                </a:tc>
                <a:extLst>
                  <a:ext uri="{0D108BD9-81ED-4DB2-BD59-A6C34878D82A}">
                    <a16:rowId xmlns:a16="http://schemas.microsoft.com/office/drawing/2014/main" val="2859355300"/>
                  </a:ext>
                </a:extLst>
              </a:tr>
            </a:tbl>
          </a:graphicData>
        </a:graphic>
      </p:graphicFrame>
      <p:sp>
        <p:nvSpPr>
          <p:cNvPr id="8" name="TextBox 7">
            <a:extLst>
              <a:ext uri="{FF2B5EF4-FFF2-40B4-BE49-F238E27FC236}">
                <a16:creationId xmlns:a16="http://schemas.microsoft.com/office/drawing/2014/main" id="{CA0945B2-8A33-5985-AA1B-EE64A636A955}"/>
              </a:ext>
            </a:extLst>
          </p:cNvPr>
          <p:cNvSpPr txBox="1"/>
          <p:nvPr/>
        </p:nvSpPr>
        <p:spPr>
          <a:xfrm>
            <a:off x="386160" y="3598924"/>
            <a:ext cx="6215324" cy="430887"/>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The following contingency table is observed:</a:t>
            </a:r>
          </a:p>
        </p:txBody>
      </p:sp>
      <p:sp>
        <p:nvSpPr>
          <p:cNvPr id="9" name="TextBox 8">
            <a:extLst>
              <a:ext uri="{FF2B5EF4-FFF2-40B4-BE49-F238E27FC236}">
                <a16:creationId xmlns:a16="http://schemas.microsoft.com/office/drawing/2014/main" id="{C4B3D000-8FB3-2300-0961-1B7266B78A4F}"/>
              </a:ext>
            </a:extLst>
          </p:cNvPr>
          <p:cNvSpPr txBox="1"/>
          <p:nvPr/>
        </p:nvSpPr>
        <p:spPr>
          <a:xfrm>
            <a:off x="231774" y="5984513"/>
            <a:ext cx="8692307" cy="769441"/>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Determine if there is evidence for an association between the tumor genes and the signaling pathway using a Fisher exact test</a:t>
            </a:r>
          </a:p>
        </p:txBody>
      </p:sp>
    </p:spTree>
    <p:extLst>
      <p:ext uri="{BB962C8B-B14F-4D97-AF65-F5344CB8AC3E}">
        <p14:creationId xmlns:p14="http://schemas.microsoft.com/office/powerpoint/2010/main" val="42207221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B05D4-5A71-4795-A774-A7420993D89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9994E07-80BF-829A-4D01-98EB538A34DD}"/>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8" name="TextBox 7">
            <a:extLst>
              <a:ext uri="{FF2B5EF4-FFF2-40B4-BE49-F238E27FC236}">
                <a16:creationId xmlns:a16="http://schemas.microsoft.com/office/drawing/2014/main" id="{A0F2A05F-8FBB-FCE5-12F3-CD9825715F25}"/>
              </a:ext>
            </a:extLst>
          </p:cNvPr>
          <p:cNvSpPr txBox="1"/>
          <p:nvPr/>
        </p:nvSpPr>
        <p:spPr>
          <a:xfrm>
            <a:off x="951042" y="1302852"/>
            <a:ext cx="7245751" cy="2308324"/>
          </a:xfrm>
          <a:prstGeom prst="rect">
            <a:avLst/>
          </a:prstGeom>
          <a:solidFill>
            <a:srgbClr val="000045"/>
          </a:solidFill>
          <a:effectLst/>
        </p:spPr>
        <p:txBody>
          <a:bodyPr wrap="square" rtlCol="0">
            <a:spAutoFit/>
          </a:bodyPr>
          <a:lstStyle/>
          <a:p>
            <a:r>
              <a:rPr lang="en-US" dirty="0" err="1">
                <a:solidFill>
                  <a:schemeClr val="bg1"/>
                </a:solidFill>
                <a:latin typeface="Courier"/>
                <a:cs typeface="Courier"/>
              </a:rPr>
              <a:t>O.tab</a:t>
            </a:r>
            <a:r>
              <a:rPr lang="en-US" dirty="0">
                <a:solidFill>
                  <a:schemeClr val="bg1"/>
                </a:solidFill>
                <a:latin typeface="Courier"/>
                <a:cs typeface="Courier"/>
              </a:rPr>
              <a:t> &lt;- </a:t>
            </a:r>
            <a:r>
              <a:rPr lang="en-US" dirty="0" err="1">
                <a:solidFill>
                  <a:schemeClr val="bg1"/>
                </a:solidFill>
                <a:latin typeface="Courier"/>
                <a:cs typeface="Courier"/>
              </a:rPr>
              <a:t>rbind</a:t>
            </a:r>
            <a:r>
              <a:rPr lang="en-US" dirty="0">
                <a:solidFill>
                  <a:schemeClr val="bg1"/>
                </a:solidFill>
                <a:latin typeface="Courier"/>
                <a:cs typeface="Courier"/>
              </a:rPr>
              <a:t>(</a:t>
            </a:r>
          </a:p>
          <a:p>
            <a:r>
              <a:rPr lang="en-US" dirty="0">
                <a:solidFill>
                  <a:schemeClr val="bg1"/>
                </a:solidFill>
                <a:latin typeface="Courier"/>
                <a:cs typeface="Courier"/>
              </a:rPr>
              <a:t>  c(10,40),</a:t>
            </a:r>
          </a:p>
          <a:p>
            <a:r>
              <a:rPr lang="en-US" dirty="0">
                <a:solidFill>
                  <a:schemeClr val="bg1"/>
                </a:solidFill>
                <a:latin typeface="Courier"/>
                <a:cs typeface="Courier"/>
              </a:rPr>
              <a:t>  c(30,0)  </a:t>
            </a:r>
          </a:p>
          <a:p>
            <a:r>
              <a:rPr lang="en-US" dirty="0">
                <a:solidFill>
                  <a:schemeClr val="bg1"/>
                </a:solidFill>
                <a:latin typeface="Courier"/>
                <a:cs typeface="Courier"/>
              </a:rPr>
              <a:t>)</a:t>
            </a:r>
          </a:p>
          <a:p>
            <a:endParaRPr lang="en-US" dirty="0">
              <a:solidFill>
                <a:schemeClr val="bg1"/>
              </a:solidFill>
              <a:latin typeface="Courier"/>
              <a:cs typeface="Courier"/>
            </a:endParaRPr>
          </a:p>
          <a:p>
            <a:r>
              <a:rPr lang="en-US" dirty="0">
                <a:solidFill>
                  <a:srgbClr val="FFFF00"/>
                </a:solidFill>
                <a:latin typeface="Courier"/>
                <a:cs typeface="Courier"/>
              </a:rPr>
              <a:t># Fisher exact test:</a:t>
            </a:r>
          </a:p>
          <a:p>
            <a:r>
              <a:rPr lang="en-US" dirty="0" err="1">
                <a:solidFill>
                  <a:schemeClr val="bg1"/>
                </a:solidFill>
                <a:latin typeface="Courier"/>
                <a:cs typeface="Courier"/>
              </a:rPr>
              <a:t>fisher.fit</a:t>
            </a:r>
            <a:r>
              <a:rPr lang="en-US" dirty="0">
                <a:solidFill>
                  <a:schemeClr val="bg1"/>
                </a:solidFill>
                <a:latin typeface="Courier"/>
                <a:cs typeface="Courier"/>
              </a:rPr>
              <a:t> &lt;- </a:t>
            </a:r>
            <a:r>
              <a:rPr lang="en-US" dirty="0" err="1">
                <a:solidFill>
                  <a:schemeClr val="bg1"/>
                </a:solidFill>
                <a:latin typeface="Courier"/>
                <a:cs typeface="Courier"/>
              </a:rPr>
              <a:t>fisher.test</a:t>
            </a:r>
            <a:r>
              <a:rPr lang="en-US" dirty="0">
                <a:solidFill>
                  <a:schemeClr val="bg1"/>
                </a:solidFill>
                <a:latin typeface="Courier"/>
                <a:cs typeface="Courier"/>
              </a:rPr>
              <a:t>(</a:t>
            </a:r>
            <a:r>
              <a:rPr lang="en-US" dirty="0" err="1">
                <a:solidFill>
                  <a:schemeClr val="bg1"/>
                </a:solidFill>
                <a:latin typeface="Courier"/>
                <a:cs typeface="Courier"/>
              </a:rPr>
              <a:t>O.tab</a:t>
            </a:r>
            <a:r>
              <a:rPr lang="en-US" dirty="0">
                <a:solidFill>
                  <a:schemeClr val="bg1"/>
                </a:solidFill>
                <a:latin typeface="Courier"/>
                <a:cs typeface="Courier"/>
              </a:rPr>
              <a:t>)</a:t>
            </a:r>
          </a:p>
          <a:p>
            <a:r>
              <a:rPr lang="en-US" dirty="0" err="1">
                <a:solidFill>
                  <a:schemeClr val="bg1"/>
                </a:solidFill>
                <a:latin typeface="Courier"/>
                <a:cs typeface="Courier"/>
              </a:rPr>
              <a:t>fisher.fit</a:t>
            </a:r>
            <a:endParaRPr lang="en-US" dirty="0">
              <a:solidFill>
                <a:schemeClr val="bg1"/>
              </a:solidFill>
              <a:latin typeface="Courier"/>
              <a:cs typeface="Courier"/>
            </a:endParaRPr>
          </a:p>
        </p:txBody>
      </p:sp>
      <p:pic>
        <p:nvPicPr>
          <p:cNvPr id="9" name="Picture 8">
            <a:extLst>
              <a:ext uri="{FF2B5EF4-FFF2-40B4-BE49-F238E27FC236}">
                <a16:creationId xmlns:a16="http://schemas.microsoft.com/office/drawing/2014/main" id="{2D198232-78BF-301D-2338-03810D70FD0A}"/>
              </a:ext>
            </a:extLst>
          </p:cNvPr>
          <p:cNvPicPr>
            <a:picLocks noChangeAspect="1"/>
          </p:cNvPicPr>
          <p:nvPr/>
        </p:nvPicPr>
        <p:blipFill>
          <a:blip r:embed="rId3"/>
          <a:stretch>
            <a:fillRect/>
          </a:stretch>
        </p:blipFill>
        <p:spPr>
          <a:xfrm>
            <a:off x="2372813" y="3691898"/>
            <a:ext cx="6168422" cy="3078314"/>
          </a:xfrm>
          <a:prstGeom prst="rect">
            <a:avLst/>
          </a:prstGeom>
          <a:effectLst/>
        </p:spPr>
      </p:pic>
      <p:sp>
        <p:nvSpPr>
          <p:cNvPr id="10" name="TextBox 9">
            <a:extLst>
              <a:ext uri="{FF2B5EF4-FFF2-40B4-BE49-F238E27FC236}">
                <a16:creationId xmlns:a16="http://schemas.microsoft.com/office/drawing/2014/main" id="{16D21E2D-60C3-3798-2EF4-4EC006398D73}"/>
              </a:ext>
            </a:extLst>
          </p:cNvPr>
          <p:cNvSpPr txBox="1"/>
          <p:nvPr/>
        </p:nvSpPr>
        <p:spPr>
          <a:xfrm>
            <a:off x="239201" y="5243555"/>
            <a:ext cx="1562582" cy="646331"/>
          </a:xfrm>
          <a:prstGeom prst="rect">
            <a:avLst/>
          </a:prstGeom>
          <a:noFill/>
          <a:effectLst/>
        </p:spPr>
        <p:txBody>
          <a:bodyPr wrap="square" rtlCol="0">
            <a:spAutoFit/>
          </a:bodyPr>
          <a:lstStyle/>
          <a:p>
            <a:r>
              <a:rPr lang="en-US" dirty="0">
                <a:latin typeface="Times New Roman" panose="02020603050405020304" pitchFamily="18" charset="0"/>
                <a:cs typeface="Times New Roman" panose="02020603050405020304" pitchFamily="18" charset="0"/>
              </a:rPr>
              <a:t>evidence for an association</a:t>
            </a:r>
          </a:p>
        </p:txBody>
      </p:sp>
      <p:cxnSp>
        <p:nvCxnSpPr>
          <p:cNvPr id="12" name="Straight Arrow Connector 11">
            <a:extLst>
              <a:ext uri="{FF2B5EF4-FFF2-40B4-BE49-F238E27FC236}">
                <a16:creationId xmlns:a16="http://schemas.microsoft.com/office/drawing/2014/main" id="{9CFA3110-C73F-15A7-AFA4-52565F9FB4D7}"/>
              </a:ext>
            </a:extLst>
          </p:cNvPr>
          <p:cNvCxnSpPr/>
          <p:nvPr/>
        </p:nvCxnSpPr>
        <p:spPr>
          <a:xfrm flipV="1">
            <a:off x="1551006" y="5208609"/>
            <a:ext cx="1956122" cy="254644"/>
          </a:xfrm>
          <a:prstGeom prst="straightConnector1">
            <a:avLst/>
          </a:prstGeom>
          <a:ln>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sp>
        <p:nvSpPr>
          <p:cNvPr id="2" name="Rectangle 4">
            <a:extLst>
              <a:ext uri="{FF2B5EF4-FFF2-40B4-BE49-F238E27FC236}">
                <a16:creationId xmlns:a16="http://schemas.microsoft.com/office/drawing/2014/main" id="{310A584B-5F6D-D332-71BB-67ABEFC67AED}"/>
              </a:ext>
            </a:extLst>
          </p:cNvPr>
          <p:cNvSpPr>
            <a:spLocks noChangeArrowheads="1"/>
          </p:cNvSpPr>
          <p:nvPr/>
        </p:nvSpPr>
        <p:spPr bwMode="auto">
          <a:xfrm>
            <a:off x="231775" y="3731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Fisher Exact Test Example</a:t>
            </a:r>
          </a:p>
        </p:txBody>
      </p:sp>
      <p:sp>
        <p:nvSpPr>
          <p:cNvPr id="3" name="TextBox 2">
            <a:extLst>
              <a:ext uri="{FF2B5EF4-FFF2-40B4-BE49-F238E27FC236}">
                <a16:creationId xmlns:a16="http://schemas.microsoft.com/office/drawing/2014/main" id="{E0048A91-28F4-3A47-04CA-1AD8E0FA8139}"/>
              </a:ext>
            </a:extLst>
          </p:cNvPr>
          <p:cNvSpPr txBox="1"/>
          <p:nvPr/>
        </p:nvSpPr>
        <p:spPr>
          <a:xfrm>
            <a:off x="5978325" y="1907565"/>
            <a:ext cx="1498922" cy="400110"/>
          </a:xfrm>
          <a:prstGeom prst="rect">
            <a:avLst/>
          </a:prstGeom>
          <a:solidFill>
            <a:schemeClr val="bg1"/>
          </a:solidFill>
          <a:effectLst/>
        </p:spPr>
        <p:txBody>
          <a:bodyPr wrap="square">
            <a:spAutoFit/>
          </a:bodyPr>
          <a:lstStyle/>
          <a:p>
            <a:r>
              <a:rPr lang="en-US" sz="2000" dirty="0" err="1">
                <a:latin typeface="Times New Roman" panose="02020603050405020304" pitchFamily="18" charset="0"/>
                <a:cs typeface="Times New Roman" panose="02020603050405020304" pitchFamily="18" charset="0"/>
                <a:hlinkClick r:id="rId4"/>
              </a:rPr>
              <a:t>fisher_test.R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565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additive="base">
                                        <p:cTn id="15" dur="500" fill="hold"/>
                                        <p:tgtEl>
                                          <p:spTgt spid="12"/>
                                        </p:tgtEl>
                                        <p:attrNameLst>
                                          <p:attrName>ppt_x</p:attrName>
                                        </p:attrNameLst>
                                      </p:cBhvr>
                                      <p:tavLst>
                                        <p:tav tm="0">
                                          <p:val>
                                            <p:strVal val="#ppt_x"/>
                                          </p:val>
                                        </p:tav>
                                        <p:tav tm="100000">
                                          <p:val>
                                            <p:strVal val="#ppt_x"/>
                                          </p:val>
                                        </p:tav>
                                      </p:tavLst>
                                    </p:anim>
                                    <p:anim calcmode="lin" valueType="num">
                                      <p:cBhvr additive="base">
                                        <p:cTn id="1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EFF4CF-6B87-A444-74FE-F1F327CF4196}"/>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D53B9BCE-8B6B-516A-4751-C30006598D5C}"/>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Hypergeometric Sampling for Seized Materials</a:t>
            </a:r>
          </a:p>
        </p:txBody>
      </p:sp>
      <p:sp>
        <p:nvSpPr>
          <p:cNvPr id="5" name="TextBox 4">
            <a:extLst>
              <a:ext uri="{FF2B5EF4-FFF2-40B4-BE49-F238E27FC236}">
                <a16:creationId xmlns:a16="http://schemas.microsoft.com/office/drawing/2014/main" id="{448FE3AC-7EB6-6EE9-A70F-FBBC3600B6F8}"/>
              </a:ext>
            </a:extLst>
          </p:cNvPr>
          <p:cNvSpPr txBox="1"/>
          <p:nvPr/>
        </p:nvSpPr>
        <p:spPr>
          <a:xfrm>
            <a:off x="1" y="1360170"/>
            <a:ext cx="8912224" cy="2062103"/>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Seizures of "consignments" with potentially illegal "items" represent finite populations of size N.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To analyze such seizures (say a box full of pills) a model for sampling with out replacement is needed.</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Hypergeometric distribution fits the "sampling without replacement" situation</a:t>
            </a:r>
            <a:r>
              <a:rPr lang="en-US" sz="2000" baseline="30000" dirty="0">
                <a:latin typeface="Times New Roman" panose="02020603050405020304" pitchFamily="18" charset="0"/>
                <a:cs typeface="Times New Roman" panose="02020603050405020304" pitchFamily="18" charset="0"/>
              </a:rPr>
              <a:t>*</a:t>
            </a:r>
            <a:r>
              <a:rPr lang="en-US" sz="2000" dirty="0">
                <a:latin typeface="Times New Roman" panose="02020603050405020304" pitchFamily="18" charset="0"/>
                <a:cs typeface="Times New Roman" panose="02020603050405020304" pitchFamily="18" charset="0"/>
              </a:rPr>
              <a:t>:</a:t>
            </a:r>
          </a:p>
        </p:txBody>
      </p:sp>
      <p:sp>
        <p:nvSpPr>
          <p:cNvPr id="6" name="TextBox 5">
            <a:extLst>
              <a:ext uri="{FF2B5EF4-FFF2-40B4-BE49-F238E27FC236}">
                <a16:creationId xmlns:a16="http://schemas.microsoft.com/office/drawing/2014/main" id="{1D737317-A7D9-1CAD-8D59-7885F8091789}"/>
              </a:ext>
            </a:extLst>
          </p:cNvPr>
          <p:cNvSpPr txBox="1"/>
          <p:nvPr/>
        </p:nvSpPr>
        <p:spPr>
          <a:xfrm>
            <a:off x="875824" y="3639602"/>
            <a:ext cx="7963376" cy="286232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Parameters</a:t>
            </a:r>
            <a:r>
              <a:rPr lang="en-US"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 Total number of items (e.g., packages) in the seizure.</a:t>
            </a:r>
          </a:p>
          <a:p>
            <a:pPr marL="285750" indent="-285750">
              <a:buFont typeface="Arial" panose="020B0604020202020204" pitchFamily="34" charset="0"/>
              <a:buChar char="•"/>
            </a:pPr>
            <a:r>
              <a:rPr lang="en-US" i="1" dirty="0" err="1">
                <a:latin typeface="Times New Roman" panose="02020603050405020304" pitchFamily="18" charset="0"/>
                <a:cs typeface="Times New Roman" panose="02020603050405020304" pitchFamily="18" charset="0"/>
              </a:rPr>
              <a:t>p</a:t>
            </a:r>
            <a:r>
              <a:rPr lang="en-US" baseline="-25000" dirty="0" err="1">
                <a:latin typeface="Times New Roman" panose="02020603050405020304" pitchFamily="18" charset="0"/>
                <a:cs typeface="Times New Roman" panose="02020603050405020304" pitchFamily="18" charset="0"/>
              </a:rPr>
              <a:t>pop</a:t>
            </a:r>
            <a:r>
              <a:rPr lang="en-US" dirty="0">
                <a:latin typeface="Times New Roman" panose="02020603050405020304" pitchFamily="18" charset="0"/>
                <a:cs typeface="Times New Roman" panose="02020603050405020304" pitchFamily="18" charset="0"/>
              </a:rPr>
              <a:t>: fraction of illegal items expected or claimed to be in the seizure</a:t>
            </a:r>
          </a:p>
          <a:p>
            <a:pPr marL="285750" indent="-285750">
              <a:buFont typeface="Arial" panose="020B0604020202020204" pitchFamily="34" charset="0"/>
              <a:buChar char="•"/>
            </a:pPr>
            <a:r>
              <a:rPr lang="en-US" i="1" dirty="0">
                <a:latin typeface="Times New Roman" panose="02020603050405020304" pitchFamily="18" charset="0"/>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 Number of "known" positives in seizure, adjusted (= </a:t>
            </a:r>
            <a:r>
              <a:rPr lang="en-US" i="1" dirty="0">
                <a:latin typeface="Times New Roman" panose="02020603050405020304" pitchFamily="18" charset="0"/>
                <a:cs typeface="Times New Roman" panose="02020603050405020304" pitchFamily="18" charset="0"/>
              </a:rPr>
              <a:t>M</a:t>
            </a:r>
            <a:r>
              <a:rPr lang="en-US" baseline="-25000" dirty="0">
                <a:latin typeface="Times New Roman" panose="02020603050405020304" pitchFamily="18" charset="0"/>
                <a:cs typeface="Times New Roman" panose="02020603050405020304" pitchFamily="18" charset="0"/>
              </a:rPr>
              <a:t>0</a:t>
            </a:r>
            <a:r>
              <a:rPr lang="en-US" dirty="0">
                <a:latin typeface="Times New Roman" panose="02020603050405020304" pitchFamily="18" charset="0"/>
                <a:cs typeface="Times New Roman" panose="02020603050405020304" pitchFamily="18" charset="0"/>
              </a:rPr>
              <a:t> = ceiling(</a:t>
            </a: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a:t>
            </a:r>
            <a:r>
              <a:rPr lang="en-US" i="1" dirty="0" err="1">
                <a:latin typeface="Times New Roman" panose="02020603050405020304" pitchFamily="18" charset="0"/>
                <a:cs typeface="Times New Roman" panose="02020603050405020304" pitchFamily="18" charset="0"/>
              </a:rPr>
              <a:t>p</a:t>
            </a:r>
            <a:r>
              <a:rPr lang="en-US" baseline="-25000" dirty="0" err="1">
                <a:latin typeface="Times New Roman" panose="02020603050405020304" pitchFamily="18" charset="0"/>
                <a:cs typeface="Times New Roman" panose="02020603050405020304" pitchFamily="18" charset="0"/>
              </a:rPr>
              <a:t>pop</a:t>
            </a:r>
            <a:r>
              <a:rPr lang="en-US" dirty="0">
                <a:latin typeface="Times New Roman" panose="02020603050405020304" pitchFamily="18" charset="0"/>
                <a:cs typeface="Times New Roman" panose="02020603050405020304" pitchFamily="18" charset="0"/>
              </a:rPr>
              <a:t>) - 1) so that fraction of illegal items expected or claimed to be in the seizure is at least </a:t>
            </a:r>
            <a:r>
              <a:rPr lang="en-US" i="1" dirty="0" err="1">
                <a:latin typeface="Times New Roman" panose="02020603050405020304" pitchFamily="18" charset="0"/>
                <a:cs typeface="Times New Roman" panose="02020603050405020304" pitchFamily="18" charset="0"/>
              </a:rPr>
              <a:t>p</a:t>
            </a:r>
            <a:r>
              <a:rPr lang="en-US" baseline="-25000" dirty="0" err="1">
                <a:latin typeface="Times New Roman" panose="02020603050405020304" pitchFamily="18" charset="0"/>
                <a:cs typeface="Times New Roman" panose="02020603050405020304" pitchFamily="18" charset="0"/>
              </a:rPr>
              <a:t>pop</a:t>
            </a:r>
            <a:r>
              <a:rPr lang="en-US" dirty="0">
                <a:latin typeface="Times New Roman" panose="02020603050405020304" pitchFamily="18" charset="0"/>
                <a:cs typeface="Times New Roman" panose="02020603050405020304" pitchFamily="18" charset="0"/>
              </a:rPr>
              <a:t>. cf. ENFSI doc section 4 and pp.11 Table 2.</a:t>
            </a:r>
          </a:p>
          <a:p>
            <a:pPr marL="285750" indent="-285750">
              <a:buFont typeface="Arial" panose="020B0604020202020204" pitchFamily="34" charset="0"/>
              <a:buChar char="•"/>
            </a:pP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 Number of "known" negatives in seizure = </a:t>
            </a: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a:t>
            </a:r>
            <a:r>
              <a:rPr lang="en-US" i="1" dirty="0">
                <a:latin typeface="Times New Roman" panose="02020603050405020304" pitchFamily="18" charset="0"/>
                <a:cs typeface="Times New Roman" panose="02020603050405020304" pitchFamily="18" charset="0"/>
              </a:rPr>
              <a:t>m</a:t>
            </a:r>
            <a:r>
              <a:rPr lang="en-US"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i="1" dirty="0">
                <a:latin typeface="Times New Roman" panose="02020603050405020304" pitchFamily="18" charset="0"/>
                <a:cs typeface="Times New Roman" panose="02020603050405020304" pitchFamily="18" charset="0"/>
              </a:rPr>
              <a:t>k</a:t>
            </a:r>
            <a:r>
              <a:rPr lang="en-US" dirty="0">
                <a:latin typeface="Times New Roman" panose="02020603050405020304" pitchFamily="18" charset="0"/>
                <a:cs typeface="Times New Roman" panose="02020603050405020304" pitchFamily="18" charset="0"/>
              </a:rPr>
              <a:t>, Sample Size. Number of items actually tested.</a:t>
            </a:r>
          </a:p>
          <a:p>
            <a:r>
              <a:rPr lang="en-US" b="1" dirty="0">
                <a:latin typeface="Times New Roman" panose="02020603050405020304" pitchFamily="18" charset="0"/>
                <a:cs typeface="Times New Roman" panose="02020603050405020304" pitchFamily="18" charset="0"/>
              </a:rPr>
              <a:t>Data:</a:t>
            </a:r>
          </a:p>
          <a:p>
            <a:pPr marL="285750" indent="-285750">
              <a:buFont typeface="Arial" panose="020B0604020202020204" pitchFamily="34" charset="0"/>
              <a:buChar char="•"/>
            </a:pPr>
            <a:r>
              <a:rPr lang="en-US" i="1" dirty="0">
                <a:latin typeface="Times New Roman" panose="02020603050405020304" pitchFamily="18" charset="0"/>
                <a:cs typeface="Times New Roman" panose="02020603050405020304" pitchFamily="18" charset="0"/>
              </a:rPr>
              <a:t>x</a:t>
            </a:r>
            <a:r>
              <a:rPr lang="en-US" dirty="0">
                <a:latin typeface="Times New Roman" panose="02020603050405020304" pitchFamily="18" charset="0"/>
                <a:cs typeface="Times New Roman" panose="02020603050405020304" pitchFamily="18" charset="0"/>
              </a:rPr>
              <a:t>: Number of observed positives in the sample.</a:t>
            </a:r>
          </a:p>
        </p:txBody>
      </p:sp>
      <p:pic>
        <p:nvPicPr>
          <p:cNvPr id="8" name="Picture 7">
            <a:extLst>
              <a:ext uri="{FF2B5EF4-FFF2-40B4-BE49-F238E27FC236}">
                <a16:creationId xmlns:a16="http://schemas.microsoft.com/office/drawing/2014/main" id="{0E3F0C60-1B0A-D54E-5F2E-FD7A93E6499E}"/>
              </a:ext>
            </a:extLst>
          </p:cNvPr>
          <p:cNvPicPr>
            <a:picLocks noChangeAspect="1"/>
          </p:cNvPicPr>
          <p:nvPr/>
        </p:nvPicPr>
        <p:blipFill>
          <a:blip r:embed="rId3"/>
          <a:stretch>
            <a:fillRect/>
          </a:stretch>
        </p:blipFill>
        <p:spPr>
          <a:xfrm>
            <a:off x="2913697" y="3319328"/>
            <a:ext cx="3243580" cy="274628"/>
          </a:xfrm>
          <a:prstGeom prst="rect">
            <a:avLst/>
          </a:prstGeom>
        </p:spPr>
      </p:pic>
      <p:sp>
        <p:nvSpPr>
          <p:cNvPr id="9" name="TextBox 8">
            <a:extLst>
              <a:ext uri="{FF2B5EF4-FFF2-40B4-BE49-F238E27FC236}">
                <a16:creationId xmlns:a16="http://schemas.microsoft.com/office/drawing/2014/main" id="{035938D4-0DBC-E06E-0C8C-CD85F86ED2B3}"/>
              </a:ext>
            </a:extLst>
          </p:cNvPr>
          <p:cNvSpPr txBox="1"/>
          <p:nvPr/>
        </p:nvSpPr>
        <p:spPr>
          <a:xfrm>
            <a:off x="3822214" y="6547570"/>
            <a:ext cx="5298926" cy="292388"/>
          </a:xfrm>
          <a:prstGeom prst="rect">
            <a:avLst/>
          </a:prstGeom>
          <a:noFill/>
        </p:spPr>
        <p:txBody>
          <a:bodyPr wrap="square" rtlCol="0">
            <a:spAutoFit/>
          </a:bodyPr>
          <a:lstStyle/>
          <a:p>
            <a:r>
              <a:rPr lang="en-US" sz="1300" dirty="0">
                <a:latin typeface="Times New Roman" panose="02020603050405020304" pitchFamily="18" charset="0"/>
                <a:cs typeface="Times New Roman" panose="02020603050405020304" pitchFamily="18" charset="0"/>
              </a:rPr>
              <a:t>*Parameterization in R is </a:t>
            </a:r>
            <a:r>
              <a:rPr lang="en-US" sz="1300" i="1" dirty="0">
                <a:latin typeface="Times New Roman" panose="02020603050405020304" pitchFamily="18" charset="0"/>
                <a:cs typeface="Times New Roman" panose="02020603050405020304" pitchFamily="18" charset="0"/>
              </a:rPr>
              <a:t>m</a:t>
            </a:r>
            <a:r>
              <a:rPr lang="en-US" sz="1300" dirty="0">
                <a:latin typeface="Times New Roman" panose="02020603050405020304" pitchFamily="18" charset="0"/>
                <a:cs typeface="Times New Roman" panose="02020603050405020304" pitchFamily="18" charset="0"/>
              </a:rPr>
              <a:t>, </a:t>
            </a:r>
            <a:r>
              <a:rPr lang="en-US" sz="1300" i="1" dirty="0">
                <a:latin typeface="Times New Roman" panose="02020603050405020304" pitchFamily="18" charset="0"/>
                <a:cs typeface="Times New Roman" panose="02020603050405020304" pitchFamily="18" charset="0"/>
              </a:rPr>
              <a:t>n</a:t>
            </a:r>
            <a:r>
              <a:rPr lang="en-US" sz="1300" dirty="0">
                <a:latin typeface="Times New Roman" panose="02020603050405020304" pitchFamily="18" charset="0"/>
                <a:cs typeface="Times New Roman" panose="02020603050405020304" pitchFamily="18" charset="0"/>
              </a:rPr>
              <a:t>, </a:t>
            </a:r>
            <a:r>
              <a:rPr lang="en-US" sz="1300" i="1" dirty="0">
                <a:latin typeface="Times New Roman" panose="02020603050405020304" pitchFamily="18" charset="0"/>
                <a:cs typeface="Times New Roman" panose="02020603050405020304" pitchFamily="18" charset="0"/>
              </a:rPr>
              <a:t>k</a:t>
            </a:r>
            <a:r>
              <a:rPr lang="en-US" sz="1300" dirty="0">
                <a:latin typeface="Times New Roman" panose="02020603050405020304" pitchFamily="18" charset="0"/>
                <a:cs typeface="Times New Roman" panose="02020603050405020304" pitchFamily="18" charset="0"/>
              </a:rPr>
              <a:t>; but usually well think in terms of </a:t>
            </a:r>
            <a:r>
              <a:rPr lang="en-US" sz="1300" i="1" dirty="0">
                <a:latin typeface="Times New Roman" panose="02020603050405020304" pitchFamily="18" charset="0"/>
                <a:cs typeface="Times New Roman" panose="02020603050405020304" pitchFamily="18" charset="0"/>
              </a:rPr>
              <a:t>N</a:t>
            </a:r>
            <a:r>
              <a:rPr lang="en-US" sz="1300" dirty="0">
                <a:latin typeface="Times New Roman" panose="02020603050405020304" pitchFamily="18" charset="0"/>
                <a:cs typeface="Times New Roman" panose="02020603050405020304" pitchFamily="18" charset="0"/>
              </a:rPr>
              <a:t>, </a:t>
            </a:r>
            <a:r>
              <a:rPr lang="en-US" sz="1300" i="1" dirty="0" err="1">
                <a:latin typeface="Times New Roman" panose="02020603050405020304" pitchFamily="18" charset="0"/>
                <a:cs typeface="Times New Roman" panose="02020603050405020304" pitchFamily="18" charset="0"/>
              </a:rPr>
              <a:t>p</a:t>
            </a:r>
            <a:r>
              <a:rPr lang="en-US" sz="1300" baseline="-25000" dirty="0" err="1">
                <a:latin typeface="Times New Roman" panose="02020603050405020304" pitchFamily="18" charset="0"/>
                <a:cs typeface="Times New Roman" panose="02020603050405020304" pitchFamily="18" charset="0"/>
              </a:rPr>
              <a:t>pop</a:t>
            </a:r>
            <a:r>
              <a:rPr lang="en-US" sz="1300" dirty="0">
                <a:latin typeface="Times New Roman" panose="02020603050405020304" pitchFamily="18" charset="0"/>
                <a:cs typeface="Times New Roman" panose="02020603050405020304" pitchFamily="18" charset="0"/>
              </a:rPr>
              <a:t>, </a:t>
            </a:r>
            <a:r>
              <a:rPr lang="en-US" sz="1300" i="1" dirty="0">
                <a:latin typeface="Times New Roman" panose="02020603050405020304" pitchFamily="18" charset="0"/>
                <a:cs typeface="Times New Roman" panose="02020603050405020304" pitchFamily="18" charset="0"/>
              </a:rPr>
              <a:t>k</a:t>
            </a:r>
            <a:r>
              <a:rPr lang="en-US" sz="13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6653334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535AB9B-6EDD-D3B0-698E-C81224ECC91E}"/>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209DD9F7-667F-145D-FD23-06477EEBA03C}"/>
              </a:ext>
            </a:extLst>
          </p:cNvPr>
          <p:cNvSpPr>
            <a:spLocks noChangeArrowheads="1"/>
          </p:cNvSpPr>
          <p:nvPr/>
        </p:nvSpPr>
        <p:spPr bwMode="auto">
          <a:xfrm>
            <a:off x="232728" y="550245"/>
            <a:ext cx="8607425" cy="467026"/>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Hypergeometric Hypothesis Test</a:t>
            </a:r>
          </a:p>
        </p:txBody>
      </p:sp>
      <p:sp>
        <p:nvSpPr>
          <p:cNvPr id="5" name="TextBox 4">
            <a:extLst>
              <a:ext uri="{FF2B5EF4-FFF2-40B4-BE49-F238E27FC236}">
                <a16:creationId xmlns:a16="http://schemas.microsoft.com/office/drawing/2014/main" id="{826D45CC-2546-93CA-689C-DCD020109C8E}"/>
              </a:ext>
            </a:extLst>
          </p:cNvPr>
          <p:cNvSpPr txBox="1"/>
          <p:nvPr/>
        </p:nvSpPr>
        <p:spPr>
          <a:xfrm>
            <a:off x="232728" y="1443841"/>
            <a:ext cx="8678544" cy="3046988"/>
          </a:xfrm>
          <a:prstGeom prst="rect">
            <a:avLst/>
          </a:prstGeom>
          <a:noFill/>
        </p:spPr>
        <p:txBody>
          <a:bodyPr wrap="square">
            <a:spAutoFit/>
          </a:bodyPr>
          <a:lstStyle/>
          <a:p>
            <a:pPr marL="342900" indent="-342900">
              <a:buFont typeface="Arial" panose="020B0604020202020204" pitchFamily="34" charset="0"/>
              <a:buChar char="•"/>
            </a:pPr>
            <a:r>
              <a:rPr lang="en-US" sz="2200" b="1" u="sng" dirty="0">
                <a:latin typeface="Times New Roman" panose="02020603050405020304" pitchFamily="18" charset="0"/>
                <a:cs typeface="Times New Roman" panose="02020603050405020304" pitchFamily="18" charset="0"/>
              </a:rPr>
              <a:t>H0:</a:t>
            </a:r>
            <a:r>
              <a:rPr lang="en-US" sz="2200" dirty="0">
                <a:latin typeface="Times New Roman" panose="02020603050405020304" pitchFamily="18" charset="0"/>
                <a:cs typeface="Times New Roman" panose="02020603050405020304" pitchFamily="18" charset="0"/>
              </a:rPr>
              <a:t> The observed number of drug-containing items in the seizure is less than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 &lt; </a:t>
            </a:r>
            <a:r>
              <a:rPr lang="en-US" sz="2200" i="1" dirty="0" err="1">
                <a:latin typeface="Times New Roman" panose="02020603050405020304" pitchFamily="18" charset="0"/>
                <a:cs typeface="Times New Roman" panose="02020603050405020304" pitchFamily="18" charset="0"/>
              </a:rPr>
              <a:t>x</a:t>
            </a:r>
            <a:r>
              <a:rPr lang="en-US" sz="2200" baseline="-25000" dirty="0" err="1">
                <a:latin typeface="Times New Roman" panose="02020603050405020304" pitchFamily="18" charset="0"/>
                <a:cs typeface="Times New Roman" panose="02020603050405020304" pitchFamily="18" charset="0"/>
              </a:rPr>
              <a:t>obs</a:t>
            </a:r>
            <a:r>
              <a:rPr lang="en-US" sz="2200" dirty="0">
                <a:latin typeface="Times New Roman" panose="02020603050405020304" pitchFamily="18" charset="0"/>
                <a:cs typeface="Times New Roman" panose="02020603050405020304" pitchFamily="18" charset="0"/>
              </a:rPr>
              <a:t>. </a:t>
            </a:r>
          </a:p>
          <a:p>
            <a:pPr marL="800100" lvl="1" indent="-342900">
              <a:buFont typeface="Arial" panose="020B0604020202020204" pitchFamily="34" charset="0"/>
              <a:buChar char="•"/>
            </a:pPr>
            <a:r>
              <a:rPr lang="en-US" sz="2000" i="1" dirty="0">
                <a:latin typeface="Times New Roman" panose="02020603050405020304" pitchFamily="18" charset="0"/>
                <a:cs typeface="Times New Roman" panose="02020603050405020304" pitchFamily="18" charset="0"/>
              </a:rPr>
              <a:t>I.E.</a:t>
            </a:r>
            <a:r>
              <a:rPr lang="en-US" sz="2000" dirty="0">
                <a:latin typeface="Times New Roman" panose="02020603050405020304" pitchFamily="18" charset="0"/>
                <a:cs typeface="Times New Roman" panose="02020603050405020304" pitchFamily="18" charset="0"/>
              </a:rPr>
              <a:t> the fraction of drug-containing items in the seizure, </a:t>
            </a:r>
            <a:r>
              <a:rPr lang="en-US" sz="2000" dirty="0">
                <a:latin typeface="Symbol" pitchFamily="2" charset="2"/>
                <a:cs typeface="Times New Roman" panose="02020603050405020304" pitchFamily="18" charset="0"/>
              </a:rPr>
              <a:t>p</a:t>
            </a:r>
            <a:r>
              <a:rPr lang="en-US" sz="2000" dirty="0">
                <a:latin typeface="Times New Roman" panose="02020603050405020304" pitchFamily="18" charset="0"/>
                <a:cs typeface="Times New Roman" panose="02020603050405020304" pitchFamily="18" charset="0"/>
              </a:rPr>
              <a:t> is less than the expected or claimed proportion to be in the seizure, </a:t>
            </a:r>
            <a:r>
              <a:rPr lang="en-US" sz="2000" dirty="0">
                <a:latin typeface="Symbol" pitchFamily="2" charset="2"/>
                <a:cs typeface="Times New Roman" panose="02020603050405020304" pitchFamily="18" charset="0"/>
              </a:rPr>
              <a:t>p </a:t>
            </a:r>
            <a:r>
              <a:rPr lang="en-US" sz="2000" dirty="0">
                <a:latin typeface="Times New Roman" panose="02020603050405020304" pitchFamily="18" charset="0"/>
                <a:cs typeface="Times New Roman" panose="02020603050405020304" pitchFamily="18" charset="0"/>
              </a:rPr>
              <a:t>&lt; </a:t>
            </a:r>
            <a:r>
              <a:rPr lang="en-US" sz="2000" i="1" dirty="0" err="1">
                <a:latin typeface="Times New Roman" panose="02020603050405020304" pitchFamily="18" charset="0"/>
                <a:cs typeface="Times New Roman" panose="02020603050405020304" pitchFamily="18" charset="0"/>
              </a:rPr>
              <a:t>p</a:t>
            </a:r>
            <a:r>
              <a:rPr lang="en-US" sz="2000" baseline="-25000" dirty="0" err="1">
                <a:latin typeface="Times New Roman" panose="02020603050405020304" pitchFamily="18" charset="0"/>
                <a:cs typeface="Times New Roman" panose="02020603050405020304" pitchFamily="18" charset="0"/>
              </a:rPr>
              <a:t>pop</a:t>
            </a:r>
            <a:r>
              <a:rPr lang="en-US" sz="2000" dirty="0">
                <a:latin typeface="Times New Roman" panose="02020603050405020304" pitchFamily="18" charset="0"/>
                <a:cs typeface="Times New Roman" panose="02020603050405020304" pitchFamily="18" charset="0"/>
              </a:rPr>
              <a:t>.</a:t>
            </a:r>
          </a:p>
          <a:p>
            <a:endParaRPr lang="en-US" sz="22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200" b="1" u="sng" dirty="0">
                <a:latin typeface="Times New Roman" panose="02020603050405020304" pitchFamily="18" charset="0"/>
                <a:cs typeface="Times New Roman" panose="02020603050405020304" pitchFamily="18" charset="0"/>
              </a:rPr>
              <a:t>Ha:</a:t>
            </a:r>
            <a:r>
              <a:rPr lang="en-US" sz="2200" dirty="0">
                <a:latin typeface="Times New Roman" panose="02020603050405020304" pitchFamily="18" charset="0"/>
                <a:cs typeface="Times New Roman" panose="02020603050405020304" pitchFamily="18" charset="0"/>
              </a:rPr>
              <a:t> The observed number of drug-containing items in the seizure is greater than or equal to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 ≥ </a:t>
            </a:r>
            <a:r>
              <a:rPr lang="en-US" sz="2200" i="1" dirty="0" err="1">
                <a:latin typeface="Times New Roman" panose="02020603050405020304" pitchFamily="18" charset="0"/>
                <a:cs typeface="Times New Roman" panose="02020603050405020304" pitchFamily="18" charset="0"/>
              </a:rPr>
              <a:t>x</a:t>
            </a:r>
            <a:r>
              <a:rPr lang="en-US" sz="2200" baseline="-25000" dirty="0" err="1">
                <a:latin typeface="Times New Roman" panose="02020603050405020304" pitchFamily="18" charset="0"/>
                <a:cs typeface="Times New Roman" panose="02020603050405020304" pitchFamily="18" charset="0"/>
              </a:rPr>
              <a:t>obs</a:t>
            </a:r>
            <a:r>
              <a:rPr lang="en-US" sz="2200" dirty="0">
                <a:latin typeface="Times New Roman" panose="02020603050405020304" pitchFamily="18" charset="0"/>
                <a:cs typeface="Times New Roman" panose="02020603050405020304" pitchFamily="18" charset="0"/>
              </a:rPr>
              <a:t>.</a:t>
            </a:r>
          </a:p>
          <a:p>
            <a:pPr marL="800100" lvl="1" indent="-342900">
              <a:buFont typeface="Arial" panose="020B0604020202020204" pitchFamily="34" charset="0"/>
              <a:buChar char="•"/>
            </a:pPr>
            <a:r>
              <a:rPr lang="en-US" sz="2000" i="1" dirty="0">
                <a:latin typeface="Times New Roman" panose="02020603050405020304" pitchFamily="18" charset="0"/>
                <a:cs typeface="Times New Roman" panose="02020603050405020304" pitchFamily="18" charset="0"/>
              </a:rPr>
              <a:t>I.E.</a:t>
            </a:r>
            <a:r>
              <a:rPr lang="en-US" sz="2000" dirty="0">
                <a:latin typeface="Times New Roman" panose="02020603050405020304" pitchFamily="18" charset="0"/>
                <a:cs typeface="Times New Roman" panose="02020603050405020304" pitchFamily="18" charset="0"/>
              </a:rPr>
              <a:t> the fraction of drug-containing items in the seizure is greater than or equal to the expected or claimed proportion to be in the seizure, </a:t>
            </a:r>
            <a:r>
              <a:rPr lang="en-US" sz="2000" dirty="0">
                <a:latin typeface="Symbol" pitchFamily="2" charset="2"/>
                <a:cs typeface="Times New Roman" panose="02020603050405020304" pitchFamily="18" charset="0"/>
              </a:rPr>
              <a:t>p </a:t>
            </a:r>
            <a:r>
              <a:rPr lang="en-US" sz="2000" dirty="0">
                <a:latin typeface="Times New Roman" panose="02020603050405020304" pitchFamily="18" charset="0"/>
                <a:cs typeface="Times New Roman" panose="02020603050405020304" pitchFamily="18" charset="0"/>
              </a:rPr>
              <a:t>≥ </a:t>
            </a:r>
            <a:r>
              <a:rPr lang="en-US" sz="2000" i="1" dirty="0" err="1">
                <a:latin typeface="Times New Roman" panose="02020603050405020304" pitchFamily="18" charset="0"/>
                <a:cs typeface="Times New Roman" panose="02020603050405020304" pitchFamily="18" charset="0"/>
              </a:rPr>
              <a:t>p</a:t>
            </a:r>
            <a:r>
              <a:rPr lang="en-US" sz="2000" baseline="-25000" dirty="0" err="1">
                <a:latin typeface="Times New Roman" panose="02020603050405020304" pitchFamily="18" charset="0"/>
                <a:cs typeface="Times New Roman" panose="02020603050405020304" pitchFamily="18" charset="0"/>
              </a:rPr>
              <a:t>pop</a:t>
            </a:r>
            <a:r>
              <a:rPr lang="en-US" sz="2000" dirty="0">
                <a:latin typeface="Times New Roman" panose="02020603050405020304" pitchFamily="18" charset="0"/>
                <a:cs typeface="Times New Roman" panose="02020603050405020304" pitchFamily="18" charset="0"/>
              </a:rPr>
              <a:t>.</a:t>
            </a:r>
          </a:p>
        </p:txBody>
      </p:sp>
      <p:sp>
        <p:nvSpPr>
          <p:cNvPr id="8" name="TextBox 7">
            <a:extLst>
              <a:ext uri="{FF2B5EF4-FFF2-40B4-BE49-F238E27FC236}">
                <a16:creationId xmlns:a16="http://schemas.microsoft.com/office/drawing/2014/main" id="{5A0B4D4C-A710-E9D6-8F40-F57880F4FD7B}"/>
              </a:ext>
            </a:extLst>
          </p:cNvPr>
          <p:cNvSpPr txBox="1"/>
          <p:nvPr/>
        </p:nvSpPr>
        <p:spPr>
          <a:xfrm>
            <a:off x="246222" y="4521606"/>
            <a:ext cx="8678544" cy="1107996"/>
          </a:xfrm>
          <a:prstGeom prst="rect">
            <a:avLst/>
          </a:prstGeom>
          <a:noFill/>
        </p:spPr>
        <p:txBody>
          <a:bodyPr wrap="square">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This is just a one-sided test for H0:</a:t>
            </a:r>
            <a:r>
              <a:rPr lang="en-US" sz="2400" dirty="0">
                <a:latin typeface="Symbol" pitchFamily="2" charset="2"/>
                <a:cs typeface="Times New Roman" panose="02020603050405020304" pitchFamily="18" charset="0"/>
              </a:rPr>
              <a:t>p </a:t>
            </a:r>
            <a:r>
              <a:rPr lang="en-US" sz="2400" dirty="0">
                <a:latin typeface="Times New Roman" panose="02020603050405020304" pitchFamily="18" charset="0"/>
                <a:cs typeface="Times New Roman" panose="02020603050405020304" pitchFamily="18" charset="0"/>
              </a:rPr>
              <a:t>&lt; </a:t>
            </a:r>
            <a:r>
              <a:rPr lang="en-US" sz="2400" i="1" dirty="0" err="1">
                <a:latin typeface="Times New Roman" panose="02020603050405020304" pitchFamily="18" charset="0"/>
                <a:cs typeface="Times New Roman" panose="02020603050405020304" pitchFamily="18" charset="0"/>
              </a:rPr>
              <a:t>p</a:t>
            </a:r>
            <a:r>
              <a:rPr lang="en-US" sz="2400" baseline="-25000" dirty="0" err="1">
                <a:latin typeface="Times New Roman" panose="02020603050405020304" pitchFamily="18" charset="0"/>
                <a:cs typeface="Times New Roman" panose="02020603050405020304" pitchFamily="18" charset="0"/>
              </a:rPr>
              <a:t>pop</a:t>
            </a:r>
            <a:r>
              <a:rPr lang="en-US" sz="2400" dirty="0">
                <a:latin typeface="Times New Roman" panose="02020603050405020304" pitchFamily="18" charset="0"/>
                <a:cs typeface="Times New Roman" panose="02020603050405020304" pitchFamily="18" charset="0"/>
              </a:rPr>
              <a:t> vs. </a:t>
            </a:r>
            <a:r>
              <a:rPr lang="en-US" sz="2400" dirty="0" err="1">
                <a:latin typeface="Times New Roman" panose="02020603050405020304" pitchFamily="18" charset="0"/>
                <a:cs typeface="Times New Roman" panose="02020603050405020304" pitchFamily="18" charset="0"/>
              </a:rPr>
              <a:t>Ha:</a:t>
            </a:r>
            <a:r>
              <a:rPr lang="en-US" sz="2400" dirty="0" err="1">
                <a:latin typeface="Symbol" pitchFamily="2" charset="2"/>
                <a:cs typeface="Times New Roman" panose="02020603050405020304" pitchFamily="18" charset="0"/>
              </a:rPr>
              <a:t>p</a:t>
            </a:r>
            <a:r>
              <a:rPr lang="en-US" sz="2400" dirty="0">
                <a:latin typeface="Symbol" pitchFamily="2" charset="2"/>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i="1" dirty="0" err="1">
                <a:latin typeface="Times New Roman" panose="02020603050405020304" pitchFamily="18" charset="0"/>
                <a:cs typeface="Times New Roman" panose="02020603050405020304" pitchFamily="18" charset="0"/>
              </a:rPr>
              <a:t>p</a:t>
            </a:r>
            <a:r>
              <a:rPr lang="en-US" sz="2400" baseline="-25000" dirty="0" err="1">
                <a:latin typeface="Times New Roman" panose="02020603050405020304" pitchFamily="18" charset="0"/>
                <a:cs typeface="Times New Roman" panose="02020603050405020304" pitchFamily="18" charset="0"/>
              </a:rPr>
              <a:t>pop</a:t>
            </a:r>
            <a:r>
              <a:rPr lang="en-US" sz="2200" dirty="0">
                <a:latin typeface="Times New Roman" panose="02020603050405020304" pitchFamily="18" charset="0"/>
                <a:cs typeface="Times New Roman" panose="02020603050405020304" pitchFamily="18" charset="0"/>
              </a:rPr>
              <a:t> but a little extra care must be taken because the Null distribution is discrete:</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p-value:</a:t>
            </a:r>
          </a:p>
        </p:txBody>
      </p:sp>
      <p:pic>
        <p:nvPicPr>
          <p:cNvPr id="10" name="Picture 9">
            <a:extLst>
              <a:ext uri="{FF2B5EF4-FFF2-40B4-BE49-F238E27FC236}">
                <a16:creationId xmlns:a16="http://schemas.microsoft.com/office/drawing/2014/main" id="{F8146A9D-9647-88B0-7DAA-4116E39AB4FE}"/>
              </a:ext>
            </a:extLst>
          </p:cNvPr>
          <p:cNvPicPr>
            <a:picLocks noChangeAspect="1"/>
          </p:cNvPicPr>
          <p:nvPr/>
        </p:nvPicPr>
        <p:blipFill>
          <a:blip r:embed="rId3"/>
          <a:stretch>
            <a:fillRect/>
          </a:stretch>
        </p:blipFill>
        <p:spPr>
          <a:xfrm>
            <a:off x="1667510" y="5778220"/>
            <a:ext cx="5617383" cy="222530"/>
          </a:xfrm>
          <a:prstGeom prst="rect">
            <a:avLst/>
          </a:prstGeom>
        </p:spPr>
      </p:pic>
      <p:sp>
        <p:nvSpPr>
          <p:cNvPr id="12" name="TextBox 11">
            <a:extLst>
              <a:ext uri="{FF2B5EF4-FFF2-40B4-BE49-F238E27FC236}">
                <a16:creationId xmlns:a16="http://schemas.microsoft.com/office/drawing/2014/main" id="{E05D7B58-CB2B-57DA-BA0D-97301C55BC8C}"/>
              </a:ext>
            </a:extLst>
          </p:cNvPr>
          <p:cNvSpPr txBox="1"/>
          <p:nvPr/>
        </p:nvSpPr>
        <p:spPr>
          <a:xfrm>
            <a:off x="484188" y="6307755"/>
            <a:ext cx="8593931" cy="323165"/>
          </a:xfrm>
          <a:prstGeom prst="rect">
            <a:avLst/>
          </a:prstGeom>
          <a:noFill/>
        </p:spPr>
        <p:txBody>
          <a:bodyPr wrap="square">
            <a:spAutoFit/>
          </a:bodyPr>
          <a:lstStyle/>
          <a:p>
            <a:r>
              <a:rPr lang="en-US" sz="1500" b="1" dirty="0" err="1">
                <a:latin typeface="Courier New" panose="02070309020205020404" pitchFamily="49" charset="0"/>
                <a:cs typeface="Courier New" panose="02070309020205020404" pitchFamily="49" charset="0"/>
              </a:rPr>
              <a:t>dhyper</a:t>
            </a:r>
            <a:r>
              <a:rPr lang="en-US" sz="1500" b="1" dirty="0">
                <a:latin typeface="Courier New" panose="02070309020205020404" pitchFamily="49" charset="0"/>
                <a:cs typeface="Courier New" panose="02070309020205020404" pitchFamily="49" charset="0"/>
              </a:rPr>
              <a:t>(x = x, m = m, n = n, k = k) + 1-phyper(q = x, m = m, n = n, k = k)</a:t>
            </a:r>
          </a:p>
        </p:txBody>
      </p:sp>
    </p:spTree>
    <p:extLst>
      <p:ext uri="{BB962C8B-B14F-4D97-AF65-F5344CB8AC3E}">
        <p14:creationId xmlns:p14="http://schemas.microsoft.com/office/powerpoint/2010/main" val="3291018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5D4818-1F7D-BB69-8494-4F64443467FB}"/>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TextBox 2">
            <a:extLst>
              <a:ext uri="{FF2B5EF4-FFF2-40B4-BE49-F238E27FC236}">
                <a16:creationId xmlns:a16="http://schemas.microsoft.com/office/drawing/2014/main" id="{1921FB55-50EF-3D70-9BF3-E76822333D7C}"/>
              </a:ext>
            </a:extLst>
          </p:cNvPr>
          <p:cNvSpPr txBox="1"/>
          <p:nvPr/>
        </p:nvSpPr>
        <p:spPr>
          <a:xfrm>
            <a:off x="393216" y="2226009"/>
            <a:ext cx="8293584" cy="2585323"/>
          </a:xfrm>
          <a:prstGeom prst="rect">
            <a:avLst/>
          </a:prstGeom>
          <a:noFill/>
        </p:spPr>
        <p:txBody>
          <a:bodyPr wrap="square" rtlCol="0">
            <a:spAutoFit/>
          </a:bodyPr>
          <a:lstStyle/>
          <a:p>
            <a:r>
              <a:rPr lang="en-US" sz="2400" dirty="0">
                <a:latin typeface="Times New Roman"/>
                <a:cs typeface="Times New Roman"/>
              </a:rPr>
              <a:t>A seizure of 200 blister packs is made. Each pack has 10 pills. A random sample of 4 blister packs was chosen. All pills in the sample are found to contain MDMA.</a:t>
            </a:r>
          </a:p>
          <a:p>
            <a:endParaRPr lang="en-US" sz="2400" dirty="0">
              <a:latin typeface="Times New Roman"/>
              <a:cs typeface="Times New Roman"/>
            </a:endParaRPr>
          </a:p>
          <a:p>
            <a:r>
              <a:rPr lang="en-US" sz="2200" dirty="0">
                <a:latin typeface="Times New Roman"/>
                <a:cs typeface="Times New Roman"/>
              </a:rPr>
              <a:t>Initially assuming that (H0) 80% of the pills in the seizure contain MDMA, test the hypothesis that at least 80% of the pills in the seizure are positive for MDMA at the 95% level of confidence*.</a:t>
            </a:r>
          </a:p>
        </p:txBody>
      </p:sp>
      <p:pic>
        <p:nvPicPr>
          <p:cNvPr id="5" name="Picture 4">
            <a:extLst>
              <a:ext uri="{FF2B5EF4-FFF2-40B4-BE49-F238E27FC236}">
                <a16:creationId xmlns:a16="http://schemas.microsoft.com/office/drawing/2014/main" id="{8FAB330C-E0F3-44F7-E040-1D7A5B4438DA}"/>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6" name="Rectangle 4">
            <a:extLst>
              <a:ext uri="{FF2B5EF4-FFF2-40B4-BE49-F238E27FC236}">
                <a16:creationId xmlns:a16="http://schemas.microsoft.com/office/drawing/2014/main" id="{1C1323EF-CB91-80E8-88E5-EE0E8CB03ACC}"/>
              </a:ext>
            </a:extLst>
          </p:cNvPr>
          <p:cNvSpPr>
            <a:spLocks noChangeArrowheads="1"/>
          </p:cNvSpPr>
          <p:nvPr/>
        </p:nvSpPr>
        <p:spPr bwMode="auto">
          <a:xfrm>
            <a:off x="232728" y="550244"/>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Hypergeometric Hypothesis Test</a:t>
            </a:r>
          </a:p>
        </p:txBody>
      </p:sp>
      <p:sp>
        <p:nvSpPr>
          <p:cNvPr id="7" name="TextBox 6">
            <a:extLst>
              <a:ext uri="{FF2B5EF4-FFF2-40B4-BE49-F238E27FC236}">
                <a16:creationId xmlns:a16="http://schemas.microsoft.com/office/drawing/2014/main" id="{33ED9652-036A-8663-51B5-7CFB74A4C1A3}"/>
              </a:ext>
            </a:extLst>
          </p:cNvPr>
          <p:cNvSpPr txBox="1"/>
          <p:nvPr/>
        </p:nvSpPr>
        <p:spPr>
          <a:xfrm>
            <a:off x="141288" y="6484850"/>
            <a:ext cx="5126596"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a:t>
            </a:r>
            <a:r>
              <a:rPr lang="en-US" sz="1400" dirty="0">
                <a:latin typeface="Times New Roman" panose="02020603050405020304" pitchFamily="18" charset="0"/>
                <a:cs typeface="Times New Roman" panose="02020603050405020304" pitchFamily="18" charset="0"/>
                <a:hlinkClick r:id="rId3"/>
              </a:rPr>
              <a:t>ENFSI 2012 doc on the HYPERGEOMETRIC SAMPLING TOOL</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818331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A817E24-79E5-1F1D-FEC8-C6504075F8BA}"/>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3" name="TextBox 2">
            <a:extLst>
              <a:ext uri="{FF2B5EF4-FFF2-40B4-BE49-F238E27FC236}">
                <a16:creationId xmlns:a16="http://schemas.microsoft.com/office/drawing/2014/main" id="{6E430746-531E-D19B-C121-3CA8AC1B0A42}"/>
              </a:ext>
            </a:extLst>
          </p:cNvPr>
          <p:cNvSpPr txBox="1"/>
          <p:nvPr/>
        </p:nvSpPr>
        <p:spPr>
          <a:xfrm>
            <a:off x="137160" y="1302852"/>
            <a:ext cx="8823960" cy="3600986"/>
          </a:xfrm>
          <a:prstGeom prst="rect">
            <a:avLst/>
          </a:prstGeom>
          <a:solidFill>
            <a:srgbClr val="000045"/>
          </a:solidFill>
          <a:effectLst/>
        </p:spPr>
        <p:txBody>
          <a:bodyPr wrap="square" rtlCol="0">
            <a:spAutoFit/>
          </a:bodyPr>
          <a:lstStyle/>
          <a:p>
            <a:r>
              <a:rPr lang="en-US" sz="1200" dirty="0">
                <a:solidFill>
                  <a:schemeClr val="bg1"/>
                </a:solidFill>
                <a:latin typeface="Courier"/>
                <a:cs typeface="Courier"/>
              </a:rPr>
              <a:t>N     &lt;- 200*10 </a:t>
            </a:r>
            <a:r>
              <a:rPr lang="en-US" sz="1200" dirty="0">
                <a:solidFill>
                  <a:srgbClr val="FFFF00"/>
                </a:solidFill>
                <a:latin typeface="Courier"/>
                <a:cs typeface="Courier"/>
              </a:rPr>
              <a:t># population (seizure) size </a:t>
            </a:r>
          </a:p>
          <a:p>
            <a:r>
              <a:rPr lang="en-US" sz="1200" dirty="0" err="1">
                <a:solidFill>
                  <a:schemeClr val="bg1"/>
                </a:solidFill>
                <a:latin typeface="Courier"/>
                <a:cs typeface="Courier"/>
              </a:rPr>
              <a:t>p.pop</a:t>
            </a:r>
            <a:r>
              <a:rPr lang="en-US" sz="1200" dirty="0">
                <a:solidFill>
                  <a:schemeClr val="bg1"/>
                </a:solidFill>
                <a:latin typeface="Courier"/>
                <a:cs typeface="Courier"/>
              </a:rPr>
              <a:t> &lt;- 0.8    </a:t>
            </a:r>
            <a:r>
              <a:rPr lang="en-US" sz="1200" dirty="0">
                <a:solidFill>
                  <a:srgbClr val="FFFF00"/>
                </a:solidFill>
                <a:latin typeface="Courier"/>
                <a:cs typeface="Courier"/>
              </a:rPr>
              <a:t># fraction of pills claimed to be positive for MDMA to be in the seizure</a:t>
            </a:r>
          </a:p>
          <a:p>
            <a:r>
              <a:rPr lang="en-US" sz="1200" dirty="0">
                <a:solidFill>
                  <a:schemeClr val="bg1"/>
                </a:solidFill>
                <a:latin typeface="Courier"/>
                <a:cs typeface="Courier"/>
              </a:rPr>
              <a:t>conf  &lt;- 0.95</a:t>
            </a:r>
          </a:p>
          <a:p>
            <a:r>
              <a:rPr lang="en-US" sz="1200" dirty="0">
                <a:solidFill>
                  <a:schemeClr val="bg1"/>
                </a:solidFill>
                <a:latin typeface="Courier"/>
                <a:cs typeface="Courier"/>
              </a:rPr>
              <a:t>alp   &lt;- 1-conf</a:t>
            </a:r>
          </a:p>
          <a:p>
            <a:endParaRPr lang="en-US" sz="1200" dirty="0">
              <a:solidFill>
                <a:schemeClr val="bg1"/>
              </a:solidFill>
              <a:latin typeface="Courier"/>
              <a:cs typeface="Courier"/>
            </a:endParaRPr>
          </a:p>
          <a:p>
            <a:r>
              <a:rPr lang="en-US" sz="1200" dirty="0">
                <a:solidFill>
                  <a:schemeClr val="bg1"/>
                </a:solidFill>
                <a:latin typeface="Courier"/>
                <a:cs typeface="Courier"/>
              </a:rPr>
              <a:t>k &lt;- 4*10 </a:t>
            </a:r>
            <a:r>
              <a:rPr lang="en-US" sz="1200" dirty="0">
                <a:solidFill>
                  <a:srgbClr val="FFFF00"/>
                </a:solidFill>
                <a:latin typeface="Courier"/>
                <a:cs typeface="Courier"/>
              </a:rPr>
              <a:t># Sample Size. Number of items actually tested.</a:t>
            </a:r>
          </a:p>
          <a:p>
            <a:r>
              <a:rPr lang="en-US" sz="1200" dirty="0">
                <a:solidFill>
                  <a:schemeClr val="bg1"/>
                </a:solidFill>
                <a:latin typeface="Courier"/>
                <a:cs typeface="Courier"/>
              </a:rPr>
              <a:t>x &lt;- k    </a:t>
            </a:r>
            <a:r>
              <a:rPr lang="en-US" sz="1200" dirty="0">
                <a:solidFill>
                  <a:srgbClr val="FFFF00"/>
                </a:solidFill>
                <a:latin typeface="Courier"/>
                <a:cs typeface="Courier"/>
              </a:rPr>
              <a:t># Number of MDMA-containing pills found in the sample of size k.</a:t>
            </a:r>
          </a:p>
          <a:p>
            <a:endParaRPr lang="en-US" sz="1200" dirty="0">
              <a:solidFill>
                <a:schemeClr val="bg1"/>
              </a:solidFill>
              <a:latin typeface="Courier"/>
              <a:cs typeface="Courier"/>
            </a:endParaRPr>
          </a:p>
          <a:p>
            <a:r>
              <a:rPr lang="en-US" sz="1200" dirty="0">
                <a:solidFill>
                  <a:schemeClr val="bg1"/>
                </a:solidFill>
                <a:latin typeface="Courier"/>
                <a:cs typeface="Courier"/>
              </a:rPr>
              <a:t>K &lt;- ceiling(N*</a:t>
            </a:r>
            <a:r>
              <a:rPr lang="en-US" sz="1200" dirty="0" err="1">
                <a:solidFill>
                  <a:schemeClr val="bg1"/>
                </a:solidFill>
                <a:latin typeface="Courier"/>
                <a:cs typeface="Courier"/>
              </a:rPr>
              <a:t>p.pop</a:t>
            </a:r>
            <a:r>
              <a:rPr lang="en-US" sz="1200" dirty="0">
                <a:solidFill>
                  <a:schemeClr val="bg1"/>
                </a:solidFill>
                <a:latin typeface="Courier"/>
                <a:cs typeface="Courier"/>
              </a:rPr>
              <a:t>) </a:t>
            </a:r>
            <a:r>
              <a:rPr lang="en-US" sz="1200" dirty="0">
                <a:solidFill>
                  <a:srgbClr val="FFFF00"/>
                </a:solidFill>
                <a:latin typeface="Courier"/>
                <a:cs typeface="Courier"/>
              </a:rPr>
              <a:t># Expected number of MDMA-containing pills in the seizure | </a:t>
            </a:r>
            <a:r>
              <a:rPr lang="en-US" sz="1200" dirty="0" err="1">
                <a:solidFill>
                  <a:srgbClr val="FFFF00"/>
                </a:solidFill>
                <a:latin typeface="Courier"/>
                <a:cs typeface="Courier"/>
              </a:rPr>
              <a:t>p.pop</a:t>
            </a:r>
            <a:endParaRPr lang="en-US" sz="1200" dirty="0">
              <a:solidFill>
                <a:srgbClr val="FFFF00"/>
              </a:solidFill>
              <a:latin typeface="Courier"/>
              <a:cs typeface="Courier"/>
            </a:endParaRPr>
          </a:p>
          <a:p>
            <a:r>
              <a:rPr lang="en-US" sz="1200" dirty="0">
                <a:solidFill>
                  <a:schemeClr val="bg1"/>
                </a:solidFill>
                <a:latin typeface="Courier"/>
                <a:cs typeface="Courier"/>
              </a:rPr>
              <a:t>m &lt;- K-1              </a:t>
            </a:r>
            <a:r>
              <a:rPr lang="en-US" sz="1200" dirty="0">
                <a:solidFill>
                  <a:srgbClr val="FFFF00"/>
                </a:solidFill>
                <a:latin typeface="Courier"/>
                <a:cs typeface="Courier"/>
              </a:rPr>
              <a:t># Guarantees Ha </a:t>
            </a:r>
            <a:r>
              <a:rPr lang="en-US" sz="1200" dirty="0" err="1">
                <a:solidFill>
                  <a:srgbClr val="FFFF00"/>
                </a:solidFill>
                <a:latin typeface="Courier"/>
                <a:cs typeface="Courier"/>
              </a:rPr>
              <a:t>p.pop</a:t>
            </a:r>
            <a:r>
              <a:rPr lang="en-US" sz="1200" dirty="0">
                <a:solidFill>
                  <a:srgbClr val="FFFF00"/>
                </a:solidFill>
                <a:latin typeface="Courier"/>
                <a:cs typeface="Courier"/>
              </a:rPr>
              <a:t> &gt; 0.8 ENFSI doc Section 4, pp.11 Table 2.</a:t>
            </a:r>
          </a:p>
          <a:p>
            <a:r>
              <a:rPr lang="en-US" sz="1200" dirty="0">
                <a:solidFill>
                  <a:schemeClr val="bg1"/>
                </a:solidFill>
                <a:latin typeface="Courier"/>
                <a:cs typeface="Courier"/>
              </a:rPr>
              <a:t>n &lt;- N-m</a:t>
            </a:r>
          </a:p>
          <a:p>
            <a:endParaRPr lang="en-US" sz="1200" dirty="0">
              <a:solidFill>
                <a:schemeClr val="bg1"/>
              </a:solidFill>
              <a:latin typeface="Courier"/>
              <a:cs typeface="Courier"/>
            </a:endParaRPr>
          </a:p>
          <a:p>
            <a:r>
              <a:rPr lang="en-US" sz="1200" dirty="0">
                <a:solidFill>
                  <a:srgbClr val="FFFF00"/>
                </a:solidFill>
                <a:latin typeface="Courier"/>
                <a:cs typeface="Courier"/>
              </a:rPr>
              <a:t># </a:t>
            </a:r>
            <a:r>
              <a:rPr lang="en-US" sz="1200" b="1" dirty="0">
                <a:solidFill>
                  <a:srgbClr val="FF0000"/>
                </a:solidFill>
                <a:latin typeface="Courier"/>
                <a:cs typeface="Courier"/>
              </a:rPr>
              <a:t>H0: </a:t>
            </a:r>
            <a:r>
              <a:rPr lang="en-US" sz="1200" b="1" dirty="0" err="1">
                <a:solidFill>
                  <a:srgbClr val="FF0000"/>
                </a:solidFill>
                <a:latin typeface="Courier"/>
                <a:cs typeface="Courier"/>
              </a:rPr>
              <a:t>p.pop</a:t>
            </a:r>
            <a:r>
              <a:rPr lang="en-US" sz="1200" b="1" dirty="0">
                <a:solidFill>
                  <a:srgbClr val="FF0000"/>
                </a:solidFill>
                <a:latin typeface="Courier"/>
                <a:cs typeface="Courier"/>
              </a:rPr>
              <a:t> &lt;= 0.8 vs. Ha: </a:t>
            </a:r>
            <a:r>
              <a:rPr lang="en-US" sz="1200" b="1" dirty="0" err="1">
                <a:solidFill>
                  <a:srgbClr val="FF0000"/>
                </a:solidFill>
                <a:latin typeface="Courier"/>
                <a:cs typeface="Courier"/>
              </a:rPr>
              <a:t>p.pop</a:t>
            </a:r>
            <a:r>
              <a:rPr lang="en-US" sz="1200" b="1" dirty="0">
                <a:solidFill>
                  <a:srgbClr val="FF0000"/>
                </a:solidFill>
                <a:latin typeface="Courier"/>
                <a:cs typeface="Courier"/>
              </a:rPr>
              <a:t> &gt; 0.8</a:t>
            </a:r>
          </a:p>
          <a:p>
            <a:r>
              <a:rPr lang="en-US" sz="1200" dirty="0">
                <a:solidFill>
                  <a:srgbClr val="FFFF00"/>
                </a:solidFill>
                <a:latin typeface="Courier"/>
                <a:cs typeface="Courier"/>
              </a:rPr>
              <a:t># p-value:</a:t>
            </a:r>
          </a:p>
          <a:p>
            <a:r>
              <a:rPr lang="en-US" sz="1200" dirty="0">
                <a:solidFill>
                  <a:srgbClr val="FFFF00"/>
                </a:solidFill>
                <a:latin typeface="Courier"/>
                <a:cs typeface="Courier"/>
              </a:rPr>
              <a:t># </a:t>
            </a:r>
            <a:r>
              <a:rPr lang="en-US" sz="1200" dirty="0" err="1">
                <a:solidFill>
                  <a:srgbClr val="FFFF00"/>
                </a:solidFill>
                <a:latin typeface="Courier"/>
                <a:cs typeface="Courier"/>
              </a:rPr>
              <a:t>Pr</a:t>
            </a:r>
            <a:r>
              <a:rPr lang="en-US" sz="1200" dirty="0">
                <a:solidFill>
                  <a:srgbClr val="FFFF00"/>
                </a:solidFill>
                <a:latin typeface="Courier"/>
                <a:cs typeface="Courier"/>
              </a:rPr>
              <a:t>(pi &gt; </a:t>
            </a:r>
            <a:r>
              <a:rPr lang="en-US" sz="1200" dirty="0" err="1">
                <a:solidFill>
                  <a:srgbClr val="FFFF00"/>
                </a:solidFill>
                <a:latin typeface="Courier"/>
                <a:cs typeface="Courier"/>
              </a:rPr>
              <a:t>p.pop</a:t>
            </a:r>
            <a:r>
              <a:rPr lang="en-US" sz="1200" dirty="0">
                <a:solidFill>
                  <a:srgbClr val="FFFF00"/>
                </a:solidFill>
                <a:latin typeface="Courier"/>
                <a:cs typeface="Courier"/>
              </a:rPr>
              <a:t> | N, m, k) = </a:t>
            </a:r>
            <a:r>
              <a:rPr lang="en-US" sz="1200" dirty="0" err="1">
                <a:solidFill>
                  <a:srgbClr val="FFFF00"/>
                </a:solidFill>
                <a:latin typeface="Courier"/>
                <a:cs typeface="Courier"/>
              </a:rPr>
              <a:t>Pr</a:t>
            </a:r>
            <a:r>
              <a:rPr lang="en-US" sz="1200" dirty="0">
                <a:solidFill>
                  <a:srgbClr val="FFFF00"/>
                </a:solidFill>
                <a:latin typeface="Courier"/>
                <a:cs typeface="Courier"/>
              </a:rPr>
              <a:t>(X&gt;=x | N, m, k) = </a:t>
            </a:r>
            <a:r>
              <a:rPr lang="en-US" sz="1200" dirty="0" err="1">
                <a:solidFill>
                  <a:srgbClr val="FFFF00"/>
                </a:solidFill>
                <a:latin typeface="Courier"/>
                <a:cs typeface="Courier"/>
              </a:rPr>
              <a:t>Pr</a:t>
            </a:r>
            <a:r>
              <a:rPr lang="en-US" sz="1200" dirty="0">
                <a:solidFill>
                  <a:srgbClr val="FFFF00"/>
                </a:solidFill>
                <a:latin typeface="Courier"/>
                <a:cs typeface="Courier"/>
              </a:rPr>
              <a:t>(X=x | N, m, k) + </a:t>
            </a:r>
            <a:r>
              <a:rPr lang="en-US" sz="1200" dirty="0" err="1">
                <a:solidFill>
                  <a:srgbClr val="FFFF00"/>
                </a:solidFill>
                <a:latin typeface="Courier"/>
                <a:cs typeface="Courier"/>
              </a:rPr>
              <a:t>Pr</a:t>
            </a:r>
            <a:r>
              <a:rPr lang="en-US" sz="1200" dirty="0">
                <a:solidFill>
                  <a:srgbClr val="FFFF00"/>
                </a:solidFill>
                <a:latin typeface="Courier"/>
                <a:cs typeface="Courier"/>
              </a:rPr>
              <a:t>(X&gt;x | N, m, k)</a:t>
            </a:r>
          </a:p>
          <a:p>
            <a:r>
              <a:rPr lang="en-US" sz="1200" dirty="0" err="1">
                <a:solidFill>
                  <a:schemeClr val="bg1"/>
                </a:solidFill>
                <a:latin typeface="Courier"/>
                <a:cs typeface="Courier"/>
              </a:rPr>
              <a:t>pval</a:t>
            </a:r>
            <a:r>
              <a:rPr lang="en-US" sz="1200" dirty="0">
                <a:solidFill>
                  <a:schemeClr val="bg1"/>
                </a:solidFill>
                <a:latin typeface="Courier"/>
                <a:cs typeface="Courier"/>
              </a:rPr>
              <a:t> &lt;- </a:t>
            </a:r>
            <a:r>
              <a:rPr lang="en-US" sz="1200" dirty="0" err="1">
                <a:solidFill>
                  <a:schemeClr val="bg1"/>
                </a:solidFill>
                <a:latin typeface="Courier"/>
                <a:cs typeface="Courier"/>
              </a:rPr>
              <a:t>dhyper</a:t>
            </a:r>
            <a:r>
              <a:rPr lang="en-US" sz="1200" dirty="0">
                <a:solidFill>
                  <a:schemeClr val="bg1"/>
                </a:solidFill>
                <a:latin typeface="Courier"/>
                <a:cs typeface="Courier"/>
              </a:rPr>
              <a:t>(x = x, m = m, n = n, k = k) + 1-phyper(q = x, m = m, n = n, k = k)</a:t>
            </a:r>
          </a:p>
          <a:p>
            <a:r>
              <a:rPr lang="en-US" sz="1200" dirty="0" err="1">
                <a:solidFill>
                  <a:schemeClr val="bg1"/>
                </a:solidFill>
                <a:latin typeface="Courier"/>
                <a:cs typeface="Courier"/>
              </a:rPr>
              <a:t>pval</a:t>
            </a:r>
            <a:endParaRPr lang="en-US" sz="1200" dirty="0">
              <a:solidFill>
                <a:schemeClr val="bg1"/>
              </a:solidFill>
              <a:latin typeface="Courier"/>
              <a:cs typeface="Courier"/>
            </a:endParaRPr>
          </a:p>
          <a:p>
            <a:r>
              <a:rPr lang="en-US" sz="1200" dirty="0" err="1">
                <a:solidFill>
                  <a:schemeClr val="bg1"/>
                </a:solidFill>
                <a:latin typeface="Courier"/>
                <a:cs typeface="Courier"/>
              </a:rPr>
              <a:t>pval</a:t>
            </a:r>
            <a:r>
              <a:rPr lang="en-US" sz="1200" dirty="0">
                <a:solidFill>
                  <a:schemeClr val="bg1"/>
                </a:solidFill>
                <a:latin typeface="Courier"/>
                <a:cs typeface="Courier"/>
              </a:rPr>
              <a:t> &lt; alp # Reject H0? </a:t>
            </a:r>
          </a:p>
          <a:p>
            <a:endParaRPr lang="en-US" sz="1200" dirty="0">
              <a:solidFill>
                <a:schemeClr val="bg1"/>
              </a:solidFill>
              <a:latin typeface="Courier"/>
              <a:cs typeface="Courier"/>
            </a:endParaRPr>
          </a:p>
        </p:txBody>
      </p:sp>
      <p:pic>
        <p:nvPicPr>
          <p:cNvPr id="4" name="Picture 3">
            <a:extLst>
              <a:ext uri="{FF2B5EF4-FFF2-40B4-BE49-F238E27FC236}">
                <a16:creationId xmlns:a16="http://schemas.microsoft.com/office/drawing/2014/main" id="{247F01E8-4CD2-5ED3-9485-FB38B72C570C}"/>
              </a:ext>
            </a:extLst>
          </p:cNvPr>
          <p:cNvPicPr>
            <a:picLocks noChangeAspect="1"/>
          </p:cNvPicPr>
          <p:nvPr/>
        </p:nvPicPr>
        <p:blipFill>
          <a:blip r:embed="rId3"/>
          <a:stretch>
            <a:fillRect/>
          </a:stretch>
        </p:blipFill>
        <p:spPr>
          <a:xfrm>
            <a:off x="1023620" y="5148534"/>
            <a:ext cx="2959100" cy="1130300"/>
          </a:xfrm>
          <a:prstGeom prst="rect">
            <a:avLst/>
          </a:prstGeom>
        </p:spPr>
      </p:pic>
      <p:sp>
        <p:nvSpPr>
          <p:cNvPr id="6" name="TextBox 5">
            <a:extLst>
              <a:ext uri="{FF2B5EF4-FFF2-40B4-BE49-F238E27FC236}">
                <a16:creationId xmlns:a16="http://schemas.microsoft.com/office/drawing/2014/main" id="{37806515-6CBE-11BB-D5A4-05D50519A6DC}"/>
              </a:ext>
            </a:extLst>
          </p:cNvPr>
          <p:cNvSpPr txBox="1"/>
          <p:nvPr/>
        </p:nvSpPr>
        <p:spPr>
          <a:xfrm>
            <a:off x="5760720" y="4963868"/>
            <a:ext cx="3280410"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hlinkClick r:id="rId4"/>
              </a:rPr>
              <a:t>hypergeometric_hyp_test_ex1.R</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867491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576CFDD-864A-C201-C616-FBDF87CFA69C}"/>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pic>
        <p:nvPicPr>
          <p:cNvPr id="3" name="Picture 2">
            <a:extLst>
              <a:ext uri="{FF2B5EF4-FFF2-40B4-BE49-F238E27FC236}">
                <a16:creationId xmlns:a16="http://schemas.microsoft.com/office/drawing/2014/main" id="{F7811B64-255A-A04C-7F1B-AA66C714F9B3}"/>
              </a:ext>
            </a:extLst>
          </p:cNvPr>
          <p:cNvPicPr>
            <a:picLocks noChangeAspect="1"/>
          </p:cNvPicPr>
          <p:nvPr/>
        </p:nvPicPr>
        <p:blipFill>
          <a:blip r:embed="rId3"/>
          <a:stretch>
            <a:fillRect/>
          </a:stretch>
        </p:blipFill>
        <p:spPr>
          <a:xfrm>
            <a:off x="1072920" y="598741"/>
            <a:ext cx="6998159" cy="6224969"/>
          </a:xfrm>
          <a:prstGeom prst="rect">
            <a:avLst/>
          </a:prstGeom>
        </p:spPr>
      </p:pic>
      <p:cxnSp>
        <p:nvCxnSpPr>
          <p:cNvPr id="4" name="Straight Arrow Connector 3">
            <a:extLst>
              <a:ext uri="{FF2B5EF4-FFF2-40B4-BE49-F238E27FC236}">
                <a16:creationId xmlns:a16="http://schemas.microsoft.com/office/drawing/2014/main" id="{E81D9EDA-415F-79D8-B280-87165A3AEA4F}"/>
              </a:ext>
            </a:extLst>
          </p:cNvPr>
          <p:cNvCxnSpPr>
            <a:cxnSpLocks/>
          </p:cNvCxnSpPr>
          <p:nvPr/>
        </p:nvCxnSpPr>
        <p:spPr>
          <a:xfrm>
            <a:off x="6789420" y="2532578"/>
            <a:ext cx="205740" cy="3251002"/>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691FA5F6-ECAA-C0C5-AA9B-26A05E307598}"/>
              </a:ext>
            </a:extLst>
          </p:cNvPr>
          <p:cNvSpPr txBox="1"/>
          <p:nvPr/>
        </p:nvSpPr>
        <p:spPr>
          <a:xfrm>
            <a:off x="6347456" y="1578471"/>
            <a:ext cx="1485899" cy="954107"/>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obs. num. of MDMA pos. pills out of sample size </a:t>
            </a:r>
            <a:r>
              <a:rPr lang="en-US" sz="1400" i="1" dirty="0">
                <a:latin typeface="Times New Roman" panose="02020603050405020304" pitchFamily="18" charset="0"/>
                <a:cs typeface="Times New Roman" panose="02020603050405020304" pitchFamily="18" charset="0"/>
              </a:rPr>
              <a:t>k</a:t>
            </a:r>
            <a:r>
              <a:rPr lang="en-US" sz="1400" dirty="0">
                <a:latin typeface="Times New Roman" panose="02020603050405020304" pitchFamily="18" charset="0"/>
                <a:cs typeface="Times New Roman" panose="02020603050405020304" pitchFamily="18" charset="0"/>
              </a:rPr>
              <a:t>=40</a:t>
            </a:r>
          </a:p>
        </p:txBody>
      </p:sp>
      <p:sp>
        <p:nvSpPr>
          <p:cNvPr id="6" name="TextBox 5">
            <a:extLst>
              <a:ext uri="{FF2B5EF4-FFF2-40B4-BE49-F238E27FC236}">
                <a16:creationId xmlns:a16="http://schemas.microsoft.com/office/drawing/2014/main" id="{5D66CDAA-A4F7-0AFA-943F-83776D31D175}"/>
              </a:ext>
            </a:extLst>
          </p:cNvPr>
          <p:cNvSpPr txBox="1"/>
          <p:nvPr/>
        </p:nvSpPr>
        <p:spPr>
          <a:xfrm>
            <a:off x="1819676" y="1486138"/>
            <a:ext cx="3723874" cy="1292662"/>
          </a:xfrm>
          <a:prstGeom prst="rect">
            <a:avLst/>
          </a:prstGeom>
          <a:noFill/>
        </p:spPr>
        <p:txBody>
          <a:bodyPr wrap="square" rtlCol="0">
            <a:spAutoFit/>
          </a:bodyPr>
          <a:lstStyle/>
          <a:p>
            <a:r>
              <a:rPr lang="en-US" sz="1300" b="1" dirty="0">
                <a:latin typeface="Times New Roman" panose="02020603050405020304" pitchFamily="18" charset="0"/>
                <a:cs typeface="Times New Roman" panose="02020603050405020304" pitchFamily="18" charset="0"/>
              </a:rPr>
              <a:t>H0 parameters:</a:t>
            </a:r>
          </a:p>
          <a:p>
            <a:r>
              <a:rPr lang="en-US" sz="1300" i="1" dirty="0">
                <a:latin typeface="Times New Roman" panose="02020603050405020304" pitchFamily="18" charset="0"/>
                <a:cs typeface="Times New Roman" panose="02020603050405020304" pitchFamily="18" charset="0"/>
              </a:rPr>
              <a:t>N</a:t>
            </a:r>
            <a:r>
              <a:rPr lang="en-US" sz="1300" dirty="0">
                <a:latin typeface="Times New Roman" panose="02020603050405020304" pitchFamily="18" charset="0"/>
                <a:cs typeface="Times New Roman" panose="02020603050405020304" pitchFamily="18" charset="0"/>
              </a:rPr>
              <a:t>   =2000 pills</a:t>
            </a:r>
          </a:p>
          <a:p>
            <a:r>
              <a:rPr lang="en-US" sz="1300" i="1" dirty="0" err="1">
                <a:latin typeface="Times New Roman" panose="02020603050405020304" pitchFamily="18" charset="0"/>
                <a:cs typeface="Times New Roman" panose="02020603050405020304" pitchFamily="18" charset="0"/>
              </a:rPr>
              <a:t>p</a:t>
            </a:r>
            <a:r>
              <a:rPr lang="en-US" sz="1300" baseline="-25000" dirty="0" err="1">
                <a:latin typeface="Times New Roman" panose="02020603050405020304" pitchFamily="18" charset="0"/>
                <a:cs typeface="Times New Roman" panose="02020603050405020304" pitchFamily="18" charset="0"/>
              </a:rPr>
              <a:t>pop</a:t>
            </a:r>
            <a:r>
              <a:rPr lang="en-US" sz="1300" dirty="0">
                <a:latin typeface="Times New Roman" panose="02020603050405020304" pitchFamily="18" charset="0"/>
                <a:cs typeface="Times New Roman" panose="02020603050405020304" pitchFamily="18" charset="0"/>
              </a:rPr>
              <a:t>= 80% or less of seizure positive for MDMA</a:t>
            </a:r>
          </a:p>
          <a:p>
            <a:r>
              <a:rPr lang="en-US" sz="1300" dirty="0">
                <a:latin typeface="Times New Roman" panose="02020603050405020304" pitchFamily="18" charset="0"/>
                <a:cs typeface="Times New Roman" panose="02020603050405020304" pitchFamily="18" charset="0"/>
              </a:rPr>
              <a:t>	implies m = 1599 pills or less pos. for MDMA</a:t>
            </a:r>
          </a:p>
          <a:p>
            <a:r>
              <a:rPr lang="en-US" sz="1300" dirty="0">
                <a:latin typeface="Times New Roman" panose="02020603050405020304" pitchFamily="18" charset="0"/>
                <a:cs typeface="Times New Roman" panose="02020603050405020304" pitchFamily="18" charset="0"/>
              </a:rPr>
              <a:t>	             n  = 401 pills or less neg. for MDMA</a:t>
            </a:r>
          </a:p>
          <a:p>
            <a:r>
              <a:rPr lang="en-US" sz="1300" i="1" dirty="0">
                <a:latin typeface="Times New Roman" panose="02020603050405020304" pitchFamily="18" charset="0"/>
                <a:cs typeface="Times New Roman" panose="02020603050405020304" pitchFamily="18" charset="0"/>
              </a:rPr>
              <a:t>k</a:t>
            </a:r>
            <a:r>
              <a:rPr lang="en-US" sz="1300" dirty="0">
                <a:latin typeface="Times New Roman" panose="02020603050405020304" pitchFamily="18" charset="0"/>
                <a:cs typeface="Times New Roman" panose="02020603050405020304" pitchFamily="18" charset="0"/>
              </a:rPr>
              <a:t>    = 40 pill sample</a:t>
            </a:r>
          </a:p>
        </p:txBody>
      </p:sp>
      <p:sp>
        <p:nvSpPr>
          <p:cNvPr id="10" name="TextBox 9">
            <a:extLst>
              <a:ext uri="{FF2B5EF4-FFF2-40B4-BE49-F238E27FC236}">
                <a16:creationId xmlns:a16="http://schemas.microsoft.com/office/drawing/2014/main" id="{A0C3E896-CFFD-5A23-6BD0-1C98D6A7D01B}"/>
              </a:ext>
            </a:extLst>
          </p:cNvPr>
          <p:cNvSpPr txBox="1"/>
          <p:nvPr/>
        </p:nvSpPr>
        <p:spPr>
          <a:xfrm>
            <a:off x="2011681" y="4000346"/>
            <a:ext cx="2113008" cy="523220"/>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Cut off for H0: </a:t>
            </a:r>
            <a:r>
              <a:rPr lang="en-US" sz="1400" i="1" dirty="0" err="1">
                <a:latin typeface="Times New Roman" panose="02020603050405020304" pitchFamily="18" charset="0"/>
                <a:cs typeface="Times New Roman" panose="02020603050405020304" pitchFamily="18" charset="0"/>
              </a:rPr>
              <a:t>p</a:t>
            </a:r>
            <a:r>
              <a:rPr lang="en-US" sz="1400" baseline="-25000" dirty="0" err="1">
                <a:latin typeface="Times New Roman" panose="02020603050405020304" pitchFamily="18" charset="0"/>
                <a:cs typeface="Times New Roman" panose="02020603050405020304" pitchFamily="18" charset="0"/>
              </a:rPr>
              <a:t>pop</a:t>
            </a:r>
            <a:r>
              <a:rPr lang="en-US" sz="1400" dirty="0">
                <a:latin typeface="Times New Roman" panose="02020603050405020304" pitchFamily="18" charset="0"/>
                <a:cs typeface="Times New Roman" panose="02020603050405020304" pitchFamily="18" charset="0"/>
              </a:rPr>
              <a:t> ≤ 80% </a:t>
            </a:r>
          </a:p>
          <a:p>
            <a:r>
              <a:rPr lang="en-US" sz="1400" dirty="0">
                <a:latin typeface="Times New Roman" panose="02020603050405020304" pitchFamily="18" charset="0"/>
                <a:cs typeface="Times New Roman" panose="02020603050405020304" pitchFamily="18" charset="0"/>
              </a:rPr>
              <a:t>@ 95% confidence</a:t>
            </a:r>
          </a:p>
        </p:txBody>
      </p:sp>
      <p:cxnSp>
        <p:nvCxnSpPr>
          <p:cNvPr id="11" name="Straight Arrow Connector 10">
            <a:extLst>
              <a:ext uri="{FF2B5EF4-FFF2-40B4-BE49-F238E27FC236}">
                <a16:creationId xmlns:a16="http://schemas.microsoft.com/office/drawing/2014/main" id="{4B11C164-C020-9D37-F5CD-73132BEBC281}"/>
              </a:ext>
            </a:extLst>
          </p:cNvPr>
          <p:cNvCxnSpPr>
            <a:cxnSpLocks/>
          </p:cNvCxnSpPr>
          <p:nvPr/>
        </p:nvCxnSpPr>
        <p:spPr>
          <a:xfrm>
            <a:off x="2663190" y="4523566"/>
            <a:ext cx="3880078" cy="1317164"/>
          </a:xfrm>
          <a:prstGeom prst="straightConnector1">
            <a:avLst/>
          </a:prstGeom>
          <a:ln w="34925">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156F578-A040-3B36-F2B8-B73F2FB8E2AA}"/>
              </a:ext>
            </a:extLst>
          </p:cNvPr>
          <p:cNvSpPr txBox="1"/>
          <p:nvPr/>
        </p:nvSpPr>
        <p:spPr>
          <a:xfrm>
            <a:off x="1819676" y="2960608"/>
            <a:ext cx="3723874" cy="492443"/>
          </a:xfrm>
          <a:prstGeom prst="rect">
            <a:avLst/>
          </a:prstGeom>
          <a:noFill/>
        </p:spPr>
        <p:txBody>
          <a:bodyPr wrap="square" rtlCol="0">
            <a:spAutoFit/>
          </a:bodyPr>
          <a:lstStyle/>
          <a:p>
            <a:r>
              <a:rPr lang="en-US" sz="1300" b="1" dirty="0">
                <a:latin typeface="Times New Roman" panose="02020603050405020304" pitchFamily="18" charset="0"/>
                <a:cs typeface="Times New Roman" panose="02020603050405020304" pitchFamily="18" charset="0"/>
              </a:rPr>
              <a:t>Sample:</a:t>
            </a:r>
          </a:p>
          <a:p>
            <a:r>
              <a:rPr lang="en-US" sz="1300" i="1" dirty="0">
                <a:latin typeface="Times New Roman" panose="02020603050405020304" pitchFamily="18" charset="0"/>
                <a:cs typeface="Times New Roman" panose="02020603050405020304" pitchFamily="18" charset="0"/>
              </a:rPr>
              <a:t>x</a:t>
            </a:r>
            <a:r>
              <a:rPr lang="en-US" sz="1300" dirty="0">
                <a:latin typeface="Times New Roman" panose="02020603050405020304" pitchFamily="18" charset="0"/>
                <a:cs typeface="Times New Roman" panose="02020603050405020304" pitchFamily="18" charset="0"/>
              </a:rPr>
              <a:t> = 40 pills obs. pos. for MDMA</a:t>
            </a:r>
          </a:p>
        </p:txBody>
      </p:sp>
    </p:spTree>
    <p:extLst>
      <p:ext uri="{BB962C8B-B14F-4D97-AF65-F5344CB8AC3E}">
        <p14:creationId xmlns:p14="http://schemas.microsoft.com/office/powerpoint/2010/main" val="22945153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8D5A73-74EA-8B93-6848-9E46CC5981CC}"/>
              </a:ext>
            </a:extLst>
          </p:cNvPr>
          <p:cNvPicPr>
            <a:picLocks noChangeAspect="1" noChangeArrowheads="1"/>
          </p:cNvPicPr>
          <p:nvPr/>
        </p:nvPicPr>
        <p:blipFill>
          <a:blip r:embed="rId2" cstate="print"/>
          <a:srcRect/>
          <a:stretch>
            <a:fillRect/>
          </a:stretch>
        </p:blipFill>
        <p:spPr bwMode="auto">
          <a:xfrm>
            <a:off x="484188" y="253294"/>
            <a:ext cx="8202612" cy="239712"/>
          </a:xfrm>
          <a:prstGeom prst="rect">
            <a:avLst/>
          </a:prstGeom>
          <a:noFill/>
          <a:ln w="9525">
            <a:noFill/>
            <a:round/>
            <a:headEnd/>
            <a:tailEnd/>
          </a:ln>
        </p:spPr>
      </p:pic>
      <p:sp>
        <p:nvSpPr>
          <p:cNvPr id="12" name="TextBox 11">
            <a:extLst>
              <a:ext uri="{FF2B5EF4-FFF2-40B4-BE49-F238E27FC236}">
                <a16:creationId xmlns:a16="http://schemas.microsoft.com/office/drawing/2014/main" id="{345B42DD-73EC-FFFB-33B0-B2F5DBF37B45}"/>
              </a:ext>
            </a:extLst>
          </p:cNvPr>
          <p:cNvSpPr txBox="1"/>
          <p:nvPr/>
        </p:nvSpPr>
        <p:spPr>
          <a:xfrm>
            <a:off x="594360" y="2031611"/>
            <a:ext cx="7658100" cy="1200329"/>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In a seizure of size </a:t>
            </a:r>
            <a:r>
              <a:rPr lang="en-US" sz="2400" i="1" dirty="0">
                <a:latin typeface="Times New Roman" panose="02020603050405020304" pitchFamily="18" charset="0"/>
                <a:cs typeface="Times New Roman" panose="02020603050405020304" pitchFamily="18" charset="0"/>
              </a:rPr>
              <a:t>N</a:t>
            </a:r>
            <a:r>
              <a:rPr lang="en-US" sz="2400" dirty="0">
                <a:latin typeface="Times New Roman" panose="02020603050405020304" pitchFamily="18" charset="0"/>
                <a:cs typeface="Times New Roman" panose="02020603050405020304" pitchFamily="18" charset="0"/>
              </a:rPr>
              <a:t>, what </a:t>
            </a:r>
            <a:r>
              <a:rPr lang="en-US" sz="2400" b="1" dirty="0">
                <a:latin typeface="Times New Roman" panose="02020603050405020304" pitchFamily="18" charset="0"/>
                <a:cs typeface="Times New Roman" panose="02020603050405020304" pitchFamily="18" charset="0"/>
              </a:rPr>
              <a:t>sample size</a:t>
            </a:r>
            <a:r>
              <a:rPr lang="en-US" sz="2400" dirty="0">
                <a:latin typeface="Times New Roman" panose="02020603050405020304" pitchFamily="18" charset="0"/>
                <a:cs typeface="Times New Roman" panose="02020603050405020304" pitchFamily="18" charset="0"/>
              </a:rPr>
              <a:t> is needed to </a:t>
            </a:r>
            <a:r>
              <a:rPr lang="en-US" sz="2400" i="1" u="sng" dirty="0">
                <a:latin typeface="Times New Roman" panose="02020603050405020304" pitchFamily="18" charset="0"/>
                <a:cs typeface="Times New Roman" panose="02020603050405020304" pitchFamily="18" charset="0"/>
              </a:rPr>
              <a:t>reach a stipulated minimum confidence level</a:t>
            </a:r>
            <a:r>
              <a:rPr lang="en-US" sz="2400" dirty="0">
                <a:latin typeface="Times New Roman" panose="02020603050405020304" pitchFamily="18" charset="0"/>
                <a:cs typeface="Times New Roman" panose="02020603050405020304" pitchFamily="18" charset="0"/>
              </a:rPr>
              <a:t> if the fraction of drug-containing items in the seizure is </a:t>
            </a:r>
            <a:r>
              <a:rPr lang="en-US" sz="2400" i="1" u="sng" dirty="0">
                <a:latin typeface="Times New Roman" panose="02020603050405020304" pitchFamily="18" charset="0"/>
                <a:cs typeface="Times New Roman" panose="02020603050405020304" pitchFamily="18" charset="0"/>
              </a:rPr>
              <a:t>at least</a:t>
            </a:r>
            <a:r>
              <a:rPr lang="en-US" sz="2400" dirty="0">
                <a:latin typeface="Times New Roman" panose="02020603050405020304" pitchFamily="18" charset="0"/>
                <a:cs typeface="Times New Roman" panose="02020603050405020304" pitchFamily="18" charset="0"/>
              </a:rPr>
              <a:t> </a:t>
            </a:r>
            <a:r>
              <a:rPr lang="en-US" sz="2400" i="1" dirty="0" err="1">
                <a:latin typeface="Times New Roman" panose="02020603050405020304" pitchFamily="18" charset="0"/>
                <a:cs typeface="Times New Roman" panose="02020603050405020304" pitchFamily="18" charset="0"/>
              </a:rPr>
              <a:t>p</a:t>
            </a:r>
            <a:r>
              <a:rPr lang="en-US" sz="2400" baseline="-25000" dirty="0" err="1">
                <a:latin typeface="Times New Roman" panose="02020603050405020304" pitchFamily="18" charset="0"/>
                <a:cs typeface="Times New Roman" panose="02020603050405020304" pitchFamily="18" charset="0"/>
              </a:rPr>
              <a:t>pos</a:t>
            </a:r>
            <a:r>
              <a:rPr lang="en-US" sz="2400" dirty="0">
                <a:latin typeface="Times New Roman" panose="02020603050405020304" pitchFamily="18" charset="0"/>
                <a:cs typeface="Times New Roman" panose="02020603050405020304" pitchFamily="18" charset="0"/>
              </a:rPr>
              <a:t>?</a:t>
            </a:r>
          </a:p>
        </p:txBody>
      </p:sp>
      <p:sp>
        <p:nvSpPr>
          <p:cNvPr id="14" name="Rectangle 4">
            <a:extLst>
              <a:ext uri="{FF2B5EF4-FFF2-40B4-BE49-F238E27FC236}">
                <a16:creationId xmlns:a16="http://schemas.microsoft.com/office/drawing/2014/main" id="{DDF77CC1-D6AA-F1D2-57FB-128AA63357B4}"/>
              </a:ext>
            </a:extLst>
          </p:cNvPr>
          <p:cNvSpPr>
            <a:spLocks noChangeArrowheads="1"/>
          </p:cNvSpPr>
          <p:nvPr/>
        </p:nvSpPr>
        <p:spPr bwMode="auto">
          <a:xfrm>
            <a:off x="231775" y="52174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How Hypergeometric Sampling is Really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Used in Practice*</a:t>
            </a:r>
          </a:p>
        </p:txBody>
      </p:sp>
      <p:sp>
        <p:nvSpPr>
          <p:cNvPr id="16" name="TextBox 15">
            <a:extLst>
              <a:ext uri="{FF2B5EF4-FFF2-40B4-BE49-F238E27FC236}">
                <a16:creationId xmlns:a16="http://schemas.microsoft.com/office/drawing/2014/main" id="{88067B83-CD49-5A57-509B-BF0461A0B338}"/>
              </a:ext>
            </a:extLst>
          </p:cNvPr>
          <p:cNvSpPr txBox="1"/>
          <p:nvPr/>
        </p:nvSpPr>
        <p:spPr>
          <a:xfrm>
            <a:off x="777240" y="3460164"/>
            <a:ext cx="5623560" cy="769441"/>
          </a:xfrm>
          <a:prstGeom prst="rect">
            <a:avLst/>
          </a:prstGeom>
          <a:noFill/>
        </p:spPr>
        <p:txBody>
          <a:bodyPr wrap="square">
            <a:spAutoFit/>
          </a:bodyPr>
          <a:lstStyle/>
          <a:p>
            <a:pPr marL="342900" indent="-342900">
              <a:buAutoNum type="alphaLcPeriod"/>
            </a:pPr>
            <a:r>
              <a:rPr lang="en-US" sz="2200" dirty="0">
                <a:latin typeface="Times New Roman" panose="02020603050405020304" pitchFamily="18" charset="0"/>
                <a:cs typeface="Times New Roman" panose="02020603050405020304" pitchFamily="18" charset="0"/>
              </a:rPr>
              <a:t>Assume no negatives are observed, </a:t>
            </a:r>
            <a:r>
              <a:rPr lang="en-US" sz="2200" i="1" dirty="0">
                <a:latin typeface="Times New Roman" panose="02020603050405020304" pitchFamily="18" charset="0"/>
                <a:cs typeface="Times New Roman" panose="02020603050405020304" pitchFamily="18" charset="0"/>
              </a:rPr>
              <a:t>i.e.</a:t>
            </a:r>
            <a:r>
              <a:rPr lang="en-US" sz="2200" dirty="0">
                <a:latin typeface="Times New Roman" panose="02020603050405020304" pitchFamily="18" charset="0"/>
                <a:cs typeface="Times New Roman" panose="02020603050405020304" pitchFamily="18" charset="0"/>
              </a:rPr>
              <a:t>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a:t>
            </a:r>
            <a:r>
              <a:rPr lang="en-US" sz="2200" i="1" dirty="0">
                <a:latin typeface="Times New Roman" panose="02020603050405020304" pitchFamily="18" charset="0"/>
                <a:cs typeface="Times New Roman" panose="02020603050405020304" pitchFamily="18" charset="0"/>
              </a:rPr>
              <a:t>k</a:t>
            </a:r>
            <a:r>
              <a:rPr lang="en-US" sz="2200" dirty="0">
                <a:latin typeface="Times New Roman" panose="02020603050405020304" pitchFamily="18" charset="0"/>
                <a:cs typeface="Times New Roman" panose="02020603050405020304" pitchFamily="18" charset="0"/>
              </a:rPr>
              <a:t>.</a:t>
            </a:r>
          </a:p>
          <a:p>
            <a:pPr marL="342900" indent="-342900">
              <a:buAutoNum type="alphaLcPeriod"/>
            </a:pPr>
            <a:r>
              <a:rPr lang="en-US" sz="2200" dirty="0">
                <a:latin typeface="Times New Roman" panose="02020603050405020304" pitchFamily="18" charset="0"/>
                <a:cs typeface="Times New Roman" panose="02020603050405020304" pitchFamily="18" charset="0"/>
              </a:rPr>
              <a:t>Assume one negative is observed, </a:t>
            </a:r>
            <a:r>
              <a:rPr lang="en-US" sz="2200" i="1" dirty="0">
                <a:latin typeface="Times New Roman" panose="02020603050405020304" pitchFamily="18" charset="0"/>
                <a:cs typeface="Times New Roman" panose="02020603050405020304" pitchFamily="18" charset="0"/>
              </a:rPr>
              <a:t>i.e.</a:t>
            </a:r>
            <a:r>
              <a:rPr lang="en-US" sz="2200" dirty="0">
                <a:latin typeface="Times New Roman" panose="02020603050405020304" pitchFamily="18" charset="0"/>
                <a:cs typeface="Times New Roman" panose="02020603050405020304" pitchFamily="18" charset="0"/>
              </a:rPr>
              <a:t> </a:t>
            </a:r>
            <a:r>
              <a:rPr lang="en-US" sz="2200" i="1" dirty="0">
                <a:latin typeface="Times New Roman" panose="02020603050405020304" pitchFamily="18" charset="0"/>
                <a:cs typeface="Times New Roman" panose="02020603050405020304" pitchFamily="18" charset="0"/>
              </a:rPr>
              <a:t>x</a:t>
            </a:r>
            <a:r>
              <a:rPr lang="en-US" sz="2200" dirty="0">
                <a:latin typeface="Times New Roman" panose="02020603050405020304" pitchFamily="18" charset="0"/>
                <a:cs typeface="Times New Roman" panose="02020603050405020304" pitchFamily="18" charset="0"/>
              </a:rPr>
              <a:t>=</a:t>
            </a:r>
            <a:r>
              <a:rPr lang="en-US" sz="2200" i="1" dirty="0">
                <a:latin typeface="Times New Roman" panose="02020603050405020304" pitchFamily="18" charset="0"/>
                <a:cs typeface="Times New Roman" panose="02020603050405020304" pitchFamily="18" charset="0"/>
              </a:rPr>
              <a:t>k</a:t>
            </a:r>
            <a:r>
              <a:rPr lang="en-US" sz="2200" dirty="0">
                <a:latin typeface="Times New Roman" panose="02020603050405020304" pitchFamily="18" charset="0"/>
                <a:cs typeface="Times New Roman" panose="02020603050405020304" pitchFamily="18" charset="0"/>
              </a:rPr>
              <a:t>-1.</a:t>
            </a:r>
            <a:endParaRPr lang="en-US" sz="2200" dirty="0"/>
          </a:p>
        </p:txBody>
      </p:sp>
      <p:sp>
        <p:nvSpPr>
          <p:cNvPr id="17" name="TextBox 16">
            <a:extLst>
              <a:ext uri="{FF2B5EF4-FFF2-40B4-BE49-F238E27FC236}">
                <a16:creationId xmlns:a16="http://schemas.microsoft.com/office/drawing/2014/main" id="{19F06DA1-D78F-DE79-AFCE-4AE79B1ADECF}"/>
              </a:ext>
            </a:extLst>
          </p:cNvPr>
          <p:cNvSpPr txBox="1"/>
          <p:nvPr/>
        </p:nvSpPr>
        <p:spPr>
          <a:xfrm>
            <a:off x="125730" y="5997706"/>
            <a:ext cx="5517216"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a:t>
            </a:r>
            <a:r>
              <a:rPr lang="en-US" sz="1600" dirty="0">
                <a:latin typeface="Times New Roman" panose="02020603050405020304" pitchFamily="18" charset="0"/>
                <a:cs typeface="Times New Roman" panose="02020603050405020304" pitchFamily="18" charset="0"/>
                <a:hlinkClick r:id="rId3"/>
              </a:rPr>
              <a:t>ENFSI doc on HYPERGEOMETRIC SAMPLING TOOL 2012</a:t>
            </a:r>
            <a:endParaRPr lang="en-US" sz="1600" dirty="0">
              <a:latin typeface="Times New Roman" panose="02020603050405020304" pitchFamily="18" charset="0"/>
              <a:cs typeface="Times New Roman" panose="02020603050405020304" pitchFamily="18" charset="0"/>
            </a:endParaRPr>
          </a:p>
        </p:txBody>
      </p:sp>
      <p:sp>
        <p:nvSpPr>
          <p:cNvPr id="18" name="TextBox 17">
            <a:extLst>
              <a:ext uri="{FF2B5EF4-FFF2-40B4-BE49-F238E27FC236}">
                <a16:creationId xmlns:a16="http://schemas.microsoft.com/office/drawing/2014/main" id="{AB2C435C-7B46-3516-5AEC-DD6A1D2569E0}"/>
              </a:ext>
            </a:extLst>
          </p:cNvPr>
          <p:cNvSpPr txBox="1"/>
          <p:nvPr/>
        </p:nvSpPr>
        <p:spPr>
          <a:xfrm>
            <a:off x="125730" y="6435429"/>
            <a:ext cx="6608860"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a:t>
            </a:r>
            <a:r>
              <a:rPr lang="en-US" sz="1600" dirty="0">
                <a:latin typeface="Times New Roman" panose="02020603050405020304" pitchFamily="18" charset="0"/>
                <a:cs typeface="Times New Roman" panose="02020603050405020304" pitchFamily="18" charset="0"/>
                <a:hlinkClick r:id="rId4"/>
              </a:rPr>
              <a:t>ENFSI/SWGDRUG doc on HYPERGEOMETRIC SAMPLING TOOL 2016</a:t>
            </a:r>
            <a:endParaRPr lang="en-US" sz="1600" dirty="0">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58146981-3DD7-5B24-5F56-EE2AC80179F5}"/>
              </a:ext>
            </a:extLst>
          </p:cNvPr>
          <p:cNvSpPr txBox="1"/>
          <p:nvPr/>
        </p:nvSpPr>
        <p:spPr>
          <a:xfrm>
            <a:off x="1723707" y="4569154"/>
            <a:ext cx="5623560" cy="430887"/>
          </a:xfrm>
          <a:prstGeom prst="rect">
            <a:avLst/>
          </a:prstGeom>
          <a:noFill/>
        </p:spPr>
        <p:txBody>
          <a:bodyPr wrap="square">
            <a:spAutoFit/>
          </a:bodyPr>
          <a:lstStyle/>
          <a:p>
            <a:r>
              <a:rPr lang="en-US" sz="2200" dirty="0">
                <a:latin typeface="Times New Roman" panose="02020603050405020304" pitchFamily="18" charset="0"/>
                <a:cs typeface="Times New Roman" panose="02020603050405020304" pitchFamily="18" charset="0"/>
              </a:rPr>
              <a:t>Use </a:t>
            </a:r>
            <a:r>
              <a:rPr lang="en-US" sz="2200" i="1" dirty="0">
                <a:latin typeface="Times New Roman" panose="02020603050405020304" pitchFamily="18" charset="0"/>
                <a:cs typeface="Times New Roman" panose="02020603050405020304" pitchFamily="18" charset="0"/>
              </a:rPr>
              <a:t>N</a:t>
            </a:r>
            <a:r>
              <a:rPr lang="en-US" sz="2200" dirty="0">
                <a:latin typeface="Times New Roman" panose="02020603050405020304" pitchFamily="18" charset="0"/>
                <a:cs typeface="Times New Roman" panose="02020603050405020304" pitchFamily="18" charset="0"/>
              </a:rPr>
              <a:t>=100, 95% confidence, </a:t>
            </a:r>
            <a:r>
              <a:rPr lang="en-US" sz="2200" i="1" dirty="0" err="1">
                <a:latin typeface="Times New Roman" panose="02020603050405020304" pitchFamily="18" charset="0"/>
                <a:cs typeface="Times New Roman" panose="02020603050405020304" pitchFamily="18" charset="0"/>
              </a:rPr>
              <a:t>p</a:t>
            </a:r>
            <a:r>
              <a:rPr lang="en-US" sz="2200" baseline="-25000" dirty="0" err="1">
                <a:latin typeface="Times New Roman" panose="02020603050405020304" pitchFamily="18" charset="0"/>
                <a:cs typeface="Times New Roman" panose="02020603050405020304" pitchFamily="18" charset="0"/>
              </a:rPr>
              <a:t>pop</a:t>
            </a:r>
            <a:r>
              <a:rPr lang="en-US" sz="2200" dirty="0">
                <a:latin typeface="Times New Roman" panose="02020603050405020304" pitchFamily="18" charset="0"/>
                <a:cs typeface="Times New Roman" panose="02020603050405020304" pitchFamily="18" charset="0"/>
              </a:rPr>
              <a:t> at least 70%</a:t>
            </a:r>
          </a:p>
        </p:txBody>
      </p:sp>
    </p:spTree>
    <p:extLst>
      <p:ext uri="{BB962C8B-B14F-4D97-AF65-F5344CB8AC3E}">
        <p14:creationId xmlns:p14="http://schemas.microsoft.com/office/powerpoint/2010/main" val="26585769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15B01A0-0D58-DE1E-4F04-B9FBC41466D1}"/>
              </a:ext>
            </a:extLst>
          </p:cNvPr>
          <p:cNvSpPr txBox="1"/>
          <p:nvPr/>
        </p:nvSpPr>
        <p:spPr>
          <a:xfrm>
            <a:off x="173514" y="639912"/>
            <a:ext cx="8823960" cy="5932393"/>
          </a:xfrm>
          <a:prstGeom prst="rect">
            <a:avLst/>
          </a:prstGeom>
          <a:solidFill>
            <a:srgbClr val="000045"/>
          </a:solidFill>
          <a:effectLst/>
        </p:spPr>
        <p:txBody>
          <a:bodyPr wrap="square" rtlCol="0">
            <a:spAutoFit/>
          </a:bodyPr>
          <a:lstStyle/>
          <a:p>
            <a:r>
              <a:rPr lang="en-US" sz="1150" dirty="0">
                <a:solidFill>
                  <a:schemeClr val="bg1"/>
                </a:solidFill>
                <a:latin typeface="Courier"/>
                <a:cs typeface="Courier"/>
              </a:rPr>
              <a:t>N     &lt;- 100     </a:t>
            </a:r>
            <a:r>
              <a:rPr lang="en-US" sz="1150" dirty="0">
                <a:solidFill>
                  <a:srgbClr val="FFFF00"/>
                </a:solidFill>
                <a:latin typeface="Courier"/>
                <a:cs typeface="Courier"/>
              </a:rPr>
              <a:t># Population (N): Total number of items (e.g., packages) in the seizure.</a:t>
            </a:r>
          </a:p>
          <a:p>
            <a:r>
              <a:rPr lang="en-US" sz="1150" dirty="0" err="1">
                <a:solidFill>
                  <a:schemeClr val="bg1"/>
                </a:solidFill>
                <a:latin typeface="Courier"/>
                <a:cs typeface="Courier"/>
              </a:rPr>
              <a:t>p.pos</a:t>
            </a:r>
            <a:r>
              <a:rPr lang="en-US" sz="1150" dirty="0">
                <a:solidFill>
                  <a:schemeClr val="bg1"/>
                </a:solidFill>
                <a:latin typeface="Courier"/>
                <a:cs typeface="Courier"/>
              </a:rPr>
              <a:t> &lt;- 0.7     </a:t>
            </a:r>
            <a:r>
              <a:rPr lang="en-US" sz="1150" dirty="0">
                <a:solidFill>
                  <a:srgbClr val="FFFF00"/>
                </a:solidFill>
                <a:latin typeface="Courier"/>
                <a:cs typeface="Courier"/>
              </a:rPr>
              <a:t># Fraction of drug-containing items expected or claimed to be in the seizure</a:t>
            </a:r>
          </a:p>
          <a:p>
            <a:r>
              <a:rPr lang="en-US" sz="1150" dirty="0">
                <a:solidFill>
                  <a:schemeClr val="bg1"/>
                </a:solidFill>
                <a:latin typeface="Courier"/>
                <a:cs typeface="Courier"/>
              </a:rPr>
              <a:t>conf  &lt;- 0.95    </a:t>
            </a:r>
            <a:r>
              <a:rPr lang="en-US" sz="1150" dirty="0">
                <a:solidFill>
                  <a:srgbClr val="FFFF00"/>
                </a:solidFill>
                <a:latin typeface="Courier"/>
                <a:cs typeface="Courier"/>
              </a:rPr>
              <a:t># Stipulated minimum confidence level</a:t>
            </a:r>
          </a:p>
          <a:p>
            <a:r>
              <a:rPr lang="en-US" sz="1150" dirty="0">
                <a:solidFill>
                  <a:schemeClr val="bg1"/>
                </a:solidFill>
                <a:latin typeface="Courier"/>
                <a:cs typeface="Courier"/>
              </a:rPr>
              <a:t>alp   &lt;- 1-conf</a:t>
            </a:r>
          </a:p>
          <a:p>
            <a:endParaRPr lang="en-US" sz="1150" dirty="0">
              <a:solidFill>
                <a:schemeClr val="bg1"/>
              </a:solidFill>
              <a:latin typeface="Courier"/>
              <a:cs typeface="Courier"/>
            </a:endParaRPr>
          </a:p>
          <a:p>
            <a:r>
              <a:rPr lang="en-US" sz="1150" dirty="0">
                <a:solidFill>
                  <a:schemeClr val="bg1"/>
                </a:solidFill>
                <a:latin typeface="Courier"/>
                <a:cs typeface="Courier"/>
              </a:rPr>
              <a:t>k &lt;- 1:100 </a:t>
            </a:r>
            <a:r>
              <a:rPr lang="en-US" sz="1150" dirty="0">
                <a:solidFill>
                  <a:srgbClr val="FFFF00"/>
                </a:solidFill>
                <a:latin typeface="Courier"/>
                <a:cs typeface="Courier"/>
              </a:rPr>
              <a:t># Sample Sizes</a:t>
            </a:r>
          </a:p>
          <a:p>
            <a:r>
              <a:rPr lang="en-US" sz="1150" dirty="0">
                <a:solidFill>
                  <a:schemeClr val="bg1"/>
                </a:solidFill>
                <a:latin typeface="Courier"/>
                <a:cs typeface="Courier"/>
              </a:rPr>
              <a:t>x &lt;- k-1   </a:t>
            </a:r>
            <a:r>
              <a:rPr lang="en-US" sz="1150" dirty="0">
                <a:solidFill>
                  <a:srgbClr val="FFFF00"/>
                </a:solidFill>
                <a:latin typeface="Courier"/>
                <a:cs typeface="Courier"/>
              </a:rPr>
              <a:t># </a:t>
            </a:r>
            <a:r>
              <a:rPr lang="en-US" sz="1150" b="1" dirty="0">
                <a:solidFill>
                  <a:srgbClr val="FF0000"/>
                </a:solidFill>
                <a:latin typeface="Courier"/>
                <a:cs typeface="Courier"/>
              </a:rPr>
              <a:t>Number of positives in sample</a:t>
            </a:r>
          </a:p>
          <a:p>
            <a:endParaRPr lang="en-US" sz="1150" dirty="0">
              <a:solidFill>
                <a:schemeClr val="bg1"/>
              </a:solidFill>
              <a:latin typeface="Courier"/>
              <a:cs typeface="Courier"/>
            </a:endParaRPr>
          </a:p>
          <a:p>
            <a:r>
              <a:rPr lang="en-US" sz="1150" dirty="0">
                <a:solidFill>
                  <a:schemeClr val="bg1"/>
                </a:solidFill>
                <a:latin typeface="Courier"/>
                <a:cs typeface="Courier"/>
              </a:rPr>
              <a:t>K &lt;- ceiling(N*</a:t>
            </a:r>
            <a:r>
              <a:rPr lang="en-US" sz="1150" dirty="0" err="1">
                <a:solidFill>
                  <a:schemeClr val="bg1"/>
                </a:solidFill>
                <a:latin typeface="Courier"/>
                <a:cs typeface="Courier"/>
              </a:rPr>
              <a:t>p.pos</a:t>
            </a:r>
            <a:r>
              <a:rPr lang="en-US" sz="1150" dirty="0">
                <a:solidFill>
                  <a:schemeClr val="bg1"/>
                </a:solidFill>
                <a:latin typeface="Courier"/>
                <a:cs typeface="Courier"/>
              </a:rPr>
              <a:t>) </a:t>
            </a:r>
            <a:r>
              <a:rPr lang="en-US" sz="1150" dirty="0">
                <a:solidFill>
                  <a:srgbClr val="FFFF00"/>
                </a:solidFill>
                <a:latin typeface="Courier"/>
                <a:cs typeface="Courier"/>
              </a:rPr>
              <a:t># cf. ENFSI doc pp.11 Table 2</a:t>
            </a:r>
          </a:p>
          <a:p>
            <a:r>
              <a:rPr lang="en-US" sz="1150" dirty="0">
                <a:solidFill>
                  <a:schemeClr val="bg1"/>
                </a:solidFill>
                <a:latin typeface="Courier"/>
                <a:cs typeface="Courier"/>
              </a:rPr>
              <a:t>m &lt;- K-1              </a:t>
            </a:r>
            <a:r>
              <a:rPr lang="en-US" sz="1150" dirty="0">
                <a:solidFill>
                  <a:srgbClr val="FFFF00"/>
                </a:solidFill>
                <a:latin typeface="Courier"/>
                <a:cs typeface="Courier"/>
              </a:rPr>
              <a:t># The number of drug-containing items expected to </a:t>
            </a:r>
            <a:r>
              <a:rPr lang="en-US" sz="1150" dirty="0" err="1">
                <a:solidFill>
                  <a:srgbClr val="FFFF00"/>
                </a:solidFill>
                <a:latin typeface="Courier"/>
                <a:cs typeface="Courier"/>
              </a:rPr>
              <a:t>garantee</a:t>
            </a:r>
            <a:r>
              <a:rPr lang="en-US" sz="1150" dirty="0">
                <a:solidFill>
                  <a:srgbClr val="FFFF00"/>
                </a:solidFill>
                <a:latin typeface="Courier"/>
                <a:cs typeface="Courier"/>
              </a:rPr>
              <a:t> at least </a:t>
            </a:r>
            <a:r>
              <a:rPr lang="en-US" sz="1150" dirty="0" err="1">
                <a:solidFill>
                  <a:srgbClr val="FFFF00"/>
                </a:solidFill>
                <a:latin typeface="Courier"/>
                <a:cs typeface="Courier"/>
              </a:rPr>
              <a:t>p.pos</a:t>
            </a:r>
            <a:endParaRPr lang="en-US" sz="1150" dirty="0">
              <a:solidFill>
                <a:srgbClr val="FFFF00"/>
              </a:solidFill>
              <a:latin typeface="Courier"/>
              <a:cs typeface="Courier"/>
            </a:endParaRPr>
          </a:p>
          <a:p>
            <a:r>
              <a:rPr lang="en-US" sz="1150" dirty="0">
                <a:solidFill>
                  <a:srgbClr val="FFFF00"/>
                </a:solidFill>
                <a:latin typeface="Courier"/>
                <a:cs typeface="Courier"/>
              </a:rPr>
              <a:t>n</a:t>
            </a:r>
            <a:r>
              <a:rPr lang="en-US" sz="1150" dirty="0">
                <a:solidFill>
                  <a:schemeClr val="bg1"/>
                </a:solidFill>
                <a:latin typeface="Courier"/>
                <a:cs typeface="Courier"/>
              </a:rPr>
              <a:t> &lt;- N-m</a:t>
            </a:r>
          </a:p>
          <a:p>
            <a:endParaRPr lang="en-US" sz="1150" dirty="0">
              <a:solidFill>
                <a:schemeClr val="bg1"/>
              </a:solidFill>
              <a:latin typeface="Courier"/>
              <a:cs typeface="Courier"/>
            </a:endParaRPr>
          </a:p>
          <a:p>
            <a:r>
              <a:rPr lang="en-US" sz="1150" dirty="0">
                <a:solidFill>
                  <a:srgbClr val="FFFF00"/>
                </a:solidFill>
                <a:latin typeface="Courier"/>
                <a:cs typeface="Courier"/>
              </a:rPr>
              <a:t># p-values and effective confidences:</a:t>
            </a:r>
          </a:p>
          <a:p>
            <a:r>
              <a:rPr lang="en-US" sz="1150" dirty="0">
                <a:solidFill>
                  <a:srgbClr val="FFFF00"/>
                </a:solidFill>
                <a:latin typeface="Courier"/>
                <a:cs typeface="Courier"/>
              </a:rPr>
              <a:t>#</a:t>
            </a:r>
            <a:r>
              <a:rPr lang="en-US" sz="1150" dirty="0" err="1">
                <a:solidFill>
                  <a:srgbClr val="FFFF00"/>
                </a:solidFill>
                <a:latin typeface="Courier"/>
                <a:cs typeface="Courier"/>
              </a:rPr>
              <a:t>Pr</a:t>
            </a:r>
            <a:r>
              <a:rPr lang="en-US" sz="1150" dirty="0">
                <a:solidFill>
                  <a:srgbClr val="FFFF00"/>
                </a:solidFill>
                <a:latin typeface="Courier"/>
                <a:cs typeface="Courier"/>
              </a:rPr>
              <a:t>(X&gt;=x) =  </a:t>
            </a:r>
            <a:r>
              <a:rPr lang="en-US" sz="1150" dirty="0" err="1">
                <a:solidFill>
                  <a:srgbClr val="FFFF00"/>
                </a:solidFill>
                <a:latin typeface="Courier"/>
                <a:cs typeface="Courier"/>
              </a:rPr>
              <a:t>Pr</a:t>
            </a:r>
            <a:r>
              <a:rPr lang="en-US" sz="1150" dirty="0">
                <a:solidFill>
                  <a:srgbClr val="FFFF00"/>
                </a:solidFill>
                <a:latin typeface="Courier"/>
                <a:cs typeface="Courier"/>
              </a:rPr>
              <a:t>(X=x)                            + </a:t>
            </a:r>
            <a:r>
              <a:rPr lang="en-US" sz="1150" dirty="0" err="1">
                <a:solidFill>
                  <a:srgbClr val="FFFF00"/>
                </a:solidFill>
                <a:latin typeface="Courier"/>
                <a:cs typeface="Courier"/>
              </a:rPr>
              <a:t>Pr</a:t>
            </a:r>
            <a:r>
              <a:rPr lang="en-US" sz="1150" dirty="0">
                <a:solidFill>
                  <a:srgbClr val="FFFF00"/>
                </a:solidFill>
                <a:latin typeface="Courier"/>
                <a:cs typeface="Courier"/>
              </a:rPr>
              <a:t>(X&gt;x)</a:t>
            </a:r>
          </a:p>
          <a:p>
            <a:r>
              <a:rPr lang="en-US" sz="1150" dirty="0" err="1">
                <a:solidFill>
                  <a:schemeClr val="bg1"/>
                </a:solidFill>
                <a:latin typeface="Courier"/>
                <a:cs typeface="Courier"/>
              </a:rPr>
              <a:t>pvals</a:t>
            </a:r>
            <a:r>
              <a:rPr lang="en-US" sz="1150" dirty="0">
                <a:solidFill>
                  <a:schemeClr val="bg1"/>
                </a:solidFill>
                <a:latin typeface="Courier"/>
                <a:cs typeface="Courier"/>
              </a:rPr>
              <a:t>     &lt;- </a:t>
            </a:r>
            <a:r>
              <a:rPr lang="en-US" sz="1150" dirty="0" err="1">
                <a:solidFill>
                  <a:schemeClr val="bg1"/>
                </a:solidFill>
                <a:latin typeface="Courier"/>
                <a:cs typeface="Courier"/>
              </a:rPr>
              <a:t>dhyper</a:t>
            </a:r>
            <a:r>
              <a:rPr lang="en-US" sz="1150" dirty="0">
                <a:solidFill>
                  <a:schemeClr val="bg1"/>
                </a:solidFill>
                <a:latin typeface="Courier"/>
                <a:cs typeface="Courier"/>
              </a:rPr>
              <a:t>(x = x, m = m, n = n, k = k) + 1-phyper(q = x, m = m, n = n, k = k)</a:t>
            </a:r>
          </a:p>
          <a:p>
            <a:r>
              <a:rPr lang="en-US" sz="1150" dirty="0" err="1">
                <a:solidFill>
                  <a:schemeClr val="bg1"/>
                </a:solidFill>
                <a:latin typeface="Courier"/>
                <a:cs typeface="Courier"/>
              </a:rPr>
              <a:t>eff.confs</a:t>
            </a:r>
            <a:r>
              <a:rPr lang="en-US" sz="1150" dirty="0">
                <a:solidFill>
                  <a:schemeClr val="bg1"/>
                </a:solidFill>
                <a:latin typeface="Courier"/>
                <a:cs typeface="Courier"/>
              </a:rPr>
              <a:t> &lt;- (1-pvals)*100</a:t>
            </a:r>
          </a:p>
          <a:p>
            <a:endParaRPr lang="en-US" sz="1150" dirty="0">
              <a:solidFill>
                <a:schemeClr val="bg1"/>
              </a:solidFill>
              <a:latin typeface="Courier"/>
              <a:cs typeface="Courier"/>
            </a:endParaRPr>
          </a:p>
          <a:p>
            <a:r>
              <a:rPr lang="en-US" sz="1150" dirty="0">
                <a:solidFill>
                  <a:srgbClr val="FFFF00"/>
                </a:solidFill>
                <a:latin typeface="Courier"/>
                <a:cs typeface="Courier"/>
              </a:rPr>
              <a:t># Tabulate:</a:t>
            </a:r>
          </a:p>
          <a:p>
            <a:r>
              <a:rPr lang="en-US" sz="1150" dirty="0" err="1">
                <a:solidFill>
                  <a:schemeClr val="bg1"/>
                </a:solidFill>
                <a:latin typeface="Courier"/>
                <a:cs typeface="Courier"/>
              </a:rPr>
              <a:t>conf.tab</a:t>
            </a:r>
            <a:r>
              <a:rPr lang="en-US" sz="1150" dirty="0">
                <a:solidFill>
                  <a:schemeClr val="bg1"/>
                </a:solidFill>
                <a:latin typeface="Courier"/>
                <a:cs typeface="Courier"/>
              </a:rPr>
              <a:t> &lt;- </a:t>
            </a:r>
            <a:r>
              <a:rPr lang="en-US" sz="1150" dirty="0" err="1">
                <a:solidFill>
                  <a:schemeClr val="bg1"/>
                </a:solidFill>
                <a:latin typeface="Courier"/>
                <a:cs typeface="Courier"/>
              </a:rPr>
              <a:t>data.frame</a:t>
            </a:r>
            <a:r>
              <a:rPr lang="en-US" sz="1150" dirty="0">
                <a:solidFill>
                  <a:schemeClr val="bg1"/>
                </a:solidFill>
                <a:latin typeface="Courier"/>
                <a:cs typeface="Courier"/>
              </a:rPr>
              <a:t>(k, </a:t>
            </a:r>
            <a:r>
              <a:rPr lang="en-US" sz="1150" dirty="0" err="1">
                <a:solidFill>
                  <a:schemeClr val="bg1"/>
                </a:solidFill>
                <a:latin typeface="Courier"/>
                <a:cs typeface="Courier"/>
              </a:rPr>
              <a:t>eff.confs</a:t>
            </a:r>
            <a:r>
              <a:rPr lang="en-US" sz="1150" dirty="0">
                <a:solidFill>
                  <a:schemeClr val="bg1"/>
                </a:solidFill>
                <a:latin typeface="Courier"/>
                <a:cs typeface="Courier"/>
              </a:rPr>
              <a:t>)</a:t>
            </a:r>
          </a:p>
          <a:p>
            <a:r>
              <a:rPr lang="en-US" sz="1150" dirty="0" err="1">
                <a:solidFill>
                  <a:schemeClr val="bg1"/>
                </a:solidFill>
                <a:latin typeface="Courier"/>
                <a:cs typeface="Courier"/>
              </a:rPr>
              <a:t>conf.idx</a:t>
            </a:r>
            <a:r>
              <a:rPr lang="en-US" sz="1150" dirty="0">
                <a:solidFill>
                  <a:schemeClr val="bg1"/>
                </a:solidFill>
                <a:latin typeface="Courier"/>
                <a:cs typeface="Courier"/>
              </a:rPr>
              <a:t> &lt;- which(</a:t>
            </a:r>
            <a:r>
              <a:rPr lang="en-US" sz="1150" dirty="0" err="1">
                <a:solidFill>
                  <a:schemeClr val="bg1"/>
                </a:solidFill>
                <a:latin typeface="Courier"/>
                <a:cs typeface="Courier"/>
              </a:rPr>
              <a:t>eff.confs</a:t>
            </a:r>
            <a:r>
              <a:rPr lang="en-US" sz="1150" dirty="0">
                <a:solidFill>
                  <a:schemeClr val="bg1"/>
                </a:solidFill>
                <a:latin typeface="Courier"/>
                <a:cs typeface="Courier"/>
              </a:rPr>
              <a:t> &gt;= conf*100)[1]</a:t>
            </a:r>
          </a:p>
          <a:p>
            <a:r>
              <a:rPr lang="en-US" sz="1150" dirty="0" err="1">
                <a:solidFill>
                  <a:schemeClr val="bg1"/>
                </a:solidFill>
                <a:latin typeface="Courier"/>
                <a:cs typeface="Courier"/>
              </a:rPr>
              <a:t>conf.tab</a:t>
            </a:r>
            <a:endParaRPr lang="en-US" sz="1150" dirty="0">
              <a:solidFill>
                <a:schemeClr val="bg1"/>
              </a:solidFill>
              <a:latin typeface="Courier"/>
              <a:cs typeface="Courier"/>
            </a:endParaRPr>
          </a:p>
          <a:p>
            <a:r>
              <a:rPr lang="en-US" sz="1150" dirty="0" err="1">
                <a:solidFill>
                  <a:schemeClr val="bg1"/>
                </a:solidFill>
                <a:latin typeface="Courier"/>
                <a:cs typeface="Courier"/>
              </a:rPr>
              <a:t>conf.tab</a:t>
            </a:r>
            <a:r>
              <a:rPr lang="en-US" sz="1150" dirty="0">
                <a:solidFill>
                  <a:schemeClr val="bg1"/>
                </a:solidFill>
                <a:latin typeface="Courier"/>
                <a:cs typeface="Courier"/>
              </a:rPr>
              <a:t>[</a:t>
            </a:r>
            <a:r>
              <a:rPr lang="en-US" sz="1150" dirty="0" err="1">
                <a:solidFill>
                  <a:schemeClr val="bg1"/>
                </a:solidFill>
                <a:latin typeface="Courier"/>
                <a:cs typeface="Courier"/>
              </a:rPr>
              <a:t>conf.idx</a:t>
            </a:r>
            <a:r>
              <a:rPr lang="en-US" sz="1150" dirty="0">
                <a:solidFill>
                  <a:schemeClr val="bg1"/>
                </a:solidFill>
                <a:latin typeface="Courier"/>
                <a:cs typeface="Courier"/>
              </a:rPr>
              <a:t>,]</a:t>
            </a:r>
          </a:p>
          <a:p>
            <a:endParaRPr lang="en-US" sz="1150" dirty="0">
              <a:solidFill>
                <a:schemeClr val="bg1"/>
              </a:solidFill>
              <a:latin typeface="Courier"/>
              <a:cs typeface="Courier"/>
            </a:endParaRPr>
          </a:p>
          <a:p>
            <a:r>
              <a:rPr lang="en-US" sz="1150" dirty="0">
                <a:solidFill>
                  <a:srgbClr val="FFFF00"/>
                </a:solidFill>
                <a:latin typeface="Courier"/>
                <a:cs typeface="Courier"/>
              </a:rPr>
              <a:t># Plot:</a:t>
            </a:r>
          </a:p>
          <a:p>
            <a:r>
              <a:rPr lang="en-US" sz="1150" dirty="0">
                <a:solidFill>
                  <a:srgbClr val="FFFF00"/>
                </a:solidFill>
                <a:latin typeface="Courier"/>
                <a:cs typeface="Courier"/>
              </a:rPr>
              <a:t># Significance plot:</a:t>
            </a:r>
          </a:p>
          <a:p>
            <a:r>
              <a:rPr lang="en-US" sz="1150" dirty="0">
                <a:solidFill>
                  <a:schemeClr val="bg1"/>
                </a:solidFill>
                <a:latin typeface="Courier"/>
                <a:cs typeface="Courier"/>
              </a:rPr>
              <a:t>plot(k, </a:t>
            </a:r>
            <a:r>
              <a:rPr lang="en-US" sz="1150" dirty="0" err="1">
                <a:solidFill>
                  <a:schemeClr val="bg1"/>
                </a:solidFill>
                <a:latin typeface="Courier"/>
                <a:cs typeface="Courier"/>
              </a:rPr>
              <a:t>pvals</a:t>
            </a:r>
            <a:r>
              <a:rPr lang="en-US" sz="1150" dirty="0">
                <a:solidFill>
                  <a:schemeClr val="bg1"/>
                </a:solidFill>
                <a:latin typeface="Courier"/>
                <a:cs typeface="Courier"/>
              </a:rPr>
              <a:t>, </a:t>
            </a:r>
            <a:r>
              <a:rPr lang="en-US" sz="1150" dirty="0" err="1">
                <a:solidFill>
                  <a:schemeClr val="bg1"/>
                </a:solidFill>
                <a:latin typeface="Courier"/>
                <a:cs typeface="Courier"/>
              </a:rPr>
              <a:t>typ</a:t>
            </a:r>
            <a:r>
              <a:rPr lang="en-US" sz="1150" dirty="0">
                <a:solidFill>
                  <a:schemeClr val="bg1"/>
                </a:solidFill>
                <a:latin typeface="Courier"/>
                <a:cs typeface="Courier"/>
              </a:rPr>
              <a:t>=</a:t>
            </a:r>
            <a:r>
              <a:rPr lang="en-US" sz="1150" dirty="0">
                <a:solidFill>
                  <a:srgbClr val="00B050"/>
                </a:solidFill>
                <a:latin typeface="Courier"/>
                <a:cs typeface="Courier"/>
              </a:rPr>
              <a:t>"h"</a:t>
            </a:r>
            <a:r>
              <a:rPr lang="en-US" sz="1150" dirty="0">
                <a:solidFill>
                  <a:schemeClr val="bg1"/>
                </a:solidFill>
                <a:latin typeface="Courier"/>
                <a:cs typeface="Courier"/>
              </a:rPr>
              <a:t>, </a:t>
            </a:r>
            <a:r>
              <a:rPr lang="en-US" sz="1150" dirty="0" err="1">
                <a:solidFill>
                  <a:schemeClr val="bg1"/>
                </a:solidFill>
                <a:latin typeface="Courier"/>
                <a:cs typeface="Courier"/>
              </a:rPr>
              <a:t>xlab</a:t>
            </a:r>
            <a:r>
              <a:rPr lang="en-US" sz="1150" dirty="0">
                <a:solidFill>
                  <a:schemeClr val="bg1"/>
                </a:solidFill>
                <a:latin typeface="Courier"/>
                <a:cs typeface="Courier"/>
              </a:rPr>
              <a:t>=</a:t>
            </a:r>
            <a:r>
              <a:rPr lang="en-US" sz="1150" dirty="0">
                <a:solidFill>
                  <a:srgbClr val="00B050"/>
                </a:solidFill>
                <a:latin typeface="Courier"/>
                <a:cs typeface="Courier"/>
              </a:rPr>
              <a:t>"sample size (k)"</a:t>
            </a:r>
            <a:r>
              <a:rPr lang="en-US" sz="1150" dirty="0">
                <a:solidFill>
                  <a:schemeClr val="bg1"/>
                </a:solidFill>
                <a:latin typeface="Courier"/>
                <a:cs typeface="Courier"/>
              </a:rPr>
              <a:t>, </a:t>
            </a:r>
            <a:r>
              <a:rPr lang="en-US" sz="1150" dirty="0" err="1">
                <a:solidFill>
                  <a:schemeClr val="bg1"/>
                </a:solidFill>
                <a:latin typeface="Courier"/>
                <a:cs typeface="Courier"/>
              </a:rPr>
              <a:t>ylab</a:t>
            </a:r>
            <a:r>
              <a:rPr lang="en-US" sz="1150" dirty="0">
                <a:solidFill>
                  <a:schemeClr val="bg1"/>
                </a:solidFill>
                <a:latin typeface="Courier"/>
                <a:cs typeface="Courier"/>
              </a:rPr>
              <a:t>=</a:t>
            </a:r>
            <a:r>
              <a:rPr lang="en-US" sz="1150" dirty="0">
                <a:solidFill>
                  <a:srgbClr val="00B050"/>
                </a:solidFill>
                <a:latin typeface="Courier"/>
                <a:cs typeface="Courier"/>
              </a:rPr>
              <a:t>"p-value"</a:t>
            </a:r>
            <a:r>
              <a:rPr lang="en-US" sz="1150" dirty="0">
                <a:solidFill>
                  <a:schemeClr val="bg1"/>
                </a:solidFill>
                <a:latin typeface="Courier"/>
                <a:cs typeface="Courier"/>
              </a:rPr>
              <a:t>, </a:t>
            </a:r>
          </a:p>
          <a:p>
            <a:r>
              <a:rPr lang="en-US" sz="1150" dirty="0">
                <a:solidFill>
                  <a:schemeClr val="bg1"/>
                </a:solidFill>
                <a:latin typeface="Courier"/>
                <a:cs typeface="Courier"/>
              </a:rPr>
              <a:t>                        main=paste0(</a:t>
            </a:r>
            <a:r>
              <a:rPr lang="en-US" sz="1150" dirty="0">
                <a:solidFill>
                  <a:srgbClr val="00B050"/>
                </a:solidFill>
                <a:latin typeface="Courier"/>
                <a:cs typeface="Courier"/>
              </a:rPr>
              <a:t>"H0: pi &lt;= "</a:t>
            </a:r>
            <a:r>
              <a:rPr lang="en-US" sz="1150" dirty="0">
                <a:solidFill>
                  <a:schemeClr val="bg1"/>
                </a:solidFill>
                <a:latin typeface="Courier"/>
                <a:cs typeface="Courier"/>
              </a:rPr>
              <a:t>, </a:t>
            </a:r>
            <a:r>
              <a:rPr lang="en-US" sz="1150" dirty="0" err="1">
                <a:solidFill>
                  <a:schemeClr val="bg1"/>
                </a:solidFill>
                <a:latin typeface="Courier"/>
                <a:cs typeface="Courier"/>
              </a:rPr>
              <a:t>p.pos</a:t>
            </a:r>
            <a:r>
              <a:rPr lang="en-US" sz="1150" dirty="0">
                <a:solidFill>
                  <a:schemeClr val="bg1"/>
                </a:solidFill>
                <a:latin typeface="Courier"/>
                <a:cs typeface="Courier"/>
              </a:rPr>
              <a:t>, </a:t>
            </a:r>
            <a:r>
              <a:rPr lang="en-US" sz="1150" dirty="0">
                <a:solidFill>
                  <a:srgbClr val="00B050"/>
                </a:solidFill>
                <a:latin typeface="Courier"/>
                <a:cs typeface="Courier"/>
              </a:rPr>
              <a:t>" vs. Ha: pi &gt; "</a:t>
            </a:r>
            <a:r>
              <a:rPr lang="en-US" sz="1150" dirty="0">
                <a:solidFill>
                  <a:schemeClr val="bg1"/>
                </a:solidFill>
                <a:latin typeface="Courier"/>
                <a:cs typeface="Courier"/>
              </a:rPr>
              <a:t>, </a:t>
            </a:r>
            <a:r>
              <a:rPr lang="en-US" sz="1150" dirty="0" err="1">
                <a:solidFill>
                  <a:schemeClr val="bg1"/>
                </a:solidFill>
                <a:latin typeface="Courier"/>
                <a:cs typeface="Courier"/>
              </a:rPr>
              <a:t>p.pos</a:t>
            </a:r>
            <a:r>
              <a:rPr lang="en-US" sz="1150" dirty="0">
                <a:solidFill>
                  <a:schemeClr val="bg1"/>
                </a:solidFill>
                <a:latin typeface="Courier"/>
                <a:cs typeface="Courier"/>
              </a:rPr>
              <a:t>))</a:t>
            </a:r>
          </a:p>
          <a:p>
            <a:r>
              <a:rPr lang="en-US" sz="1150" dirty="0" err="1">
                <a:solidFill>
                  <a:schemeClr val="bg1"/>
                </a:solidFill>
                <a:latin typeface="Courier"/>
                <a:cs typeface="Courier"/>
              </a:rPr>
              <a:t>abline</a:t>
            </a:r>
            <a:r>
              <a:rPr lang="en-US" sz="1150" dirty="0">
                <a:solidFill>
                  <a:schemeClr val="bg1"/>
                </a:solidFill>
                <a:latin typeface="Courier"/>
                <a:cs typeface="Courier"/>
              </a:rPr>
              <a:t>(a = alp, b=0) </a:t>
            </a:r>
            <a:r>
              <a:rPr lang="en-US" sz="1150" dirty="0">
                <a:solidFill>
                  <a:srgbClr val="FFFF00"/>
                </a:solidFill>
                <a:latin typeface="Courier"/>
                <a:cs typeface="Courier"/>
              </a:rPr>
              <a:t># Significance threshold line</a:t>
            </a:r>
          </a:p>
          <a:p>
            <a:endParaRPr lang="en-US" sz="1150" dirty="0">
              <a:solidFill>
                <a:schemeClr val="bg1"/>
              </a:solidFill>
              <a:latin typeface="Courier"/>
              <a:cs typeface="Courier"/>
            </a:endParaRPr>
          </a:p>
          <a:p>
            <a:r>
              <a:rPr lang="en-US" sz="1150" dirty="0">
                <a:solidFill>
                  <a:srgbClr val="FFFF00"/>
                </a:solidFill>
                <a:latin typeface="Courier"/>
                <a:cs typeface="Courier"/>
              </a:rPr>
              <a:t># Confidence plot:</a:t>
            </a:r>
          </a:p>
          <a:p>
            <a:r>
              <a:rPr lang="en-US" sz="1150" dirty="0">
                <a:solidFill>
                  <a:schemeClr val="bg1"/>
                </a:solidFill>
                <a:latin typeface="Courier"/>
                <a:cs typeface="Courier"/>
              </a:rPr>
              <a:t>plot(k, </a:t>
            </a:r>
            <a:r>
              <a:rPr lang="en-US" sz="1150" dirty="0" err="1">
                <a:solidFill>
                  <a:schemeClr val="bg1"/>
                </a:solidFill>
                <a:latin typeface="Courier"/>
                <a:cs typeface="Courier"/>
              </a:rPr>
              <a:t>eff.confs</a:t>
            </a:r>
            <a:r>
              <a:rPr lang="en-US" sz="1150" dirty="0">
                <a:solidFill>
                  <a:schemeClr val="bg1"/>
                </a:solidFill>
                <a:latin typeface="Courier"/>
                <a:cs typeface="Courier"/>
              </a:rPr>
              <a:t>, </a:t>
            </a:r>
            <a:r>
              <a:rPr lang="en-US" sz="1150" dirty="0" err="1">
                <a:solidFill>
                  <a:schemeClr val="bg1"/>
                </a:solidFill>
                <a:latin typeface="Courier"/>
                <a:cs typeface="Courier"/>
              </a:rPr>
              <a:t>typ</a:t>
            </a:r>
            <a:r>
              <a:rPr lang="en-US" sz="1150" dirty="0">
                <a:solidFill>
                  <a:schemeClr val="bg1"/>
                </a:solidFill>
                <a:latin typeface="Courier"/>
                <a:cs typeface="Courier"/>
              </a:rPr>
              <a:t>=</a:t>
            </a:r>
            <a:r>
              <a:rPr lang="en-US" sz="1150" dirty="0">
                <a:solidFill>
                  <a:srgbClr val="00B050"/>
                </a:solidFill>
                <a:latin typeface="Courier"/>
                <a:cs typeface="Courier"/>
              </a:rPr>
              <a:t>"h"</a:t>
            </a:r>
            <a:r>
              <a:rPr lang="en-US" sz="1150" dirty="0">
                <a:solidFill>
                  <a:schemeClr val="bg1"/>
                </a:solidFill>
                <a:latin typeface="Courier"/>
                <a:cs typeface="Courier"/>
              </a:rPr>
              <a:t>, </a:t>
            </a:r>
            <a:r>
              <a:rPr lang="en-US" sz="1150" dirty="0" err="1">
                <a:solidFill>
                  <a:schemeClr val="bg1"/>
                </a:solidFill>
                <a:latin typeface="Courier"/>
                <a:cs typeface="Courier"/>
              </a:rPr>
              <a:t>xlab</a:t>
            </a:r>
            <a:r>
              <a:rPr lang="en-US" sz="1150" dirty="0">
                <a:solidFill>
                  <a:schemeClr val="bg1"/>
                </a:solidFill>
                <a:latin typeface="Courier"/>
                <a:cs typeface="Courier"/>
              </a:rPr>
              <a:t>=</a:t>
            </a:r>
            <a:r>
              <a:rPr lang="en-US" sz="1150" dirty="0">
                <a:solidFill>
                  <a:srgbClr val="00B050"/>
                </a:solidFill>
                <a:latin typeface="Courier"/>
                <a:cs typeface="Courier"/>
              </a:rPr>
              <a:t>"sample size (k)"</a:t>
            </a:r>
            <a:r>
              <a:rPr lang="en-US" sz="1150" dirty="0">
                <a:solidFill>
                  <a:schemeClr val="bg1"/>
                </a:solidFill>
                <a:latin typeface="Courier"/>
                <a:cs typeface="Courier"/>
              </a:rPr>
              <a:t>, </a:t>
            </a:r>
            <a:r>
              <a:rPr lang="en-US" sz="1150" dirty="0" err="1">
                <a:solidFill>
                  <a:schemeClr val="bg1"/>
                </a:solidFill>
                <a:latin typeface="Courier"/>
                <a:cs typeface="Courier"/>
              </a:rPr>
              <a:t>ylab</a:t>
            </a:r>
            <a:r>
              <a:rPr lang="en-US" sz="1150" dirty="0">
                <a:solidFill>
                  <a:schemeClr val="bg1"/>
                </a:solidFill>
                <a:latin typeface="Courier"/>
                <a:cs typeface="Courier"/>
              </a:rPr>
              <a:t>=</a:t>
            </a:r>
            <a:r>
              <a:rPr lang="en-US" sz="1150" dirty="0">
                <a:solidFill>
                  <a:srgbClr val="00B050"/>
                </a:solidFill>
                <a:latin typeface="Courier"/>
                <a:cs typeface="Courier"/>
              </a:rPr>
              <a:t>"Conf. (%)"</a:t>
            </a:r>
            <a:r>
              <a:rPr lang="en-US" sz="1150" dirty="0">
                <a:solidFill>
                  <a:schemeClr val="bg1"/>
                </a:solidFill>
                <a:latin typeface="Courier"/>
                <a:cs typeface="Courier"/>
              </a:rPr>
              <a:t>, </a:t>
            </a:r>
          </a:p>
          <a:p>
            <a:r>
              <a:rPr lang="en-US" sz="1150" dirty="0">
                <a:solidFill>
                  <a:schemeClr val="bg1"/>
                </a:solidFill>
                <a:latin typeface="Courier"/>
                <a:cs typeface="Courier"/>
              </a:rPr>
              <a:t>                            main=paste0(</a:t>
            </a:r>
            <a:r>
              <a:rPr lang="en-US" sz="1150" dirty="0">
                <a:solidFill>
                  <a:srgbClr val="00B050"/>
                </a:solidFill>
                <a:latin typeface="Courier"/>
                <a:cs typeface="Courier"/>
              </a:rPr>
              <a:t>"H0: pi &lt;= "</a:t>
            </a:r>
            <a:r>
              <a:rPr lang="en-US" sz="1150" dirty="0">
                <a:solidFill>
                  <a:schemeClr val="bg1"/>
                </a:solidFill>
                <a:latin typeface="Courier"/>
                <a:cs typeface="Courier"/>
              </a:rPr>
              <a:t>, </a:t>
            </a:r>
            <a:r>
              <a:rPr lang="en-US" sz="1150" dirty="0" err="1">
                <a:solidFill>
                  <a:schemeClr val="bg1"/>
                </a:solidFill>
                <a:latin typeface="Courier"/>
                <a:cs typeface="Courier"/>
              </a:rPr>
              <a:t>p.pos</a:t>
            </a:r>
            <a:r>
              <a:rPr lang="en-US" sz="1150" dirty="0">
                <a:solidFill>
                  <a:schemeClr val="bg1"/>
                </a:solidFill>
                <a:latin typeface="Courier"/>
                <a:cs typeface="Courier"/>
              </a:rPr>
              <a:t>, </a:t>
            </a:r>
            <a:r>
              <a:rPr lang="en-US" sz="1150" dirty="0">
                <a:solidFill>
                  <a:srgbClr val="00B050"/>
                </a:solidFill>
                <a:latin typeface="Courier"/>
                <a:cs typeface="Courier"/>
              </a:rPr>
              <a:t>" vs. Ha: pi &gt; "</a:t>
            </a:r>
            <a:r>
              <a:rPr lang="en-US" sz="1150" dirty="0">
                <a:solidFill>
                  <a:schemeClr val="bg1"/>
                </a:solidFill>
                <a:latin typeface="Courier"/>
                <a:cs typeface="Courier"/>
              </a:rPr>
              <a:t>, </a:t>
            </a:r>
            <a:r>
              <a:rPr lang="en-US" sz="1150" dirty="0" err="1">
                <a:solidFill>
                  <a:schemeClr val="bg1"/>
                </a:solidFill>
                <a:latin typeface="Courier"/>
                <a:cs typeface="Courier"/>
              </a:rPr>
              <a:t>p.pos</a:t>
            </a:r>
            <a:r>
              <a:rPr lang="en-US" sz="1150" dirty="0">
                <a:solidFill>
                  <a:schemeClr val="bg1"/>
                </a:solidFill>
                <a:latin typeface="Courier"/>
                <a:cs typeface="Courier"/>
              </a:rPr>
              <a:t>))</a:t>
            </a:r>
          </a:p>
          <a:p>
            <a:r>
              <a:rPr lang="en-US" sz="1150" dirty="0" err="1">
                <a:solidFill>
                  <a:schemeClr val="bg1"/>
                </a:solidFill>
                <a:latin typeface="Courier"/>
                <a:cs typeface="Courier"/>
              </a:rPr>
              <a:t>abline</a:t>
            </a:r>
            <a:r>
              <a:rPr lang="en-US" sz="1150" dirty="0">
                <a:solidFill>
                  <a:schemeClr val="bg1"/>
                </a:solidFill>
                <a:latin typeface="Courier"/>
                <a:cs typeface="Courier"/>
              </a:rPr>
              <a:t>(a = conf*100, b=0) </a:t>
            </a:r>
            <a:r>
              <a:rPr lang="en-US" sz="1150" dirty="0">
                <a:solidFill>
                  <a:srgbClr val="FFFF00"/>
                </a:solidFill>
                <a:latin typeface="Courier"/>
                <a:cs typeface="Courier"/>
              </a:rPr>
              <a:t># Confidence threshold line</a:t>
            </a:r>
          </a:p>
        </p:txBody>
      </p:sp>
      <p:pic>
        <p:nvPicPr>
          <p:cNvPr id="3" name="Picture 2">
            <a:extLst>
              <a:ext uri="{FF2B5EF4-FFF2-40B4-BE49-F238E27FC236}">
                <a16:creationId xmlns:a16="http://schemas.microsoft.com/office/drawing/2014/main" id="{8073A2F8-16FF-5234-B5E6-83FA0323B075}"/>
              </a:ext>
            </a:extLst>
          </p:cNvPr>
          <p:cNvPicPr>
            <a:picLocks noChangeAspect="1" noChangeArrowheads="1"/>
          </p:cNvPicPr>
          <p:nvPr/>
        </p:nvPicPr>
        <p:blipFill>
          <a:blip r:embed="rId2" cstate="print"/>
          <a:srcRect/>
          <a:stretch>
            <a:fillRect/>
          </a:stretch>
        </p:blipFill>
        <p:spPr bwMode="auto">
          <a:xfrm>
            <a:off x="484188" y="104704"/>
            <a:ext cx="8202612" cy="239712"/>
          </a:xfrm>
          <a:prstGeom prst="rect">
            <a:avLst/>
          </a:prstGeom>
          <a:noFill/>
          <a:ln w="9525">
            <a:noFill/>
            <a:round/>
            <a:headEnd/>
            <a:tailEnd/>
          </a:ln>
        </p:spPr>
      </p:pic>
      <p:sp>
        <p:nvSpPr>
          <p:cNvPr id="4" name="TextBox 3">
            <a:extLst>
              <a:ext uri="{FF2B5EF4-FFF2-40B4-BE49-F238E27FC236}">
                <a16:creationId xmlns:a16="http://schemas.microsoft.com/office/drawing/2014/main" id="{5B344EA9-0D3B-7AA2-DE6B-D4E786432546}"/>
              </a:ext>
            </a:extLst>
          </p:cNvPr>
          <p:cNvSpPr txBox="1"/>
          <p:nvPr/>
        </p:nvSpPr>
        <p:spPr>
          <a:xfrm>
            <a:off x="5280660" y="3946598"/>
            <a:ext cx="3406140" cy="369332"/>
          </a:xfrm>
          <a:prstGeom prst="rect">
            <a:avLst/>
          </a:prstGeom>
          <a:solidFill>
            <a:schemeClr val="bg1"/>
          </a:solidFill>
        </p:spPr>
        <p:txBody>
          <a:bodyPr wrap="square">
            <a:spAutoFit/>
          </a:bodyPr>
          <a:lstStyle/>
          <a:p>
            <a:r>
              <a:rPr lang="en-US" dirty="0">
                <a:latin typeface="Times New Roman" panose="02020603050405020304" pitchFamily="18" charset="0"/>
                <a:cs typeface="Times New Roman" panose="02020603050405020304" pitchFamily="18" charset="0"/>
                <a:hlinkClick r:id="rId3"/>
              </a:rPr>
              <a:t>hypergeometric_samp_size_ex1.R</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27652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71A1483-8ECE-C323-D370-EC5216A59D8F}"/>
              </a:ext>
            </a:extLst>
          </p:cNvPr>
          <p:cNvPicPr>
            <a:picLocks noChangeAspect="1" noChangeArrowheads="1"/>
          </p:cNvPicPr>
          <p:nvPr/>
        </p:nvPicPr>
        <p:blipFill>
          <a:blip r:embed="rId2" cstate="print"/>
          <a:srcRect/>
          <a:stretch>
            <a:fillRect/>
          </a:stretch>
        </p:blipFill>
        <p:spPr bwMode="auto">
          <a:xfrm>
            <a:off x="484188" y="104704"/>
            <a:ext cx="8202612" cy="239712"/>
          </a:xfrm>
          <a:prstGeom prst="rect">
            <a:avLst/>
          </a:prstGeom>
          <a:noFill/>
          <a:ln w="9525">
            <a:noFill/>
            <a:round/>
            <a:headEnd/>
            <a:tailEnd/>
          </a:ln>
        </p:spPr>
      </p:pic>
      <p:pic>
        <p:nvPicPr>
          <p:cNvPr id="3" name="Picture 2">
            <a:extLst>
              <a:ext uri="{FF2B5EF4-FFF2-40B4-BE49-F238E27FC236}">
                <a16:creationId xmlns:a16="http://schemas.microsoft.com/office/drawing/2014/main" id="{80322E15-37C7-9FC3-3BE2-E4C84AC3BFAC}"/>
              </a:ext>
            </a:extLst>
          </p:cNvPr>
          <p:cNvPicPr>
            <a:picLocks noChangeAspect="1"/>
          </p:cNvPicPr>
          <p:nvPr/>
        </p:nvPicPr>
        <p:blipFill>
          <a:blip r:embed="rId3"/>
          <a:stretch>
            <a:fillRect/>
          </a:stretch>
        </p:blipFill>
        <p:spPr>
          <a:xfrm>
            <a:off x="4544510" y="1477478"/>
            <a:ext cx="4477233" cy="3723172"/>
          </a:xfrm>
          <a:prstGeom prst="rect">
            <a:avLst/>
          </a:prstGeom>
        </p:spPr>
      </p:pic>
      <p:sp>
        <p:nvSpPr>
          <p:cNvPr id="4" name="TextBox 3">
            <a:extLst>
              <a:ext uri="{FF2B5EF4-FFF2-40B4-BE49-F238E27FC236}">
                <a16:creationId xmlns:a16="http://schemas.microsoft.com/office/drawing/2014/main" id="{A0257BC4-25ED-0EDE-6339-5A7E783C482C}"/>
              </a:ext>
            </a:extLst>
          </p:cNvPr>
          <p:cNvSpPr txBox="1"/>
          <p:nvPr/>
        </p:nvSpPr>
        <p:spPr>
          <a:xfrm>
            <a:off x="5405132" y="5494822"/>
            <a:ext cx="3313728" cy="923330"/>
          </a:xfrm>
          <a:prstGeom prst="rect">
            <a:avLst/>
          </a:prstGeom>
          <a:noFill/>
        </p:spPr>
        <p:txBody>
          <a:bodyPr wrap="none" rtlCol="0">
            <a:spAutoFit/>
          </a:bodyPr>
          <a:lstStyle/>
          <a:p>
            <a:pPr algn="ct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=100</a:t>
            </a:r>
          </a:p>
          <a:p>
            <a:pPr algn="ctr"/>
            <a:r>
              <a:rPr lang="en-US" i="1" dirty="0" err="1">
                <a:latin typeface="Times New Roman" panose="02020603050405020304" pitchFamily="18" charset="0"/>
                <a:cs typeface="Times New Roman" panose="02020603050405020304" pitchFamily="18" charset="0"/>
              </a:rPr>
              <a:t>p</a:t>
            </a:r>
            <a:r>
              <a:rPr lang="en-US" baseline="-25000" dirty="0" err="1">
                <a:latin typeface="Times New Roman" panose="02020603050405020304" pitchFamily="18" charset="0"/>
                <a:cs typeface="Times New Roman" panose="02020603050405020304" pitchFamily="18" charset="0"/>
              </a:rPr>
              <a:t>pop</a:t>
            </a:r>
            <a:r>
              <a:rPr lang="en-US" dirty="0">
                <a:latin typeface="Times New Roman" panose="02020603050405020304" pitchFamily="18" charset="0"/>
                <a:cs typeface="Times New Roman" panose="02020603050405020304" pitchFamily="18" charset="0"/>
              </a:rPr>
              <a:t>=70%</a:t>
            </a:r>
          </a:p>
          <a:p>
            <a:pPr algn="ctr"/>
            <a:r>
              <a:rPr lang="en-US" b="1" u="sng" dirty="0">
                <a:latin typeface="Times New Roman" panose="02020603050405020304" pitchFamily="18" charset="0"/>
                <a:cs typeface="Times New Roman" panose="02020603050405020304" pitchFamily="18" charset="0"/>
              </a:rPr>
              <a:t>One negative</a:t>
            </a:r>
            <a:r>
              <a:rPr lang="en-US" dirty="0">
                <a:latin typeface="Times New Roman" panose="02020603050405020304" pitchFamily="18" charset="0"/>
                <a:cs typeface="Times New Roman" panose="02020603050405020304" pitchFamily="18" charset="0"/>
              </a:rPr>
              <a:t> in sample observed</a:t>
            </a:r>
          </a:p>
        </p:txBody>
      </p:sp>
      <p:sp>
        <p:nvSpPr>
          <p:cNvPr id="5" name="TextBox 4">
            <a:extLst>
              <a:ext uri="{FF2B5EF4-FFF2-40B4-BE49-F238E27FC236}">
                <a16:creationId xmlns:a16="http://schemas.microsoft.com/office/drawing/2014/main" id="{31484FC5-9CDE-E93A-792D-3EC4F122F017}"/>
              </a:ext>
            </a:extLst>
          </p:cNvPr>
          <p:cNvSpPr txBox="1"/>
          <p:nvPr/>
        </p:nvSpPr>
        <p:spPr>
          <a:xfrm>
            <a:off x="391354" y="5494822"/>
            <a:ext cx="3275256" cy="923330"/>
          </a:xfrm>
          <a:prstGeom prst="rect">
            <a:avLst/>
          </a:prstGeom>
          <a:noFill/>
        </p:spPr>
        <p:txBody>
          <a:bodyPr wrap="none" rtlCol="0">
            <a:spAutoFit/>
          </a:bodyPr>
          <a:lstStyle/>
          <a:p>
            <a:pPr algn="ct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=100</a:t>
            </a:r>
          </a:p>
          <a:p>
            <a:pPr algn="ctr"/>
            <a:r>
              <a:rPr lang="en-US" i="1" dirty="0" err="1">
                <a:latin typeface="Times New Roman" panose="02020603050405020304" pitchFamily="18" charset="0"/>
                <a:cs typeface="Times New Roman" panose="02020603050405020304" pitchFamily="18" charset="0"/>
              </a:rPr>
              <a:t>p</a:t>
            </a:r>
            <a:r>
              <a:rPr lang="en-US" baseline="-25000" dirty="0" err="1">
                <a:latin typeface="Times New Roman" panose="02020603050405020304" pitchFamily="18" charset="0"/>
                <a:cs typeface="Times New Roman" panose="02020603050405020304" pitchFamily="18" charset="0"/>
              </a:rPr>
              <a:t>pop</a:t>
            </a:r>
            <a:r>
              <a:rPr lang="en-US" dirty="0">
                <a:latin typeface="Times New Roman" panose="02020603050405020304" pitchFamily="18" charset="0"/>
                <a:cs typeface="Times New Roman" panose="02020603050405020304" pitchFamily="18" charset="0"/>
              </a:rPr>
              <a:t>=70%</a:t>
            </a:r>
          </a:p>
          <a:p>
            <a:pPr algn="ctr"/>
            <a:r>
              <a:rPr lang="en-US" b="1" u="sng" dirty="0">
                <a:latin typeface="Times New Roman" panose="02020603050405020304" pitchFamily="18" charset="0"/>
                <a:cs typeface="Times New Roman" panose="02020603050405020304" pitchFamily="18" charset="0"/>
              </a:rPr>
              <a:t>No negatives</a:t>
            </a:r>
            <a:r>
              <a:rPr lang="en-US" dirty="0">
                <a:latin typeface="Times New Roman" panose="02020603050405020304" pitchFamily="18" charset="0"/>
                <a:cs typeface="Times New Roman" panose="02020603050405020304" pitchFamily="18" charset="0"/>
              </a:rPr>
              <a:t> in sample observed</a:t>
            </a:r>
          </a:p>
        </p:txBody>
      </p:sp>
      <p:pic>
        <p:nvPicPr>
          <p:cNvPr id="6" name="Picture 5">
            <a:extLst>
              <a:ext uri="{FF2B5EF4-FFF2-40B4-BE49-F238E27FC236}">
                <a16:creationId xmlns:a16="http://schemas.microsoft.com/office/drawing/2014/main" id="{ED10B455-0F17-A949-BDC8-FD7121251284}"/>
              </a:ext>
            </a:extLst>
          </p:cNvPr>
          <p:cNvPicPr>
            <a:picLocks noChangeAspect="1"/>
          </p:cNvPicPr>
          <p:nvPr/>
        </p:nvPicPr>
        <p:blipFill>
          <a:blip r:embed="rId4"/>
          <a:stretch>
            <a:fillRect/>
          </a:stretch>
        </p:blipFill>
        <p:spPr>
          <a:xfrm>
            <a:off x="67277" y="1477478"/>
            <a:ext cx="4477233" cy="3723173"/>
          </a:xfrm>
          <a:prstGeom prst="rect">
            <a:avLst/>
          </a:prstGeom>
        </p:spPr>
      </p:pic>
      <p:cxnSp>
        <p:nvCxnSpPr>
          <p:cNvPr id="8" name="Straight Arrow Connector 7">
            <a:extLst>
              <a:ext uri="{FF2B5EF4-FFF2-40B4-BE49-F238E27FC236}">
                <a16:creationId xmlns:a16="http://schemas.microsoft.com/office/drawing/2014/main" id="{B543B07B-B878-46E8-375D-1DA90E989FE6}"/>
              </a:ext>
            </a:extLst>
          </p:cNvPr>
          <p:cNvCxnSpPr>
            <a:cxnSpLocks/>
          </p:cNvCxnSpPr>
          <p:nvPr/>
        </p:nvCxnSpPr>
        <p:spPr>
          <a:xfrm>
            <a:off x="922864" y="1165860"/>
            <a:ext cx="0" cy="914400"/>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6AF2309-F1CF-F8F0-081C-B4C791E745DA}"/>
              </a:ext>
            </a:extLst>
          </p:cNvPr>
          <p:cNvCxnSpPr>
            <a:cxnSpLocks/>
          </p:cNvCxnSpPr>
          <p:nvPr/>
        </p:nvCxnSpPr>
        <p:spPr>
          <a:xfrm>
            <a:off x="5590114" y="1165860"/>
            <a:ext cx="0" cy="864068"/>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A82A6BC-6A87-3865-EC4E-CBFBB1238172}"/>
              </a:ext>
            </a:extLst>
          </p:cNvPr>
          <p:cNvCxnSpPr>
            <a:cxnSpLocks/>
          </p:cNvCxnSpPr>
          <p:nvPr/>
        </p:nvCxnSpPr>
        <p:spPr>
          <a:xfrm flipH="1" flipV="1">
            <a:off x="915244" y="4770120"/>
            <a:ext cx="0" cy="457200"/>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3FE5E0E8-7B5D-5E25-F3F5-DCA745484FD0}"/>
              </a:ext>
            </a:extLst>
          </p:cNvPr>
          <p:cNvCxnSpPr>
            <a:cxnSpLocks/>
          </p:cNvCxnSpPr>
          <p:nvPr/>
        </p:nvCxnSpPr>
        <p:spPr>
          <a:xfrm flipH="1" flipV="1">
            <a:off x="5590114" y="4652010"/>
            <a:ext cx="0" cy="548640"/>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3A9A8E6-0629-ECBA-89F6-EC60C6918059}"/>
              </a:ext>
            </a:extLst>
          </p:cNvPr>
          <p:cNvSpPr txBox="1"/>
          <p:nvPr/>
        </p:nvSpPr>
        <p:spPr>
          <a:xfrm>
            <a:off x="85821" y="5152905"/>
            <a:ext cx="1943161" cy="292388"/>
          </a:xfrm>
          <a:prstGeom prst="rect">
            <a:avLst/>
          </a:prstGeom>
          <a:noFill/>
        </p:spPr>
        <p:txBody>
          <a:bodyPr wrap="none" rtlCol="0">
            <a:spAutoFit/>
          </a:bodyPr>
          <a:lstStyle/>
          <a:p>
            <a:r>
              <a:rPr lang="en-US" sz="1300" dirty="0">
                <a:latin typeface="Times New Roman" panose="02020603050405020304" pitchFamily="18" charset="0"/>
                <a:cs typeface="Times New Roman" panose="02020603050405020304" pitchFamily="18" charset="0"/>
              </a:rPr>
              <a:t>sample size should be </a:t>
            </a:r>
            <a:r>
              <a:rPr lang="en-US" sz="1300" i="1" dirty="0">
                <a:latin typeface="Times New Roman" panose="02020603050405020304" pitchFamily="18" charset="0"/>
                <a:cs typeface="Times New Roman" panose="02020603050405020304" pitchFamily="18" charset="0"/>
              </a:rPr>
              <a:t>k</a:t>
            </a:r>
            <a:r>
              <a:rPr lang="en-US" sz="1300" dirty="0">
                <a:latin typeface="Times New Roman" panose="02020603050405020304" pitchFamily="18" charset="0"/>
                <a:cs typeface="Times New Roman" panose="02020603050405020304" pitchFamily="18" charset="0"/>
              </a:rPr>
              <a:t>=8</a:t>
            </a:r>
          </a:p>
        </p:txBody>
      </p:sp>
      <p:sp>
        <p:nvSpPr>
          <p:cNvPr id="20" name="TextBox 19">
            <a:extLst>
              <a:ext uri="{FF2B5EF4-FFF2-40B4-BE49-F238E27FC236}">
                <a16:creationId xmlns:a16="http://schemas.microsoft.com/office/drawing/2014/main" id="{B1DE7A13-C75A-A002-9908-6EA084FB29C8}"/>
              </a:ext>
            </a:extLst>
          </p:cNvPr>
          <p:cNvSpPr txBox="1"/>
          <p:nvPr/>
        </p:nvSpPr>
        <p:spPr>
          <a:xfrm>
            <a:off x="4764356" y="5152905"/>
            <a:ext cx="2016899" cy="292388"/>
          </a:xfrm>
          <a:prstGeom prst="rect">
            <a:avLst/>
          </a:prstGeom>
          <a:noFill/>
        </p:spPr>
        <p:txBody>
          <a:bodyPr wrap="none" rtlCol="0">
            <a:spAutoFit/>
          </a:bodyPr>
          <a:lstStyle/>
          <a:p>
            <a:r>
              <a:rPr lang="en-US" sz="1300" dirty="0">
                <a:latin typeface="Times New Roman" panose="02020603050405020304" pitchFamily="18" charset="0"/>
                <a:cs typeface="Times New Roman" panose="02020603050405020304" pitchFamily="18" charset="0"/>
              </a:rPr>
              <a:t>sample size should be </a:t>
            </a:r>
            <a:r>
              <a:rPr lang="en-US" sz="1300" i="1" dirty="0">
                <a:latin typeface="Times New Roman" panose="02020603050405020304" pitchFamily="18" charset="0"/>
                <a:cs typeface="Times New Roman" panose="02020603050405020304" pitchFamily="18" charset="0"/>
              </a:rPr>
              <a:t>k</a:t>
            </a:r>
            <a:r>
              <a:rPr lang="en-US" sz="1300" dirty="0">
                <a:latin typeface="Times New Roman" panose="02020603050405020304" pitchFamily="18" charset="0"/>
                <a:cs typeface="Times New Roman" panose="02020603050405020304" pitchFamily="18" charset="0"/>
              </a:rPr>
              <a:t>=13</a:t>
            </a:r>
          </a:p>
        </p:txBody>
      </p:sp>
      <p:sp>
        <p:nvSpPr>
          <p:cNvPr id="21" name="TextBox 20">
            <a:extLst>
              <a:ext uri="{FF2B5EF4-FFF2-40B4-BE49-F238E27FC236}">
                <a16:creationId xmlns:a16="http://schemas.microsoft.com/office/drawing/2014/main" id="{6788408E-EB2F-A210-2E33-A018882AF67F}"/>
              </a:ext>
            </a:extLst>
          </p:cNvPr>
          <p:cNvSpPr txBox="1"/>
          <p:nvPr/>
        </p:nvSpPr>
        <p:spPr>
          <a:xfrm>
            <a:off x="793523" y="875530"/>
            <a:ext cx="148951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 95% confidence</a:t>
            </a:r>
          </a:p>
        </p:txBody>
      </p:sp>
      <p:sp>
        <p:nvSpPr>
          <p:cNvPr id="22" name="TextBox 21">
            <a:extLst>
              <a:ext uri="{FF2B5EF4-FFF2-40B4-BE49-F238E27FC236}">
                <a16:creationId xmlns:a16="http://schemas.microsoft.com/office/drawing/2014/main" id="{509FD958-4165-B259-ED60-EA30C63DD773}"/>
              </a:ext>
            </a:extLst>
          </p:cNvPr>
          <p:cNvSpPr txBox="1"/>
          <p:nvPr/>
        </p:nvSpPr>
        <p:spPr>
          <a:xfrm>
            <a:off x="5437913" y="879340"/>
            <a:ext cx="148951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 95% confidence</a:t>
            </a:r>
          </a:p>
        </p:txBody>
      </p:sp>
    </p:spTree>
    <p:extLst>
      <p:ext uri="{BB962C8B-B14F-4D97-AF65-F5344CB8AC3E}">
        <p14:creationId xmlns:p14="http://schemas.microsoft.com/office/powerpoint/2010/main" val="1263053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0-#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0-#ppt_h/2"/>
                                          </p:val>
                                        </p:tav>
                                        <p:tav tm="100000">
                                          <p:val>
                                            <p:strVal val="#ppt_y"/>
                                          </p:val>
                                        </p:tav>
                                      </p:tavLst>
                                    </p:anim>
                                  </p:childTnLst>
                                </p:cTn>
                              </p:par>
                              <p:par>
                                <p:cTn id="27" presetID="2" presetClass="entr" presetSubtype="1"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anim calcmode="lin" valueType="num">
                                      <p:cBhvr additive="base">
                                        <p:cTn id="29" dur="500" fill="hold"/>
                                        <p:tgtEl>
                                          <p:spTgt spid="13"/>
                                        </p:tgtEl>
                                        <p:attrNameLst>
                                          <p:attrName>ppt_x</p:attrName>
                                        </p:attrNameLst>
                                      </p:cBhvr>
                                      <p:tavLst>
                                        <p:tav tm="0">
                                          <p:val>
                                            <p:strVal val="#ppt_x"/>
                                          </p:val>
                                        </p:tav>
                                        <p:tav tm="100000">
                                          <p:val>
                                            <p:strVal val="#ppt_x"/>
                                          </p:val>
                                        </p:tav>
                                      </p:tavLst>
                                    </p:anim>
                                    <p:anim calcmode="lin" valueType="num">
                                      <p:cBhvr additive="base">
                                        <p:cTn id="30" dur="500" fill="hold"/>
                                        <p:tgtEl>
                                          <p:spTgt spid="13"/>
                                        </p:tgtEl>
                                        <p:attrNameLst>
                                          <p:attrName>ppt_y</p:attrName>
                                        </p:attrNameLst>
                                      </p:cBhvr>
                                      <p:tavLst>
                                        <p:tav tm="0">
                                          <p:val>
                                            <p:strVal val="0-#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ppt_x"/>
                                          </p:val>
                                        </p:tav>
                                        <p:tav tm="100000">
                                          <p:val>
                                            <p:strVal val="#ppt_x"/>
                                          </p:val>
                                        </p:tav>
                                      </p:tavLst>
                                    </p:anim>
                                    <p:anim calcmode="lin" valueType="num">
                                      <p:cBhvr additive="base">
                                        <p:cTn id="34" dur="500" fill="hold"/>
                                        <p:tgtEl>
                                          <p:spTgt spid="1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anim calcmode="lin" valueType="num">
                                      <p:cBhvr additive="base">
                                        <p:cTn id="37" dur="500" fill="hold"/>
                                        <p:tgtEl>
                                          <p:spTgt spid="20"/>
                                        </p:tgtEl>
                                        <p:attrNameLst>
                                          <p:attrName>ppt_x</p:attrName>
                                        </p:attrNameLst>
                                      </p:cBhvr>
                                      <p:tavLst>
                                        <p:tav tm="0">
                                          <p:val>
                                            <p:strVal val="#ppt_x"/>
                                          </p:val>
                                        </p:tav>
                                        <p:tav tm="100000">
                                          <p:val>
                                            <p:strVal val="#ppt_x"/>
                                          </p:val>
                                        </p:tav>
                                      </p:tavLst>
                                    </p:anim>
                                    <p:anim calcmode="lin" valueType="num">
                                      <p:cBhvr additive="base">
                                        <p:cTn id="38"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CC6F44-DBCE-A2A9-0797-0C0576C98024}"/>
              </a:ext>
            </a:extLst>
          </p:cNvPr>
          <p:cNvPicPr>
            <a:picLocks noChangeAspect="1"/>
          </p:cNvPicPr>
          <p:nvPr/>
        </p:nvPicPr>
        <p:blipFill>
          <a:blip r:embed="rId2"/>
          <a:stretch>
            <a:fillRect/>
          </a:stretch>
        </p:blipFill>
        <p:spPr>
          <a:xfrm>
            <a:off x="1040130" y="974269"/>
            <a:ext cx="6652075" cy="4695956"/>
          </a:xfrm>
          <a:prstGeom prst="rect">
            <a:avLst/>
          </a:prstGeom>
        </p:spPr>
      </p:pic>
      <p:sp>
        <p:nvSpPr>
          <p:cNvPr id="3" name="TextBox 2">
            <a:extLst>
              <a:ext uri="{FF2B5EF4-FFF2-40B4-BE49-F238E27FC236}">
                <a16:creationId xmlns:a16="http://schemas.microsoft.com/office/drawing/2014/main" id="{8CB07580-8B89-6577-E171-A450CE71D278}"/>
              </a:ext>
            </a:extLst>
          </p:cNvPr>
          <p:cNvSpPr txBox="1"/>
          <p:nvPr/>
        </p:nvSpPr>
        <p:spPr>
          <a:xfrm>
            <a:off x="1686016" y="435768"/>
            <a:ext cx="5771965" cy="461665"/>
          </a:xfrm>
          <a:prstGeom prst="rect">
            <a:avLst/>
          </a:prstGeom>
          <a:noFill/>
        </p:spPr>
        <p:txBody>
          <a:bodyPr wrap="none" rtlCol="0">
            <a:spAutoFit/>
          </a:bodyPr>
          <a:lstStyle/>
          <a:p>
            <a:r>
              <a:rPr lang="en-US" sz="2400" dirty="0">
                <a:latin typeface="Times New Roman" panose="02020603050405020304" pitchFamily="18" charset="0"/>
                <a:cs typeface="Times New Roman" panose="02020603050405020304" pitchFamily="18" charset="0"/>
              </a:rPr>
              <a:t>NIST Shiny-app for seized material sampling</a:t>
            </a:r>
          </a:p>
        </p:txBody>
      </p:sp>
      <p:pic>
        <p:nvPicPr>
          <p:cNvPr id="4" name="Picture 3">
            <a:extLst>
              <a:ext uri="{FF2B5EF4-FFF2-40B4-BE49-F238E27FC236}">
                <a16:creationId xmlns:a16="http://schemas.microsoft.com/office/drawing/2014/main" id="{E99D57CE-6E4B-5163-2E18-10A90CC5A208}"/>
              </a:ext>
            </a:extLst>
          </p:cNvPr>
          <p:cNvPicPr>
            <a:picLocks noChangeAspect="1" noChangeArrowheads="1"/>
          </p:cNvPicPr>
          <p:nvPr/>
        </p:nvPicPr>
        <p:blipFill>
          <a:blip r:embed="rId3" cstate="print"/>
          <a:srcRect/>
          <a:stretch>
            <a:fillRect/>
          </a:stretch>
        </p:blipFill>
        <p:spPr bwMode="auto">
          <a:xfrm>
            <a:off x="484188" y="196056"/>
            <a:ext cx="8202612" cy="239712"/>
          </a:xfrm>
          <a:prstGeom prst="rect">
            <a:avLst/>
          </a:prstGeom>
          <a:noFill/>
          <a:ln w="9525">
            <a:noFill/>
            <a:round/>
            <a:headEnd/>
            <a:tailEnd/>
          </a:ln>
        </p:spPr>
      </p:pic>
      <p:sp>
        <p:nvSpPr>
          <p:cNvPr id="6" name="TextBox 5">
            <a:extLst>
              <a:ext uri="{FF2B5EF4-FFF2-40B4-BE49-F238E27FC236}">
                <a16:creationId xmlns:a16="http://schemas.microsoft.com/office/drawing/2014/main" id="{9A27D979-8871-5F54-6E7E-B34E955A63A0}"/>
              </a:ext>
            </a:extLst>
          </p:cNvPr>
          <p:cNvSpPr txBox="1"/>
          <p:nvPr/>
        </p:nvSpPr>
        <p:spPr>
          <a:xfrm>
            <a:off x="1868897" y="5770814"/>
            <a:ext cx="5406205"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hlinkClick r:id="rId4"/>
              </a:rPr>
              <a:t>https://</a:t>
            </a:r>
            <a:r>
              <a:rPr lang="en-US" dirty="0" err="1">
                <a:latin typeface="Times New Roman" panose="02020603050405020304" pitchFamily="18" charset="0"/>
                <a:cs typeface="Times New Roman" panose="02020603050405020304" pitchFamily="18" charset="0"/>
                <a:hlinkClick r:id="rId4"/>
              </a:rPr>
              <a:t>pages.nist.gov</a:t>
            </a:r>
            <a:r>
              <a:rPr lang="en-US" dirty="0">
                <a:latin typeface="Times New Roman" panose="02020603050405020304" pitchFamily="18" charset="0"/>
                <a:cs typeface="Times New Roman" panose="02020603050405020304" pitchFamily="18" charset="0"/>
                <a:hlinkClick r:id="rId4"/>
              </a:rPr>
              <a:t>/seized-material-sampling-app/</a:t>
            </a:r>
            <a:endParaRPr lang="en-US"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EFC84FCB-F97D-51B5-B6B3-24B35A475715}"/>
              </a:ext>
            </a:extLst>
          </p:cNvPr>
          <p:cNvSpPr txBox="1"/>
          <p:nvPr/>
        </p:nvSpPr>
        <p:spPr>
          <a:xfrm>
            <a:off x="3674837" y="6140146"/>
            <a:ext cx="1663158"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hlinkClick r:id="rId5"/>
              </a:rPr>
              <a:t>Documentation</a:t>
            </a:r>
            <a:endParaRPr lang="en-US"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A072227C-2F65-B168-3539-899CD75F73F7}"/>
              </a:ext>
            </a:extLst>
          </p:cNvPr>
          <p:cNvSpPr txBox="1"/>
          <p:nvPr/>
        </p:nvSpPr>
        <p:spPr>
          <a:xfrm>
            <a:off x="3773440" y="6509478"/>
            <a:ext cx="1351652"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hlinkClick r:id="rId6"/>
              </a:rPr>
              <a:t>SWGDRUG</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048858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BC564-71B3-348D-0EB7-FCCF4FB4E9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990A0CC-EEF5-FC66-6ED2-752AAF36DAB7}"/>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C6F9D094-56BB-7F11-7F0D-B08F44716908}"/>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Bootstrap Hypothesis Testing</a:t>
            </a:r>
          </a:p>
        </p:txBody>
      </p:sp>
      <p:sp>
        <p:nvSpPr>
          <p:cNvPr id="5" name="Rectangle 4">
            <a:extLst>
              <a:ext uri="{FF2B5EF4-FFF2-40B4-BE49-F238E27FC236}">
                <a16:creationId xmlns:a16="http://schemas.microsoft.com/office/drawing/2014/main" id="{DF8C1961-23B2-B65E-66FB-A5E03E5E8B67}"/>
              </a:ext>
            </a:extLst>
          </p:cNvPr>
          <p:cNvSpPr/>
          <p:nvPr/>
        </p:nvSpPr>
        <p:spPr>
          <a:xfrm>
            <a:off x="169191" y="1630839"/>
            <a:ext cx="8839200" cy="1302921"/>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dirty="0">
                <a:solidFill>
                  <a:srgbClr val="000000"/>
                </a:solidFill>
                <a:latin typeface="Times New Roman" pitchFamily="18" charset="0"/>
              </a:rPr>
              <a:t>Remember: for just about any parameter, you can try to obtain bootstrapped sampling distribution</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We can use it to do hypothesis testing too</a:t>
            </a:r>
          </a:p>
        </p:txBody>
      </p:sp>
      <p:sp>
        <p:nvSpPr>
          <p:cNvPr id="13" name="Rectangle 12">
            <a:extLst>
              <a:ext uri="{FF2B5EF4-FFF2-40B4-BE49-F238E27FC236}">
                <a16:creationId xmlns:a16="http://schemas.microsoft.com/office/drawing/2014/main" id="{EB35C98B-9BBC-91C0-18FD-3EFAD40A4544}"/>
              </a:ext>
            </a:extLst>
          </p:cNvPr>
          <p:cNvSpPr/>
          <p:nvPr/>
        </p:nvSpPr>
        <p:spPr>
          <a:xfrm>
            <a:off x="184891" y="3258912"/>
            <a:ext cx="8839200" cy="2123658"/>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dirty="0">
                <a:solidFill>
                  <a:srgbClr val="000000"/>
                </a:solidFill>
                <a:latin typeface="Times New Roman" pitchFamily="18" charset="0"/>
              </a:rPr>
              <a:t>For a given sample </a:t>
            </a:r>
            <a:r>
              <a:rPr lang="en-US" sz="2400" b="1" dirty="0">
                <a:solidFill>
                  <a:srgbClr val="000000"/>
                </a:solidFill>
                <a:latin typeface="Times New Roman" pitchFamily="18" charset="0"/>
              </a:rPr>
              <a:t>x</a:t>
            </a:r>
            <a:r>
              <a:rPr lang="en-US" sz="2400" dirty="0">
                <a:solidFill>
                  <a:srgbClr val="000000"/>
                </a:solidFill>
                <a:latin typeface="Times New Roman" pitchFamily="18" charset="0"/>
              </a:rPr>
              <a:t>:</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Choose a test and corresponding formula for test statistic </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NOTE: Choosing        can be a little tricky however….</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Compute a bootstrap (Null) sampling distribution for test statistic using non-parametric or parametric bootstrap</a:t>
            </a:r>
          </a:p>
        </p:txBody>
      </p:sp>
      <p:pic>
        <p:nvPicPr>
          <p:cNvPr id="14" name="Picture 13">
            <a:extLst>
              <a:ext uri="{FF2B5EF4-FFF2-40B4-BE49-F238E27FC236}">
                <a16:creationId xmlns:a16="http://schemas.microsoft.com/office/drawing/2014/main" id="{C2A62293-BDA8-B6B7-F34D-76A1B5C9DC9D}"/>
              </a:ext>
            </a:extLst>
          </p:cNvPr>
          <p:cNvPicPr>
            <a:picLocks noChangeAspect="1"/>
          </p:cNvPicPr>
          <p:nvPr/>
        </p:nvPicPr>
        <p:blipFill>
          <a:blip r:embed="rId3"/>
          <a:stretch>
            <a:fillRect/>
          </a:stretch>
        </p:blipFill>
        <p:spPr>
          <a:xfrm>
            <a:off x="7573623" y="3845867"/>
            <a:ext cx="416406" cy="256783"/>
          </a:xfrm>
          <a:prstGeom prst="rect">
            <a:avLst/>
          </a:prstGeom>
        </p:spPr>
      </p:pic>
      <p:pic>
        <p:nvPicPr>
          <p:cNvPr id="15" name="Picture 14">
            <a:extLst>
              <a:ext uri="{FF2B5EF4-FFF2-40B4-BE49-F238E27FC236}">
                <a16:creationId xmlns:a16="http://schemas.microsoft.com/office/drawing/2014/main" id="{6A228C2B-2FAF-3645-27F4-D41F3AF2B2E4}"/>
              </a:ext>
            </a:extLst>
          </p:cNvPr>
          <p:cNvPicPr>
            <a:picLocks noChangeAspect="1"/>
          </p:cNvPicPr>
          <p:nvPr/>
        </p:nvPicPr>
        <p:blipFill>
          <a:blip r:embed="rId4"/>
          <a:stretch>
            <a:fillRect/>
          </a:stretch>
        </p:blipFill>
        <p:spPr>
          <a:xfrm>
            <a:off x="6315028" y="5090993"/>
            <a:ext cx="796420" cy="223239"/>
          </a:xfrm>
          <a:prstGeom prst="rect">
            <a:avLst/>
          </a:prstGeom>
        </p:spPr>
      </p:pic>
      <p:pic>
        <p:nvPicPr>
          <p:cNvPr id="4" name="Picture 3">
            <a:extLst>
              <a:ext uri="{FF2B5EF4-FFF2-40B4-BE49-F238E27FC236}">
                <a16:creationId xmlns:a16="http://schemas.microsoft.com/office/drawing/2014/main" id="{49DCCFE1-2459-3EA4-5B4D-78D677D0DE99}"/>
              </a:ext>
            </a:extLst>
          </p:cNvPr>
          <p:cNvPicPr>
            <a:picLocks noChangeAspect="1"/>
          </p:cNvPicPr>
          <p:nvPr/>
        </p:nvPicPr>
        <p:blipFill>
          <a:blip r:embed="rId3"/>
          <a:stretch>
            <a:fillRect/>
          </a:stretch>
        </p:blipFill>
        <p:spPr>
          <a:xfrm>
            <a:off x="3671569" y="4285403"/>
            <a:ext cx="416406" cy="256783"/>
          </a:xfrm>
          <a:prstGeom prst="rect">
            <a:avLst/>
          </a:prstGeom>
        </p:spPr>
      </p:pic>
    </p:spTree>
    <p:extLst>
      <p:ext uri="{BB962C8B-B14F-4D97-AF65-F5344CB8AC3E}">
        <p14:creationId xmlns:p14="http://schemas.microsoft.com/office/powerpoint/2010/main" val="2704849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anim calcmode="lin" valueType="num">
                                      <p:cBhvr additive="base">
                                        <p:cTn id="15" dur="500" fill="hold"/>
                                        <p:tgtEl>
                                          <p:spTgt spid="15"/>
                                        </p:tgtEl>
                                        <p:attrNameLst>
                                          <p:attrName>ppt_x</p:attrName>
                                        </p:attrNameLst>
                                      </p:cBhvr>
                                      <p:tavLst>
                                        <p:tav tm="0">
                                          <p:val>
                                            <p:strVal val="#ppt_x"/>
                                          </p:val>
                                        </p:tav>
                                        <p:tav tm="100000">
                                          <p:val>
                                            <p:strVal val="#ppt_x"/>
                                          </p:val>
                                        </p:tav>
                                      </p:tavLst>
                                    </p:anim>
                                    <p:anim calcmode="lin" valueType="num">
                                      <p:cBhvr additive="base">
                                        <p:cTn id="16" dur="500" fill="hold"/>
                                        <p:tgtEl>
                                          <p:spTgt spid="15"/>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ED64B-2162-EE5D-A215-47D73D7BE5A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374A3FE-A9CA-B84B-A12B-4C295AE05DDC}"/>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3" name="Rectangle 4">
            <a:extLst>
              <a:ext uri="{FF2B5EF4-FFF2-40B4-BE49-F238E27FC236}">
                <a16:creationId xmlns:a16="http://schemas.microsoft.com/office/drawing/2014/main" id="{B7E48B87-7577-DEC2-E738-22D8F709C2B5}"/>
              </a:ext>
            </a:extLst>
          </p:cNvPr>
          <p:cNvSpPr>
            <a:spLocks noChangeArrowheads="1"/>
          </p:cNvSpPr>
          <p:nvPr/>
        </p:nvSpPr>
        <p:spPr bwMode="auto">
          <a:xfrm>
            <a:off x="231775" y="3731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Bootstrap Hypothesis Testing</a:t>
            </a:r>
          </a:p>
        </p:txBody>
      </p:sp>
      <p:sp>
        <p:nvSpPr>
          <p:cNvPr id="13" name="Rectangle 12">
            <a:extLst>
              <a:ext uri="{FF2B5EF4-FFF2-40B4-BE49-F238E27FC236}">
                <a16:creationId xmlns:a16="http://schemas.microsoft.com/office/drawing/2014/main" id="{42508468-BDD4-AE85-7E38-13956CAED1B7}"/>
              </a:ext>
            </a:extLst>
          </p:cNvPr>
          <p:cNvSpPr/>
          <p:nvPr/>
        </p:nvSpPr>
        <p:spPr>
          <a:xfrm>
            <a:off x="34420" y="1638452"/>
            <a:ext cx="8839200" cy="2718693"/>
          </a:xfrm>
          <a:prstGeom prst="rect">
            <a:avLst/>
          </a:prstGeom>
          <a:effectLst/>
        </p:spPr>
        <p:txBody>
          <a:bodyPr wrap="square">
            <a:spAutoFit/>
          </a:bodyPr>
          <a:lstStyle/>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Compute test statistic on original sample,        and see where it falls on bootstrap sampling distribution</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000" dirty="0">
                <a:solidFill>
                  <a:srgbClr val="000000"/>
                </a:solidFill>
                <a:latin typeface="Times New Roman" pitchFamily="18" charset="0"/>
              </a:rPr>
              <a:t>As usual, if         falls on the tails, its less likely under the Null</a:t>
            </a:r>
          </a:p>
          <a:p>
            <a:pPr marL="1344613" lvl="2"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000" dirty="0">
                <a:solidFill>
                  <a:srgbClr val="000000"/>
                </a:solidFill>
                <a:latin typeface="Times New Roman" pitchFamily="18" charset="0"/>
              </a:rPr>
              <a:t>Choose a confidence level and see where         falls with respect to CI using </a:t>
            </a:r>
            <a:r>
              <a:rPr lang="en-US" sz="2000" b="1" dirty="0">
                <a:solidFill>
                  <a:srgbClr val="000000"/>
                </a:solidFill>
                <a:latin typeface="Courier New" panose="02070309020205020404" pitchFamily="49" charset="0"/>
                <a:cs typeface="Courier New" panose="02070309020205020404" pitchFamily="49" charset="0"/>
              </a:rPr>
              <a:t>quantile</a:t>
            </a:r>
            <a:r>
              <a:rPr lang="en-US" sz="2000" dirty="0">
                <a:solidFill>
                  <a:srgbClr val="000000"/>
                </a:solidFill>
                <a:latin typeface="Times New Roman" pitchFamily="18" charset="0"/>
              </a:rPr>
              <a:t>()</a:t>
            </a:r>
          </a:p>
          <a:p>
            <a:pPr marL="1801813" lvl="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000" dirty="0">
                <a:solidFill>
                  <a:srgbClr val="000000"/>
                </a:solidFill>
                <a:latin typeface="Times New Roman" pitchFamily="18" charset="0"/>
              </a:rPr>
              <a:t>If        falls within CI: </a:t>
            </a:r>
            <a:r>
              <a:rPr lang="en-US" sz="2000" b="1" dirty="0">
                <a:solidFill>
                  <a:srgbClr val="000000"/>
                </a:solidFill>
                <a:latin typeface="Times New Roman" pitchFamily="18" charset="0"/>
              </a:rPr>
              <a:t>cannot reject H</a:t>
            </a:r>
            <a:r>
              <a:rPr lang="en-US" sz="2000" b="1" baseline="-25000" dirty="0">
                <a:solidFill>
                  <a:srgbClr val="000000"/>
                </a:solidFill>
                <a:latin typeface="Times New Roman" pitchFamily="18" charset="0"/>
              </a:rPr>
              <a:t>0</a:t>
            </a:r>
          </a:p>
          <a:p>
            <a:pPr marL="1801813" lvl="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000" dirty="0">
                <a:solidFill>
                  <a:srgbClr val="000000"/>
                </a:solidFill>
                <a:latin typeface="Times New Roman" pitchFamily="18" charset="0"/>
              </a:rPr>
              <a:t>If        falls outside of CI: </a:t>
            </a:r>
            <a:r>
              <a:rPr lang="en-US" sz="2000" b="1" dirty="0">
                <a:solidFill>
                  <a:srgbClr val="000000"/>
                </a:solidFill>
                <a:latin typeface="Times New Roman" pitchFamily="18" charset="0"/>
              </a:rPr>
              <a:t>reject H</a:t>
            </a:r>
            <a:r>
              <a:rPr lang="en-US" sz="2000" b="1" baseline="-25000" dirty="0">
                <a:solidFill>
                  <a:srgbClr val="000000"/>
                </a:solidFill>
                <a:latin typeface="Times New Roman" pitchFamily="18" charset="0"/>
              </a:rPr>
              <a:t>0</a:t>
            </a:r>
            <a:r>
              <a:rPr lang="en-US" sz="2000" b="1" dirty="0">
                <a:solidFill>
                  <a:srgbClr val="000000"/>
                </a:solidFill>
                <a:latin typeface="Times New Roman" pitchFamily="18" charset="0"/>
              </a:rPr>
              <a:t> in favor of H</a:t>
            </a:r>
            <a:r>
              <a:rPr lang="en-US" sz="2000" b="1" baseline="-25000" dirty="0">
                <a:solidFill>
                  <a:srgbClr val="000000"/>
                </a:solidFill>
                <a:latin typeface="Times New Roman" pitchFamily="18" charset="0"/>
              </a:rPr>
              <a:t>a</a:t>
            </a:r>
          </a:p>
        </p:txBody>
      </p:sp>
      <p:pic>
        <p:nvPicPr>
          <p:cNvPr id="16" name="Picture 15">
            <a:extLst>
              <a:ext uri="{FF2B5EF4-FFF2-40B4-BE49-F238E27FC236}">
                <a16:creationId xmlns:a16="http://schemas.microsoft.com/office/drawing/2014/main" id="{895E6F40-4B8F-A0BF-466C-BC53E02CAB26}"/>
              </a:ext>
            </a:extLst>
          </p:cNvPr>
          <p:cNvPicPr>
            <a:picLocks noChangeAspect="1"/>
          </p:cNvPicPr>
          <p:nvPr/>
        </p:nvPicPr>
        <p:blipFill>
          <a:blip r:embed="rId3"/>
          <a:stretch>
            <a:fillRect/>
          </a:stretch>
        </p:blipFill>
        <p:spPr>
          <a:xfrm>
            <a:off x="5698860" y="1715169"/>
            <a:ext cx="424147" cy="296230"/>
          </a:xfrm>
          <a:prstGeom prst="rect">
            <a:avLst/>
          </a:prstGeom>
          <a:effectLst/>
        </p:spPr>
      </p:pic>
      <p:pic>
        <p:nvPicPr>
          <p:cNvPr id="17" name="Picture 16">
            <a:extLst>
              <a:ext uri="{FF2B5EF4-FFF2-40B4-BE49-F238E27FC236}">
                <a16:creationId xmlns:a16="http://schemas.microsoft.com/office/drawing/2014/main" id="{763CBBC2-5C19-193E-0283-61688B266ADC}"/>
              </a:ext>
            </a:extLst>
          </p:cNvPr>
          <p:cNvPicPr>
            <a:picLocks noChangeAspect="1"/>
          </p:cNvPicPr>
          <p:nvPr/>
        </p:nvPicPr>
        <p:blipFill>
          <a:blip r:embed="rId3"/>
          <a:stretch>
            <a:fillRect/>
          </a:stretch>
        </p:blipFill>
        <p:spPr>
          <a:xfrm>
            <a:off x="2734473" y="2479357"/>
            <a:ext cx="383033" cy="267515"/>
          </a:xfrm>
          <a:prstGeom prst="rect">
            <a:avLst/>
          </a:prstGeom>
          <a:effectLst/>
        </p:spPr>
      </p:pic>
      <p:sp>
        <p:nvSpPr>
          <p:cNvPr id="18" name="TextBox 17">
            <a:extLst>
              <a:ext uri="{FF2B5EF4-FFF2-40B4-BE49-F238E27FC236}">
                <a16:creationId xmlns:a16="http://schemas.microsoft.com/office/drawing/2014/main" id="{913D8E20-63F4-FEC6-7E56-ED82F4895BA7}"/>
              </a:ext>
            </a:extLst>
          </p:cNvPr>
          <p:cNvSpPr txBox="1"/>
          <p:nvPr/>
        </p:nvSpPr>
        <p:spPr>
          <a:xfrm>
            <a:off x="605733" y="4824093"/>
            <a:ext cx="6674743" cy="769441"/>
          </a:xfrm>
          <a:prstGeom prst="rect">
            <a:avLst/>
          </a:prstGeom>
          <a:noFill/>
          <a:effectLst/>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Can also compute the </a:t>
            </a:r>
            <a:r>
              <a:rPr lang="en-US" sz="2200" b="1" dirty="0">
                <a:latin typeface="Times New Roman" panose="02020603050405020304" pitchFamily="18" charset="0"/>
                <a:cs typeface="Times New Roman" panose="02020603050405020304" pitchFamily="18" charset="0"/>
              </a:rPr>
              <a:t>achieved significance level</a:t>
            </a:r>
            <a:r>
              <a:rPr lang="en-US" sz="2200" dirty="0">
                <a:latin typeface="Times New Roman" panose="02020603050405020304" pitchFamily="18" charset="0"/>
                <a:cs typeface="Times New Roman" panose="02020603050405020304" pitchFamily="18" charset="0"/>
              </a:rPr>
              <a:t> (ASL, “bootstrap p-value”):</a:t>
            </a:r>
          </a:p>
        </p:txBody>
      </p:sp>
      <p:pic>
        <p:nvPicPr>
          <p:cNvPr id="19" name="Picture 18">
            <a:extLst>
              <a:ext uri="{FF2B5EF4-FFF2-40B4-BE49-F238E27FC236}">
                <a16:creationId xmlns:a16="http://schemas.microsoft.com/office/drawing/2014/main" id="{83ADBBD9-D3CC-058B-B2B5-736FE0712354}"/>
              </a:ext>
            </a:extLst>
          </p:cNvPr>
          <p:cNvPicPr>
            <a:picLocks noChangeAspect="1"/>
          </p:cNvPicPr>
          <p:nvPr/>
        </p:nvPicPr>
        <p:blipFill>
          <a:blip r:embed="rId4"/>
          <a:stretch>
            <a:fillRect/>
          </a:stretch>
        </p:blipFill>
        <p:spPr>
          <a:xfrm>
            <a:off x="6816553" y="5494087"/>
            <a:ext cx="1378434" cy="409146"/>
          </a:xfrm>
          <a:prstGeom prst="rect">
            <a:avLst/>
          </a:prstGeom>
          <a:effectLst/>
        </p:spPr>
      </p:pic>
      <p:sp>
        <p:nvSpPr>
          <p:cNvPr id="21" name="TextBox 20">
            <a:extLst>
              <a:ext uri="{FF2B5EF4-FFF2-40B4-BE49-F238E27FC236}">
                <a16:creationId xmlns:a16="http://schemas.microsoft.com/office/drawing/2014/main" id="{959D43ED-F721-7DFC-BFF9-4BFEEBBBD3DC}"/>
              </a:ext>
            </a:extLst>
          </p:cNvPr>
          <p:cNvSpPr txBox="1"/>
          <p:nvPr/>
        </p:nvSpPr>
        <p:spPr>
          <a:xfrm>
            <a:off x="6035358" y="5373532"/>
            <a:ext cx="629852" cy="646331"/>
          </a:xfrm>
          <a:prstGeom prst="rect">
            <a:avLst/>
          </a:prstGeom>
          <a:noFill/>
          <a:effectLst/>
        </p:spPr>
        <p:txBody>
          <a:bodyPr wrap="square">
            <a:spAutoFit/>
          </a:bodyPr>
          <a:lstStyle/>
          <a:p>
            <a:pPr algn="ctr"/>
            <a:r>
              <a:rPr lang="en-US" dirty="0">
                <a:latin typeface="Times New Roman" panose="02020603050405020304" pitchFamily="18" charset="0"/>
                <a:cs typeface="Times New Roman" panose="02020603050405020304" pitchFamily="18" charset="0"/>
              </a:rPr>
              <a:t>and</a:t>
            </a:r>
          </a:p>
          <a:p>
            <a:pPr algn="ctr"/>
            <a:r>
              <a:rPr lang="en-US" dirty="0">
                <a:latin typeface="Times New Roman" panose="02020603050405020304" pitchFamily="18" charset="0"/>
                <a:cs typeface="Times New Roman" panose="02020603050405020304" pitchFamily="18" charset="0"/>
              </a:rPr>
              <a:t>/or</a:t>
            </a:r>
            <a:endParaRPr lang="en-US" dirty="0"/>
          </a:p>
        </p:txBody>
      </p:sp>
      <p:pic>
        <p:nvPicPr>
          <p:cNvPr id="23" name="Picture 22">
            <a:extLst>
              <a:ext uri="{FF2B5EF4-FFF2-40B4-BE49-F238E27FC236}">
                <a16:creationId xmlns:a16="http://schemas.microsoft.com/office/drawing/2014/main" id="{7CA049E1-346D-40A5-D2FC-704D1F098926}"/>
              </a:ext>
            </a:extLst>
          </p:cNvPr>
          <p:cNvPicPr>
            <a:picLocks noChangeAspect="1"/>
          </p:cNvPicPr>
          <p:nvPr/>
        </p:nvPicPr>
        <p:blipFill>
          <a:blip r:embed="rId5"/>
          <a:stretch>
            <a:fillRect/>
          </a:stretch>
        </p:blipFill>
        <p:spPr>
          <a:xfrm>
            <a:off x="4586400" y="5491826"/>
            <a:ext cx="1378435" cy="409146"/>
          </a:xfrm>
          <a:prstGeom prst="rect">
            <a:avLst/>
          </a:prstGeom>
          <a:effectLst/>
        </p:spPr>
      </p:pic>
      <p:sp>
        <p:nvSpPr>
          <p:cNvPr id="24" name="TextBox 23">
            <a:extLst>
              <a:ext uri="{FF2B5EF4-FFF2-40B4-BE49-F238E27FC236}">
                <a16:creationId xmlns:a16="http://schemas.microsoft.com/office/drawing/2014/main" id="{921A322C-8183-574C-6965-B1840BDE7BDD}"/>
              </a:ext>
            </a:extLst>
          </p:cNvPr>
          <p:cNvSpPr txBox="1"/>
          <p:nvPr/>
        </p:nvSpPr>
        <p:spPr>
          <a:xfrm>
            <a:off x="916203" y="5869388"/>
            <a:ext cx="3632642" cy="646331"/>
          </a:xfrm>
          <a:prstGeom prst="rect">
            <a:avLst/>
          </a:prstGeom>
          <a:noFill/>
          <a:effectLst/>
        </p:spPr>
        <p:txBody>
          <a:bodyPr wrap="square">
            <a:spAutoFit/>
          </a:bodyPr>
          <a:lstStyle/>
          <a:p>
            <a:r>
              <a:rPr lang="en-US" dirty="0">
                <a:latin typeface="Times New Roman" panose="02020603050405020304" pitchFamily="18" charset="0"/>
                <a:cs typeface="Times New Roman" panose="02020603050405020304" pitchFamily="18" charset="0"/>
              </a:rPr>
              <a:t>Depending on which tail         falls on and H</a:t>
            </a:r>
            <a:r>
              <a:rPr lang="en-US" baseline="-25000" dirty="0">
                <a:latin typeface="Times New Roman" panose="02020603050405020304" pitchFamily="18" charset="0"/>
                <a:cs typeface="Times New Roman" panose="02020603050405020304" pitchFamily="18" charset="0"/>
              </a:rPr>
              <a:t>0</a:t>
            </a:r>
            <a:endParaRPr lang="en-US" baseline="-25000" dirty="0"/>
          </a:p>
        </p:txBody>
      </p:sp>
      <p:pic>
        <p:nvPicPr>
          <p:cNvPr id="25" name="Picture 24">
            <a:extLst>
              <a:ext uri="{FF2B5EF4-FFF2-40B4-BE49-F238E27FC236}">
                <a16:creationId xmlns:a16="http://schemas.microsoft.com/office/drawing/2014/main" id="{C31C4B2E-BCB9-4252-8726-93E817559804}"/>
              </a:ext>
            </a:extLst>
          </p:cNvPr>
          <p:cNvPicPr>
            <a:picLocks noChangeAspect="1"/>
          </p:cNvPicPr>
          <p:nvPr/>
        </p:nvPicPr>
        <p:blipFill>
          <a:blip r:embed="rId3"/>
          <a:stretch>
            <a:fillRect/>
          </a:stretch>
        </p:blipFill>
        <p:spPr>
          <a:xfrm>
            <a:off x="3314272" y="5917507"/>
            <a:ext cx="392484" cy="274116"/>
          </a:xfrm>
          <a:prstGeom prst="rect">
            <a:avLst/>
          </a:prstGeom>
          <a:effectLst/>
        </p:spPr>
      </p:pic>
      <p:sp>
        <p:nvSpPr>
          <p:cNvPr id="26" name="Left Brace 25">
            <a:extLst>
              <a:ext uri="{FF2B5EF4-FFF2-40B4-BE49-F238E27FC236}">
                <a16:creationId xmlns:a16="http://schemas.microsoft.com/office/drawing/2014/main" id="{18258FFC-16E7-6D6A-EE6C-9555C096CE24}"/>
              </a:ext>
            </a:extLst>
          </p:cNvPr>
          <p:cNvSpPr/>
          <p:nvPr/>
        </p:nvSpPr>
        <p:spPr>
          <a:xfrm rot="16200000">
            <a:off x="5123011" y="5297711"/>
            <a:ext cx="287953" cy="1395700"/>
          </a:xfrm>
          <a:prstGeom prst="lef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66C74C7-2F45-9CFC-885E-599DD54AFE42}"/>
              </a:ext>
            </a:extLst>
          </p:cNvPr>
          <p:cNvSpPr/>
          <p:nvPr/>
        </p:nvSpPr>
        <p:spPr>
          <a:xfrm rot="16200000">
            <a:off x="7362759" y="5307310"/>
            <a:ext cx="274450" cy="1390008"/>
          </a:xfrm>
          <a:prstGeom prst="lef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27DE0B39-BE78-0860-7CF2-2C61FC929452}"/>
              </a:ext>
            </a:extLst>
          </p:cNvPr>
          <p:cNvCxnSpPr>
            <a:cxnSpLocks/>
            <a:endCxn id="32" idx="0"/>
          </p:cNvCxnSpPr>
          <p:nvPr/>
        </p:nvCxnSpPr>
        <p:spPr>
          <a:xfrm flipV="1">
            <a:off x="4518093" y="6139538"/>
            <a:ext cx="2971800"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86D5FDE-695A-1D80-3CE6-BA3593108E5A}"/>
              </a:ext>
            </a:extLst>
          </p:cNvPr>
          <p:cNvSpPr txBox="1"/>
          <p:nvPr/>
        </p:nvSpPr>
        <p:spPr>
          <a:xfrm>
            <a:off x="7104546" y="6139538"/>
            <a:ext cx="1068751" cy="338554"/>
          </a:xfrm>
          <a:prstGeom prst="rect">
            <a:avLst/>
          </a:prstGeom>
          <a:noFill/>
          <a:effectLst/>
        </p:spPr>
        <p:txBody>
          <a:bodyPr wrap="square">
            <a:spAutoFit/>
          </a:bodyPr>
          <a:lstStyle/>
          <a:p>
            <a:r>
              <a:rPr lang="en-US" sz="1600" dirty="0">
                <a:latin typeface="Times New Roman" panose="02020603050405020304" pitchFamily="18" charset="0"/>
                <a:cs typeface="Times New Roman" panose="02020603050405020304" pitchFamily="18" charset="0"/>
              </a:rPr>
              <a:t>upper tail</a:t>
            </a:r>
            <a:endParaRPr lang="en-US" sz="1600" dirty="0"/>
          </a:p>
        </p:txBody>
      </p:sp>
      <p:sp>
        <p:nvSpPr>
          <p:cNvPr id="33" name="TextBox 32">
            <a:extLst>
              <a:ext uri="{FF2B5EF4-FFF2-40B4-BE49-F238E27FC236}">
                <a16:creationId xmlns:a16="http://schemas.microsoft.com/office/drawing/2014/main" id="{066F2004-586E-B5FB-23FA-FFC17A3EB40C}"/>
              </a:ext>
            </a:extLst>
          </p:cNvPr>
          <p:cNvSpPr txBox="1"/>
          <p:nvPr/>
        </p:nvSpPr>
        <p:spPr>
          <a:xfrm>
            <a:off x="4734040" y="6129067"/>
            <a:ext cx="1068751" cy="338554"/>
          </a:xfrm>
          <a:prstGeom prst="rect">
            <a:avLst/>
          </a:prstGeom>
          <a:noFill/>
          <a:effectLst/>
        </p:spPr>
        <p:txBody>
          <a:bodyPr wrap="square">
            <a:spAutoFit/>
          </a:bodyPr>
          <a:lstStyle/>
          <a:p>
            <a:r>
              <a:rPr lang="en-US" sz="1600" dirty="0">
                <a:latin typeface="Times New Roman" panose="02020603050405020304" pitchFamily="18" charset="0"/>
                <a:cs typeface="Times New Roman" panose="02020603050405020304" pitchFamily="18" charset="0"/>
              </a:rPr>
              <a:t>lower tail</a:t>
            </a:r>
            <a:endParaRPr lang="en-US" sz="1600" dirty="0"/>
          </a:p>
        </p:txBody>
      </p:sp>
      <p:pic>
        <p:nvPicPr>
          <p:cNvPr id="7" name="Picture 6">
            <a:extLst>
              <a:ext uri="{FF2B5EF4-FFF2-40B4-BE49-F238E27FC236}">
                <a16:creationId xmlns:a16="http://schemas.microsoft.com/office/drawing/2014/main" id="{66488FE3-CB0E-72DB-D3E0-48F54DD5B77C}"/>
              </a:ext>
            </a:extLst>
          </p:cNvPr>
          <p:cNvPicPr>
            <a:picLocks noChangeAspect="1"/>
          </p:cNvPicPr>
          <p:nvPr/>
        </p:nvPicPr>
        <p:blipFill>
          <a:blip r:embed="rId3"/>
          <a:stretch>
            <a:fillRect/>
          </a:stretch>
        </p:blipFill>
        <p:spPr>
          <a:xfrm>
            <a:off x="5745822" y="2874832"/>
            <a:ext cx="383033" cy="267515"/>
          </a:xfrm>
          <a:prstGeom prst="rect">
            <a:avLst/>
          </a:prstGeom>
          <a:effectLst/>
        </p:spPr>
      </p:pic>
      <p:pic>
        <p:nvPicPr>
          <p:cNvPr id="6" name="Picture 5">
            <a:extLst>
              <a:ext uri="{FF2B5EF4-FFF2-40B4-BE49-F238E27FC236}">
                <a16:creationId xmlns:a16="http://schemas.microsoft.com/office/drawing/2014/main" id="{4C1CD9C4-51B9-07FB-A147-7BE4742D3119}"/>
              </a:ext>
            </a:extLst>
          </p:cNvPr>
          <p:cNvPicPr>
            <a:picLocks noChangeAspect="1"/>
          </p:cNvPicPr>
          <p:nvPr/>
        </p:nvPicPr>
        <p:blipFill>
          <a:blip r:embed="rId3"/>
          <a:stretch>
            <a:fillRect/>
          </a:stretch>
        </p:blipFill>
        <p:spPr>
          <a:xfrm>
            <a:off x="2171172" y="3582816"/>
            <a:ext cx="383033" cy="267515"/>
          </a:xfrm>
          <a:prstGeom prst="rect">
            <a:avLst/>
          </a:prstGeom>
          <a:effectLst/>
        </p:spPr>
      </p:pic>
      <p:pic>
        <p:nvPicPr>
          <p:cNvPr id="8" name="Picture 7">
            <a:extLst>
              <a:ext uri="{FF2B5EF4-FFF2-40B4-BE49-F238E27FC236}">
                <a16:creationId xmlns:a16="http://schemas.microsoft.com/office/drawing/2014/main" id="{629ACE4B-91D2-AA5D-8E82-1B7B4E7087BF}"/>
              </a:ext>
            </a:extLst>
          </p:cNvPr>
          <p:cNvPicPr>
            <a:picLocks noChangeAspect="1"/>
          </p:cNvPicPr>
          <p:nvPr/>
        </p:nvPicPr>
        <p:blipFill>
          <a:blip r:embed="rId3"/>
          <a:stretch>
            <a:fillRect/>
          </a:stretch>
        </p:blipFill>
        <p:spPr>
          <a:xfrm>
            <a:off x="2173101" y="4013016"/>
            <a:ext cx="383033" cy="267515"/>
          </a:xfrm>
          <a:prstGeom prst="rect">
            <a:avLst/>
          </a:prstGeom>
          <a:effectLst/>
        </p:spPr>
      </p:pic>
    </p:spTree>
    <p:extLst>
      <p:ext uri="{BB962C8B-B14F-4D97-AF65-F5344CB8AC3E}">
        <p14:creationId xmlns:p14="http://schemas.microsoft.com/office/powerpoint/2010/main" val="292435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ppt_x"/>
                                          </p:val>
                                        </p:tav>
                                        <p:tav tm="100000">
                                          <p:val>
                                            <p:strVal val="#ppt_x"/>
                                          </p:val>
                                        </p:tav>
                                      </p:tavLst>
                                    </p:anim>
                                    <p:anim calcmode="lin" valueType="num">
                                      <p:cBhvr additive="base">
                                        <p:cTn id="16" dur="500" fill="hold"/>
                                        <p:tgtEl>
                                          <p:spTgt spid="2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 calcmode="lin" valueType="num">
                                      <p:cBhvr additive="base">
                                        <p:cTn id="19" dur="500" fill="hold"/>
                                        <p:tgtEl>
                                          <p:spTgt spid="23"/>
                                        </p:tgtEl>
                                        <p:attrNameLst>
                                          <p:attrName>ppt_x</p:attrName>
                                        </p:attrNameLst>
                                      </p:cBhvr>
                                      <p:tavLst>
                                        <p:tav tm="0">
                                          <p:val>
                                            <p:strVal val="#ppt_x"/>
                                          </p:val>
                                        </p:tav>
                                        <p:tav tm="100000">
                                          <p:val>
                                            <p:strVal val="#ppt_x"/>
                                          </p:val>
                                        </p:tav>
                                      </p:tavLst>
                                    </p:anim>
                                    <p:anim calcmode="lin" valueType="num">
                                      <p:cBhvr additive="base">
                                        <p:cTn id="20" dur="500" fill="hold"/>
                                        <p:tgtEl>
                                          <p:spTgt spid="23"/>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anim calcmode="lin" valueType="num">
                                      <p:cBhvr additive="base">
                                        <p:cTn id="23" dur="500" fill="hold"/>
                                        <p:tgtEl>
                                          <p:spTgt spid="24"/>
                                        </p:tgtEl>
                                        <p:attrNameLst>
                                          <p:attrName>ppt_x</p:attrName>
                                        </p:attrNameLst>
                                      </p:cBhvr>
                                      <p:tavLst>
                                        <p:tav tm="0">
                                          <p:val>
                                            <p:strVal val="#ppt_x"/>
                                          </p:val>
                                        </p:tav>
                                        <p:tav tm="100000">
                                          <p:val>
                                            <p:strVal val="#ppt_x"/>
                                          </p:val>
                                        </p:tav>
                                      </p:tavLst>
                                    </p:anim>
                                    <p:anim calcmode="lin" valueType="num">
                                      <p:cBhvr additive="base">
                                        <p:cTn id="24" dur="500" fill="hold"/>
                                        <p:tgtEl>
                                          <p:spTgt spid="24"/>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 calcmode="lin" valueType="num">
                                      <p:cBhvr additive="base">
                                        <p:cTn id="27" dur="500" fill="hold"/>
                                        <p:tgtEl>
                                          <p:spTgt spid="25"/>
                                        </p:tgtEl>
                                        <p:attrNameLst>
                                          <p:attrName>ppt_x</p:attrName>
                                        </p:attrNameLst>
                                      </p:cBhvr>
                                      <p:tavLst>
                                        <p:tav tm="0">
                                          <p:val>
                                            <p:strVal val="#ppt_x"/>
                                          </p:val>
                                        </p:tav>
                                        <p:tav tm="100000">
                                          <p:val>
                                            <p:strVal val="#ppt_x"/>
                                          </p:val>
                                        </p:tav>
                                      </p:tavLst>
                                    </p:anim>
                                    <p:anim calcmode="lin" valueType="num">
                                      <p:cBhvr additive="base">
                                        <p:cTn id="28" dur="500" fill="hold"/>
                                        <p:tgtEl>
                                          <p:spTgt spid="25"/>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 calcmode="lin" valueType="num">
                                      <p:cBhvr additive="base">
                                        <p:cTn id="31" dur="500" fill="hold"/>
                                        <p:tgtEl>
                                          <p:spTgt spid="26"/>
                                        </p:tgtEl>
                                        <p:attrNameLst>
                                          <p:attrName>ppt_x</p:attrName>
                                        </p:attrNameLst>
                                      </p:cBhvr>
                                      <p:tavLst>
                                        <p:tav tm="0">
                                          <p:val>
                                            <p:strVal val="#ppt_x"/>
                                          </p:val>
                                        </p:tav>
                                        <p:tav tm="100000">
                                          <p:val>
                                            <p:strVal val="#ppt_x"/>
                                          </p:val>
                                        </p:tav>
                                      </p:tavLst>
                                    </p:anim>
                                    <p:anim calcmode="lin" valueType="num">
                                      <p:cBhvr additive="base">
                                        <p:cTn id="32" dur="500" fill="hold"/>
                                        <p:tgtEl>
                                          <p:spTgt spid="2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anim calcmode="lin" valueType="num">
                                      <p:cBhvr additive="base">
                                        <p:cTn id="35" dur="500" fill="hold"/>
                                        <p:tgtEl>
                                          <p:spTgt spid="27"/>
                                        </p:tgtEl>
                                        <p:attrNameLst>
                                          <p:attrName>ppt_x</p:attrName>
                                        </p:attrNameLst>
                                      </p:cBhvr>
                                      <p:tavLst>
                                        <p:tav tm="0">
                                          <p:val>
                                            <p:strVal val="#ppt_x"/>
                                          </p:val>
                                        </p:tav>
                                        <p:tav tm="100000">
                                          <p:val>
                                            <p:strVal val="#ppt_x"/>
                                          </p:val>
                                        </p:tav>
                                      </p:tavLst>
                                    </p:anim>
                                    <p:anim calcmode="lin" valueType="num">
                                      <p:cBhvr additive="base">
                                        <p:cTn id="36" dur="500" fill="hold"/>
                                        <p:tgtEl>
                                          <p:spTgt spid="27"/>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 calcmode="lin" valueType="num">
                                      <p:cBhvr additive="base">
                                        <p:cTn id="39" dur="500" fill="hold"/>
                                        <p:tgtEl>
                                          <p:spTgt spid="29"/>
                                        </p:tgtEl>
                                        <p:attrNameLst>
                                          <p:attrName>ppt_x</p:attrName>
                                        </p:attrNameLst>
                                      </p:cBhvr>
                                      <p:tavLst>
                                        <p:tav tm="0">
                                          <p:val>
                                            <p:strVal val="#ppt_x"/>
                                          </p:val>
                                        </p:tav>
                                        <p:tav tm="100000">
                                          <p:val>
                                            <p:strVal val="#ppt_x"/>
                                          </p:val>
                                        </p:tav>
                                      </p:tavLst>
                                    </p:anim>
                                    <p:anim calcmode="lin" valueType="num">
                                      <p:cBhvr additive="base">
                                        <p:cTn id="40" dur="500" fill="hold"/>
                                        <p:tgtEl>
                                          <p:spTgt spid="29"/>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fill="hold"/>
                                        <p:tgtEl>
                                          <p:spTgt spid="32"/>
                                        </p:tgtEl>
                                        <p:attrNameLst>
                                          <p:attrName>ppt_x</p:attrName>
                                        </p:attrNameLst>
                                      </p:cBhvr>
                                      <p:tavLst>
                                        <p:tav tm="0">
                                          <p:val>
                                            <p:strVal val="#ppt_x"/>
                                          </p:val>
                                        </p:tav>
                                        <p:tav tm="100000">
                                          <p:val>
                                            <p:strVal val="#ppt_x"/>
                                          </p:val>
                                        </p:tav>
                                      </p:tavLst>
                                    </p:anim>
                                    <p:anim calcmode="lin" valueType="num">
                                      <p:cBhvr additive="base">
                                        <p:cTn id="44" dur="500" fill="hold"/>
                                        <p:tgtEl>
                                          <p:spTgt spid="32"/>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 calcmode="lin" valueType="num">
                                      <p:cBhvr additive="base">
                                        <p:cTn id="47" dur="500" fill="hold"/>
                                        <p:tgtEl>
                                          <p:spTgt spid="33"/>
                                        </p:tgtEl>
                                        <p:attrNameLst>
                                          <p:attrName>ppt_x</p:attrName>
                                        </p:attrNameLst>
                                      </p:cBhvr>
                                      <p:tavLst>
                                        <p:tav tm="0">
                                          <p:val>
                                            <p:strVal val="#ppt_x"/>
                                          </p:val>
                                        </p:tav>
                                        <p:tav tm="100000">
                                          <p:val>
                                            <p:strVal val="#ppt_x"/>
                                          </p:val>
                                        </p:tav>
                                      </p:tavLst>
                                    </p:anim>
                                    <p:anim calcmode="lin" valueType="num">
                                      <p:cBhvr additive="base">
                                        <p:cTn id="48"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1" grpId="0"/>
      <p:bldP spid="24" grpId="0"/>
      <p:bldP spid="26" grpId="0" animBg="1"/>
      <p:bldP spid="27" grpId="0" animBg="1"/>
      <p:bldP spid="32" grpId="0"/>
      <p:bldP spid="33"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5EA62-E9C4-F890-D26D-252EE7E1ADA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B1735BB-A808-8CC5-AA98-042E918BECB6}"/>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3" name="Rectangle 4">
            <a:extLst>
              <a:ext uri="{FF2B5EF4-FFF2-40B4-BE49-F238E27FC236}">
                <a16:creationId xmlns:a16="http://schemas.microsoft.com/office/drawing/2014/main" id="{1BADC6A2-3FEB-06DF-E20C-9EA9B00AABD3}"/>
              </a:ext>
            </a:extLst>
          </p:cNvPr>
          <p:cNvSpPr>
            <a:spLocks noChangeArrowheads="1"/>
          </p:cNvSpPr>
          <p:nvPr/>
        </p:nvSpPr>
        <p:spPr bwMode="auto">
          <a:xfrm>
            <a:off x="231775" y="3731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One Sample Bootstrap Hypothesis Test</a:t>
            </a:r>
          </a:p>
        </p:txBody>
      </p:sp>
      <p:sp>
        <p:nvSpPr>
          <p:cNvPr id="4" name="Rectangle 3">
            <a:extLst>
              <a:ext uri="{FF2B5EF4-FFF2-40B4-BE49-F238E27FC236}">
                <a16:creationId xmlns:a16="http://schemas.microsoft.com/office/drawing/2014/main" id="{808EC013-78BA-55D1-2628-B77C2E686D5C}"/>
              </a:ext>
            </a:extLst>
          </p:cNvPr>
          <p:cNvSpPr/>
          <p:nvPr/>
        </p:nvSpPr>
        <p:spPr>
          <a:xfrm>
            <a:off x="146036" y="1410921"/>
            <a:ext cx="8449524" cy="1272143"/>
          </a:xfrm>
          <a:prstGeom prst="rect">
            <a:avLst/>
          </a:prstGeom>
          <a:effectLst/>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dirty="0">
                <a:solidFill>
                  <a:srgbClr val="000000"/>
                </a:solidFill>
                <a:latin typeface="Times New Roman" pitchFamily="18" charset="0"/>
              </a:rPr>
              <a:t>For a one-sample hypothesis test for a specific fixed (Null) mean </a:t>
            </a:r>
            <a:r>
              <a:rPr lang="en-US" sz="2400" dirty="0" err="1">
                <a:solidFill>
                  <a:srgbClr val="000000"/>
                </a:solidFill>
                <a:latin typeface="Symbol" pitchFamily="2" charset="2"/>
              </a:rPr>
              <a:t>m</a:t>
            </a:r>
            <a:r>
              <a:rPr lang="en-US" sz="2400" baseline="-25000" dirty="0" err="1">
                <a:solidFill>
                  <a:srgbClr val="000000"/>
                </a:solidFill>
                <a:latin typeface="Times New Roman" panose="02020603050405020304" pitchFamily="18" charset="0"/>
                <a:cs typeface="Times New Roman" panose="02020603050405020304" pitchFamily="18" charset="0"/>
              </a:rPr>
              <a:t>Null</a:t>
            </a:r>
            <a:r>
              <a:rPr lang="en-US" sz="2400" dirty="0">
                <a:solidFill>
                  <a:srgbClr val="000000"/>
                </a:solidFill>
                <a:latin typeface="Times New Roman" pitchFamily="18" charset="0"/>
              </a:rPr>
              <a:t>:</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Given a sample of size </a:t>
            </a:r>
            <a:r>
              <a:rPr lang="en-US" sz="2200" i="1" dirty="0">
                <a:solidFill>
                  <a:srgbClr val="000000"/>
                </a:solidFill>
                <a:latin typeface="Times New Roman" pitchFamily="18" charset="0"/>
              </a:rPr>
              <a:t>n</a:t>
            </a:r>
            <a:r>
              <a:rPr lang="en-US" sz="2200" dirty="0">
                <a:solidFill>
                  <a:srgbClr val="000000"/>
                </a:solidFill>
                <a:latin typeface="Times New Roman" pitchFamily="18" charset="0"/>
              </a:rPr>
              <a:t>, </a:t>
            </a:r>
            <a:r>
              <a:rPr lang="en-US" sz="2200" b="1" dirty="0">
                <a:solidFill>
                  <a:srgbClr val="000000"/>
                </a:solidFill>
                <a:latin typeface="Times New Roman" pitchFamily="18" charset="0"/>
              </a:rPr>
              <a:t>x,</a:t>
            </a:r>
            <a:r>
              <a:rPr lang="en-US" sz="2200" dirty="0">
                <a:solidFill>
                  <a:srgbClr val="000000"/>
                </a:solidFill>
                <a:latin typeface="Times New Roman" pitchFamily="18" charset="0"/>
              </a:rPr>
              <a:t> shift the mean to the </a:t>
            </a:r>
            <a:r>
              <a:rPr lang="en-US" sz="2200" u="sng" dirty="0">
                <a:solidFill>
                  <a:srgbClr val="000000"/>
                </a:solidFill>
                <a:latin typeface="Times New Roman" pitchFamily="18" charset="0"/>
              </a:rPr>
              <a:t>Null value</a:t>
            </a:r>
            <a:r>
              <a:rPr lang="en-US" sz="2200" dirty="0">
                <a:solidFill>
                  <a:srgbClr val="000000"/>
                </a:solidFill>
                <a:latin typeface="Times New Roman" pitchFamily="18" charset="0"/>
              </a:rPr>
              <a:t> </a:t>
            </a:r>
            <a:r>
              <a:rPr lang="en-US" sz="2200" dirty="0" err="1">
                <a:solidFill>
                  <a:srgbClr val="000000"/>
                </a:solidFill>
                <a:latin typeface="Symbol" pitchFamily="2" charset="2"/>
              </a:rPr>
              <a:t>m</a:t>
            </a:r>
            <a:r>
              <a:rPr lang="en-US" sz="2200" baseline="-25000" dirty="0" err="1">
                <a:solidFill>
                  <a:srgbClr val="000000"/>
                </a:solidFill>
                <a:latin typeface="Times New Roman" panose="02020603050405020304" pitchFamily="18" charset="0"/>
                <a:cs typeface="Times New Roman" panose="02020603050405020304" pitchFamily="18" charset="0"/>
              </a:rPr>
              <a:t>Null</a:t>
            </a:r>
            <a:r>
              <a:rPr lang="en-US" sz="2200" dirty="0">
                <a:solidFill>
                  <a:srgbClr val="000000"/>
                </a:solidFill>
                <a:latin typeface="Times New Roman" pitchFamily="18" charset="0"/>
              </a:rPr>
              <a:t>:</a:t>
            </a:r>
          </a:p>
        </p:txBody>
      </p:sp>
      <p:sp>
        <p:nvSpPr>
          <p:cNvPr id="8" name="TextBox 7">
            <a:extLst>
              <a:ext uri="{FF2B5EF4-FFF2-40B4-BE49-F238E27FC236}">
                <a16:creationId xmlns:a16="http://schemas.microsoft.com/office/drawing/2014/main" id="{6FA5EDCC-6F84-CE8F-66A1-7347EE7100E4}"/>
              </a:ext>
            </a:extLst>
          </p:cNvPr>
          <p:cNvSpPr txBox="1"/>
          <p:nvPr/>
        </p:nvSpPr>
        <p:spPr>
          <a:xfrm>
            <a:off x="694474" y="3472132"/>
            <a:ext cx="8449525" cy="430887"/>
          </a:xfrm>
          <a:prstGeom prst="rect">
            <a:avLst/>
          </a:prstGeom>
          <a:noFill/>
          <a:effectLst/>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Bootstrap out of </a:t>
            </a:r>
            <a:r>
              <a:rPr lang="en-US" sz="2200" b="1" dirty="0" err="1">
                <a:latin typeface="Times New Roman" panose="02020603050405020304" pitchFamily="18" charset="0"/>
                <a:cs typeface="Times New Roman" panose="02020603050405020304" pitchFamily="18" charset="0"/>
              </a:rPr>
              <a:t>x</a:t>
            </a:r>
            <a:r>
              <a:rPr lang="en-US" sz="2200" baseline="-25000" dirty="0" err="1">
                <a:latin typeface="Times New Roman" panose="02020603050405020304" pitchFamily="18" charset="0"/>
                <a:cs typeface="Times New Roman" panose="02020603050405020304" pitchFamily="18" charset="0"/>
              </a:rPr>
              <a:t>Null</a:t>
            </a:r>
            <a:r>
              <a:rPr lang="en-US" sz="2200" dirty="0">
                <a:latin typeface="Times New Roman" panose="02020603050405020304" pitchFamily="18" charset="0"/>
                <a:cs typeface="Times New Roman" panose="02020603050405020304" pitchFamily="18" charset="0"/>
              </a:rPr>
              <a:t> and compute the mean for each iteration: </a:t>
            </a:r>
          </a:p>
        </p:txBody>
      </p:sp>
      <p:pic>
        <p:nvPicPr>
          <p:cNvPr id="9" name="Picture 8">
            <a:extLst>
              <a:ext uri="{FF2B5EF4-FFF2-40B4-BE49-F238E27FC236}">
                <a16:creationId xmlns:a16="http://schemas.microsoft.com/office/drawing/2014/main" id="{6827E65F-2DA9-7010-E5D5-DCB865E7CAEF}"/>
              </a:ext>
            </a:extLst>
          </p:cNvPr>
          <p:cNvPicPr>
            <a:picLocks noChangeAspect="1"/>
          </p:cNvPicPr>
          <p:nvPr/>
        </p:nvPicPr>
        <p:blipFill>
          <a:blip r:embed="rId3"/>
          <a:stretch>
            <a:fillRect/>
          </a:stretch>
        </p:blipFill>
        <p:spPr>
          <a:xfrm>
            <a:off x="8183536" y="3573434"/>
            <a:ext cx="735101" cy="251840"/>
          </a:xfrm>
          <a:prstGeom prst="rect">
            <a:avLst/>
          </a:prstGeom>
          <a:effectLst/>
        </p:spPr>
      </p:pic>
      <p:sp>
        <p:nvSpPr>
          <p:cNvPr id="10" name="TextBox 9">
            <a:extLst>
              <a:ext uri="{FF2B5EF4-FFF2-40B4-BE49-F238E27FC236}">
                <a16:creationId xmlns:a16="http://schemas.microsoft.com/office/drawing/2014/main" id="{B9791E42-85ED-BF22-C28A-5841FE9EC739}"/>
              </a:ext>
            </a:extLst>
          </p:cNvPr>
          <p:cNvSpPr txBox="1"/>
          <p:nvPr/>
        </p:nvSpPr>
        <p:spPr>
          <a:xfrm>
            <a:off x="1113092" y="3970205"/>
            <a:ext cx="7072131" cy="400110"/>
          </a:xfrm>
          <a:prstGeom prst="rect">
            <a:avLst/>
          </a:prstGeom>
          <a:noFill/>
          <a:effectLst/>
        </p:spPr>
        <p:txBody>
          <a:bodyPr wrap="square" rtlCol="0">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gives an approximate Null sampling distribution for </a:t>
            </a:r>
            <a:r>
              <a:rPr lang="en-US" sz="2000" dirty="0" err="1">
                <a:solidFill>
                  <a:srgbClr val="000000"/>
                </a:solidFill>
                <a:latin typeface="Symbol" pitchFamily="2" charset="2"/>
              </a:rPr>
              <a:t>m</a:t>
            </a:r>
            <a:r>
              <a:rPr lang="en-US" sz="2000" baseline="-25000" dirty="0" err="1">
                <a:solidFill>
                  <a:srgbClr val="000000"/>
                </a:solidFill>
                <a:latin typeface="Times New Roman" panose="02020603050405020304" pitchFamily="18" charset="0"/>
                <a:cs typeface="Times New Roman" panose="02020603050405020304" pitchFamily="18" charset="0"/>
              </a:rPr>
              <a:t>Null</a:t>
            </a:r>
            <a:r>
              <a:rPr lang="en-US" sz="2000" dirty="0">
                <a:latin typeface="Times New Roman" panose="02020603050405020304" pitchFamily="18" charset="0"/>
                <a:cs typeface="Times New Roman" panose="02020603050405020304" pitchFamily="18" charset="0"/>
              </a:rPr>
              <a:t> </a:t>
            </a:r>
          </a:p>
        </p:txBody>
      </p:sp>
      <p:sp>
        <p:nvSpPr>
          <p:cNvPr id="12" name="TextBox 11">
            <a:extLst>
              <a:ext uri="{FF2B5EF4-FFF2-40B4-BE49-F238E27FC236}">
                <a16:creationId xmlns:a16="http://schemas.microsoft.com/office/drawing/2014/main" id="{4251C995-CCA2-7D9D-7434-166A27E3EEA6}"/>
              </a:ext>
            </a:extLst>
          </p:cNvPr>
          <p:cNvSpPr txBox="1"/>
          <p:nvPr/>
        </p:nvSpPr>
        <p:spPr>
          <a:xfrm>
            <a:off x="694472" y="4446615"/>
            <a:ext cx="8449527" cy="430887"/>
          </a:xfrm>
          <a:prstGeom prst="rect">
            <a:avLst/>
          </a:prstGeom>
          <a:noFill/>
          <a:effectLst/>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Examine where       falls with respect to the bootstrapped Null           :</a:t>
            </a:r>
          </a:p>
        </p:txBody>
      </p:sp>
      <p:pic>
        <p:nvPicPr>
          <p:cNvPr id="13" name="Picture 12">
            <a:extLst>
              <a:ext uri="{FF2B5EF4-FFF2-40B4-BE49-F238E27FC236}">
                <a16:creationId xmlns:a16="http://schemas.microsoft.com/office/drawing/2014/main" id="{5480F5E6-EE37-921B-F3E0-13742372C02C}"/>
              </a:ext>
            </a:extLst>
          </p:cNvPr>
          <p:cNvPicPr>
            <a:picLocks noChangeAspect="1"/>
          </p:cNvPicPr>
          <p:nvPr/>
        </p:nvPicPr>
        <p:blipFill>
          <a:blip r:embed="rId3"/>
          <a:stretch>
            <a:fillRect/>
          </a:stretch>
        </p:blipFill>
        <p:spPr>
          <a:xfrm>
            <a:off x="8076175" y="4541598"/>
            <a:ext cx="724780" cy="248304"/>
          </a:xfrm>
          <a:prstGeom prst="rect">
            <a:avLst/>
          </a:prstGeom>
          <a:effectLst/>
        </p:spPr>
      </p:pic>
      <p:pic>
        <p:nvPicPr>
          <p:cNvPr id="14" name="Picture 13">
            <a:extLst>
              <a:ext uri="{FF2B5EF4-FFF2-40B4-BE49-F238E27FC236}">
                <a16:creationId xmlns:a16="http://schemas.microsoft.com/office/drawing/2014/main" id="{86F33221-3590-74D8-619E-D653290EA913}"/>
              </a:ext>
            </a:extLst>
          </p:cNvPr>
          <p:cNvPicPr>
            <a:picLocks noChangeAspect="1"/>
          </p:cNvPicPr>
          <p:nvPr/>
        </p:nvPicPr>
        <p:blipFill>
          <a:blip r:embed="rId4"/>
          <a:stretch>
            <a:fillRect/>
          </a:stretch>
        </p:blipFill>
        <p:spPr>
          <a:xfrm>
            <a:off x="2948607" y="4542321"/>
            <a:ext cx="338597" cy="248304"/>
          </a:xfrm>
          <a:prstGeom prst="rect">
            <a:avLst/>
          </a:prstGeom>
          <a:effectLst/>
        </p:spPr>
      </p:pic>
      <p:sp>
        <p:nvSpPr>
          <p:cNvPr id="7" name="TextBox 6">
            <a:extLst>
              <a:ext uri="{FF2B5EF4-FFF2-40B4-BE49-F238E27FC236}">
                <a16:creationId xmlns:a16="http://schemas.microsoft.com/office/drawing/2014/main" id="{1E4E5CAF-70A4-43AB-5122-4EC4ECA669D5}"/>
              </a:ext>
            </a:extLst>
          </p:cNvPr>
          <p:cNvSpPr txBox="1"/>
          <p:nvPr/>
        </p:nvSpPr>
        <p:spPr>
          <a:xfrm>
            <a:off x="626960" y="6084798"/>
            <a:ext cx="1685909" cy="369332"/>
          </a:xfrm>
          <a:prstGeom prst="rect">
            <a:avLst/>
          </a:prstGeom>
          <a:noFill/>
          <a:effectLst/>
        </p:spPr>
        <p:txBody>
          <a:bodyPr wrap="square">
            <a:spAutoFit/>
          </a:bodyPr>
          <a:lstStyle/>
          <a:p>
            <a:r>
              <a:rPr lang="en-US" sz="1800" baseline="30000" dirty="0">
                <a:latin typeface="Times New Roman" panose="02020603050405020304" pitchFamily="18" charset="0"/>
                <a:cs typeface="Times New Roman" panose="02020603050405020304" pitchFamily="18" charset="0"/>
              </a:rPr>
              <a:t>*</a:t>
            </a:r>
            <a:r>
              <a:rPr lang="en-US" sz="1800" dirty="0">
                <a:latin typeface="Times New Roman" panose="02020603050405020304" pitchFamily="18" charset="0"/>
                <a:cs typeface="Times New Roman" panose="02020603050405020304" pitchFamily="18" charset="0"/>
              </a:rPr>
              <a:t>Two-tail ASL:</a:t>
            </a:r>
            <a:endParaRPr lang="en-US" dirty="0"/>
          </a:p>
        </p:txBody>
      </p:sp>
      <p:sp>
        <p:nvSpPr>
          <p:cNvPr id="15" name="TextBox 14">
            <a:extLst>
              <a:ext uri="{FF2B5EF4-FFF2-40B4-BE49-F238E27FC236}">
                <a16:creationId xmlns:a16="http://schemas.microsoft.com/office/drawing/2014/main" id="{39B37016-1485-9CFA-C5ED-359073036B9F}"/>
              </a:ext>
            </a:extLst>
          </p:cNvPr>
          <p:cNvSpPr txBox="1"/>
          <p:nvPr/>
        </p:nvSpPr>
        <p:spPr>
          <a:xfrm>
            <a:off x="636600" y="6554972"/>
            <a:ext cx="4280685" cy="276999"/>
          </a:xfrm>
          <a:prstGeom prst="rect">
            <a:avLst/>
          </a:prstGeom>
          <a:noFill/>
          <a:effectLst/>
        </p:spPr>
        <p:txBody>
          <a:bodyPr wrap="square">
            <a:spAutoFit/>
          </a:bodyPr>
          <a:lstStyle/>
          <a:p>
            <a:r>
              <a:rPr lang="en-US" sz="1200" baseline="30000" dirty="0">
                <a:latin typeface="Times New Roman" panose="02020603050405020304" pitchFamily="18" charset="0"/>
                <a:cs typeface="Times New Roman" panose="02020603050405020304" pitchFamily="18" charset="0"/>
              </a:rPr>
              <a:t>*</a:t>
            </a:r>
            <a:r>
              <a:rPr lang="en-US" sz="1200" dirty="0">
                <a:latin typeface="Times New Roman" panose="02020603050405020304" pitchFamily="18" charset="0"/>
                <a:cs typeface="Times New Roman" panose="02020603050405020304" pitchFamily="18" charset="0"/>
              </a:rPr>
              <a:t>Sampling dist. should be fairly symmetric for this to make sense</a:t>
            </a:r>
            <a:endParaRPr lang="en-US" sz="1200" dirty="0"/>
          </a:p>
        </p:txBody>
      </p:sp>
      <p:sp>
        <p:nvSpPr>
          <p:cNvPr id="16" name="TextBox 15">
            <a:extLst>
              <a:ext uri="{FF2B5EF4-FFF2-40B4-BE49-F238E27FC236}">
                <a16:creationId xmlns:a16="http://schemas.microsoft.com/office/drawing/2014/main" id="{CDF26DFA-E442-7C4D-B762-6FF9EA0A2A64}"/>
              </a:ext>
            </a:extLst>
          </p:cNvPr>
          <p:cNvSpPr txBox="1"/>
          <p:nvPr/>
        </p:nvSpPr>
        <p:spPr>
          <a:xfrm>
            <a:off x="626960" y="5004691"/>
            <a:ext cx="2113264" cy="369332"/>
          </a:xfrm>
          <a:prstGeom prst="rect">
            <a:avLst/>
          </a:prstGeom>
          <a:noFill/>
          <a:effectLst/>
        </p:spPr>
        <p:txBody>
          <a:bodyPr wrap="square">
            <a:spAutoFit/>
          </a:bodyPr>
          <a:lstStyle/>
          <a:p>
            <a:r>
              <a:rPr lang="en-US" sz="1800" dirty="0">
                <a:latin typeface="Times New Roman" panose="02020603050405020304" pitchFamily="18" charset="0"/>
                <a:cs typeface="Times New Roman" panose="02020603050405020304" pitchFamily="18" charset="0"/>
              </a:rPr>
              <a:t>One-tail upper ASL:</a:t>
            </a:r>
            <a:endParaRPr lang="en-US" dirty="0"/>
          </a:p>
        </p:txBody>
      </p:sp>
      <p:sp>
        <p:nvSpPr>
          <p:cNvPr id="17" name="TextBox 16">
            <a:extLst>
              <a:ext uri="{FF2B5EF4-FFF2-40B4-BE49-F238E27FC236}">
                <a16:creationId xmlns:a16="http://schemas.microsoft.com/office/drawing/2014/main" id="{94027E9F-F262-9E1F-9486-6D02EE851B4D}"/>
              </a:ext>
            </a:extLst>
          </p:cNvPr>
          <p:cNvSpPr txBox="1"/>
          <p:nvPr/>
        </p:nvSpPr>
        <p:spPr>
          <a:xfrm>
            <a:off x="626960" y="5537098"/>
            <a:ext cx="2113264" cy="369332"/>
          </a:xfrm>
          <a:prstGeom prst="rect">
            <a:avLst/>
          </a:prstGeom>
          <a:noFill/>
          <a:effectLst/>
        </p:spPr>
        <p:txBody>
          <a:bodyPr wrap="square">
            <a:spAutoFit/>
          </a:bodyPr>
          <a:lstStyle/>
          <a:p>
            <a:r>
              <a:rPr lang="en-US" sz="1800" dirty="0">
                <a:latin typeface="Times New Roman" panose="02020603050405020304" pitchFamily="18" charset="0"/>
                <a:cs typeface="Times New Roman" panose="02020603050405020304" pitchFamily="18" charset="0"/>
              </a:rPr>
              <a:t>One-tail lower ASL:</a:t>
            </a:r>
            <a:endParaRPr lang="en-US" dirty="0"/>
          </a:p>
        </p:txBody>
      </p:sp>
      <p:sp>
        <p:nvSpPr>
          <p:cNvPr id="19" name="TextBox 18">
            <a:extLst>
              <a:ext uri="{FF2B5EF4-FFF2-40B4-BE49-F238E27FC236}">
                <a16:creationId xmlns:a16="http://schemas.microsoft.com/office/drawing/2014/main" id="{E2975A2A-DF7D-70F6-F714-D072A95E7844}"/>
              </a:ext>
            </a:extLst>
          </p:cNvPr>
          <p:cNvSpPr txBox="1"/>
          <p:nvPr/>
        </p:nvSpPr>
        <p:spPr>
          <a:xfrm>
            <a:off x="2974718" y="2960860"/>
            <a:ext cx="1128835" cy="307777"/>
          </a:xfrm>
          <a:prstGeom prst="rect">
            <a:avLst/>
          </a:prstGeom>
          <a:noFill/>
          <a:effectLst/>
        </p:spPr>
        <p:txBody>
          <a:bodyPr wrap="none" rtlCol="0">
            <a:spAutoFit/>
          </a:bodyPr>
          <a:lstStyle/>
          <a:p>
            <a:r>
              <a:rPr lang="en-US" sz="1400" dirty="0">
                <a:latin typeface="Times New Roman" panose="02020603050405020304" pitchFamily="18" charset="0"/>
                <a:cs typeface="Times New Roman" panose="02020603050405020304" pitchFamily="18" charset="0"/>
              </a:rPr>
              <a:t>sample mean</a:t>
            </a:r>
          </a:p>
        </p:txBody>
      </p:sp>
      <p:sp>
        <p:nvSpPr>
          <p:cNvPr id="20" name="TextBox 19">
            <a:extLst>
              <a:ext uri="{FF2B5EF4-FFF2-40B4-BE49-F238E27FC236}">
                <a16:creationId xmlns:a16="http://schemas.microsoft.com/office/drawing/2014/main" id="{5A17FF46-016D-BAEB-73A8-628A0714064E}"/>
              </a:ext>
            </a:extLst>
          </p:cNvPr>
          <p:cNvSpPr txBox="1"/>
          <p:nvPr/>
        </p:nvSpPr>
        <p:spPr>
          <a:xfrm>
            <a:off x="5858727" y="2974608"/>
            <a:ext cx="2585964" cy="307777"/>
          </a:xfrm>
          <a:prstGeom prst="rect">
            <a:avLst/>
          </a:prstGeom>
          <a:noFill/>
          <a:effectLst/>
        </p:spPr>
        <p:txBody>
          <a:bodyPr wrap="none" rtlCol="0">
            <a:spAutoFit/>
          </a:bodyPr>
          <a:lstStyle/>
          <a:p>
            <a:r>
              <a:rPr lang="en-US" sz="1400" dirty="0">
                <a:latin typeface="Times New Roman" panose="02020603050405020304" pitchFamily="18" charset="0"/>
                <a:cs typeface="Times New Roman" panose="02020603050405020304" pitchFamily="18" charset="0"/>
              </a:rPr>
              <a:t>mean to compare sample mean to</a:t>
            </a:r>
          </a:p>
        </p:txBody>
      </p:sp>
      <p:cxnSp>
        <p:nvCxnSpPr>
          <p:cNvPr id="22" name="Straight Arrow Connector 21">
            <a:extLst>
              <a:ext uri="{FF2B5EF4-FFF2-40B4-BE49-F238E27FC236}">
                <a16:creationId xmlns:a16="http://schemas.microsoft.com/office/drawing/2014/main" id="{E3858BC3-C7B5-5202-78FD-BF974EDA86A0}"/>
              </a:ext>
            </a:extLst>
          </p:cNvPr>
          <p:cNvCxnSpPr/>
          <p:nvPr/>
        </p:nvCxnSpPr>
        <p:spPr>
          <a:xfrm flipV="1">
            <a:off x="4026034" y="2962557"/>
            <a:ext cx="291316" cy="153889"/>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13CF0EB7-8B49-E919-D87E-90DB4A172DCF}"/>
              </a:ext>
            </a:extLst>
          </p:cNvPr>
          <p:cNvCxnSpPr>
            <a:cxnSpLocks/>
          </p:cNvCxnSpPr>
          <p:nvPr/>
        </p:nvCxnSpPr>
        <p:spPr>
          <a:xfrm flipH="1" flipV="1">
            <a:off x="5625286" y="2966768"/>
            <a:ext cx="291316" cy="153889"/>
          </a:xfrm>
          <a:prstGeom prst="straightConnector1">
            <a:avLst/>
          </a:prstGeom>
          <a:ln>
            <a:tailEnd type="triangle"/>
          </a:ln>
          <a:effectLst/>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F1631ED4-832D-2D94-A57D-17A590B2DF01}"/>
              </a:ext>
            </a:extLst>
          </p:cNvPr>
          <p:cNvPicPr>
            <a:picLocks noChangeAspect="1"/>
          </p:cNvPicPr>
          <p:nvPr/>
        </p:nvPicPr>
        <p:blipFill>
          <a:blip r:embed="rId5"/>
          <a:stretch>
            <a:fillRect/>
          </a:stretch>
        </p:blipFill>
        <p:spPr>
          <a:xfrm>
            <a:off x="3007686" y="2733563"/>
            <a:ext cx="2585964" cy="239039"/>
          </a:xfrm>
          <a:prstGeom prst="rect">
            <a:avLst/>
          </a:prstGeom>
          <a:effectLst/>
        </p:spPr>
      </p:pic>
      <p:pic>
        <p:nvPicPr>
          <p:cNvPr id="11" name="Picture 10">
            <a:extLst>
              <a:ext uri="{FF2B5EF4-FFF2-40B4-BE49-F238E27FC236}">
                <a16:creationId xmlns:a16="http://schemas.microsoft.com/office/drawing/2014/main" id="{E1802CF6-023B-48FD-B972-4B89F114E5B9}"/>
              </a:ext>
            </a:extLst>
          </p:cNvPr>
          <p:cNvPicPr>
            <a:picLocks noChangeAspect="1"/>
          </p:cNvPicPr>
          <p:nvPr/>
        </p:nvPicPr>
        <p:blipFill>
          <a:blip r:embed="rId6"/>
          <a:stretch>
            <a:fillRect/>
          </a:stretch>
        </p:blipFill>
        <p:spPr>
          <a:xfrm>
            <a:off x="2740224" y="4968493"/>
            <a:ext cx="1408641" cy="446070"/>
          </a:xfrm>
          <a:prstGeom prst="rect">
            <a:avLst/>
          </a:prstGeom>
          <a:effectLst/>
        </p:spPr>
      </p:pic>
      <p:pic>
        <p:nvPicPr>
          <p:cNvPr id="21" name="Picture 20">
            <a:extLst>
              <a:ext uri="{FF2B5EF4-FFF2-40B4-BE49-F238E27FC236}">
                <a16:creationId xmlns:a16="http://schemas.microsoft.com/office/drawing/2014/main" id="{E796D104-4EB5-A9E3-B20A-AD593100405F}"/>
              </a:ext>
            </a:extLst>
          </p:cNvPr>
          <p:cNvPicPr>
            <a:picLocks noChangeAspect="1"/>
          </p:cNvPicPr>
          <p:nvPr/>
        </p:nvPicPr>
        <p:blipFill>
          <a:blip r:embed="rId7"/>
          <a:stretch>
            <a:fillRect/>
          </a:stretch>
        </p:blipFill>
        <p:spPr>
          <a:xfrm>
            <a:off x="2740223" y="5525523"/>
            <a:ext cx="1408641" cy="446070"/>
          </a:xfrm>
          <a:prstGeom prst="rect">
            <a:avLst/>
          </a:prstGeom>
          <a:effectLst/>
        </p:spPr>
      </p:pic>
      <p:pic>
        <p:nvPicPr>
          <p:cNvPr id="24" name="Picture 23">
            <a:extLst>
              <a:ext uri="{FF2B5EF4-FFF2-40B4-BE49-F238E27FC236}">
                <a16:creationId xmlns:a16="http://schemas.microsoft.com/office/drawing/2014/main" id="{44207385-F944-CF25-9D53-20CB40977EF3}"/>
              </a:ext>
            </a:extLst>
          </p:cNvPr>
          <p:cNvPicPr>
            <a:picLocks noChangeAspect="1"/>
          </p:cNvPicPr>
          <p:nvPr/>
        </p:nvPicPr>
        <p:blipFill>
          <a:blip r:embed="rId8"/>
          <a:stretch>
            <a:fillRect/>
          </a:stretch>
        </p:blipFill>
        <p:spPr>
          <a:xfrm>
            <a:off x="2740223" y="6082553"/>
            <a:ext cx="4313963" cy="446069"/>
          </a:xfrm>
          <a:prstGeom prst="rect">
            <a:avLst/>
          </a:prstGeom>
          <a:effectLst/>
        </p:spPr>
      </p:pic>
      <p:pic>
        <p:nvPicPr>
          <p:cNvPr id="28" name="Picture 27">
            <a:extLst>
              <a:ext uri="{FF2B5EF4-FFF2-40B4-BE49-F238E27FC236}">
                <a16:creationId xmlns:a16="http://schemas.microsoft.com/office/drawing/2014/main" id="{C2217250-8153-0E05-F119-D49A393FEF60}"/>
              </a:ext>
            </a:extLst>
          </p:cNvPr>
          <p:cNvPicPr>
            <a:picLocks noChangeAspect="1"/>
          </p:cNvPicPr>
          <p:nvPr/>
        </p:nvPicPr>
        <p:blipFill>
          <a:blip r:embed="rId9"/>
          <a:stretch>
            <a:fillRect/>
          </a:stretch>
        </p:blipFill>
        <p:spPr>
          <a:xfrm>
            <a:off x="7309941" y="6128853"/>
            <a:ext cx="1620505" cy="228850"/>
          </a:xfrm>
          <a:prstGeom prst="rect">
            <a:avLst/>
          </a:prstGeom>
          <a:effectLst/>
        </p:spPr>
      </p:pic>
    </p:spTree>
    <p:extLst>
      <p:ext uri="{BB962C8B-B14F-4D97-AF65-F5344CB8AC3E}">
        <p14:creationId xmlns:p14="http://schemas.microsoft.com/office/powerpoint/2010/main" val="325437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ppt_x"/>
                                          </p:val>
                                        </p:tav>
                                        <p:tav tm="100000">
                                          <p:val>
                                            <p:strVal val="#ppt_x"/>
                                          </p:val>
                                        </p:tav>
                                      </p:tavLst>
                                    </p:anim>
                                    <p:anim calcmode="lin" valueType="num">
                                      <p:cBhvr additive="base">
                                        <p:cTn id="1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ppt_x"/>
                                          </p:val>
                                        </p:tav>
                                        <p:tav tm="100000">
                                          <p:val>
                                            <p:strVal val="#ppt_x"/>
                                          </p:val>
                                        </p:tav>
                                      </p:tavLst>
                                    </p:anim>
                                    <p:anim calcmode="lin" valueType="num">
                                      <p:cBhvr additive="base">
                                        <p:cTn id="22" dur="500" fill="hold"/>
                                        <p:tgtEl>
                                          <p:spTgt spid="12"/>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500" fill="hold"/>
                                        <p:tgtEl>
                                          <p:spTgt spid="14"/>
                                        </p:tgtEl>
                                        <p:attrNameLst>
                                          <p:attrName>ppt_x</p:attrName>
                                        </p:attrNameLst>
                                      </p:cBhvr>
                                      <p:tavLst>
                                        <p:tav tm="0">
                                          <p:val>
                                            <p:strVal val="#ppt_x"/>
                                          </p:val>
                                        </p:tav>
                                        <p:tav tm="100000">
                                          <p:val>
                                            <p:strVal val="#ppt_x"/>
                                          </p:val>
                                        </p:tav>
                                      </p:tavLst>
                                    </p:anim>
                                    <p:anim calcmode="lin" valueType="num">
                                      <p:cBhvr additive="base">
                                        <p:cTn id="3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anim calcmode="lin" valueType="num">
                                      <p:cBhvr additive="base">
                                        <p:cTn id="35" dur="500" fill="hold"/>
                                        <p:tgtEl>
                                          <p:spTgt spid="16"/>
                                        </p:tgtEl>
                                        <p:attrNameLst>
                                          <p:attrName>ppt_x</p:attrName>
                                        </p:attrNameLst>
                                      </p:cBhvr>
                                      <p:tavLst>
                                        <p:tav tm="0">
                                          <p:val>
                                            <p:strVal val="#ppt_x"/>
                                          </p:val>
                                        </p:tav>
                                        <p:tav tm="100000">
                                          <p:val>
                                            <p:strVal val="#ppt_x"/>
                                          </p:val>
                                        </p:tav>
                                      </p:tavLst>
                                    </p:anim>
                                    <p:anim calcmode="lin" valueType="num">
                                      <p:cBhvr additive="base">
                                        <p:cTn id="36" dur="500" fill="hold"/>
                                        <p:tgtEl>
                                          <p:spTgt spid="16"/>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500" fill="hold"/>
                                        <p:tgtEl>
                                          <p:spTgt spid="11"/>
                                        </p:tgtEl>
                                        <p:attrNameLst>
                                          <p:attrName>ppt_x</p:attrName>
                                        </p:attrNameLst>
                                      </p:cBhvr>
                                      <p:tavLst>
                                        <p:tav tm="0">
                                          <p:val>
                                            <p:strVal val="#ppt_x"/>
                                          </p:val>
                                        </p:tav>
                                        <p:tav tm="100000">
                                          <p:val>
                                            <p:strVal val="#ppt_x"/>
                                          </p:val>
                                        </p:tav>
                                      </p:tavLst>
                                    </p:anim>
                                    <p:anim calcmode="lin" valueType="num">
                                      <p:cBhvr additive="base">
                                        <p:cTn id="4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 calcmode="lin" valueType="num">
                                      <p:cBhvr additive="base">
                                        <p:cTn id="45" dur="500" fill="hold"/>
                                        <p:tgtEl>
                                          <p:spTgt spid="17"/>
                                        </p:tgtEl>
                                        <p:attrNameLst>
                                          <p:attrName>ppt_x</p:attrName>
                                        </p:attrNameLst>
                                      </p:cBhvr>
                                      <p:tavLst>
                                        <p:tav tm="0">
                                          <p:val>
                                            <p:strVal val="#ppt_x"/>
                                          </p:val>
                                        </p:tav>
                                        <p:tav tm="100000">
                                          <p:val>
                                            <p:strVal val="#ppt_x"/>
                                          </p:val>
                                        </p:tav>
                                      </p:tavLst>
                                    </p:anim>
                                    <p:anim calcmode="lin" valueType="num">
                                      <p:cBhvr additive="base">
                                        <p:cTn id="46" dur="500" fill="hold"/>
                                        <p:tgtEl>
                                          <p:spTgt spid="17"/>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additive="base">
                                        <p:cTn id="49" dur="500" fill="hold"/>
                                        <p:tgtEl>
                                          <p:spTgt spid="21"/>
                                        </p:tgtEl>
                                        <p:attrNameLst>
                                          <p:attrName>ppt_x</p:attrName>
                                        </p:attrNameLst>
                                      </p:cBhvr>
                                      <p:tavLst>
                                        <p:tav tm="0">
                                          <p:val>
                                            <p:strVal val="#ppt_x"/>
                                          </p:val>
                                        </p:tav>
                                        <p:tav tm="100000">
                                          <p:val>
                                            <p:strVal val="#ppt_x"/>
                                          </p:val>
                                        </p:tav>
                                      </p:tavLst>
                                    </p:anim>
                                    <p:anim calcmode="lin" valueType="num">
                                      <p:cBhvr additive="base">
                                        <p:cTn id="5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anim calcmode="lin" valueType="num">
                                      <p:cBhvr additive="base">
                                        <p:cTn id="55" dur="500" fill="hold"/>
                                        <p:tgtEl>
                                          <p:spTgt spid="7"/>
                                        </p:tgtEl>
                                        <p:attrNameLst>
                                          <p:attrName>ppt_x</p:attrName>
                                        </p:attrNameLst>
                                      </p:cBhvr>
                                      <p:tavLst>
                                        <p:tav tm="0">
                                          <p:val>
                                            <p:strVal val="#ppt_x"/>
                                          </p:val>
                                        </p:tav>
                                        <p:tav tm="100000">
                                          <p:val>
                                            <p:strVal val="#ppt_x"/>
                                          </p:val>
                                        </p:tav>
                                      </p:tavLst>
                                    </p:anim>
                                    <p:anim calcmode="lin" valueType="num">
                                      <p:cBhvr additive="base">
                                        <p:cTn id="56" dur="500" fill="hold"/>
                                        <p:tgtEl>
                                          <p:spTgt spid="7"/>
                                        </p:tgtEl>
                                        <p:attrNameLst>
                                          <p:attrName>ppt_y</p:attrName>
                                        </p:attrNameLst>
                                      </p:cBhvr>
                                      <p:tavLst>
                                        <p:tav tm="0">
                                          <p:val>
                                            <p:strVal val="1+#ppt_h/2"/>
                                          </p:val>
                                        </p:tav>
                                        <p:tav tm="100000">
                                          <p:val>
                                            <p:strVal val="#ppt_y"/>
                                          </p:val>
                                        </p:tav>
                                      </p:tavLst>
                                    </p:anim>
                                  </p:childTnLst>
                                </p:cTn>
                              </p:par>
                              <p:par>
                                <p:cTn id="57" presetID="2" presetClass="entr" presetSubtype="4" fill="hold" nodeType="withEffect">
                                  <p:stCondLst>
                                    <p:cond delay="0"/>
                                  </p:stCondLst>
                                  <p:childTnLst>
                                    <p:set>
                                      <p:cBhvr>
                                        <p:cTn id="58" dur="1" fill="hold">
                                          <p:stCondLst>
                                            <p:cond delay="0"/>
                                          </p:stCondLst>
                                        </p:cTn>
                                        <p:tgtEl>
                                          <p:spTgt spid="24"/>
                                        </p:tgtEl>
                                        <p:attrNameLst>
                                          <p:attrName>style.visibility</p:attrName>
                                        </p:attrNameLst>
                                      </p:cBhvr>
                                      <p:to>
                                        <p:strVal val="visible"/>
                                      </p:to>
                                    </p:set>
                                    <p:anim calcmode="lin" valueType="num">
                                      <p:cBhvr additive="base">
                                        <p:cTn id="59" dur="500" fill="hold"/>
                                        <p:tgtEl>
                                          <p:spTgt spid="24"/>
                                        </p:tgtEl>
                                        <p:attrNameLst>
                                          <p:attrName>ppt_x</p:attrName>
                                        </p:attrNameLst>
                                      </p:cBhvr>
                                      <p:tavLst>
                                        <p:tav tm="0">
                                          <p:val>
                                            <p:strVal val="#ppt_x"/>
                                          </p:val>
                                        </p:tav>
                                        <p:tav tm="100000">
                                          <p:val>
                                            <p:strVal val="#ppt_x"/>
                                          </p:val>
                                        </p:tav>
                                      </p:tavLst>
                                    </p:anim>
                                    <p:anim calcmode="lin" valueType="num">
                                      <p:cBhvr additive="base">
                                        <p:cTn id="60" dur="500" fill="hold"/>
                                        <p:tgtEl>
                                          <p:spTgt spid="24"/>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28"/>
                                        </p:tgtEl>
                                        <p:attrNameLst>
                                          <p:attrName>style.visibility</p:attrName>
                                        </p:attrNameLst>
                                      </p:cBhvr>
                                      <p:to>
                                        <p:strVal val="visible"/>
                                      </p:to>
                                    </p:set>
                                    <p:anim calcmode="lin" valueType="num">
                                      <p:cBhvr additive="base">
                                        <p:cTn id="63" dur="500" fill="hold"/>
                                        <p:tgtEl>
                                          <p:spTgt spid="28"/>
                                        </p:tgtEl>
                                        <p:attrNameLst>
                                          <p:attrName>ppt_x</p:attrName>
                                        </p:attrNameLst>
                                      </p:cBhvr>
                                      <p:tavLst>
                                        <p:tav tm="0">
                                          <p:val>
                                            <p:strVal val="#ppt_x"/>
                                          </p:val>
                                        </p:tav>
                                        <p:tav tm="100000">
                                          <p:val>
                                            <p:strVal val="#ppt_x"/>
                                          </p:val>
                                        </p:tav>
                                      </p:tavLst>
                                    </p:anim>
                                    <p:anim calcmode="lin" valueType="num">
                                      <p:cBhvr additive="base">
                                        <p:cTn id="64" dur="500" fill="hold"/>
                                        <p:tgtEl>
                                          <p:spTgt spid="28"/>
                                        </p:tgtEl>
                                        <p:attrNameLst>
                                          <p:attrName>ppt_y</p:attrName>
                                        </p:attrNameLst>
                                      </p:cBhvr>
                                      <p:tavLst>
                                        <p:tav tm="0">
                                          <p:val>
                                            <p:strVal val="1+#ppt_h/2"/>
                                          </p:val>
                                        </p:tav>
                                        <p:tav tm="100000">
                                          <p:val>
                                            <p:strVal val="#ppt_y"/>
                                          </p:val>
                                        </p:tav>
                                      </p:tavLst>
                                    </p:anim>
                                  </p:childTnLst>
                                </p:cTn>
                              </p:par>
                            </p:childTnLst>
                          </p:cTn>
                        </p:par>
                        <p:par>
                          <p:cTn id="65" fill="hold">
                            <p:stCondLst>
                              <p:cond delay="500"/>
                            </p:stCondLst>
                            <p:childTnLst>
                              <p:par>
                                <p:cTn id="66" presetID="2" presetClass="entr" presetSubtype="4" fill="hold" grpId="0" nodeType="afterEffect">
                                  <p:stCondLst>
                                    <p:cond delay="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500" fill="hold"/>
                                        <p:tgtEl>
                                          <p:spTgt spid="15"/>
                                        </p:tgtEl>
                                        <p:attrNameLst>
                                          <p:attrName>ppt_x</p:attrName>
                                        </p:attrNameLst>
                                      </p:cBhvr>
                                      <p:tavLst>
                                        <p:tav tm="0">
                                          <p:val>
                                            <p:strVal val="#ppt_x"/>
                                          </p:val>
                                        </p:tav>
                                        <p:tav tm="100000">
                                          <p:val>
                                            <p:strVal val="#ppt_x"/>
                                          </p:val>
                                        </p:tav>
                                      </p:tavLst>
                                    </p:anim>
                                    <p:anim calcmode="lin" valueType="num">
                                      <p:cBhvr additive="base">
                                        <p:cTn id="69"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2" grpId="0"/>
      <p:bldP spid="7" grpId="0"/>
      <p:bldP spid="15" grpId="0"/>
      <p:bldP spid="16" grpId="0"/>
      <p:bldP spid="1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F1C992-17F6-F6BF-1628-D94E4C822CDA}"/>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a:effectLst/>
        </p:spPr>
      </p:pic>
      <p:sp>
        <p:nvSpPr>
          <p:cNvPr id="8" name="Rectangle 4">
            <a:extLst>
              <a:ext uri="{FF2B5EF4-FFF2-40B4-BE49-F238E27FC236}">
                <a16:creationId xmlns:a16="http://schemas.microsoft.com/office/drawing/2014/main" id="{5A04824C-1D35-F2E0-B4BB-D2682A52E161}"/>
              </a:ext>
            </a:extLst>
          </p:cNvPr>
          <p:cNvSpPr>
            <a:spLocks noChangeArrowheads="1"/>
          </p:cNvSpPr>
          <p:nvPr/>
        </p:nvSpPr>
        <p:spPr bwMode="auto">
          <a:xfrm>
            <a:off x="231775" y="373150"/>
            <a:ext cx="8607425" cy="1127125"/>
          </a:xfrm>
          <a:prstGeom prst="rect">
            <a:avLst/>
          </a:prstGeom>
          <a:noFill/>
          <a:ln w="9525">
            <a:noFill/>
            <a:round/>
            <a:headEnd/>
            <a:tailEnd/>
          </a:ln>
          <a:effectLst/>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One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sp>
        <p:nvSpPr>
          <p:cNvPr id="3" name="TextBox 2">
            <a:extLst>
              <a:ext uri="{FF2B5EF4-FFF2-40B4-BE49-F238E27FC236}">
                <a16:creationId xmlns:a16="http://schemas.microsoft.com/office/drawing/2014/main" id="{892B6B4E-16FB-267C-5E4C-EFED051C8D43}"/>
              </a:ext>
            </a:extLst>
          </p:cNvPr>
          <p:cNvSpPr txBox="1"/>
          <p:nvPr/>
        </p:nvSpPr>
        <p:spPr>
          <a:xfrm>
            <a:off x="231775" y="1481556"/>
            <a:ext cx="8156294" cy="1200329"/>
          </a:xfrm>
          <a:prstGeom prst="rect">
            <a:avLst/>
          </a:prstGeom>
          <a:noFill/>
          <a:effectLst/>
        </p:spPr>
        <p:txBody>
          <a:bodyPr wrap="square" rtlCol="0">
            <a:spAutoFit/>
          </a:bodyPr>
          <a:lstStyle/>
          <a:p>
            <a:r>
              <a:rPr lang="en-US" sz="2400" dirty="0">
                <a:latin typeface="Times New Roman" panose="02020603050405020304" pitchFamily="18" charset="0"/>
                <a:cs typeface="Times New Roman" panose="02020603050405020304" pitchFamily="18" charset="0"/>
              </a:rPr>
              <a:t>Consider the log “peak info” of DNA drop-out across eleven loci related to a 2012 study of DNA profiling peak drop-out rates. We can pull them out of the </a:t>
            </a:r>
            <a:r>
              <a:rPr lang="en-US" sz="2400" b="1" dirty="0" err="1">
                <a:latin typeface="Courier New" panose="02070309020205020404" pitchFamily="49" charset="0"/>
                <a:cs typeface="Courier New" panose="02070309020205020404" pitchFamily="49" charset="0"/>
              </a:rPr>
              <a:t>dropout.info</a:t>
            </a:r>
            <a:r>
              <a:rPr lang="en-US" sz="2400" dirty="0">
                <a:latin typeface="Times New Roman" panose="02020603050405020304" pitchFamily="18" charset="0"/>
                <a:cs typeface="Times New Roman" panose="02020603050405020304" pitchFamily="18" charset="0"/>
              </a:rPr>
              <a:t> dataset with:</a:t>
            </a:r>
          </a:p>
        </p:txBody>
      </p:sp>
      <p:sp>
        <p:nvSpPr>
          <p:cNvPr id="4" name="Rectangle 3">
            <a:extLst>
              <a:ext uri="{FF2B5EF4-FFF2-40B4-BE49-F238E27FC236}">
                <a16:creationId xmlns:a16="http://schemas.microsoft.com/office/drawing/2014/main" id="{78B6D375-7B14-B423-AD52-5EDE0FC956A5}"/>
              </a:ext>
            </a:extLst>
          </p:cNvPr>
          <p:cNvSpPr/>
          <p:nvPr/>
        </p:nvSpPr>
        <p:spPr>
          <a:xfrm>
            <a:off x="1021596" y="2734514"/>
            <a:ext cx="7027782" cy="2339102"/>
          </a:xfrm>
          <a:prstGeom prst="rect">
            <a:avLst/>
          </a:prstGeom>
          <a:solidFill>
            <a:srgbClr val="000C78"/>
          </a:solidFill>
          <a:effectLst/>
        </p:spPr>
        <p:txBody>
          <a:bodyPr wrap="square">
            <a:spAutoFit/>
          </a:bodyPr>
          <a:lstStyle/>
          <a:p>
            <a:r>
              <a:rPr lang="en-US" sz="1600" dirty="0">
                <a:solidFill>
                  <a:schemeClr val="accent6"/>
                </a:solidFill>
                <a:latin typeface="Courier"/>
                <a:cs typeface="Courier"/>
              </a:rPr>
              <a:t>library</a:t>
            </a:r>
            <a:r>
              <a:rPr lang="en-US" sz="1600" dirty="0">
                <a:solidFill>
                  <a:schemeClr val="bg1"/>
                </a:solidFill>
                <a:latin typeface="Courier"/>
                <a:cs typeface="Courier"/>
              </a:rPr>
              <a:t>(</a:t>
            </a:r>
            <a:r>
              <a:rPr lang="en-US" sz="1600" dirty="0" err="1">
                <a:solidFill>
                  <a:schemeClr val="bg1"/>
                </a:solidFill>
                <a:latin typeface="Courier"/>
                <a:cs typeface="Courier"/>
              </a:rPr>
              <a:t>frequtils</a:t>
            </a:r>
            <a:r>
              <a:rPr lang="en-US" sz="1600" dirty="0">
                <a:solidFill>
                  <a:schemeClr val="bg1"/>
                </a:solidFill>
                <a:latin typeface="Courier"/>
                <a:cs typeface="Courier"/>
              </a:rPr>
              <a:t>)</a:t>
            </a:r>
          </a:p>
          <a:p>
            <a:r>
              <a:rPr lang="en-US" sz="1600" dirty="0">
                <a:solidFill>
                  <a:schemeClr val="bg1"/>
                </a:solidFill>
                <a:latin typeface="Courier"/>
                <a:cs typeface="Courier"/>
              </a:rPr>
              <a:t>data(</a:t>
            </a:r>
            <a:r>
              <a:rPr lang="en-US" sz="1600" dirty="0" err="1">
                <a:solidFill>
                  <a:schemeClr val="bg1"/>
                </a:solidFill>
                <a:latin typeface="Courier"/>
                <a:cs typeface="Courier"/>
              </a:rPr>
              <a:t>dropout.info</a:t>
            </a:r>
            <a:r>
              <a:rPr lang="en-US" sz="1600" dirty="0">
                <a:solidFill>
                  <a:schemeClr val="bg1"/>
                </a:solidFill>
                <a:latin typeface="Courier"/>
                <a:cs typeface="Courier"/>
              </a:rPr>
              <a:t>)</a:t>
            </a:r>
          </a:p>
          <a:p>
            <a:endParaRPr lang="en-US" sz="1600" dirty="0">
              <a:solidFill>
                <a:schemeClr val="bg1"/>
              </a:solidFill>
              <a:latin typeface="Courier"/>
              <a:cs typeface="Courier"/>
            </a:endParaRPr>
          </a:p>
          <a:p>
            <a:r>
              <a:rPr lang="en-US" sz="1600" dirty="0" err="1">
                <a:solidFill>
                  <a:schemeClr val="bg1"/>
                </a:solidFill>
                <a:latin typeface="Courier"/>
                <a:cs typeface="Courier"/>
              </a:rPr>
              <a:t>all.dat</a:t>
            </a:r>
            <a:r>
              <a:rPr lang="en-US" sz="1600" dirty="0">
                <a:solidFill>
                  <a:schemeClr val="bg1"/>
                </a:solidFill>
                <a:latin typeface="Courier"/>
                <a:cs typeface="Courier"/>
              </a:rPr>
              <a:t> &lt;- </a:t>
            </a:r>
            <a:r>
              <a:rPr lang="en-US" sz="1600" dirty="0" err="1">
                <a:solidFill>
                  <a:schemeClr val="bg1"/>
                </a:solidFill>
                <a:latin typeface="Courier"/>
                <a:cs typeface="Courier"/>
              </a:rPr>
              <a:t>do.call</a:t>
            </a:r>
            <a:r>
              <a:rPr lang="en-US" sz="1600" dirty="0">
                <a:solidFill>
                  <a:schemeClr val="bg1"/>
                </a:solidFill>
                <a:latin typeface="Courier"/>
                <a:cs typeface="Courier"/>
              </a:rPr>
              <a:t>(</a:t>
            </a:r>
            <a:r>
              <a:rPr lang="en-US" sz="1600" dirty="0" err="1">
                <a:solidFill>
                  <a:schemeClr val="bg1"/>
                </a:solidFill>
                <a:latin typeface="Courier"/>
                <a:cs typeface="Courier"/>
              </a:rPr>
              <a:t>rbind</a:t>
            </a:r>
            <a:r>
              <a:rPr lang="en-US" sz="1600" dirty="0">
                <a:solidFill>
                  <a:schemeClr val="bg1"/>
                </a:solidFill>
                <a:latin typeface="Courier"/>
                <a:cs typeface="Courier"/>
              </a:rPr>
              <a:t>, </a:t>
            </a:r>
            <a:r>
              <a:rPr lang="en-US" sz="1600" dirty="0" err="1">
                <a:solidFill>
                  <a:schemeClr val="bg1"/>
                </a:solidFill>
                <a:latin typeface="Courier"/>
                <a:cs typeface="Courier"/>
              </a:rPr>
              <a:t>dropout.info</a:t>
            </a:r>
            <a:r>
              <a:rPr lang="en-US" sz="1600" dirty="0">
                <a:solidFill>
                  <a:schemeClr val="bg1"/>
                </a:solidFill>
                <a:latin typeface="Courier"/>
                <a:cs typeface="Courier"/>
              </a:rPr>
              <a:t>)</a:t>
            </a:r>
          </a:p>
          <a:p>
            <a:r>
              <a:rPr lang="en-US" sz="1600" dirty="0" err="1">
                <a:solidFill>
                  <a:schemeClr val="bg1"/>
                </a:solidFill>
                <a:latin typeface="Courier"/>
                <a:cs typeface="Courier"/>
              </a:rPr>
              <a:t>lhp</a:t>
            </a:r>
            <a:r>
              <a:rPr lang="en-US" sz="1600" dirty="0">
                <a:solidFill>
                  <a:schemeClr val="bg1"/>
                </a:solidFill>
                <a:latin typeface="Courier"/>
                <a:cs typeface="Courier"/>
              </a:rPr>
              <a:t>     &lt;- </a:t>
            </a:r>
            <a:r>
              <a:rPr lang="en-US" sz="1600" dirty="0" err="1">
                <a:solidFill>
                  <a:schemeClr val="bg1"/>
                </a:solidFill>
                <a:latin typeface="Courier"/>
                <a:cs typeface="Courier"/>
              </a:rPr>
              <a:t>all.dat</a:t>
            </a:r>
            <a:r>
              <a:rPr lang="en-US" sz="1600" dirty="0">
                <a:solidFill>
                  <a:schemeClr val="bg1"/>
                </a:solidFill>
                <a:latin typeface="Courier"/>
                <a:cs typeface="Courier"/>
              </a:rPr>
              <a:t>[</a:t>
            </a:r>
            <a:r>
              <a:rPr lang="en-US" sz="1600" dirty="0" err="1">
                <a:solidFill>
                  <a:schemeClr val="bg1"/>
                </a:solidFill>
                <a:latin typeface="Courier"/>
                <a:cs typeface="Courier"/>
              </a:rPr>
              <a:t>all.dat</a:t>
            </a:r>
            <a:r>
              <a:rPr lang="en-US" sz="1600" dirty="0">
                <a:solidFill>
                  <a:schemeClr val="bg1"/>
                </a:solidFill>
                <a:latin typeface="Courier"/>
                <a:cs typeface="Courier"/>
              </a:rPr>
              <a:t>[,3] == 0, 2] </a:t>
            </a:r>
            <a:r>
              <a:rPr lang="en-US" sz="1600" dirty="0">
                <a:solidFill>
                  <a:srgbClr val="FFFF00"/>
                </a:solidFill>
                <a:latin typeface="Courier"/>
                <a:cs typeface="Courier"/>
              </a:rPr>
              <a:t># Peak Present</a:t>
            </a:r>
          </a:p>
          <a:p>
            <a:r>
              <a:rPr lang="en-US" sz="1600" dirty="0" err="1">
                <a:solidFill>
                  <a:schemeClr val="bg1"/>
                </a:solidFill>
                <a:latin typeface="Courier"/>
                <a:cs typeface="Courier"/>
              </a:rPr>
              <a:t>lhd</a:t>
            </a:r>
            <a:r>
              <a:rPr lang="en-US" sz="1600" dirty="0">
                <a:solidFill>
                  <a:schemeClr val="bg1"/>
                </a:solidFill>
                <a:latin typeface="Courier"/>
                <a:cs typeface="Courier"/>
              </a:rPr>
              <a:t>     &lt;- </a:t>
            </a:r>
            <a:r>
              <a:rPr lang="en-US" sz="1600" dirty="0" err="1">
                <a:solidFill>
                  <a:schemeClr val="bg1"/>
                </a:solidFill>
                <a:latin typeface="Courier"/>
                <a:cs typeface="Courier"/>
              </a:rPr>
              <a:t>all.dat</a:t>
            </a:r>
            <a:r>
              <a:rPr lang="en-US" sz="1600" dirty="0">
                <a:solidFill>
                  <a:schemeClr val="bg1"/>
                </a:solidFill>
                <a:latin typeface="Courier"/>
                <a:cs typeface="Courier"/>
              </a:rPr>
              <a:t>[</a:t>
            </a:r>
            <a:r>
              <a:rPr lang="en-US" sz="1600" dirty="0" err="1">
                <a:solidFill>
                  <a:schemeClr val="bg1"/>
                </a:solidFill>
                <a:latin typeface="Courier"/>
                <a:cs typeface="Courier"/>
              </a:rPr>
              <a:t>all.dat</a:t>
            </a:r>
            <a:r>
              <a:rPr lang="en-US" sz="1600" dirty="0">
                <a:solidFill>
                  <a:schemeClr val="bg1"/>
                </a:solidFill>
                <a:latin typeface="Courier"/>
                <a:cs typeface="Courier"/>
              </a:rPr>
              <a:t>[,3] == 1, 2] </a:t>
            </a:r>
            <a:r>
              <a:rPr lang="en-US" sz="1600" dirty="0">
                <a:solidFill>
                  <a:srgbClr val="FFFF00"/>
                </a:solidFill>
                <a:latin typeface="Courier"/>
                <a:cs typeface="Courier"/>
              </a:rPr>
              <a:t># Peak Drop out </a:t>
            </a:r>
          </a:p>
          <a:p>
            <a:endParaRPr lang="en-US" sz="1600" dirty="0">
              <a:solidFill>
                <a:schemeClr val="bg1"/>
              </a:solidFill>
              <a:latin typeface="Courier"/>
              <a:cs typeface="Courier"/>
            </a:endParaRPr>
          </a:p>
          <a:p>
            <a:r>
              <a:rPr lang="en-US" sz="1600" dirty="0">
                <a:solidFill>
                  <a:schemeClr val="bg1"/>
                </a:solidFill>
                <a:latin typeface="Courier"/>
                <a:cs typeface="Courier"/>
              </a:rPr>
              <a:t>hist(</a:t>
            </a:r>
            <a:r>
              <a:rPr lang="en-US" sz="1600" dirty="0" err="1">
                <a:solidFill>
                  <a:schemeClr val="bg1"/>
                </a:solidFill>
                <a:latin typeface="Courier"/>
                <a:cs typeface="Courier"/>
              </a:rPr>
              <a:t>lhp</a:t>
            </a:r>
            <a:r>
              <a:rPr lang="en-US" sz="1600" dirty="0">
                <a:solidFill>
                  <a:schemeClr val="bg1"/>
                </a:solidFill>
                <a:latin typeface="Courier"/>
                <a:cs typeface="Courier"/>
              </a:rPr>
              <a:t>)</a:t>
            </a:r>
          </a:p>
          <a:p>
            <a:r>
              <a:rPr lang="en-US" sz="1600" dirty="0">
                <a:solidFill>
                  <a:schemeClr val="bg1"/>
                </a:solidFill>
                <a:latin typeface="Courier"/>
                <a:cs typeface="Courier"/>
              </a:rPr>
              <a:t>hist(</a:t>
            </a:r>
            <a:r>
              <a:rPr lang="en-US" sz="1600" dirty="0" err="1">
                <a:solidFill>
                  <a:schemeClr val="bg1"/>
                </a:solidFill>
                <a:latin typeface="Courier"/>
                <a:cs typeface="Courier"/>
              </a:rPr>
              <a:t>lhd</a:t>
            </a:r>
            <a:r>
              <a:rPr lang="en-US" sz="1600" dirty="0">
                <a:solidFill>
                  <a:schemeClr val="bg1"/>
                </a:solidFill>
                <a:latin typeface="Courier"/>
                <a:cs typeface="Courier"/>
              </a:rPr>
              <a:t>)</a:t>
            </a:r>
          </a:p>
        </p:txBody>
      </p:sp>
      <p:pic>
        <p:nvPicPr>
          <p:cNvPr id="5" name="Picture 4">
            <a:extLst>
              <a:ext uri="{FF2B5EF4-FFF2-40B4-BE49-F238E27FC236}">
                <a16:creationId xmlns:a16="http://schemas.microsoft.com/office/drawing/2014/main" id="{E6401E55-3E90-A182-2238-56274548CA2A}"/>
              </a:ext>
            </a:extLst>
          </p:cNvPr>
          <p:cNvPicPr>
            <a:picLocks noChangeAspect="1"/>
          </p:cNvPicPr>
          <p:nvPr/>
        </p:nvPicPr>
        <p:blipFill>
          <a:blip r:embed="rId3"/>
          <a:stretch>
            <a:fillRect/>
          </a:stretch>
        </p:blipFill>
        <p:spPr>
          <a:xfrm>
            <a:off x="3617398" y="4605384"/>
            <a:ext cx="1886053" cy="2204977"/>
          </a:xfrm>
          <a:prstGeom prst="rect">
            <a:avLst/>
          </a:prstGeom>
          <a:effectLst/>
        </p:spPr>
      </p:pic>
      <p:sp>
        <p:nvSpPr>
          <p:cNvPr id="6" name="TextBox 5">
            <a:extLst>
              <a:ext uri="{FF2B5EF4-FFF2-40B4-BE49-F238E27FC236}">
                <a16:creationId xmlns:a16="http://schemas.microsoft.com/office/drawing/2014/main" id="{399F9530-E6DA-8321-0307-BDA91F16F84D}"/>
              </a:ext>
            </a:extLst>
          </p:cNvPr>
          <p:cNvSpPr txBox="1"/>
          <p:nvPr/>
        </p:nvSpPr>
        <p:spPr>
          <a:xfrm>
            <a:off x="484188" y="5507817"/>
            <a:ext cx="2621177" cy="400110"/>
          </a:xfrm>
          <a:prstGeom prst="rect">
            <a:avLst/>
          </a:prstGeom>
          <a:solidFill>
            <a:schemeClr val="bg1"/>
          </a:solidFill>
          <a:effectLst/>
        </p:spPr>
        <p:txBody>
          <a:bodyPr wrap="square">
            <a:spAutoFit/>
          </a:bodyPr>
          <a:lstStyle/>
          <a:p>
            <a:r>
              <a:rPr lang="en-US" sz="2000" dirty="0" err="1">
                <a:latin typeface="Times New Roman" panose="02020603050405020304" pitchFamily="18" charset="0"/>
                <a:cs typeface="Times New Roman" panose="02020603050405020304" pitchFamily="18" charset="0"/>
                <a:hlinkClick r:id="rId4"/>
              </a:rPr>
              <a:t>bhyp_test_one_samp.R</a:t>
            </a:r>
            <a:endParaRPr lang="en-US" sz="2000" dirty="0">
              <a:latin typeface="Times New Roman" panose="02020603050405020304" pitchFamily="18" charset="0"/>
              <a:cs typeface="Times New Roman" panose="02020603050405020304" pitchFamily="18" charset="0"/>
            </a:endParaRPr>
          </a:p>
        </p:txBody>
      </p:sp>
      <p:cxnSp>
        <p:nvCxnSpPr>
          <p:cNvPr id="9" name="Straight Arrow Connector 8">
            <a:extLst>
              <a:ext uri="{FF2B5EF4-FFF2-40B4-BE49-F238E27FC236}">
                <a16:creationId xmlns:a16="http://schemas.microsoft.com/office/drawing/2014/main" id="{CC957115-D18A-D81C-860F-F22A670B3DCF}"/>
              </a:ext>
            </a:extLst>
          </p:cNvPr>
          <p:cNvCxnSpPr/>
          <p:nvPr/>
        </p:nvCxnSpPr>
        <p:spPr>
          <a:xfrm>
            <a:off x="2280213" y="4884517"/>
            <a:ext cx="1238491" cy="544010"/>
          </a:xfrm>
          <a:prstGeom prst="straightConnector1">
            <a:avLst/>
          </a:prstGeom>
          <a:ln w="34925">
            <a:solidFill>
              <a:srgbClr val="00B050"/>
            </a:solidFill>
            <a:tailEnd type="triangle"/>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84586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D0082C-F52D-F893-556C-B4681E0A2827}"/>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8388CC15-B4DD-867B-4989-E5C0C693E3B9}"/>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One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sp>
        <p:nvSpPr>
          <p:cNvPr id="5" name="TextBox 4">
            <a:extLst>
              <a:ext uri="{FF2B5EF4-FFF2-40B4-BE49-F238E27FC236}">
                <a16:creationId xmlns:a16="http://schemas.microsoft.com/office/drawing/2014/main" id="{BECA3493-40A6-B7FB-4075-7FCB4F476BB2}"/>
              </a:ext>
            </a:extLst>
          </p:cNvPr>
          <p:cNvSpPr txBox="1"/>
          <p:nvPr/>
        </p:nvSpPr>
        <p:spPr>
          <a:xfrm>
            <a:off x="457340" y="1500275"/>
            <a:ext cx="8156294"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Do a one sample bootstrapped hypothesis test assuming H</a:t>
            </a:r>
            <a:r>
              <a:rPr lang="en-US" sz="2400" baseline="-25000" dirty="0">
                <a:latin typeface="Times New Roman" panose="02020603050405020304" pitchFamily="18" charset="0"/>
                <a:cs typeface="Times New Roman" panose="02020603050405020304" pitchFamily="18" charset="0"/>
              </a:rPr>
              <a:t>0</a:t>
            </a:r>
            <a:r>
              <a:rPr lang="en-US" sz="2400" dirty="0">
                <a:latin typeface="Times New Roman" panose="02020603050405020304" pitchFamily="18" charset="0"/>
                <a:cs typeface="Times New Roman" panose="02020603050405020304" pitchFamily="18" charset="0"/>
              </a:rPr>
              <a:t>: the mean drop out [log(H)] is ≤ 3 or if there is evidence to support H</a:t>
            </a:r>
            <a:r>
              <a:rPr lang="en-US" sz="2400" baseline="-25000" dirty="0">
                <a:latin typeface="Times New Roman" panose="02020603050405020304" pitchFamily="18" charset="0"/>
                <a:cs typeface="Times New Roman" panose="02020603050405020304" pitchFamily="18" charset="0"/>
              </a:rPr>
              <a:t>a</a:t>
            </a:r>
            <a:r>
              <a:rPr lang="en-US" sz="2400" dirty="0">
                <a:latin typeface="Times New Roman" panose="02020603050405020304" pitchFamily="18" charset="0"/>
                <a:cs typeface="Times New Roman" panose="02020603050405020304" pitchFamily="18" charset="0"/>
              </a:rPr>
              <a:t>: mean drop out [log(H)] is &gt; 3.</a:t>
            </a:r>
          </a:p>
        </p:txBody>
      </p:sp>
      <p:sp>
        <p:nvSpPr>
          <p:cNvPr id="6" name="Rectangle 5">
            <a:extLst>
              <a:ext uri="{FF2B5EF4-FFF2-40B4-BE49-F238E27FC236}">
                <a16:creationId xmlns:a16="http://schemas.microsoft.com/office/drawing/2014/main" id="{D0125EA5-9AD8-D1E6-DE7D-3022141D560F}"/>
              </a:ext>
            </a:extLst>
          </p:cNvPr>
          <p:cNvSpPr/>
          <p:nvPr/>
        </p:nvSpPr>
        <p:spPr>
          <a:xfrm>
            <a:off x="304931" y="2921168"/>
            <a:ext cx="8607425" cy="1015663"/>
          </a:xfrm>
          <a:prstGeom prst="rect">
            <a:avLst/>
          </a:prstGeom>
          <a:solidFill>
            <a:srgbClr val="000C78"/>
          </a:solidFill>
        </p:spPr>
        <p:txBody>
          <a:bodyPr wrap="square">
            <a:spAutoFit/>
          </a:bodyPr>
          <a:lstStyle/>
          <a:p>
            <a:r>
              <a:rPr lang="en-US" sz="1200" dirty="0">
                <a:solidFill>
                  <a:schemeClr val="accent6"/>
                </a:solidFill>
                <a:latin typeface="Courier"/>
                <a:cs typeface="Courier"/>
              </a:rPr>
              <a:t>library</a:t>
            </a:r>
            <a:r>
              <a:rPr lang="en-US" sz="1200" dirty="0">
                <a:solidFill>
                  <a:schemeClr val="bg1"/>
                </a:solidFill>
                <a:latin typeface="Courier"/>
                <a:cs typeface="Courier"/>
              </a:rPr>
              <a:t>(</a:t>
            </a:r>
            <a:r>
              <a:rPr lang="en-US" sz="1200" dirty="0" err="1">
                <a:solidFill>
                  <a:schemeClr val="bg1"/>
                </a:solidFill>
                <a:latin typeface="Courier"/>
                <a:cs typeface="Courier"/>
              </a:rPr>
              <a:t>frequtils</a:t>
            </a:r>
            <a:r>
              <a:rPr lang="en-US" sz="1200" dirty="0">
                <a:solidFill>
                  <a:schemeClr val="bg1"/>
                </a:solidFill>
                <a:latin typeface="Courier"/>
                <a:cs typeface="Courier"/>
              </a:rPr>
              <a:t>)</a:t>
            </a:r>
          </a:p>
          <a:p>
            <a:endParaRPr lang="en-US" sz="1200" dirty="0">
              <a:solidFill>
                <a:schemeClr val="bg1"/>
              </a:solidFill>
              <a:latin typeface="Courier"/>
              <a:cs typeface="Courier"/>
            </a:endParaRPr>
          </a:p>
          <a:p>
            <a:r>
              <a:rPr lang="en-US" sz="1200" dirty="0">
                <a:solidFill>
                  <a:srgbClr val="FFFF00"/>
                </a:solidFill>
                <a:latin typeface="Courier"/>
                <a:cs typeface="Courier"/>
              </a:rPr>
              <a:t># One sample bootstrapped hypothesis test: </a:t>
            </a:r>
          </a:p>
          <a:p>
            <a:r>
              <a:rPr lang="en-US" sz="1200" dirty="0" err="1">
                <a:solidFill>
                  <a:schemeClr val="bg1"/>
                </a:solidFill>
                <a:latin typeface="Courier"/>
                <a:cs typeface="Courier"/>
              </a:rPr>
              <a:t>one.sample.bs.hyp.for.mean</a:t>
            </a:r>
            <a:r>
              <a:rPr lang="en-US" sz="1200" dirty="0">
                <a:solidFill>
                  <a:schemeClr val="bg1"/>
                </a:solidFill>
                <a:latin typeface="Courier"/>
                <a:cs typeface="Courier"/>
              </a:rPr>
              <a:t>(</a:t>
            </a:r>
            <a:r>
              <a:rPr lang="en-US" sz="1200" dirty="0" err="1">
                <a:solidFill>
                  <a:schemeClr val="bg1"/>
                </a:solidFill>
                <a:latin typeface="Courier"/>
                <a:cs typeface="Courier"/>
              </a:rPr>
              <a:t>lhd</a:t>
            </a:r>
            <a:r>
              <a:rPr lang="en-US" sz="1200" dirty="0">
                <a:solidFill>
                  <a:schemeClr val="bg1"/>
                </a:solidFill>
                <a:latin typeface="Courier"/>
                <a:cs typeface="Courier"/>
              </a:rPr>
              <a:t>, </a:t>
            </a:r>
            <a:r>
              <a:rPr lang="en-US" sz="1200" dirty="0" err="1">
                <a:solidFill>
                  <a:schemeClr val="bg1"/>
                </a:solidFill>
                <a:latin typeface="Courier"/>
                <a:cs typeface="Courier"/>
              </a:rPr>
              <a:t>mu.null</a:t>
            </a:r>
            <a:r>
              <a:rPr lang="en-US" sz="1200" dirty="0">
                <a:solidFill>
                  <a:schemeClr val="bg1"/>
                </a:solidFill>
                <a:latin typeface="Courier"/>
                <a:cs typeface="Courier"/>
              </a:rPr>
              <a:t> = 3, confidence  = 0.95, alternative = </a:t>
            </a:r>
            <a:r>
              <a:rPr lang="en-US" sz="1200" dirty="0">
                <a:solidFill>
                  <a:srgbClr val="00B050"/>
                </a:solidFill>
                <a:latin typeface="Courier"/>
                <a:cs typeface="Courier"/>
              </a:rPr>
              <a:t>"greater"</a:t>
            </a:r>
            <a:r>
              <a:rPr lang="en-US" sz="1200" dirty="0">
                <a:solidFill>
                  <a:schemeClr val="bg1"/>
                </a:solidFill>
                <a:latin typeface="Courier"/>
                <a:cs typeface="Courier"/>
              </a:rPr>
              <a:t>)</a:t>
            </a:r>
          </a:p>
          <a:p>
            <a:endParaRPr lang="en-US" sz="1200" dirty="0">
              <a:solidFill>
                <a:schemeClr val="bg1"/>
              </a:solidFill>
              <a:latin typeface="Courier"/>
              <a:cs typeface="Courier"/>
            </a:endParaRPr>
          </a:p>
        </p:txBody>
      </p:sp>
      <p:pic>
        <p:nvPicPr>
          <p:cNvPr id="7" name="Picture 6">
            <a:extLst>
              <a:ext uri="{FF2B5EF4-FFF2-40B4-BE49-F238E27FC236}">
                <a16:creationId xmlns:a16="http://schemas.microsoft.com/office/drawing/2014/main" id="{C616136B-E3B7-14E8-9676-26FE865C015F}"/>
              </a:ext>
            </a:extLst>
          </p:cNvPr>
          <p:cNvPicPr>
            <a:picLocks noChangeAspect="1"/>
          </p:cNvPicPr>
          <p:nvPr/>
        </p:nvPicPr>
        <p:blipFill>
          <a:blip r:embed="rId3"/>
          <a:stretch>
            <a:fillRect/>
          </a:stretch>
        </p:blipFill>
        <p:spPr>
          <a:xfrm>
            <a:off x="5374993" y="3967356"/>
            <a:ext cx="2692561" cy="2826484"/>
          </a:xfrm>
          <a:prstGeom prst="rect">
            <a:avLst/>
          </a:prstGeom>
        </p:spPr>
      </p:pic>
      <p:pic>
        <p:nvPicPr>
          <p:cNvPr id="8" name="Picture 7">
            <a:extLst>
              <a:ext uri="{FF2B5EF4-FFF2-40B4-BE49-F238E27FC236}">
                <a16:creationId xmlns:a16="http://schemas.microsoft.com/office/drawing/2014/main" id="{C395E141-5A5A-92F0-72CA-A438502A4136}"/>
              </a:ext>
            </a:extLst>
          </p:cNvPr>
          <p:cNvPicPr>
            <a:picLocks noChangeAspect="1"/>
          </p:cNvPicPr>
          <p:nvPr/>
        </p:nvPicPr>
        <p:blipFill>
          <a:blip r:embed="rId4"/>
          <a:stretch>
            <a:fillRect/>
          </a:stretch>
        </p:blipFill>
        <p:spPr>
          <a:xfrm>
            <a:off x="211223" y="4525703"/>
            <a:ext cx="4892888" cy="1183932"/>
          </a:xfrm>
          <a:prstGeom prst="rect">
            <a:avLst/>
          </a:prstGeom>
        </p:spPr>
      </p:pic>
      <p:sp>
        <p:nvSpPr>
          <p:cNvPr id="10" name="TextBox 9">
            <a:extLst>
              <a:ext uri="{FF2B5EF4-FFF2-40B4-BE49-F238E27FC236}">
                <a16:creationId xmlns:a16="http://schemas.microsoft.com/office/drawing/2014/main" id="{624F7E4F-D218-9C57-0AC5-F26688515869}"/>
              </a:ext>
            </a:extLst>
          </p:cNvPr>
          <p:cNvSpPr txBox="1"/>
          <p:nvPr/>
        </p:nvSpPr>
        <p:spPr>
          <a:xfrm>
            <a:off x="6123752" y="2959805"/>
            <a:ext cx="2621177" cy="400110"/>
          </a:xfrm>
          <a:prstGeom prst="rect">
            <a:avLst/>
          </a:prstGeom>
          <a:solidFill>
            <a:schemeClr val="bg1"/>
          </a:solidFill>
        </p:spPr>
        <p:txBody>
          <a:bodyPr wrap="square">
            <a:spAutoFit/>
          </a:bodyPr>
          <a:lstStyle/>
          <a:p>
            <a:r>
              <a:rPr lang="en-US" sz="2000" dirty="0">
                <a:latin typeface="Times New Roman" panose="02020603050405020304" pitchFamily="18" charset="0"/>
                <a:cs typeface="Times New Roman" panose="02020603050405020304" pitchFamily="18" charset="0"/>
                <a:hlinkClick r:id="rId5"/>
              </a:rPr>
              <a:t>bhyp_test_one_samp.R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3397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ppt_x"/>
                                          </p:val>
                                        </p:tav>
                                        <p:tav tm="100000">
                                          <p:val>
                                            <p:strVal val="#ppt_x"/>
                                          </p:val>
                                        </p:tav>
                                      </p:tavLst>
                                    </p:anim>
                                    <p:anim calcmode="lin" valueType="num">
                                      <p:cBhvr additive="base">
                                        <p:cTn id="1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1164F-19FF-428E-DFCD-5409549E9B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EE68CA7-7E2C-C971-4469-FA64BACF6632}"/>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A27D8BCC-7093-AE6C-D29B-5A7493A39807}"/>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Two Sample Bootstrap Hypothesis Test</a:t>
            </a:r>
          </a:p>
        </p:txBody>
      </p:sp>
      <p:sp>
        <p:nvSpPr>
          <p:cNvPr id="4" name="Rectangle 3">
            <a:extLst>
              <a:ext uri="{FF2B5EF4-FFF2-40B4-BE49-F238E27FC236}">
                <a16:creationId xmlns:a16="http://schemas.microsoft.com/office/drawing/2014/main" id="{9C6DEAC6-D786-7B73-88D7-5183BCC0841D}"/>
              </a:ext>
            </a:extLst>
          </p:cNvPr>
          <p:cNvSpPr/>
          <p:nvPr/>
        </p:nvSpPr>
        <p:spPr>
          <a:xfrm>
            <a:off x="146036" y="1434071"/>
            <a:ext cx="8286114" cy="1672253"/>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b="1" dirty="0">
                <a:solidFill>
                  <a:srgbClr val="000000"/>
                </a:solidFill>
                <a:latin typeface="Times New Roman" pitchFamily="18" charset="0"/>
              </a:rPr>
              <a:t>For two paired samples</a:t>
            </a:r>
            <a:r>
              <a:rPr lang="en-US" sz="2400" dirty="0">
                <a:solidFill>
                  <a:srgbClr val="000000"/>
                </a:solidFill>
                <a:latin typeface="Times New Roman" pitchFamily="18" charset="0"/>
              </a:rPr>
              <a:t>, use the same philosophy as a paired t-test</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latin typeface="Times New Roman" panose="02020603050405020304" pitchFamily="18" charset="0"/>
                <a:cs typeface="Times New Roman" panose="02020603050405020304" pitchFamily="18" charset="0"/>
              </a:rPr>
              <a:t>Do a bootstrap hypothesis test on the sample differences with respect to the mean difference = 0 (</a:t>
            </a:r>
            <a:r>
              <a:rPr lang="en-US" sz="2200" i="1" dirty="0">
                <a:latin typeface="Times New Roman" panose="02020603050405020304" pitchFamily="18" charset="0"/>
                <a:cs typeface="Times New Roman" panose="02020603050405020304" pitchFamily="18" charset="0"/>
              </a:rPr>
              <a:t>i.e.</a:t>
            </a:r>
            <a:r>
              <a:rPr lang="en-US" sz="2200" dirty="0">
                <a:latin typeface="Times New Roman" panose="02020603050405020304" pitchFamily="18" charset="0"/>
                <a:cs typeface="Times New Roman" panose="02020603050405020304" pitchFamily="18" charset="0"/>
              </a:rPr>
              <a:t> </a:t>
            </a:r>
            <a:r>
              <a:rPr lang="en-US" sz="2200" dirty="0" err="1">
                <a:latin typeface="Symbol" pitchFamily="2" charset="2"/>
                <a:cs typeface="Times New Roman" panose="02020603050405020304" pitchFamily="18" charset="0"/>
              </a:rPr>
              <a:t>m</a:t>
            </a:r>
            <a:r>
              <a:rPr lang="en-US" sz="2200" baseline="-25000" dirty="0" err="1">
                <a:latin typeface="Times New Roman" panose="02020603050405020304" pitchFamily="18" charset="0"/>
                <a:cs typeface="Times New Roman" panose="02020603050405020304" pitchFamily="18" charset="0"/>
              </a:rPr>
              <a:t>Null</a:t>
            </a:r>
            <a:r>
              <a:rPr lang="en-US" sz="2200" dirty="0">
                <a:latin typeface="Times New Roman" panose="02020603050405020304" pitchFamily="18" charset="0"/>
                <a:cs typeface="Times New Roman" panose="02020603050405020304" pitchFamily="18" charset="0"/>
              </a:rPr>
              <a:t> = 0)</a:t>
            </a:r>
            <a:endParaRPr lang="en-US" sz="2200" dirty="0">
              <a:solidFill>
                <a:srgbClr val="000000"/>
              </a:solidFill>
              <a:latin typeface="Times New Roman" pitchFamily="18" charset="0"/>
            </a:endParaRPr>
          </a:p>
        </p:txBody>
      </p:sp>
      <p:sp>
        <p:nvSpPr>
          <p:cNvPr id="32" name="Rectangle 31">
            <a:extLst>
              <a:ext uri="{FF2B5EF4-FFF2-40B4-BE49-F238E27FC236}">
                <a16:creationId xmlns:a16="http://schemas.microsoft.com/office/drawing/2014/main" id="{67183CA4-C3C7-0573-214C-9C3B26124BF9}"/>
              </a:ext>
            </a:extLst>
          </p:cNvPr>
          <p:cNvSpPr/>
          <p:nvPr/>
        </p:nvSpPr>
        <p:spPr>
          <a:xfrm>
            <a:off x="146036" y="3505938"/>
            <a:ext cx="8286114" cy="1641475"/>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b="1" dirty="0">
                <a:solidFill>
                  <a:srgbClr val="000000"/>
                </a:solidFill>
                <a:latin typeface="Times New Roman" pitchFamily="18" charset="0"/>
              </a:rPr>
              <a:t>For two independent samples </a:t>
            </a:r>
            <a:r>
              <a:rPr lang="en-US" sz="2400" dirty="0">
                <a:solidFill>
                  <a:srgbClr val="000000"/>
                </a:solidFill>
                <a:latin typeface="Times New Roman" pitchFamily="18" charset="0"/>
              </a:rPr>
              <a:t>the most straightforward bootstrap hypothesis test is to check for the equality between the two sample populations:</a:t>
            </a:r>
          </a:p>
          <a:p>
            <a:pPr marL="887413" lvl="1"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A special case of this is the test for equality between means</a:t>
            </a:r>
          </a:p>
        </p:txBody>
      </p:sp>
    </p:spTree>
    <p:extLst>
      <p:ext uri="{BB962C8B-B14F-4D97-AF65-F5344CB8AC3E}">
        <p14:creationId xmlns:p14="http://schemas.microsoft.com/office/powerpoint/2010/main" val="1720740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7EA80-3F38-E978-B01F-169E34BC1C9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E8ACD2E-F325-D3C6-DEED-C8B7A70A605E}"/>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3" name="Rectangle 4">
            <a:extLst>
              <a:ext uri="{FF2B5EF4-FFF2-40B4-BE49-F238E27FC236}">
                <a16:creationId xmlns:a16="http://schemas.microsoft.com/office/drawing/2014/main" id="{B15C7E72-7B27-4482-5E97-2BE3526EA1D6}"/>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dirty="0">
                <a:solidFill>
                  <a:srgbClr val="000000"/>
                </a:solidFill>
                <a:latin typeface="Times New Roman" pitchFamily="18" charset="0"/>
              </a:rPr>
              <a:t>Two Sample Bootstrap Hypothesis Test</a:t>
            </a:r>
          </a:p>
        </p:txBody>
      </p:sp>
      <p:sp>
        <p:nvSpPr>
          <p:cNvPr id="4" name="Rectangle 3">
            <a:extLst>
              <a:ext uri="{FF2B5EF4-FFF2-40B4-BE49-F238E27FC236}">
                <a16:creationId xmlns:a16="http://schemas.microsoft.com/office/drawing/2014/main" id="{CC7E1B24-1D08-9E56-5C4F-69B98A3DE475}"/>
              </a:ext>
            </a:extLst>
          </p:cNvPr>
          <p:cNvSpPr/>
          <p:nvPr/>
        </p:nvSpPr>
        <p:spPr>
          <a:xfrm>
            <a:off x="146036" y="1434071"/>
            <a:ext cx="8286114" cy="830997"/>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400" dirty="0">
                <a:solidFill>
                  <a:srgbClr val="000000"/>
                </a:solidFill>
                <a:latin typeface="Times New Roman" pitchFamily="18" charset="0"/>
              </a:rPr>
              <a:t>To check for the equality between the two independent sample populations:</a:t>
            </a:r>
          </a:p>
        </p:txBody>
      </p:sp>
      <p:sp>
        <p:nvSpPr>
          <p:cNvPr id="8" name="TextBox 7">
            <a:extLst>
              <a:ext uri="{FF2B5EF4-FFF2-40B4-BE49-F238E27FC236}">
                <a16:creationId xmlns:a16="http://schemas.microsoft.com/office/drawing/2014/main" id="{FE2B4AB2-8AEF-3E2B-C94A-350EF4EAD37A}"/>
              </a:ext>
            </a:extLst>
          </p:cNvPr>
          <p:cNvSpPr txBox="1"/>
          <p:nvPr/>
        </p:nvSpPr>
        <p:spPr>
          <a:xfrm>
            <a:off x="711850" y="4668164"/>
            <a:ext cx="7072131"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Bootstrap out of </a:t>
            </a:r>
            <a:r>
              <a:rPr lang="en-US" sz="2200" b="1" dirty="0" err="1">
                <a:latin typeface="Times New Roman" panose="02020603050405020304" pitchFamily="18" charset="0"/>
                <a:cs typeface="Times New Roman" panose="02020603050405020304" pitchFamily="18" charset="0"/>
              </a:rPr>
              <a:t>x</a:t>
            </a:r>
            <a:r>
              <a:rPr lang="en-US" sz="2200" baseline="-25000" dirty="0" err="1">
                <a:latin typeface="Times New Roman" panose="02020603050405020304" pitchFamily="18" charset="0"/>
                <a:cs typeface="Times New Roman" panose="02020603050405020304" pitchFamily="18" charset="0"/>
              </a:rPr>
              <a:t>Null</a:t>
            </a:r>
            <a:r>
              <a:rPr lang="en-US" sz="2200" dirty="0">
                <a:latin typeface="Times New Roman" panose="02020603050405020304" pitchFamily="18" charset="0"/>
                <a:cs typeface="Times New Roman" panose="02020603050405020304" pitchFamily="18" charset="0"/>
              </a:rPr>
              <a:t> and </a:t>
            </a:r>
            <a:r>
              <a:rPr lang="en-US" sz="2200" b="1" dirty="0" err="1">
                <a:latin typeface="Times New Roman" panose="02020603050405020304" pitchFamily="18" charset="0"/>
                <a:cs typeface="Times New Roman" panose="02020603050405020304" pitchFamily="18" charset="0"/>
              </a:rPr>
              <a:t>y</a:t>
            </a:r>
            <a:r>
              <a:rPr lang="en-US" sz="2200" baseline="-25000" dirty="0" err="1">
                <a:latin typeface="Times New Roman" panose="02020603050405020304" pitchFamily="18" charset="0"/>
                <a:cs typeface="Times New Roman" panose="02020603050405020304" pitchFamily="18" charset="0"/>
              </a:rPr>
              <a:t>Null</a:t>
            </a:r>
            <a:r>
              <a:rPr lang="en-US" sz="2200" dirty="0">
                <a:latin typeface="Times New Roman" panose="02020603050405020304" pitchFamily="18" charset="0"/>
                <a:cs typeface="Times New Roman" panose="02020603050405020304" pitchFamily="18" charset="0"/>
              </a:rPr>
              <a:t> to obtain </a:t>
            </a:r>
          </a:p>
        </p:txBody>
      </p:sp>
      <p:pic>
        <p:nvPicPr>
          <p:cNvPr id="6" name="Picture 5">
            <a:extLst>
              <a:ext uri="{FF2B5EF4-FFF2-40B4-BE49-F238E27FC236}">
                <a16:creationId xmlns:a16="http://schemas.microsoft.com/office/drawing/2014/main" id="{5A4B7F92-DD7D-3C81-FC49-D6D76A50530D}"/>
              </a:ext>
            </a:extLst>
          </p:cNvPr>
          <p:cNvPicPr>
            <a:picLocks noChangeAspect="1"/>
          </p:cNvPicPr>
          <p:nvPr/>
        </p:nvPicPr>
        <p:blipFill>
          <a:blip r:embed="rId3"/>
          <a:stretch>
            <a:fillRect/>
          </a:stretch>
        </p:blipFill>
        <p:spPr>
          <a:xfrm>
            <a:off x="7049307" y="2748699"/>
            <a:ext cx="525499" cy="255022"/>
          </a:xfrm>
          <a:prstGeom prst="rect">
            <a:avLst/>
          </a:prstGeom>
        </p:spPr>
      </p:pic>
      <p:pic>
        <p:nvPicPr>
          <p:cNvPr id="7" name="Picture 6">
            <a:extLst>
              <a:ext uri="{FF2B5EF4-FFF2-40B4-BE49-F238E27FC236}">
                <a16:creationId xmlns:a16="http://schemas.microsoft.com/office/drawing/2014/main" id="{AF74006D-79BD-244E-252E-CCE8D7512919}"/>
              </a:ext>
            </a:extLst>
          </p:cNvPr>
          <p:cNvPicPr>
            <a:picLocks noChangeAspect="1"/>
          </p:cNvPicPr>
          <p:nvPr/>
        </p:nvPicPr>
        <p:blipFill>
          <a:blip r:embed="rId3"/>
          <a:stretch>
            <a:fillRect/>
          </a:stretch>
        </p:blipFill>
        <p:spPr>
          <a:xfrm>
            <a:off x="4593978" y="3184751"/>
            <a:ext cx="525499" cy="255022"/>
          </a:xfrm>
          <a:prstGeom prst="rect">
            <a:avLst/>
          </a:prstGeom>
        </p:spPr>
      </p:pic>
      <p:pic>
        <p:nvPicPr>
          <p:cNvPr id="11" name="Picture 10">
            <a:extLst>
              <a:ext uri="{FF2B5EF4-FFF2-40B4-BE49-F238E27FC236}">
                <a16:creationId xmlns:a16="http://schemas.microsoft.com/office/drawing/2014/main" id="{6E38729F-3E4A-4E2C-359C-D14F951404D2}"/>
              </a:ext>
            </a:extLst>
          </p:cNvPr>
          <p:cNvPicPr>
            <a:picLocks noChangeAspect="1"/>
          </p:cNvPicPr>
          <p:nvPr/>
        </p:nvPicPr>
        <p:blipFill>
          <a:blip r:embed="rId4"/>
          <a:stretch>
            <a:fillRect/>
          </a:stretch>
        </p:blipFill>
        <p:spPr>
          <a:xfrm>
            <a:off x="1642774" y="3649694"/>
            <a:ext cx="2756892" cy="258458"/>
          </a:xfrm>
          <a:prstGeom prst="rect">
            <a:avLst/>
          </a:prstGeom>
        </p:spPr>
      </p:pic>
      <p:pic>
        <p:nvPicPr>
          <p:cNvPr id="12" name="Picture 11">
            <a:extLst>
              <a:ext uri="{FF2B5EF4-FFF2-40B4-BE49-F238E27FC236}">
                <a16:creationId xmlns:a16="http://schemas.microsoft.com/office/drawing/2014/main" id="{F42C64FA-D057-DF94-452D-F61F0C7A4CCF}"/>
              </a:ext>
            </a:extLst>
          </p:cNvPr>
          <p:cNvPicPr>
            <a:picLocks noChangeAspect="1"/>
          </p:cNvPicPr>
          <p:nvPr/>
        </p:nvPicPr>
        <p:blipFill>
          <a:blip r:embed="rId5"/>
          <a:stretch>
            <a:fillRect/>
          </a:stretch>
        </p:blipFill>
        <p:spPr>
          <a:xfrm>
            <a:off x="4856728" y="3665835"/>
            <a:ext cx="2741228" cy="258458"/>
          </a:xfrm>
          <a:prstGeom prst="rect">
            <a:avLst/>
          </a:prstGeom>
        </p:spPr>
      </p:pic>
      <p:sp>
        <p:nvSpPr>
          <p:cNvPr id="13" name="TextBox 12">
            <a:extLst>
              <a:ext uri="{FF2B5EF4-FFF2-40B4-BE49-F238E27FC236}">
                <a16:creationId xmlns:a16="http://schemas.microsoft.com/office/drawing/2014/main" id="{987AD875-7E94-FB7B-6255-62986A27B114}"/>
              </a:ext>
            </a:extLst>
          </p:cNvPr>
          <p:cNvSpPr txBox="1"/>
          <p:nvPr/>
        </p:nvSpPr>
        <p:spPr>
          <a:xfrm>
            <a:off x="1541355" y="4091960"/>
            <a:ext cx="6766596" cy="400110"/>
          </a:xfrm>
          <a:prstGeom prst="rect">
            <a:avLst/>
          </a:prstGeom>
          <a:noFill/>
        </p:spPr>
        <p:txBody>
          <a:bodyPr wrap="none" rtlCol="0">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These comprise our Null sample which we’ll bootstrap out of.</a:t>
            </a:r>
          </a:p>
        </p:txBody>
      </p:sp>
      <p:pic>
        <p:nvPicPr>
          <p:cNvPr id="15" name="Picture 14">
            <a:extLst>
              <a:ext uri="{FF2B5EF4-FFF2-40B4-BE49-F238E27FC236}">
                <a16:creationId xmlns:a16="http://schemas.microsoft.com/office/drawing/2014/main" id="{2A0A68B5-640F-C5BD-CB5C-4D14B43D415B}"/>
              </a:ext>
            </a:extLst>
          </p:cNvPr>
          <p:cNvPicPr>
            <a:picLocks noChangeAspect="1"/>
          </p:cNvPicPr>
          <p:nvPr/>
        </p:nvPicPr>
        <p:blipFill>
          <a:blip r:embed="rId6"/>
          <a:stretch>
            <a:fillRect/>
          </a:stretch>
        </p:blipFill>
        <p:spPr>
          <a:xfrm>
            <a:off x="5650455" y="4794230"/>
            <a:ext cx="1525849" cy="242303"/>
          </a:xfrm>
          <a:prstGeom prst="rect">
            <a:avLst/>
          </a:prstGeom>
        </p:spPr>
      </p:pic>
      <p:pic>
        <p:nvPicPr>
          <p:cNvPr id="16" name="Picture 15">
            <a:extLst>
              <a:ext uri="{FF2B5EF4-FFF2-40B4-BE49-F238E27FC236}">
                <a16:creationId xmlns:a16="http://schemas.microsoft.com/office/drawing/2014/main" id="{FF217B31-6D9D-CDC3-5D27-4FC09FA2DDA6}"/>
              </a:ext>
            </a:extLst>
          </p:cNvPr>
          <p:cNvPicPr>
            <a:picLocks noChangeAspect="1"/>
          </p:cNvPicPr>
          <p:nvPr/>
        </p:nvPicPr>
        <p:blipFill>
          <a:blip r:embed="rId7"/>
          <a:stretch>
            <a:fillRect/>
          </a:stretch>
        </p:blipFill>
        <p:spPr>
          <a:xfrm>
            <a:off x="4158394" y="5324326"/>
            <a:ext cx="529273" cy="257484"/>
          </a:xfrm>
          <a:prstGeom prst="rect">
            <a:avLst/>
          </a:prstGeom>
        </p:spPr>
      </p:pic>
      <p:sp>
        <p:nvSpPr>
          <p:cNvPr id="17" name="TextBox 16">
            <a:extLst>
              <a:ext uri="{FF2B5EF4-FFF2-40B4-BE49-F238E27FC236}">
                <a16:creationId xmlns:a16="http://schemas.microsoft.com/office/drawing/2014/main" id="{541532FF-8175-8F6F-59FD-1EC963391FD3}"/>
              </a:ext>
            </a:extLst>
          </p:cNvPr>
          <p:cNvSpPr txBox="1"/>
          <p:nvPr/>
        </p:nvSpPr>
        <p:spPr>
          <a:xfrm>
            <a:off x="711850" y="5223753"/>
            <a:ext cx="7072131"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For each bootstrap sample          and         compute:</a:t>
            </a:r>
          </a:p>
        </p:txBody>
      </p:sp>
      <p:pic>
        <p:nvPicPr>
          <p:cNvPr id="18" name="Picture 17">
            <a:extLst>
              <a:ext uri="{FF2B5EF4-FFF2-40B4-BE49-F238E27FC236}">
                <a16:creationId xmlns:a16="http://schemas.microsoft.com/office/drawing/2014/main" id="{F2E3C161-4E43-2903-6C26-47B81DE055EC}"/>
              </a:ext>
            </a:extLst>
          </p:cNvPr>
          <p:cNvPicPr>
            <a:picLocks noChangeAspect="1"/>
          </p:cNvPicPr>
          <p:nvPr/>
        </p:nvPicPr>
        <p:blipFill>
          <a:blip r:embed="rId8"/>
          <a:stretch>
            <a:fillRect/>
          </a:stretch>
        </p:blipFill>
        <p:spPr>
          <a:xfrm>
            <a:off x="5269562" y="5340736"/>
            <a:ext cx="499950" cy="243219"/>
          </a:xfrm>
          <a:prstGeom prst="rect">
            <a:avLst/>
          </a:prstGeom>
        </p:spPr>
      </p:pic>
      <p:sp>
        <p:nvSpPr>
          <p:cNvPr id="31" name="Rectangle 30">
            <a:extLst>
              <a:ext uri="{FF2B5EF4-FFF2-40B4-BE49-F238E27FC236}">
                <a16:creationId xmlns:a16="http://schemas.microsoft.com/office/drawing/2014/main" id="{EDA12B03-5947-0C1E-25D8-0A397D3C8A66}"/>
              </a:ext>
            </a:extLst>
          </p:cNvPr>
          <p:cNvSpPr/>
          <p:nvPr/>
        </p:nvSpPr>
        <p:spPr>
          <a:xfrm>
            <a:off x="711850" y="2317216"/>
            <a:ext cx="7637945" cy="1210588"/>
          </a:xfrm>
          <a:prstGeom prst="rect">
            <a:avLst/>
          </a:prstGeom>
        </p:spPr>
        <p:txBody>
          <a:bodyPr wrap="square">
            <a:spAutoFit/>
          </a:bodyPr>
          <a:lstStyle/>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Given independent samples </a:t>
            </a:r>
            <a:r>
              <a:rPr lang="en-US" sz="2200" b="1" dirty="0">
                <a:solidFill>
                  <a:srgbClr val="000000"/>
                </a:solidFill>
                <a:latin typeface="Times New Roman" pitchFamily="18" charset="0"/>
              </a:rPr>
              <a:t>x</a:t>
            </a:r>
            <a:r>
              <a:rPr lang="en-US" sz="2200" dirty="0">
                <a:solidFill>
                  <a:srgbClr val="000000"/>
                </a:solidFill>
                <a:latin typeface="Times New Roman" pitchFamily="18" charset="0"/>
              </a:rPr>
              <a:t> and </a:t>
            </a:r>
            <a:r>
              <a:rPr lang="en-US" sz="2200" b="1" dirty="0">
                <a:solidFill>
                  <a:srgbClr val="000000"/>
                </a:solidFill>
                <a:latin typeface="Times New Roman" pitchFamily="18" charset="0"/>
              </a:rPr>
              <a:t>y</a:t>
            </a:r>
            <a:r>
              <a:rPr lang="en-US" sz="2200" dirty="0">
                <a:solidFill>
                  <a:srgbClr val="000000"/>
                </a:solidFill>
                <a:latin typeface="Times New Roman" pitchFamily="18" charset="0"/>
              </a:rPr>
              <a:t>, (of lengths </a:t>
            </a:r>
            <a:r>
              <a:rPr lang="en-US" sz="2200" i="1" dirty="0">
                <a:solidFill>
                  <a:srgbClr val="000000"/>
                </a:solidFill>
                <a:latin typeface="Times New Roman" pitchFamily="18" charset="0"/>
              </a:rPr>
              <a:t>n</a:t>
            </a:r>
            <a:r>
              <a:rPr lang="en-US" sz="2200" dirty="0">
                <a:solidFill>
                  <a:srgbClr val="000000"/>
                </a:solidFill>
                <a:latin typeface="Times New Roman" pitchFamily="18" charset="0"/>
              </a:rPr>
              <a:t> and </a:t>
            </a:r>
            <a:r>
              <a:rPr lang="en-US" sz="2200" i="1" dirty="0">
                <a:solidFill>
                  <a:srgbClr val="000000"/>
                </a:solidFill>
                <a:latin typeface="Times New Roman" pitchFamily="18" charset="0"/>
              </a:rPr>
              <a:t>m</a:t>
            </a:r>
            <a:r>
              <a:rPr lang="en-US" sz="2200" dirty="0">
                <a:solidFill>
                  <a:srgbClr val="000000"/>
                </a:solidFill>
                <a:latin typeface="Times New Roman" pitchFamily="18" charset="0"/>
              </a:rPr>
              <a:t>) compute the sample mean of the combined sample: </a:t>
            </a:r>
          </a:p>
          <a:p>
            <a:pPr marL="430213" indent="-323850">
              <a:spcBef>
                <a:spcPts val="800"/>
              </a:spcBef>
              <a:buFont typeface="Times New Roman" pitchFamily="18" charset="0"/>
              <a:buChar char="•"/>
              <a:tabLst>
                <a:tab pos="430213" algn="l"/>
                <a:tab pos="1344613" algn="l"/>
                <a:tab pos="2259013" algn="l"/>
                <a:tab pos="3173413" algn="l"/>
                <a:tab pos="4087813" algn="l"/>
                <a:tab pos="5002213" algn="l"/>
                <a:tab pos="5916613" algn="l"/>
                <a:tab pos="6831013" algn="l"/>
                <a:tab pos="7745413" algn="l"/>
                <a:tab pos="8659813" algn="l"/>
                <a:tab pos="9574213" algn="l"/>
                <a:tab pos="10488613" algn="l"/>
              </a:tabLst>
            </a:pPr>
            <a:r>
              <a:rPr lang="en-US" sz="2200" dirty="0">
                <a:solidFill>
                  <a:srgbClr val="000000"/>
                </a:solidFill>
                <a:latin typeface="Times New Roman" pitchFamily="18" charset="0"/>
              </a:rPr>
              <a:t> Shift the sample means to be         :</a:t>
            </a:r>
            <a:endParaRPr lang="en-US" sz="2200" dirty="0">
              <a:solidFill>
                <a:srgbClr val="000000"/>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9F9651A-A2B4-FEDE-2453-D0BDB8AF3599}"/>
              </a:ext>
            </a:extLst>
          </p:cNvPr>
          <p:cNvPicPr>
            <a:picLocks noChangeAspect="1"/>
          </p:cNvPicPr>
          <p:nvPr/>
        </p:nvPicPr>
        <p:blipFill>
          <a:blip r:embed="rId9"/>
          <a:stretch>
            <a:fillRect/>
          </a:stretch>
        </p:blipFill>
        <p:spPr>
          <a:xfrm>
            <a:off x="2783390" y="5881039"/>
            <a:ext cx="2582624" cy="274320"/>
          </a:xfrm>
          <a:prstGeom prst="rect">
            <a:avLst/>
          </a:prstGeom>
        </p:spPr>
      </p:pic>
      <p:sp>
        <p:nvSpPr>
          <p:cNvPr id="9" name="TextBox 8">
            <a:extLst>
              <a:ext uri="{FF2B5EF4-FFF2-40B4-BE49-F238E27FC236}">
                <a16:creationId xmlns:a16="http://schemas.microsoft.com/office/drawing/2014/main" id="{361E8AD3-CD62-2E8F-F8A7-7AB4607560F8}"/>
              </a:ext>
            </a:extLst>
          </p:cNvPr>
          <p:cNvSpPr txBox="1"/>
          <p:nvPr/>
        </p:nvSpPr>
        <p:spPr>
          <a:xfrm>
            <a:off x="694473" y="6344861"/>
            <a:ext cx="7430956"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Examine where                       falls with respect to</a:t>
            </a:r>
          </a:p>
        </p:txBody>
      </p:sp>
      <p:pic>
        <p:nvPicPr>
          <p:cNvPr id="14" name="Picture 13">
            <a:extLst>
              <a:ext uri="{FF2B5EF4-FFF2-40B4-BE49-F238E27FC236}">
                <a16:creationId xmlns:a16="http://schemas.microsoft.com/office/drawing/2014/main" id="{AA24E3EB-F2BE-0BBF-6AF8-3D0ED8EA05D4}"/>
              </a:ext>
            </a:extLst>
          </p:cNvPr>
          <p:cNvPicPr>
            <a:picLocks noChangeAspect="1"/>
          </p:cNvPicPr>
          <p:nvPr/>
        </p:nvPicPr>
        <p:blipFill>
          <a:blip r:embed="rId10"/>
          <a:stretch>
            <a:fillRect/>
          </a:stretch>
        </p:blipFill>
        <p:spPr>
          <a:xfrm>
            <a:off x="6746230" y="6467338"/>
            <a:ext cx="782276" cy="247387"/>
          </a:xfrm>
          <a:prstGeom prst="rect">
            <a:avLst/>
          </a:prstGeom>
        </p:spPr>
      </p:pic>
      <p:pic>
        <p:nvPicPr>
          <p:cNvPr id="19" name="Picture 18">
            <a:extLst>
              <a:ext uri="{FF2B5EF4-FFF2-40B4-BE49-F238E27FC236}">
                <a16:creationId xmlns:a16="http://schemas.microsoft.com/office/drawing/2014/main" id="{B9F0CBC2-1C27-3B11-3FAA-CBA74EE45422}"/>
              </a:ext>
            </a:extLst>
          </p:cNvPr>
          <p:cNvPicPr>
            <a:picLocks noChangeAspect="1"/>
          </p:cNvPicPr>
          <p:nvPr/>
        </p:nvPicPr>
        <p:blipFill>
          <a:blip r:embed="rId11"/>
          <a:stretch>
            <a:fillRect/>
          </a:stretch>
        </p:blipFill>
        <p:spPr>
          <a:xfrm>
            <a:off x="2949939" y="6423678"/>
            <a:ext cx="1468217" cy="296401"/>
          </a:xfrm>
          <a:prstGeom prst="rect">
            <a:avLst/>
          </a:prstGeom>
        </p:spPr>
      </p:pic>
    </p:spTree>
    <p:extLst>
      <p:ext uri="{BB962C8B-B14F-4D97-AF65-F5344CB8AC3E}">
        <p14:creationId xmlns:p14="http://schemas.microsoft.com/office/powerpoint/2010/main" val="798779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ppt_x"/>
                                          </p:val>
                                        </p:tav>
                                        <p:tav tm="100000">
                                          <p:val>
                                            <p:strVal val="#ppt_x"/>
                                          </p:val>
                                        </p:tav>
                                      </p:tavLst>
                                    </p:anim>
                                    <p:anim calcmode="lin" valueType="num">
                                      <p:cBhvr additive="base">
                                        <p:cTn id="24" dur="500" fill="hold"/>
                                        <p:tgtEl>
                                          <p:spTgt spid="1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 calcmode="lin" valueType="num">
                                      <p:cBhvr additive="base">
                                        <p:cTn id="37" dur="500" fill="hold"/>
                                        <p:tgtEl>
                                          <p:spTgt spid="15"/>
                                        </p:tgtEl>
                                        <p:attrNameLst>
                                          <p:attrName>ppt_x</p:attrName>
                                        </p:attrNameLst>
                                      </p:cBhvr>
                                      <p:tavLst>
                                        <p:tav tm="0">
                                          <p:val>
                                            <p:strVal val="#ppt_x"/>
                                          </p:val>
                                        </p:tav>
                                        <p:tav tm="100000">
                                          <p:val>
                                            <p:strVal val="#ppt_x"/>
                                          </p:val>
                                        </p:tav>
                                      </p:tavLst>
                                    </p:anim>
                                    <p:anim calcmode="lin" valueType="num">
                                      <p:cBhvr additive="base">
                                        <p:cTn id="3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6"/>
                                        </p:tgtEl>
                                        <p:attrNameLst>
                                          <p:attrName>style.visibility</p:attrName>
                                        </p:attrNameLst>
                                      </p:cBhvr>
                                      <p:to>
                                        <p:strVal val="visible"/>
                                      </p:to>
                                    </p:set>
                                    <p:anim calcmode="lin" valueType="num">
                                      <p:cBhvr additive="base">
                                        <p:cTn id="43" dur="500" fill="hold"/>
                                        <p:tgtEl>
                                          <p:spTgt spid="16"/>
                                        </p:tgtEl>
                                        <p:attrNameLst>
                                          <p:attrName>ppt_x</p:attrName>
                                        </p:attrNameLst>
                                      </p:cBhvr>
                                      <p:tavLst>
                                        <p:tav tm="0">
                                          <p:val>
                                            <p:strVal val="#ppt_x"/>
                                          </p:val>
                                        </p:tav>
                                        <p:tav tm="100000">
                                          <p:val>
                                            <p:strVal val="#ppt_x"/>
                                          </p:val>
                                        </p:tav>
                                      </p:tavLst>
                                    </p:anim>
                                    <p:anim calcmode="lin" valueType="num">
                                      <p:cBhvr additive="base">
                                        <p:cTn id="44" dur="500" fill="hold"/>
                                        <p:tgtEl>
                                          <p:spTgt spid="16"/>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 calcmode="lin" valueType="num">
                                      <p:cBhvr additive="base">
                                        <p:cTn id="47" dur="500" fill="hold"/>
                                        <p:tgtEl>
                                          <p:spTgt spid="17"/>
                                        </p:tgtEl>
                                        <p:attrNameLst>
                                          <p:attrName>ppt_x</p:attrName>
                                        </p:attrNameLst>
                                      </p:cBhvr>
                                      <p:tavLst>
                                        <p:tav tm="0">
                                          <p:val>
                                            <p:strVal val="#ppt_x"/>
                                          </p:val>
                                        </p:tav>
                                        <p:tav tm="100000">
                                          <p:val>
                                            <p:strVal val="#ppt_x"/>
                                          </p:val>
                                        </p:tav>
                                      </p:tavLst>
                                    </p:anim>
                                    <p:anim calcmode="lin" valueType="num">
                                      <p:cBhvr additive="base">
                                        <p:cTn id="48" dur="500" fill="hold"/>
                                        <p:tgtEl>
                                          <p:spTgt spid="17"/>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 calcmode="lin" valueType="num">
                                      <p:cBhvr additive="base">
                                        <p:cTn id="51" dur="500" fill="hold"/>
                                        <p:tgtEl>
                                          <p:spTgt spid="18"/>
                                        </p:tgtEl>
                                        <p:attrNameLst>
                                          <p:attrName>ppt_x</p:attrName>
                                        </p:attrNameLst>
                                      </p:cBhvr>
                                      <p:tavLst>
                                        <p:tav tm="0">
                                          <p:val>
                                            <p:strVal val="#ppt_x"/>
                                          </p:val>
                                        </p:tav>
                                        <p:tav tm="100000">
                                          <p:val>
                                            <p:strVal val="#ppt_x"/>
                                          </p:val>
                                        </p:tav>
                                      </p:tavLst>
                                    </p:anim>
                                    <p:anim calcmode="lin" valueType="num">
                                      <p:cBhvr additive="base">
                                        <p:cTn id="52" dur="500" fill="hold"/>
                                        <p:tgtEl>
                                          <p:spTgt spid="18"/>
                                        </p:tgtEl>
                                        <p:attrNameLst>
                                          <p:attrName>ppt_y</p:attrName>
                                        </p:attrNameLst>
                                      </p:cBhvr>
                                      <p:tavLst>
                                        <p:tav tm="0">
                                          <p:val>
                                            <p:strVal val="1+#ppt_h/2"/>
                                          </p:val>
                                        </p:tav>
                                        <p:tav tm="100000">
                                          <p:val>
                                            <p:strVal val="#ppt_y"/>
                                          </p:val>
                                        </p:tav>
                                      </p:tavLst>
                                    </p:anim>
                                  </p:childTnLst>
                                </p:cTn>
                              </p:par>
                              <p:par>
                                <p:cTn id="53" presetID="2" presetClass="entr" presetSubtype="4" fill="hold" nodeType="withEffect">
                                  <p:stCondLst>
                                    <p:cond delay="0"/>
                                  </p:stCondLst>
                                  <p:childTnLst>
                                    <p:set>
                                      <p:cBhvr>
                                        <p:cTn id="54" dur="1" fill="hold">
                                          <p:stCondLst>
                                            <p:cond delay="0"/>
                                          </p:stCondLst>
                                        </p:cTn>
                                        <p:tgtEl>
                                          <p:spTgt spid="5"/>
                                        </p:tgtEl>
                                        <p:attrNameLst>
                                          <p:attrName>style.visibility</p:attrName>
                                        </p:attrNameLst>
                                      </p:cBhvr>
                                      <p:to>
                                        <p:strVal val="visible"/>
                                      </p:to>
                                    </p:set>
                                    <p:anim calcmode="lin" valueType="num">
                                      <p:cBhvr additive="base">
                                        <p:cTn id="55" dur="500" fill="hold"/>
                                        <p:tgtEl>
                                          <p:spTgt spid="5"/>
                                        </p:tgtEl>
                                        <p:attrNameLst>
                                          <p:attrName>ppt_x</p:attrName>
                                        </p:attrNameLst>
                                      </p:cBhvr>
                                      <p:tavLst>
                                        <p:tav tm="0">
                                          <p:val>
                                            <p:strVal val="#ppt_x"/>
                                          </p:val>
                                        </p:tav>
                                        <p:tav tm="100000">
                                          <p:val>
                                            <p:strVal val="#ppt_x"/>
                                          </p:val>
                                        </p:tav>
                                      </p:tavLst>
                                    </p:anim>
                                    <p:anim calcmode="lin" valueType="num">
                                      <p:cBhvr additive="base">
                                        <p:cTn id="56"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 calcmode="lin" valueType="num">
                                      <p:cBhvr additive="base">
                                        <p:cTn id="61" dur="500" fill="hold"/>
                                        <p:tgtEl>
                                          <p:spTgt spid="9"/>
                                        </p:tgtEl>
                                        <p:attrNameLst>
                                          <p:attrName>ppt_x</p:attrName>
                                        </p:attrNameLst>
                                      </p:cBhvr>
                                      <p:tavLst>
                                        <p:tav tm="0">
                                          <p:val>
                                            <p:strVal val="#ppt_x"/>
                                          </p:val>
                                        </p:tav>
                                        <p:tav tm="100000">
                                          <p:val>
                                            <p:strVal val="#ppt_x"/>
                                          </p:val>
                                        </p:tav>
                                      </p:tavLst>
                                    </p:anim>
                                    <p:anim calcmode="lin" valueType="num">
                                      <p:cBhvr additive="base">
                                        <p:cTn id="62" dur="500" fill="hold"/>
                                        <p:tgtEl>
                                          <p:spTgt spid="9"/>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additive="base">
                                        <p:cTn id="65" dur="500" fill="hold"/>
                                        <p:tgtEl>
                                          <p:spTgt spid="14"/>
                                        </p:tgtEl>
                                        <p:attrNameLst>
                                          <p:attrName>ppt_x</p:attrName>
                                        </p:attrNameLst>
                                      </p:cBhvr>
                                      <p:tavLst>
                                        <p:tav tm="0">
                                          <p:val>
                                            <p:strVal val="#ppt_x"/>
                                          </p:val>
                                        </p:tav>
                                        <p:tav tm="100000">
                                          <p:val>
                                            <p:strVal val="#ppt_x"/>
                                          </p:val>
                                        </p:tav>
                                      </p:tavLst>
                                    </p:anim>
                                    <p:anim calcmode="lin" valueType="num">
                                      <p:cBhvr additive="base">
                                        <p:cTn id="66" dur="500" fill="hold"/>
                                        <p:tgtEl>
                                          <p:spTgt spid="14"/>
                                        </p:tgtEl>
                                        <p:attrNameLst>
                                          <p:attrName>ppt_y</p:attrName>
                                        </p:attrNameLst>
                                      </p:cBhvr>
                                      <p:tavLst>
                                        <p:tav tm="0">
                                          <p:val>
                                            <p:strVal val="1+#ppt_h/2"/>
                                          </p:val>
                                        </p:tav>
                                        <p:tav tm="100000">
                                          <p:val>
                                            <p:strVal val="#ppt_y"/>
                                          </p:val>
                                        </p:tav>
                                      </p:tavLst>
                                    </p:anim>
                                  </p:childTnLst>
                                </p:cTn>
                              </p:par>
                              <p:par>
                                <p:cTn id="67" presetID="2" presetClass="entr" presetSubtype="4" fill="hold" nodeType="withEffect">
                                  <p:stCondLst>
                                    <p:cond delay="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500" fill="hold"/>
                                        <p:tgtEl>
                                          <p:spTgt spid="19"/>
                                        </p:tgtEl>
                                        <p:attrNameLst>
                                          <p:attrName>ppt_x</p:attrName>
                                        </p:attrNameLst>
                                      </p:cBhvr>
                                      <p:tavLst>
                                        <p:tav tm="0">
                                          <p:val>
                                            <p:strVal val="#ppt_x"/>
                                          </p:val>
                                        </p:tav>
                                        <p:tav tm="100000">
                                          <p:val>
                                            <p:strVal val="#ppt_x"/>
                                          </p:val>
                                        </p:tav>
                                      </p:tavLst>
                                    </p:anim>
                                    <p:anim calcmode="lin" valueType="num">
                                      <p:cBhvr additive="base">
                                        <p:cTn id="7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17" grpId="0"/>
      <p:bldP spid="31" grpId="0"/>
      <p:bldP spid="9"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7ADCF-EFAD-BD51-90E6-32ECAC2ED9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0FA8D5D-B6D3-755A-3078-3B14844F61DD}"/>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8" name="Rectangle 4">
            <a:extLst>
              <a:ext uri="{FF2B5EF4-FFF2-40B4-BE49-F238E27FC236}">
                <a16:creationId xmlns:a16="http://schemas.microsoft.com/office/drawing/2014/main" id="{A1F2DBF4-283E-316A-FF45-D5113134E58C}"/>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Two Independent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sp>
        <p:nvSpPr>
          <p:cNvPr id="3" name="TextBox 2">
            <a:extLst>
              <a:ext uri="{FF2B5EF4-FFF2-40B4-BE49-F238E27FC236}">
                <a16:creationId xmlns:a16="http://schemas.microsoft.com/office/drawing/2014/main" id="{748227BB-957F-9F5F-CB35-0406CA6E11AC}"/>
              </a:ext>
            </a:extLst>
          </p:cNvPr>
          <p:cNvSpPr txBox="1"/>
          <p:nvPr/>
        </p:nvSpPr>
        <p:spPr>
          <a:xfrm>
            <a:off x="231775" y="1956122"/>
            <a:ext cx="8156294" cy="830997"/>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Consider the financial transactions fraud scores data with </a:t>
            </a:r>
            <a:r>
              <a:rPr lang="en-US" sz="2400" b="1" dirty="0">
                <a:latin typeface="Courier New" panose="02070309020205020404" pitchFamily="49" charset="0"/>
                <a:cs typeface="Courier New" panose="02070309020205020404" pitchFamily="49" charset="0"/>
              </a:rPr>
              <a:t>data("transactions")</a:t>
            </a:r>
            <a:r>
              <a:rPr lang="en-US" sz="2400" dirty="0">
                <a:latin typeface="Times New Roman" panose="02020603050405020304" pitchFamily="18" charset="0"/>
                <a:cs typeface="Times New Roman" panose="02020603050405020304" pitchFamily="18" charset="0"/>
              </a:rPr>
              <a:t>:</a:t>
            </a:r>
          </a:p>
        </p:txBody>
      </p:sp>
      <p:sp>
        <p:nvSpPr>
          <p:cNvPr id="4" name="TextBox 3">
            <a:extLst>
              <a:ext uri="{FF2B5EF4-FFF2-40B4-BE49-F238E27FC236}">
                <a16:creationId xmlns:a16="http://schemas.microsoft.com/office/drawing/2014/main" id="{4FDD1D0D-F13F-F8AE-5F0B-0F8E90E8762E}"/>
              </a:ext>
            </a:extLst>
          </p:cNvPr>
          <p:cNvSpPr txBox="1"/>
          <p:nvPr/>
        </p:nvSpPr>
        <p:spPr>
          <a:xfrm>
            <a:off x="231775" y="3242966"/>
            <a:ext cx="8156294" cy="1569660"/>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 Visualize the data</a:t>
            </a:r>
          </a:p>
          <a:p>
            <a:r>
              <a:rPr lang="en-US" sz="2400" dirty="0">
                <a:latin typeface="Times New Roman" panose="02020603050405020304" pitchFamily="18" charset="0"/>
                <a:cs typeface="Times New Roman" panose="02020603050405020304" pitchFamily="18" charset="0"/>
              </a:rPr>
              <a:t>b. Perform a two sample bootstrap hypothesis test to assess the (Null) hypothesis of equivalence between the not fraud and fraud population of scores</a:t>
            </a:r>
          </a:p>
        </p:txBody>
      </p:sp>
    </p:spTree>
    <p:extLst>
      <p:ext uri="{BB962C8B-B14F-4D97-AF65-F5344CB8AC3E}">
        <p14:creationId xmlns:p14="http://schemas.microsoft.com/office/powerpoint/2010/main" val="21944751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32CF24E-4D44-C1C3-E63B-1CD374BBB887}"/>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A095A20B-679D-5A3D-8F8D-6302A670D62C}"/>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Two Independent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sp>
        <p:nvSpPr>
          <p:cNvPr id="5" name="Rectangle 4">
            <a:extLst>
              <a:ext uri="{FF2B5EF4-FFF2-40B4-BE49-F238E27FC236}">
                <a16:creationId xmlns:a16="http://schemas.microsoft.com/office/drawing/2014/main" id="{9D95BE26-52EB-EF1E-4218-B31972E176D0}"/>
              </a:ext>
            </a:extLst>
          </p:cNvPr>
          <p:cNvSpPr/>
          <p:nvPr/>
        </p:nvSpPr>
        <p:spPr>
          <a:xfrm>
            <a:off x="287417" y="1669644"/>
            <a:ext cx="8607424" cy="3539430"/>
          </a:xfrm>
          <a:prstGeom prst="rect">
            <a:avLst/>
          </a:prstGeom>
          <a:solidFill>
            <a:srgbClr val="000C78"/>
          </a:solidFill>
        </p:spPr>
        <p:txBody>
          <a:bodyPr wrap="square">
            <a:spAutoFit/>
          </a:bodyPr>
          <a:lstStyle/>
          <a:p>
            <a:r>
              <a:rPr lang="en-US" sz="1400" dirty="0">
                <a:solidFill>
                  <a:schemeClr val="accent6"/>
                </a:solidFill>
                <a:latin typeface="Courier"/>
                <a:cs typeface="Courier"/>
              </a:rPr>
              <a:t>library</a:t>
            </a:r>
            <a:r>
              <a:rPr lang="en-US" sz="1400" dirty="0">
                <a:solidFill>
                  <a:schemeClr val="bg1"/>
                </a:solidFill>
                <a:latin typeface="Courier"/>
                <a:cs typeface="Courier"/>
              </a:rPr>
              <a:t>(</a:t>
            </a:r>
            <a:r>
              <a:rPr lang="en-US" sz="1400" dirty="0" err="1">
                <a:solidFill>
                  <a:schemeClr val="bg1"/>
                </a:solidFill>
                <a:latin typeface="Courier"/>
                <a:cs typeface="Courier"/>
              </a:rPr>
              <a:t>frequtils</a:t>
            </a:r>
            <a:r>
              <a:rPr lang="en-US" sz="1400" dirty="0">
                <a:solidFill>
                  <a:schemeClr val="bg1"/>
                </a:solidFill>
                <a:latin typeface="Courier"/>
                <a:cs typeface="Courier"/>
              </a:rPr>
              <a:t>)</a:t>
            </a:r>
          </a:p>
          <a:p>
            <a:endParaRPr lang="en-US" sz="1400" dirty="0">
              <a:solidFill>
                <a:schemeClr val="bg1"/>
              </a:solidFill>
              <a:latin typeface="Courier"/>
              <a:cs typeface="Courier"/>
            </a:endParaRPr>
          </a:p>
          <a:p>
            <a:r>
              <a:rPr lang="en-US" sz="1400" dirty="0">
                <a:solidFill>
                  <a:schemeClr val="bg1"/>
                </a:solidFill>
                <a:latin typeface="Courier"/>
                <a:cs typeface="Courier"/>
              </a:rPr>
              <a:t>data(</a:t>
            </a:r>
            <a:r>
              <a:rPr lang="en-US" sz="1400" dirty="0">
                <a:solidFill>
                  <a:srgbClr val="00B050"/>
                </a:solidFill>
                <a:latin typeface="Courier"/>
                <a:cs typeface="Courier"/>
              </a:rPr>
              <a:t>"transactions"</a:t>
            </a:r>
            <a:r>
              <a:rPr lang="en-US" sz="1400" dirty="0">
                <a:solidFill>
                  <a:schemeClr val="bg1"/>
                </a:solidFill>
                <a:latin typeface="Courier"/>
                <a:cs typeface="Courier"/>
              </a:rPr>
              <a:t>)</a:t>
            </a:r>
          </a:p>
          <a:p>
            <a:endParaRPr lang="en-US" sz="1400" dirty="0">
              <a:solidFill>
                <a:schemeClr val="bg1"/>
              </a:solidFill>
              <a:latin typeface="Courier"/>
              <a:cs typeface="Courier"/>
            </a:endParaRPr>
          </a:p>
          <a:p>
            <a:r>
              <a:rPr lang="en-US" sz="1400" dirty="0">
                <a:solidFill>
                  <a:schemeClr val="bg1"/>
                </a:solidFill>
                <a:latin typeface="Courier"/>
                <a:cs typeface="Courier"/>
              </a:rPr>
              <a:t>boxplot(</a:t>
            </a:r>
            <a:r>
              <a:rPr lang="en-US" sz="1400" dirty="0" err="1">
                <a:solidFill>
                  <a:schemeClr val="bg1"/>
                </a:solidFill>
                <a:latin typeface="Courier"/>
                <a:cs typeface="Courier"/>
              </a:rPr>
              <a:t>suspicion.score~transaction.type</a:t>
            </a:r>
            <a:r>
              <a:rPr lang="en-US" sz="1400" dirty="0">
                <a:solidFill>
                  <a:schemeClr val="bg1"/>
                </a:solidFill>
                <a:latin typeface="Courier"/>
                <a:cs typeface="Courier"/>
              </a:rPr>
              <a:t>, data = transactions)</a:t>
            </a:r>
          </a:p>
          <a:p>
            <a:endParaRPr lang="en-US" sz="1400" dirty="0">
              <a:solidFill>
                <a:schemeClr val="bg1"/>
              </a:solidFill>
              <a:latin typeface="Courier"/>
              <a:cs typeface="Courier"/>
            </a:endParaRPr>
          </a:p>
          <a:p>
            <a:r>
              <a:rPr lang="en-US" sz="1400" dirty="0" err="1">
                <a:solidFill>
                  <a:schemeClr val="bg1"/>
                </a:solidFill>
                <a:latin typeface="Courier"/>
                <a:cs typeface="Courier"/>
              </a:rPr>
              <a:t>nfs</a:t>
            </a:r>
            <a:r>
              <a:rPr lang="en-US" sz="1400" dirty="0">
                <a:solidFill>
                  <a:schemeClr val="bg1"/>
                </a:solidFill>
                <a:latin typeface="Courier"/>
                <a:cs typeface="Courier"/>
              </a:rPr>
              <a:t> &lt;- transactions[</a:t>
            </a:r>
            <a:r>
              <a:rPr lang="en-US" sz="1400" dirty="0" err="1">
                <a:solidFill>
                  <a:schemeClr val="bg1"/>
                </a:solidFill>
                <a:latin typeface="Courier"/>
                <a:cs typeface="Courier"/>
              </a:rPr>
              <a:t>transactions$transaction.type</a:t>
            </a:r>
            <a:r>
              <a:rPr lang="en-US" sz="1400" dirty="0">
                <a:solidFill>
                  <a:schemeClr val="bg1"/>
                </a:solidFill>
                <a:latin typeface="Courier"/>
                <a:cs typeface="Courier"/>
              </a:rPr>
              <a:t> == </a:t>
            </a:r>
            <a:r>
              <a:rPr lang="en-US" sz="1400" dirty="0">
                <a:solidFill>
                  <a:srgbClr val="00B050"/>
                </a:solidFill>
                <a:latin typeface="Courier"/>
                <a:cs typeface="Courier"/>
              </a:rPr>
              <a:t>"</a:t>
            </a:r>
            <a:r>
              <a:rPr lang="en-US" sz="1400" dirty="0" err="1">
                <a:solidFill>
                  <a:srgbClr val="00B050"/>
                </a:solidFill>
                <a:latin typeface="Courier"/>
                <a:cs typeface="Courier"/>
              </a:rPr>
              <a:t>not.fraud</a:t>
            </a:r>
            <a:r>
              <a:rPr lang="en-US" sz="1400" dirty="0">
                <a:solidFill>
                  <a:srgbClr val="00B050"/>
                </a:solidFill>
                <a:latin typeface="Courier"/>
                <a:cs typeface="Courier"/>
              </a:rPr>
              <a:t>"</a:t>
            </a:r>
            <a:r>
              <a:rPr lang="en-US" sz="1400" dirty="0">
                <a:solidFill>
                  <a:schemeClr val="bg1"/>
                </a:solidFill>
                <a:latin typeface="Courier"/>
                <a:cs typeface="Courier"/>
              </a:rPr>
              <a:t>, 1]</a:t>
            </a:r>
          </a:p>
          <a:p>
            <a:r>
              <a:rPr lang="en-US" sz="1400" dirty="0">
                <a:solidFill>
                  <a:schemeClr val="bg1"/>
                </a:solidFill>
                <a:latin typeface="Courier"/>
                <a:cs typeface="Courier"/>
              </a:rPr>
              <a:t>fs  &lt;- transactions[</a:t>
            </a:r>
            <a:r>
              <a:rPr lang="en-US" sz="1400" dirty="0" err="1">
                <a:solidFill>
                  <a:schemeClr val="bg1"/>
                </a:solidFill>
                <a:latin typeface="Courier"/>
                <a:cs typeface="Courier"/>
              </a:rPr>
              <a:t>transactions$transaction.type</a:t>
            </a:r>
            <a:r>
              <a:rPr lang="en-US" sz="1400" dirty="0">
                <a:solidFill>
                  <a:schemeClr val="bg1"/>
                </a:solidFill>
                <a:latin typeface="Courier"/>
                <a:cs typeface="Courier"/>
              </a:rPr>
              <a:t> == </a:t>
            </a:r>
            <a:r>
              <a:rPr lang="en-US" sz="1400" dirty="0">
                <a:solidFill>
                  <a:srgbClr val="00B050"/>
                </a:solidFill>
                <a:latin typeface="Courier"/>
                <a:cs typeface="Courier"/>
              </a:rPr>
              <a:t>"fraud"</a:t>
            </a:r>
            <a:r>
              <a:rPr lang="en-US" sz="1400" dirty="0">
                <a:solidFill>
                  <a:schemeClr val="bg1"/>
                </a:solidFill>
                <a:latin typeface="Courier"/>
                <a:cs typeface="Courier"/>
              </a:rPr>
              <a:t>, 1]</a:t>
            </a:r>
          </a:p>
          <a:p>
            <a:endParaRPr lang="en-US" sz="1400" dirty="0">
              <a:solidFill>
                <a:schemeClr val="bg1"/>
              </a:solidFill>
              <a:latin typeface="Courier"/>
              <a:cs typeface="Courier"/>
            </a:endParaRPr>
          </a:p>
          <a:p>
            <a:r>
              <a:rPr lang="en-US" sz="1400" dirty="0">
                <a:solidFill>
                  <a:schemeClr val="bg1"/>
                </a:solidFill>
                <a:latin typeface="Courier"/>
                <a:cs typeface="Courier"/>
              </a:rPr>
              <a:t>hist(fs)</a:t>
            </a:r>
          </a:p>
          <a:p>
            <a:r>
              <a:rPr lang="en-US" sz="1400" dirty="0">
                <a:solidFill>
                  <a:schemeClr val="bg1"/>
                </a:solidFill>
                <a:latin typeface="Courier"/>
                <a:cs typeface="Courier"/>
              </a:rPr>
              <a:t>hist(</a:t>
            </a:r>
            <a:r>
              <a:rPr lang="en-US" sz="1400" dirty="0" err="1">
                <a:solidFill>
                  <a:schemeClr val="bg1"/>
                </a:solidFill>
                <a:latin typeface="Courier"/>
                <a:cs typeface="Courier"/>
              </a:rPr>
              <a:t>nfs</a:t>
            </a:r>
            <a:r>
              <a:rPr lang="en-US" sz="1400" dirty="0">
                <a:solidFill>
                  <a:schemeClr val="bg1"/>
                </a:solidFill>
                <a:latin typeface="Courier"/>
                <a:cs typeface="Courier"/>
              </a:rPr>
              <a:t>)</a:t>
            </a:r>
          </a:p>
          <a:p>
            <a:r>
              <a:rPr lang="en-US" sz="1400" dirty="0">
                <a:solidFill>
                  <a:schemeClr val="bg1"/>
                </a:solidFill>
                <a:latin typeface="Courier"/>
                <a:cs typeface="Courier"/>
              </a:rPr>
              <a:t>boxplot(fs, </a:t>
            </a:r>
            <a:r>
              <a:rPr lang="en-US" sz="1400" dirty="0" err="1">
                <a:solidFill>
                  <a:schemeClr val="bg1"/>
                </a:solidFill>
                <a:latin typeface="Courier"/>
                <a:cs typeface="Courier"/>
              </a:rPr>
              <a:t>nfs</a:t>
            </a:r>
            <a:r>
              <a:rPr lang="en-US" sz="1400" dirty="0">
                <a:solidFill>
                  <a:schemeClr val="bg1"/>
                </a:solidFill>
                <a:latin typeface="Courier"/>
                <a:cs typeface="Courier"/>
              </a:rPr>
              <a:t>)</a:t>
            </a:r>
          </a:p>
          <a:p>
            <a:endParaRPr lang="en-US" sz="1400" dirty="0">
              <a:solidFill>
                <a:schemeClr val="bg1"/>
              </a:solidFill>
              <a:latin typeface="Courier"/>
              <a:cs typeface="Courier"/>
            </a:endParaRPr>
          </a:p>
          <a:p>
            <a:r>
              <a:rPr lang="en-US" sz="1400" dirty="0" err="1">
                <a:solidFill>
                  <a:schemeClr val="bg1"/>
                </a:solidFill>
                <a:latin typeface="Courier"/>
                <a:cs typeface="Courier"/>
              </a:rPr>
              <a:t>two.sample.bs.hyp.for.pop.compare</a:t>
            </a:r>
            <a:r>
              <a:rPr lang="en-US" sz="1400" dirty="0">
                <a:solidFill>
                  <a:schemeClr val="bg1"/>
                </a:solidFill>
                <a:latin typeface="Courier"/>
                <a:cs typeface="Courier"/>
              </a:rPr>
              <a:t>(</a:t>
            </a:r>
            <a:r>
              <a:rPr lang="en-US" sz="1400" dirty="0" err="1">
                <a:solidFill>
                  <a:schemeClr val="bg1"/>
                </a:solidFill>
                <a:latin typeface="Courier"/>
                <a:cs typeface="Courier"/>
              </a:rPr>
              <a:t>A.samp</a:t>
            </a:r>
            <a:r>
              <a:rPr lang="en-US" sz="1400" dirty="0">
                <a:solidFill>
                  <a:schemeClr val="bg1"/>
                </a:solidFill>
                <a:latin typeface="Courier"/>
                <a:cs typeface="Courier"/>
              </a:rPr>
              <a:t> = fs, </a:t>
            </a:r>
            <a:r>
              <a:rPr lang="en-US" sz="1400" dirty="0" err="1">
                <a:solidFill>
                  <a:schemeClr val="bg1"/>
                </a:solidFill>
                <a:latin typeface="Courier"/>
                <a:cs typeface="Courier"/>
              </a:rPr>
              <a:t>B.samp</a:t>
            </a:r>
            <a:r>
              <a:rPr lang="en-US" sz="1400" dirty="0">
                <a:solidFill>
                  <a:schemeClr val="bg1"/>
                </a:solidFill>
                <a:latin typeface="Courier"/>
                <a:cs typeface="Courier"/>
              </a:rPr>
              <a:t> = </a:t>
            </a:r>
            <a:r>
              <a:rPr lang="en-US" sz="1400" dirty="0" err="1">
                <a:solidFill>
                  <a:schemeClr val="bg1"/>
                </a:solidFill>
                <a:latin typeface="Courier"/>
                <a:cs typeface="Courier"/>
              </a:rPr>
              <a:t>nfs</a:t>
            </a:r>
            <a:r>
              <a:rPr lang="en-US" sz="1400" dirty="0">
                <a:solidFill>
                  <a:schemeClr val="bg1"/>
                </a:solidFill>
                <a:latin typeface="Courier"/>
                <a:cs typeface="Courier"/>
              </a:rPr>
              <a:t>, </a:t>
            </a:r>
          </a:p>
          <a:p>
            <a:r>
              <a:rPr lang="en-US" sz="1400" dirty="0">
                <a:solidFill>
                  <a:schemeClr val="bg1"/>
                </a:solidFill>
                <a:latin typeface="Courier"/>
                <a:cs typeface="Courier"/>
              </a:rPr>
              <a:t>                                  confidence = 0.95, alternative =</a:t>
            </a:r>
            <a:r>
              <a:rPr lang="en-US" sz="1400" dirty="0">
                <a:solidFill>
                  <a:srgbClr val="00B050"/>
                </a:solidFill>
                <a:latin typeface="Courier"/>
                <a:cs typeface="Courier"/>
              </a:rPr>
              <a:t>"</a:t>
            </a:r>
            <a:r>
              <a:rPr lang="en-US" sz="1400" dirty="0" err="1">
                <a:solidFill>
                  <a:srgbClr val="00B050"/>
                </a:solidFill>
                <a:latin typeface="Courier"/>
                <a:cs typeface="Courier"/>
              </a:rPr>
              <a:t>two.sided</a:t>
            </a:r>
            <a:r>
              <a:rPr lang="en-US" sz="1400" dirty="0">
                <a:solidFill>
                  <a:srgbClr val="00B050"/>
                </a:solidFill>
                <a:latin typeface="Courier"/>
                <a:cs typeface="Courier"/>
              </a:rPr>
              <a:t>"</a:t>
            </a:r>
            <a:r>
              <a:rPr lang="en-US" sz="1400" dirty="0">
                <a:solidFill>
                  <a:schemeClr val="bg1"/>
                </a:solidFill>
                <a:latin typeface="Courier"/>
                <a:cs typeface="Courier"/>
              </a:rPr>
              <a:t>)</a:t>
            </a:r>
          </a:p>
          <a:p>
            <a:endParaRPr lang="en-US" sz="1400" dirty="0">
              <a:solidFill>
                <a:schemeClr val="bg1"/>
              </a:solidFill>
              <a:latin typeface="Courier"/>
              <a:cs typeface="Courier"/>
            </a:endParaRPr>
          </a:p>
        </p:txBody>
      </p:sp>
      <p:sp>
        <p:nvSpPr>
          <p:cNvPr id="2" name="TextBox 1">
            <a:extLst>
              <a:ext uri="{FF2B5EF4-FFF2-40B4-BE49-F238E27FC236}">
                <a16:creationId xmlns:a16="http://schemas.microsoft.com/office/drawing/2014/main" id="{8351BB50-BE8B-09DB-2946-965105DD319A}"/>
              </a:ext>
            </a:extLst>
          </p:cNvPr>
          <p:cNvSpPr txBox="1"/>
          <p:nvPr/>
        </p:nvSpPr>
        <p:spPr>
          <a:xfrm>
            <a:off x="5429675" y="1837339"/>
            <a:ext cx="2621177" cy="400110"/>
          </a:xfrm>
          <a:prstGeom prst="rect">
            <a:avLst/>
          </a:prstGeom>
          <a:solidFill>
            <a:schemeClr val="bg1"/>
          </a:solidFill>
        </p:spPr>
        <p:txBody>
          <a:bodyPr wrap="square">
            <a:spAutoFit/>
          </a:bodyPr>
          <a:lstStyle/>
          <a:p>
            <a:r>
              <a:rPr lang="en-US" sz="2000" dirty="0">
                <a:latin typeface="Times New Roman" panose="02020603050405020304" pitchFamily="18" charset="0"/>
                <a:cs typeface="Times New Roman" panose="02020603050405020304" pitchFamily="18" charset="0"/>
                <a:hlinkClick r:id="rId3"/>
              </a:rPr>
              <a:t>bhyp_test_two_samp.R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40871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8951A-F66F-43A0-9636-01ECFA8A97E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F70CE00-1C1A-01F6-A1E6-A7E750666CDF}"/>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C995FB46-93D3-3CCE-9607-4D2133C47FCA}"/>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Two Independent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pic>
        <p:nvPicPr>
          <p:cNvPr id="2" name="Picture 1">
            <a:extLst>
              <a:ext uri="{FF2B5EF4-FFF2-40B4-BE49-F238E27FC236}">
                <a16:creationId xmlns:a16="http://schemas.microsoft.com/office/drawing/2014/main" id="{362AF96B-802B-6842-69B5-D4C3CAE5BF8E}"/>
              </a:ext>
            </a:extLst>
          </p:cNvPr>
          <p:cNvPicPr>
            <a:picLocks noChangeAspect="1"/>
          </p:cNvPicPr>
          <p:nvPr/>
        </p:nvPicPr>
        <p:blipFill>
          <a:blip r:embed="rId3"/>
          <a:stretch>
            <a:fillRect/>
          </a:stretch>
        </p:blipFill>
        <p:spPr>
          <a:xfrm>
            <a:off x="442732" y="2111020"/>
            <a:ext cx="4464934" cy="3649421"/>
          </a:xfrm>
          <a:prstGeom prst="rect">
            <a:avLst/>
          </a:prstGeom>
        </p:spPr>
      </p:pic>
      <p:pic>
        <p:nvPicPr>
          <p:cNvPr id="7" name="Picture 6">
            <a:extLst>
              <a:ext uri="{FF2B5EF4-FFF2-40B4-BE49-F238E27FC236}">
                <a16:creationId xmlns:a16="http://schemas.microsoft.com/office/drawing/2014/main" id="{1BB619A9-7836-BB25-276C-9C96DFFA772F}"/>
              </a:ext>
            </a:extLst>
          </p:cNvPr>
          <p:cNvPicPr>
            <a:picLocks noChangeAspect="1"/>
          </p:cNvPicPr>
          <p:nvPr/>
        </p:nvPicPr>
        <p:blipFill>
          <a:blip r:embed="rId4"/>
          <a:stretch>
            <a:fillRect/>
          </a:stretch>
        </p:blipFill>
        <p:spPr>
          <a:xfrm>
            <a:off x="5914663" y="4201949"/>
            <a:ext cx="2315098" cy="2612753"/>
          </a:xfrm>
          <a:prstGeom prst="rect">
            <a:avLst/>
          </a:prstGeom>
        </p:spPr>
      </p:pic>
      <p:pic>
        <p:nvPicPr>
          <p:cNvPr id="8" name="Picture 7">
            <a:extLst>
              <a:ext uri="{FF2B5EF4-FFF2-40B4-BE49-F238E27FC236}">
                <a16:creationId xmlns:a16="http://schemas.microsoft.com/office/drawing/2014/main" id="{AFBD86A2-6AF2-17F4-C25C-DEE30855C14B}"/>
              </a:ext>
            </a:extLst>
          </p:cNvPr>
          <p:cNvPicPr>
            <a:picLocks noChangeAspect="1"/>
          </p:cNvPicPr>
          <p:nvPr/>
        </p:nvPicPr>
        <p:blipFill>
          <a:blip r:embed="rId5"/>
          <a:stretch>
            <a:fillRect/>
          </a:stretch>
        </p:blipFill>
        <p:spPr>
          <a:xfrm>
            <a:off x="5752617" y="1427146"/>
            <a:ext cx="2315097" cy="2612753"/>
          </a:xfrm>
          <a:prstGeom prst="rect">
            <a:avLst/>
          </a:prstGeom>
        </p:spPr>
      </p:pic>
    </p:spTree>
    <p:extLst>
      <p:ext uri="{BB962C8B-B14F-4D97-AF65-F5344CB8AC3E}">
        <p14:creationId xmlns:p14="http://schemas.microsoft.com/office/powerpoint/2010/main" val="12616235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DF94F-9341-2F22-A038-ACC873490BF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9EA2445-8DAF-C1EE-E497-F160EDC4F335}"/>
              </a:ext>
            </a:extLst>
          </p:cNvPr>
          <p:cNvPicPr>
            <a:picLocks noChangeAspect="1" noChangeArrowheads="1"/>
          </p:cNvPicPr>
          <p:nvPr/>
        </p:nvPicPr>
        <p:blipFill>
          <a:blip r:embed="rId2" cstate="print"/>
          <a:srcRect/>
          <a:stretch>
            <a:fillRect/>
          </a:stretch>
        </p:blipFill>
        <p:spPr bwMode="auto">
          <a:xfrm>
            <a:off x="484188" y="196056"/>
            <a:ext cx="8202612" cy="239712"/>
          </a:xfrm>
          <a:prstGeom prst="rect">
            <a:avLst/>
          </a:prstGeom>
          <a:noFill/>
          <a:ln w="9525">
            <a:noFill/>
            <a:round/>
            <a:headEnd/>
            <a:tailEnd/>
          </a:ln>
        </p:spPr>
      </p:pic>
      <p:sp>
        <p:nvSpPr>
          <p:cNvPr id="4" name="Rectangle 4">
            <a:extLst>
              <a:ext uri="{FF2B5EF4-FFF2-40B4-BE49-F238E27FC236}">
                <a16:creationId xmlns:a16="http://schemas.microsoft.com/office/drawing/2014/main" id="{B8732C38-9D9C-2892-CE10-A990A92C3FFA}"/>
              </a:ext>
            </a:extLst>
          </p:cNvPr>
          <p:cNvSpPr>
            <a:spLocks noChangeArrowheads="1"/>
          </p:cNvSpPr>
          <p:nvPr/>
        </p:nvSpPr>
        <p:spPr bwMode="auto">
          <a:xfrm>
            <a:off x="231775" y="373150"/>
            <a:ext cx="8607425" cy="1127125"/>
          </a:xfrm>
          <a:prstGeom prst="rect">
            <a:avLst/>
          </a:prstGeom>
          <a:noFill/>
          <a:ln w="9525">
            <a:noFill/>
            <a:round/>
            <a:headEnd/>
            <a:tailEnd/>
          </a:ln>
        </p:spPr>
        <p:txBody>
          <a:bodyPr lIns="0" tIns="0" rIns="0" bIns="0" anchor="ctr"/>
          <a:lstStyle/>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Example Two Independent Sample Bootstrap </a:t>
            </a:r>
          </a:p>
          <a:p>
            <a:pPr algn="ctr">
              <a:lnSpc>
                <a:spcPct val="100000"/>
              </a:lnSpc>
              <a:buFont typeface="Times New Roman" pitchFamily="18"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solidFill>
                  <a:srgbClr val="000000"/>
                </a:solidFill>
                <a:latin typeface="Times New Roman" pitchFamily="18" charset="0"/>
              </a:rPr>
              <a:t>Hypothesis Test</a:t>
            </a:r>
          </a:p>
        </p:txBody>
      </p:sp>
      <p:pic>
        <p:nvPicPr>
          <p:cNvPr id="5" name="Picture 4">
            <a:extLst>
              <a:ext uri="{FF2B5EF4-FFF2-40B4-BE49-F238E27FC236}">
                <a16:creationId xmlns:a16="http://schemas.microsoft.com/office/drawing/2014/main" id="{D9E7935A-70B4-5BA9-4989-084D11E04FFA}"/>
              </a:ext>
            </a:extLst>
          </p:cNvPr>
          <p:cNvPicPr>
            <a:picLocks noChangeAspect="1"/>
          </p:cNvPicPr>
          <p:nvPr/>
        </p:nvPicPr>
        <p:blipFill>
          <a:blip r:embed="rId3"/>
          <a:stretch>
            <a:fillRect/>
          </a:stretch>
        </p:blipFill>
        <p:spPr>
          <a:xfrm>
            <a:off x="4849793" y="1787799"/>
            <a:ext cx="4267200" cy="4378036"/>
          </a:xfrm>
          <a:prstGeom prst="rect">
            <a:avLst/>
          </a:prstGeom>
        </p:spPr>
      </p:pic>
      <p:pic>
        <p:nvPicPr>
          <p:cNvPr id="6" name="Picture 5">
            <a:extLst>
              <a:ext uri="{FF2B5EF4-FFF2-40B4-BE49-F238E27FC236}">
                <a16:creationId xmlns:a16="http://schemas.microsoft.com/office/drawing/2014/main" id="{0CAAC4E7-13A4-E32F-7C06-91F468F0D125}"/>
              </a:ext>
            </a:extLst>
          </p:cNvPr>
          <p:cNvPicPr>
            <a:picLocks noChangeAspect="1"/>
          </p:cNvPicPr>
          <p:nvPr/>
        </p:nvPicPr>
        <p:blipFill>
          <a:blip r:embed="rId4"/>
          <a:stretch>
            <a:fillRect/>
          </a:stretch>
        </p:blipFill>
        <p:spPr>
          <a:xfrm>
            <a:off x="57875" y="3034737"/>
            <a:ext cx="4817367" cy="1352067"/>
          </a:xfrm>
          <a:prstGeom prst="rect">
            <a:avLst/>
          </a:prstGeom>
        </p:spPr>
      </p:pic>
    </p:spTree>
    <p:extLst>
      <p:ext uri="{BB962C8B-B14F-4D97-AF65-F5344CB8AC3E}">
        <p14:creationId xmlns:p14="http://schemas.microsoft.com/office/powerpoint/2010/main" val="31817344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28121</TotalTime>
  <Words>5955</Words>
  <Application>Microsoft Macintosh PowerPoint</Application>
  <PresentationFormat>On-screen Show (4:3)</PresentationFormat>
  <Paragraphs>664</Paragraphs>
  <Slides>64</Slides>
  <Notes>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64</vt:i4>
      </vt:variant>
    </vt:vector>
  </HeadingPairs>
  <TitlesOfParts>
    <vt:vector size="73" baseType="lpstr">
      <vt:lpstr>Arial</vt:lpstr>
      <vt:lpstr>Calibri</vt:lpstr>
      <vt:lpstr>Courier</vt:lpstr>
      <vt:lpstr>Courier New</vt:lpstr>
      <vt:lpstr>Symbol</vt:lpstr>
      <vt:lpstr>Times</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npetraco</dc:creator>
  <cp:lastModifiedBy>Nicholas Petraco</cp:lastModifiedBy>
  <cp:revision>223</cp:revision>
  <dcterms:created xsi:type="dcterms:W3CDTF">2016-02-08T21:00:06Z</dcterms:created>
  <dcterms:modified xsi:type="dcterms:W3CDTF">2026-03-23T19:01:50Z</dcterms:modified>
</cp:coreProperties>
</file>