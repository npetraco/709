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2"/>
  </p:notesMasterIdLst>
  <p:sldIdLst>
    <p:sldId id="257" r:id="rId2"/>
    <p:sldId id="258" r:id="rId3"/>
    <p:sldId id="366" r:id="rId4"/>
    <p:sldId id="367" r:id="rId5"/>
    <p:sldId id="263" r:id="rId6"/>
    <p:sldId id="264" r:id="rId7"/>
    <p:sldId id="265" r:id="rId8"/>
    <p:sldId id="266" r:id="rId9"/>
    <p:sldId id="267" r:id="rId10"/>
    <p:sldId id="368" r:id="rId11"/>
    <p:sldId id="259" r:id="rId12"/>
    <p:sldId id="260" r:id="rId13"/>
    <p:sldId id="369" r:id="rId14"/>
    <p:sldId id="370" r:id="rId15"/>
    <p:sldId id="261" r:id="rId16"/>
    <p:sldId id="272" r:id="rId17"/>
    <p:sldId id="269" r:id="rId18"/>
    <p:sldId id="276" r:id="rId19"/>
    <p:sldId id="274" r:id="rId20"/>
    <p:sldId id="309" r:id="rId21"/>
    <p:sldId id="275" r:id="rId22"/>
    <p:sldId id="273" r:id="rId23"/>
    <p:sldId id="340" r:id="rId24"/>
    <p:sldId id="262" r:id="rId25"/>
    <p:sldId id="287" r:id="rId26"/>
    <p:sldId id="288" r:id="rId27"/>
    <p:sldId id="278" r:id="rId28"/>
    <p:sldId id="329" r:id="rId29"/>
    <p:sldId id="330" r:id="rId30"/>
    <p:sldId id="331" r:id="rId31"/>
    <p:sldId id="296" r:id="rId32"/>
    <p:sldId id="332" r:id="rId33"/>
    <p:sldId id="286" r:id="rId34"/>
    <p:sldId id="293" r:id="rId35"/>
    <p:sldId id="295" r:id="rId36"/>
    <p:sldId id="294" r:id="rId37"/>
    <p:sldId id="335" r:id="rId38"/>
    <p:sldId id="342" r:id="rId39"/>
    <p:sldId id="372" r:id="rId40"/>
    <p:sldId id="373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45"/>
    <p:restoredTop sz="96159"/>
  </p:normalViewPr>
  <p:slideViewPr>
    <p:cSldViewPr snapToGrid="0">
      <p:cViewPr varScale="1">
        <p:scale>
          <a:sx n="119" d="100"/>
          <a:sy n="119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25863-2114-114C-8D9C-B72590748C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8DA40-EA89-184E-B7C8-5DD4D728CB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99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BB66B-B4F6-EE4C-A313-76106909E42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97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5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01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4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0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64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62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59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2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CE96-2D56-2949-A7D8-4560EE47E1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B0E71-E2E2-E847-AEAC-60F6A7B48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2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10" Type="http://schemas.openxmlformats.org/officeDocument/2006/relationships/image" Target="../media/image6.tiff"/><Relationship Id="rId4" Type="http://schemas.openxmlformats.org/officeDocument/2006/relationships/image" Target="../media/image1.wmf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npetraco/709/blob/main/R/script_bucket/dice6.R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wustl.edu/etj/prob/book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11" Type="http://schemas.openxmlformats.org/officeDocument/2006/relationships/image" Target="../media/image30.emf"/><Relationship Id="rId5" Type="http://schemas.openxmlformats.org/officeDocument/2006/relationships/image" Target="../media/image25.png"/><Relationship Id="rId10" Type="http://schemas.openxmlformats.org/officeDocument/2006/relationships/image" Target="../media/image29.emf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pm.org/en/committees/jc/jcg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bipm.org/documents/20126/2071204/JCGM-pack.zip/35023b35-5b8f-b494-b70d-8a9cbe462def" TargetMode="External"/><Relationship Id="rId4" Type="http://schemas.openxmlformats.org/officeDocument/2006/relationships/hyperlink" Target="https://www.bipm.org/en/committees/jc/jcgm/publications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organization-scientific-area-committees-forensic-science/osac-registry" TargetMode="External"/><Relationship Id="rId7" Type="http://schemas.openxmlformats.org/officeDocument/2006/relationships/hyperlink" Target="https://www.aafs.org/academy-standards-boar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hyperlink" Target="https://www.nist.gov/spo/forensic-science-standards-program" TargetMode="Externa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www.astm.org/get-involved/technical-committees/committee-e30" TargetMode="External"/><Relationship Id="rId7" Type="http://schemas.openxmlformats.org/officeDocument/2006/relationships/hyperlink" Target="https://www.itl.nist.gov/div898/handbook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hyperlink" Target="https://www.astm.org/" TargetMode="External"/><Relationship Id="rId4" Type="http://schemas.openxmlformats.org/officeDocument/2006/relationships/hyperlink" Target="https://www.astm.org/get-involved/technical-committees/committee-e30/subcommittee-e30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hyperlink" Target="https://www.epa.gov/caddis/getting-started-data-analysis" TargetMode="External"/><Relationship Id="rId4" Type="http://schemas.openxmlformats.org/officeDocument/2006/relationships/hyperlink" Target="https://www.epa.gov/quality/guidance-data-quality-assessment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da.gov/regulatory-information/search-fda-guidance-documents" TargetMode="External"/><Relationship Id="rId5" Type="http://schemas.openxmlformats.org/officeDocument/2006/relationships/image" Target="../media/image39.png"/><Relationship Id="rId4" Type="http://schemas.openxmlformats.org/officeDocument/2006/relationships/hyperlink" Target="https://www.fda.gov/about-fda/cder-offices-and-divisions/office-biostatist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"/>
          <p:cNvSpPr>
            <a:spLocks noChangeArrowheads="1"/>
          </p:cNvSpPr>
          <p:nvPr/>
        </p:nvSpPr>
        <p:spPr bwMode="auto">
          <a:xfrm>
            <a:off x="14288" y="152400"/>
            <a:ext cx="9104312" cy="1752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 hangingPunct="0">
              <a:lnSpc>
                <a:spcPct val="98000"/>
              </a:lnSpc>
              <a:buSzPct val="45000"/>
              <a:buFont typeface="Wingdings" pitchFamily="2" charset="2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Important Definitions and Resources</a:t>
            </a:r>
          </a:p>
        </p:txBody>
      </p:sp>
      <p:graphicFrame>
        <p:nvGraphicFramePr>
          <p:cNvPr id="1026" name="Object 9"/>
          <p:cNvGraphicFramePr>
            <a:graphicFrameLocks noChangeAspect="1"/>
          </p:cNvGraphicFramePr>
          <p:nvPr/>
        </p:nvGraphicFramePr>
        <p:xfrm>
          <a:off x="4094163" y="6067425"/>
          <a:ext cx="7302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23960" imgH="361800" progId="">
                  <p:embed/>
                </p:oleObj>
              </mc:Choice>
              <mc:Fallback>
                <p:oleObj r:id="rId3" imgW="723960" imgH="361800" progId="">
                  <p:embed/>
                  <p:pic>
                    <p:nvPicPr>
                      <p:cNvPr id="10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6067425"/>
                        <a:ext cx="7302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2105375"/>
            <a:ext cx="3825623" cy="3469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7" name="Object 10"/>
          <p:cNvGraphicFramePr>
            <a:graphicFrameLocks noChangeAspect="1"/>
          </p:cNvGraphicFramePr>
          <p:nvPr/>
        </p:nvGraphicFramePr>
        <p:xfrm>
          <a:off x="4994275" y="6067425"/>
          <a:ext cx="73025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320" imgH="181080" progId="">
                  <p:embed/>
                </p:oleObj>
              </mc:Choice>
              <mc:Fallback>
                <p:oleObj r:id="rId6" imgW="76320" imgH="181080" progId="">
                  <p:embed/>
                  <p:pic>
                    <p:nvPicPr>
                      <p:cNvPr id="10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275" y="6067425"/>
                        <a:ext cx="73025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133600" y="3095975"/>
            <a:ext cx="1418375" cy="91065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2943" y="6553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1" name="Picture 10" descr="howland_sigs.t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1996" y="2521295"/>
            <a:ext cx="4577204" cy="2479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31341" y="4924775"/>
            <a:ext cx="7132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Osborn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789925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/>
          <p:cNvSpPr>
            <a:spLocks noChangeArrowheads="1"/>
          </p:cNvSpPr>
          <p:nvPr/>
        </p:nvSpPr>
        <p:spPr bwMode="auto">
          <a:xfrm>
            <a:off x="228600" y="990600"/>
            <a:ext cx="8686800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 err="1">
                <a:solidFill>
                  <a:srgbClr val="000000"/>
                </a:solidFill>
                <a:latin typeface="Times New Roman" charset="0"/>
              </a:rPr>
              <a:t>Daubert</a:t>
            </a: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 is a benchmark!!!: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u="sng" dirty="0">
                <a:solidFill>
                  <a:srgbClr val="000000"/>
                </a:solidFill>
                <a:latin typeface="Times New Roman" charset="0"/>
              </a:rPr>
              <a:t>Daubert (1993)</a:t>
            </a:r>
            <a:r>
              <a:rPr lang="en-GB" sz="2800" dirty="0">
                <a:solidFill>
                  <a:srgbClr val="000000"/>
                </a:solidFill>
                <a:latin typeface="Times New Roman" charset="0"/>
              </a:rPr>
              <a:t>- Judges are the “</a:t>
            </a:r>
            <a:r>
              <a:rPr lang="en-GB" sz="2800" b="1" dirty="0">
                <a:solidFill>
                  <a:srgbClr val="000000"/>
                </a:solidFill>
                <a:latin typeface="Times New Roman" charset="0"/>
              </a:rPr>
              <a:t>gatekeepers</a:t>
            </a:r>
            <a:r>
              <a:rPr lang="en-GB" sz="2800" dirty="0">
                <a:solidFill>
                  <a:srgbClr val="000000"/>
                </a:solidFill>
                <a:latin typeface="Times New Roman" charset="0"/>
              </a:rPr>
              <a:t>” of scientific evidence.</a:t>
            </a: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charset="0"/>
              </a:rPr>
              <a:t>Must determine if the science is reliable </a:t>
            </a:r>
            <a:endParaRPr lang="en-GB" sz="2400" dirty="0">
              <a:solidFill>
                <a:srgbClr val="000000"/>
              </a:solidFill>
              <a:latin typeface="Times New Roman" charset="0"/>
            </a:endParaRPr>
          </a:p>
          <a:p>
            <a:pPr marL="1801813" lvl="3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Has </a:t>
            </a:r>
            <a:r>
              <a:rPr lang="en-GB" sz="2400" b="1" u="sng" dirty="0">
                <a:solidFill>
                  <a:srgbClr val="000000"/>
                </a:solidFill>
                <a:latin typeface="Times New Roman" charset="0"/>
              </a:rPr>
              <a:t>empirical testing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 been done?</a:t>
            </a:r>
          </a:p>
          <a:p>
            <a:pPr marL="2259013" lvl="4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b="1" i="1" dirty="0">
                <a:solidFill>
                  <a:srgbClr val="000000"/>
                </a:solidFill>
                <a:latin typeface="Times New Roman" charset="0"/>
              </a:rPr>
              <a:t>Falsifiability</a:t>
            </a:r>
            <a:endParaRPr lang="en-GB" sz="2400" i="1" dirty="0">
              <a:solidFill>
                <a:srgbClr val="000000"/>
              </a:solidFill>
              <a:latin typeface="Times New Roman" charset="0"/>
            </a:endParaRPr>
          </a:p>
          <a:p>
            <a:pPr marL="1801813" lvl="3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Has the science been subject to </a:t>
            </a:r>
            <a:r>
              <a:rPr lang="en-GB" sz="2400" b="1" u="sng" dirty="0">
                <a:solidFill>
                  <a:srgbClr val="000000"/>
                </a:solidFill>
                <a:latin typeface="Times New Roman" charset="0"/>
              </a:rPr>
              <a:t>peer review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?</a:t>
            </a:r>
          </a:p>
          <a:p>
            <a:pPr marL="1801813" lvl="3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Are there known </a:t>
            </a:r>
            <a:r>
              <a:rPr lang="en-GB" sz="2400" b="1" u="sng" dirty="0">
                <a:solidFill>
                  <a:srgbClr val="000000"/>
                </a:solidFill>
                <a:latin typeface="Times New Roman" charset="0"/>
              </a:rPr>
              <a:t>error rates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? </a:t>
            </a:r>
          </a:p>
          <a:p>
            <a:pPr marL="1801813" lvl="3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Is there </a:t>
            </a:r>
            <a:r>
              <a:rPr lang="en-GB" sz="2400" b="1" u="sng" dirty="0">
                <a:solidFill>
                  <a:srgbClr val="000000"/>
                </a:solidFill>
                <a:latin typeface="Times New Roman" charset="0"/>
              </a:rPr>
              <a:t>general acceptance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?</a:t>
            </a:r>
            <a:endParaRPr lang="en-GB" sz="28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charset="0"/>
              </a:rPr>
              <a:t>Federal Government and 26(-ish) States are “Daubert States” 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231775" y="2286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“Legal” Science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65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139397" y="533400"/>
            <a:ext cx="8852204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Aside: How statistics took off in </a:t>
            </a:r>
          </a:p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charset="0"/>
              </a:rPr>
              <a:t>Forensic Science</a:t>
            </a:r>
          </a:p>
        </p:txBody>
      </p:sp>
      <p:sp>
        <p:nvSpPr>
          <p:cNvPr id="8196" name="Rectangle 5"/>
          <p:cNvSpPr>
            <a:spLocks noChangeArrowheads="1"/>
          </p:cNvSpPr>
          <p:nvPr/>
        </p:nvSpPr>
        <p:spPr bwMode="auto">
          <a:xfrm>
            <a:off x="139397" y="1467040"/>
            <a:ext cx="8849723" cy="11506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charset="0"/>
              </a:rPr>
              <a:t>DNA profiling was not only successful, it was a scientific home run!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160697" y="5418648"/>
            <a:ext cx="88284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So let’s just apply statistics to everything else in forensic science, … right … ????</a:t>
            </a:r>
            <a:endParaRPr lang="en-GB" sz="2400" b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39397" y="2504871"/>
            <a:ext cx="8849723" cy="256024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Lots of testable theory behind it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(Relatively) easy to get simple data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Not to tough to explain to the general public</a:t>
            </a:r>
          </a:p>
          <a:p>
            <a:pPr marL="887413" lvl="1" indent="-323850"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It was backed by research $$$$ </a:t>
            </a:r>
            <a:r>
              <a:rPr lang="en-GB" sz="2400" i="1" dirty="0">
                <a:solidFill>
                  <a:srgbClr val="000000"/>
                </a:solidFill>
                <a:latin typeface="Times New Roman" charset="0"/>
              </a:rPr>
              <a:t>before</a:t>
            </a:r>
            <a:r>
              <a:rPr lang="en-GB" sz="2400" dirty="0">
                <a:solidFill>
                  <a:srgbClr val="000000"/>
                </a:solidFill>
                <a:latin typeface="Times New Roman" charset="0"/>
              </a:rPr>
              <a:t> it made it to forensic science.</a:t>
            </a:r>
          </a:p>
        </p:txBody>
      </p:sp>
    </p:spTree>
    <p:extLst>
      <p:ext uri="{BB962C8B-B14F-4D97-AF65-F5344CB8AC3E}">
        <p14:creationId xmlns:p14="http://schemas.microsoft.com/office/powerpoint/2010/main" val="259733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231775" y="457200"/>
            <a:ext cx="86074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Aside: Statistics for DNA in a Nutshell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990600" y="1447800"/>
            <a:ext cx="7239000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0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Statistics justify DNA profiling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Probability that unrelated people have the </a:t>
            </a:r>
            <a:r>
              <a:rPr lang="en-US" sz="2800" b="1" i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same DNA profile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800" b="1" i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is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800" b="1" i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so remote as to be considered a practical impossibility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90600" y="3619500"/>
            <a:ext cx="7239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30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Overview of how it works: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Measure the frequency of different </a:t>
            </a:r>
            <a:r>
              <a:rPr lang="en-US" sz="28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alleles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at 13 designated </a:t>
            </a:r>
            <a:r>
              <a:rPr lang="en-US" sz="28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loci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 in a “representative random sample” of a population</a:t>
            </a:r>
          </a:p>
        </p:txBody>
      </p:sp>
    </p:spTree>
    <p:extLst>
      <p:ext uri="{BB962C8B-B14F-4D97-AF65-F5344CB8AC3E}">
        <p14:creationId xmlns:p14="http://schemas.microsoft.com/office/powerpoint/2010/main" val="371890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231775" y="473075"/>
            <a:ext cx="86074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charset="0"/>
              </a:rPr>
              <a:t>Aside: Statistics for DNA in a Nutshell</a:t>
            </a:r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990600" y="1524000"/>
            <a:ext cx="7086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055" name="Rectangle 5"/>
          <p:cNvSpPr>
            <a:spLocks noChangeArrowheads="1"/>
          </p:cNvSpPr>
          <p:nvPr/>
        </p:nvSpPr>
        <p:spPr bwMode="auto">
          <a:xfrm>
            <a:off x="838200" y="1385888"/>
            <a:ext cx="7086600" cy="211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Nature seems to obey </a:t>
            </a:r>
            <a:r>
              <a:rPr lang="en-US" sz="28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Hardy-Weinberg</a:t>
            </a: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and </a:t>
            </a:r>
            <a:r>
              <a:rPr lang="en-US" sz="28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linkage </a:t>
            </a:r>
            <a:r>
              <a:rPr lang="en-US" sz="2800" b="1" dirty="0" err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equilibria</a:t>
            </a:r>
            <a:endParaRPr lang="en-US" sz="2800" b="1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These Laws of inheritance state that allele frequencies are </a:t>
            </a:r>
            <a:r>
              <a:rPr lang="en-US" sz="24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statistically independent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898650" y="3665538"/>
          <a:ext cx="52911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68600" imgH="203200" progId="Equation.3">
                  <p:embed/>
                </p:oleObj>
              </mc:Choice>
              <mc:Fallback>
                <p:oleObj name="Equation" r:id="rId2" imgW="2768600" imgH="203200" progId="Equation.3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3665538"/>
                        <a:ext cx="52911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838200" y="4051300"/>
            <a:ext cx="7086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Multiply frequencies of alleles to get </a:t>
            </a:r>
            <a:r>
              <a:rPr lang="en-US" sz="2200" b="1" u="sng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frequencies of genotypes</a:t>
            </a:r>
            <a:r>
              <a:rPr lang="en-US" sz="22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at the chosen 13 loci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2200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Multiply frequencies of 13 genotypes to get </a:t>
            </a:r>
            <a:r>
              <a:rPr lang="en-US" sz="2200" b="1" u="sng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frequency of profiles</a:t>
            </a:r>
            <a:r>
              <a:rPr lang="en-US" sz="22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in the population</a:t>
            </a:r>
            <a:endParaRPr lang="en-GB" sz="2200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2400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12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990600" y="1447800"/>
            <a:ext cx="7086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838200" y="1066800"/>
            <a:ext cx="7086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>
              <a:solidFill>
                <a:srgbClr val="000000"/>
              </a:solidFill>
              <a:latin typeface="Times New Roman" charset="0"/>
            </a:endParaRP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Say there are only two alleles for each locus, </a:t>
            </a:r>
            <a:r>
              <a:rPr lang="en-US" sz="2200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</a:t>
            </a:r>
            <a:r>
              <a:rPr lang="en-US" sz="220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and </a:t>
            </a:r>
            <a:r>
              <a:rPr lang="en-US" sz="2200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</a:t>
            </a:r>
          </a:p>
          <a:p>
            <a:pPr marL="887413" lvl="1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200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Also say they all he the population frequencies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000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= 70%</a:t>
            </a: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000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</a:t>
            </a:r>
            <a:r>
              <a:rPr lang="en-US" sz="200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= 30%</a:t>
            </a:r>
            <a:endParaRPr lang="en-GB" sz="200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240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231775" y="396875"/>
            <a:ext cx="860742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Aside: A Simple Model</a:t>
            </a:r>
          </a:p>
        </p:txBody>
      </p:sp>
      <p:pic>
        <p:nvPicPr>
          <p:cNvPr id="1331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89275"/>
            <a:ext cx="58674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Rectangle 10"/>
          <p:cNvSpPr>
            <a:spLocks noChangeArrowheads="1"/>
          </p:cNvSpPr>
          <p:nvPr/>
        </p:nvSpPr>
        <p:spPr bwMode="auto">
          <a:xfrm>
            <a:off x="3810000" y="6421438"/>
            <a:ext cx="1671638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Number of Loci</a:t>
            </a:r>
            <a:endParaRPr lang="en-US"/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 rot="-5400000">
            <a:off x="402432" y="4461668"/>
            <a:ext cx="21463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Probability of Profile</a:t>
            </a:r>
            <a:endParaRPr lang="en-US"/>
          </a:p>
        </p:txBody>
      </p:sp>
      <p:sp>
        <p:nvSpPr>
          <p:cNvPr id="13322" name="Rectangle 12"/>
          <p:cNvSpPr>
            <a:spLocks noChangeArrowheads="1"/>
          </p:cNvSpPr>
          <p:nvPr/>
        </p:nvSpPr>
        <p:spPr bwMode="auto">
          <a:xfrm>
            <a:off x="4395788" y="3297238"/>
            <a:ext cx="18526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 genotypes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endParaRPr lang="en-US" i="1"/>
          </a:p>
        </p:txBody>
      </p:sp>
      <p:sp>
        <p:nvSpPr>
          <p:cNvPr id="13323" name="Rectangle 13"/>
          <p:cNvSpPr>
            <a:spLocks noChangeArrowheads="1"/>
          </p:cNvSpPr>
          <p:nvPr/>
        </p:nvSpPr>
        <p:spPr bwMode="auto">
          <a:xfrm>
            <a:off x="4495800" y="4059238"/>
            <a:ext cx="17621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 genotypes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endParaRPr lang="en-US" i="1"/>
          </a:p>
        </p:txBody>
      </p:sp>
      <p:sp>
        <p:nvSpPr>
          <p:cNvPr id="13324" name="Rectangle 14"/>
          <p:cNvSpPr>
            <a:spLocks noChangeArrowheads="1"/>
          </p:cNvSpPr>
          <p:nvPr/>
        </p:nvSpPr>
        <p:spPr bwMode="auto">
          <a:xfrm>
            <a:off x="5486400" y="5486400"/>
            <a:ext cx="178752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 genotypes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endParaRPr lang="en-US" i="1"/>
          </a:p>
        </p:txBody>
      </p:sp>
      <p:sp>
        <p:nvSpPr>
          <p:cNvPr id="13325" name="Rectangle 15"/>
          <p:cNvSpPr>
            <a:spLocks noChangeArrowheads="1"/>
          </p:cNvSpPr>
          <p:nvPr/>
        </p:nvSpPr>
        <p:spPr bwMode="auto">
          <a:xfrm>
            <a:off x="4862513" y="4841875"/>
            <a:ext cx="3519487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Genotypes a mix of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,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r>
              <a:rPr lang="en-US">
                <a:solidFill>
                  <a:schemeClr val="tx1"/>
                </a:solidFill>
                <a:latin typeface="Times New Roman" charset="0"/>
                <a:cs typeface="Times New Roman" charset="0"/>
              </a:rPr>
              <a:t> and </a:t>
            </a:r>
            <a:r>
              <a:rPr lang="en-US" i="1">
                <a:solidFill>
                  <a:schemeClr val="tx1"/>
                </a:solidFill>
                <a:latin typeface="Times New Roman" charset="0"/>
                <a:cs typeface="Times New Roman" charset="0"/>
              </a:rPr>
              <a:t>aa</a:t>
            </a:r>
            <a:endParaRPr lang="en-US" i="1"/>
          </a:p>
        </p:txBody>
      </p:sp>
      <p:cxnSp>
        <p:nvCxnSpPr>
          <p:cNvPr id="13326" name="Straight Arrow Connector 17"/>
          <p:cNvCxnSpPr>
            <a:cxnSpLocks noChangeShapeType="1"/>
          </p:cNvCxnSpPr>
          <p:nvPr/>
        </p:nvCxnSpPr>
        <p:spPr bwMode="auto">
          <a:xfrm rot="10800000" flipV="1">
            <a:off x="4129088" y="3490913"/>
            <a:ext cx="280987" cy="0"/>
          </a:xfrm>
          <a:prstGeom prst="straightConnector1">
            <a:avLst/>
          </a:prstGeom>
          <a:noFill/>
          <a:ln w="22225">
            <a:solidFill>
              <a:srgbClr val="813F57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7" name="Straight Arrow Connector 18"/>
          <p:cNvCxnSpPr>
            <a:cxnSpLocks noChangeShapeType="1"/>
          </p:cNvCxnSpPr>
          <p:nvPr/>
        </p:nvCxnSpPr>
        <p:spPr bwMode="auto">
          <a:xfrm rot="10800000" flipV="1">
            <a:off x="2590800" y="4240213"/>
            <a:ext cx="1957388" cy="0"/>
          </a:xfrm>
          <a:prstGeom prst="straightConnector1">
            <a:avLst/>
          </a:prstGeom>
          <a:noFill/>
          <a:ln w="22225">
            <a:solidFill>
              <a:srgbClr val="8E7C3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8" name="Straight Arrow Connector 20"/>
          <p:cNvCxnSpPr>
            <a:cxnSpLocks noChangeShapeType="1"/>
          </p:cNvCxnSpPr>
          <p:nvPr/>
        </p:nvCxnSpPr>
        <p:spPr bwMode="auto">
          <a:xfrm rot="10800000" flipV="1">
            <a:off x="3505200" y="5029200"/>
            <a:ext cx="1398588" cy="0"/>
          </a:xfrm>
          <a:prstGeom prst="straightConnector1">
            <a:avLst/>
          </a:prstGeom>
          <a:noFill/>
          <a:ln w="22225">
            <a:solidFill>
              <a:srgbClr val="26FA2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9" name="Straight Arrow Connector 22"/>
          <p:cNvCxnSpPr>
            <a:cxnSpLocks noChangeShapeType="1"/>
          </p:cNvCxnSpPr>
          <p:nvPr/>
        </p:nvCxnSpPr>
        <p:spPr bwMode="auto">
          <a:xfrm rot="10800000">
            <a:off x="3581400" y="5638800"/>
            <a:ext cx="1981200" cy="26988"/>
          </a:xfrm>
          <a:prstGeom prst="straightConnector1">
            <a:avLst/>
          </a:prstGeom>
          <a:noFill/>
          <a:ln w="22225">
            <a:solidFill>
              <a:schemeClr val="accent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4572000" y="4695825"/>
            <a:ext cx="44196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aa × 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AA × AA × aa ×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 ×  aa × </a:t>
            </a:r>
            <a:r>
              <a:rPr lang="en-US" sz="1100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2</a:t>
            </a:r>
            <a:r>
              <a:rPr lang="en-US" sz="1100" i="1">
                <a:solidFill>
                  <a:schemeClr val="tx1"/>
                </a:solidFill>
                <a:latin typeface="Times New Roman" charset="0"/>
                <a:ea typeface="Calibri" charset="0"/>
                <a:cs typeface="Times New Roman" charset="0"/>
              </a:rPr>
              <a:t>Aa</a:t>
            </a:r>
            <a:endParaRPr lang="en-US" sz="1100">
              <a:solidFill>
                <a:schemeClr val="tx1"/>
              </a:solidFill>
              <a:ea typeface="Calibri" charset="0"/>
              <a:cs typeface="Times New Roman" charset="0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2246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/>
      <p:bldP spid="13321" grpId="0"/>
      <p:bldP spid="13322" grpId="0"/>
      <p:bldP spid="13323" grpId="0"/>
      <p:bldP spid="13324" grpId="0"/>
      <p:bldP spid="13325" grpId="0"/>
      <p:bldP spid="133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990600" y="1524000"/>
            <a:ext cx="7086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US" sz="12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231775" y="777875"/>
            <a:ext cx="86074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Aside: DNA Profiling is a Bad Analogy </a:t>
            </a:r>
          </a:p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for other forms of Physical Evidence!!!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304800" y="1600200"/>
            <a:ext cx="85344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Alleles are like subclass characteristics (R. Nichols)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b="1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Subclass characteristics</a:t>
            </a: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: A subset of characteristics common to some but not all objects of the same class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92100" y="3390900"/>
            <a:ext cx="8534400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Not all categories of physical evidence (most?!) have: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Well defined subclass characteristics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Finite number of subclass characteristics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92100" y="5473700"/>
            <a:ext cx="8534400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Makes computation of “frequencies” difficult if not impossible</a:t>
            </a:r>
          </a:p>
        </p:txBody>
      </p:sp>
    </p:spTree>
    <p:extLst>
      <p:ext uri="{BB962C8B-B14F-4D97-AF65-F5344CB8AC3E}">
        <p14:creationId xmlns:p14="http://schemas.microsoft.com/office/powerpoint/2010/main" val="217507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6" descr="1798 Copper Cent Die Brea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6629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143000" y="838200"/>
            <a:ext cx="7010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buFont typeface="Arial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   Tool marks, footwear, tires can have subclass characteristics, but they are notoriously difficult to ID</a:t>
            </a:r>
          </a:p>
          <a:p>
            <a:r>
              <a:rPr lang="en-US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 </a:t>
            </a:r>
          </a:p>
          <a:p>
            <a:endParaRPr lang="en-US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endParaRPr lang="en-US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	</a:t>
            </a:r>
          </a:p>
          <a:p>
            <a:endParaRPr lang="en-US" dirty="0">
              <a:solidFill>
                <a:schemeClr val="tx1"/>
              </a:solidFill>
              <a:latin typeface="Times New Roman" charset="0"/>
              <a:cs typeface="Times New Roman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5389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52400" y="1722518"/>
            <a:ext cx="8534400" cy="15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Individual characteristics more common 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Difficult to characterize them and measure their frequencies of occurrence!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263589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" y="2915800"/>
            <a:ext cx="8534400" cy="1761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Features of physical evidence can be mutable over time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Allelic frequencies are assumed not to change!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" y="4392856"/>
            <a:ext cx="8534400" cy="2411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charset="0"/>
            </a:endParaRPr>
          </a:p>
          <a:p>
            <a:pPr marL="1344613" lvl="2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8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Statistical independence for the frequencies of the selected physical evidence features may be difficult or impossible to prove.</a:t>
            </a:r>
          </a:p>
          <a:p>
            <a:pPr marL="1801813" lvl="3" indent="-323850">
              <a:lnSpc>
                <a:spcPct val="100000"/>
              </a:lnSpc>
              <a:spcBef>
                <a:spcPts val="800"/>
              </a:spcBef>
              <a:buFont typeface="Times New Roman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US" sz="2400" dirty="0">
                <a:solidFill>
                  <a:schemeClr val="tx1"/>
                </a:solidFill>
                <a:latin typeface="Times New Roman" charset="0"/>
                <a:cs typeface="Times New Roman" charset="0"/>
              </a:rPr>
              <a:t>Combining of individual probabilities into a product “profile” would not be justified.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31775" y="777875"/>
            <a:ext cx="8607425" cy="89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Aside: DNA Profiling is a Bad Analogy </a:t>
            </a:r>
          </a:p>
          <a:p>
            <a:pPr algn="ctr">
              <a:lnSpc>
                <a:spcPct val="100000"/>
              </a:lnSpc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charset="0"/>
              </a:rPr>
              <a:t>for other forms of Physical Evidence!!!</a:t>
            </a:r>
          </a:p>
        </p:txBody>
      </p:sp>
    </p:spTree>
    <p:extLst>
      <p:ext uri="{BB962C8B-B14F-4D97-AF65-F5344CB8AC3E}">
        <p14:creationId xmlns:p14="http://schemas.microsoft.com/office/powerpoint/2010/main" val="421694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39887" y="3064659"/>
            <a:ext cx="8686800" cy="181777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process of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data analysis is a craft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Carefully consider the problem and choose appropriate methods.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The are usually many approaches…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So What </a:t>
            </a:r>
            <a:r>
              <a:rPr lang="en-GB" sz="4000" i="1" u="sng" dirty="0">
                <a:solidFill>
                  <a:srgbClr val="000000"/>
                </a:solidFill>
                <a:latin typeface="Times New Roman" pitchFamily="18" charset="0"/>
              </a:rPr>
              <a:t>Can</a:t>
            </a: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 We Do?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9890" y="1142742"/>
            <a:ext cx="8686800" cy="181777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Practitioners and data/metrology experts work together to quantify their problems</a:t>
            </a: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Note: some problems are not quantifiable, but it needs to be clearly articulated why.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39890" y="4995056"/>
            <a:ext cx="8686800" cy="139727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Write up analysis as an S.O.P. if it makes sense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Forensic science is messy. Much analysis may remain bespoke to the case and </a:t>
            </a:r>
            <a:r>
              <a:rPr lang="en-GB" sz="2200" i="1" u="sng" dirty="0">
                <a:solidFill>
                  <a:srgbClr val="000000"/>
                </a:solidFill>
                <a:latin typeface="Times New Roman" pitchFamily="18" charset="0"/>
              </a:rPr>
              <a:t>not “S.O.P.-able”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1455779" y="6350000"/>
            <a:ext cx="64412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Science by the numbers isn’t always possible, … and boring.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313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Any time an observation is made, one is making a “</a:t>
            </a: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measurement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”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Measurement and Randomness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905000"/>
            <a:ext cx="86868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+mj-lt"/>
              <a:buAutoNum type="arabicPeriod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b="1" dirty="0">
                <a:solidFill>
                  <a:srgbClr val="000000"/>
                </a:solidFill>
                <a:latin typeface="Times New Roman" pitchFamily="18" charset="0"/>
              </a:rPr>
              <a:t>Experimental error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 is inherent in every measurement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632" y="3134556"/>
            <a:ext cx="7924800" cy="8705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0713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Refers to </a:t>
            </a:r>
            <a:r>
              <a:rPr lang="en-GB" sz="2600" u="sng" dirty="0">
                <a:solidFill>
                  <a:srgbClr val="000000"/>
                </a:solidFill>
                <a:latin typeface="Times New Roman" pitchFamily="18" charset="0"/>
              </a:rPr>
              <a:t>variation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 in observations between repetitions of the same experiment.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4241960"/>
            <a:ext cx="7315200" cy="482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0713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It is </a:t>
            </a:r>
            <a:r>
              <a:rPr lang="en-GB" sz="2600" u="sng" dirty="0">
                <a:solidFill>
                  <a:srgbClr val="000000"/>
                </a:solidFill>
                <a:latin typeface="Times New Roman" pitchFamily="18" charset="0"/>
              </a:rPr>
              <a:t>unavoidable</a:t>
            </a: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 and many sources contribute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28600" y="4953000"/>
            <a:ext cx="8686800" cy="1219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6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+mj-lt"/>
              <a:buAutoNum type="arabicPeriod" startAt="2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Error in a statistical context is a </a:t>
            </a:r>
            <a:r>
              <a:rPr lang="en-GB" sz="2600" u="sng" dirty="0">
                <a:solidFill>
                  <a:srgbClr val="000000"/>
                </a:solidFill>
                <a:latin typeface="Times New Roman" pitchFamily="18" charset="0"/>
              </a:rPr>
              <a:t>technical term</a:t>
            </a:r>
            <a:r>
              <a:rPr lang="en-GB" sz="2600" baseline="30000" dirty="0">
                <a:solidFill>
                  <a:srgbClr val="000000"/>
                </a:solidFill>
                <a:latin typeface="Times New Roman" pitchFamily="18" charset="0"/>
              </a:rPr>
              <a:t>BHH</a:t>
            </a:r>
          </a:p>
        </p:txBody>
      </p:sp>
    </p:spTree>
    <p:extLst>
      <p:ext uri="{BB962C8B-B14F-4D97-AF65-F5344CB8AC3E}">
        <p14:creationId xmlns:p14="http://schemas.microsoft.com/office/powerpoint/2010/main" val="410003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010585"/>
            <a:ext cx="8686800" cy="2514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Experimental error is a form of randomness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Randomness: inherent unpredictability in a process</a:t>
            </a:r>
          </a:p>
          <a:p>
            <a:pPr marL="1992313" lvl="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The the outcomes of the process follow a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probability distribution</a:t>
            </a:r>
            <a:endParaRPr lang="en-GB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Measurement and Randomness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11435" y="3273359"/>
            <a:ext cx="8636343" cy="208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lvl="1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Statistical tools are used to both:</a:t>
            </a:r>
          </a:p>
          <a:p>
            <a:pPr marL="1535113" lvl="2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Describe the randomness</a:t>
            </a:r>
          </a:p>
          <a:p>
            <a:pPr marL="1535113" lvl="2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Make inferences taking into account the randomness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2813" y="5265518"/>
            <a:ext cx="8636343" cy="1549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7913" lvl="1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Careful!:</a:t>
            </a:r>
          </a:p>
          <a:p>
            <a:pPr marL="1535113" lvl="2" indent="-514350">
              <a:spcBef>
                <a:spcPts val="800"/>
              </a:spcBef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Bad data, assumptions and models lead to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garbage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(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GIGO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438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31775" y="746125"/>
            <a:ext cx="8760987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Study of relationships in data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Descriptive Statistics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– techniques to summarize data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E.g. mean, median, mode, range, standard deviation, stem and leaf plots, histograms, box and whiskers plots, etc.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Inferential Statistics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– techniques to draw conclusions from a given data set taking into account  inherent randomness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E.g. confidence intervals, hypothesis testing, Bayes’  theorem, forecasting, etc.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68648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dirty="0">
                <a:solidFill>
                  <a:srgbClr val="000000"/>
                </a:solidFill>
                <a:latin typeface="Times New Roman" pitchFamily="18" charset="0"/>
              </a:rPr>
              <a:t>What is Statistics??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3312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310890"/>
            <a:ext cx="8686800" cy="269557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For the Sciences, we ask: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How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precise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are our measurements? 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How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accurate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might our measurements be?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Are the differences in measurements characterizing two (or more) objects real or just due to randomness?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32067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Why do we use statistical tools?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4006460"/>
            <a:ext cx="8686800" cy="2933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563563" lvl="1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Furthermore, for the Forensic Sciences we ask: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Do two pieces of evidence originate from a common source?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For this, we must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at least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answer the above. </a:t>
            </a:r>
          </a:p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32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185056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Frequency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ratio of the number of observations of interest (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3200" i="1" baseline="-250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 to the total number of observations (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Frequency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535238" y="2820341"/>
          <a:ext cx="430688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3100" imgH="393700" progId="Equation.3">
                  <p:embed/>
                </p:oleObj>
              </mc:Choice>
              <mc:Fallback>
                <p:oleObj name="Equation" r:id="rId3" imgW="1943100" imgH="3937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2820341"/>
                        <a:ext cx="4306887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3695054"/>
            <a:ext cx="8686800" cy="2869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Probability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(frequentist): frequency of observation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in the limit of a very large number of observations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We will almost always use this definition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It is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EMPIRICAL!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375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E00B29F2-DDF6-4A40-9135-E523D38F9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Frequency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DC8314D-CCE4-734B-9A46-BDD45C127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>
            <a:extLst>
              <a:ext uri="{FF2B5EF4-FFF2-40B4-BE49-F238E27FC236}">
                <a16:creationId xmlns:a16="http://schemas.microsoft.com/office/drawing/2014/main" id="{9169AB6B-7235-C64D-B79C-1CB59E139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953" y="3834603"/>
            <a:ext cx="6893170" cy="146116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lvl="1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6600" dirty="0" err="1">
                <a:solidFill>
                  <a:srgbClr val="000000"/>
                </a:solidFill>
                <a:latin typeface="Times New Roman" pitchFamily="18" charset="0"/>
              </a:rPr>
              <a:t>Pr</a:t>
            </a:r>
            <a:r>
              <a:rPr lang="en-GB" sz="6600" dirty="0">
                <a:solidFill>
                  <a:srgbClr val="000000"/>
                </a:solidFill>
                <a:latin typeface="Times New Roman" pitchFamily="18" charset="0"/>
              </a:rPr>
              <a:t>(  roll a 3 ) = ??</a:t>
            </a:r>
          </a:p>
        </p:txBody>
      </p:sp>
      <p:pic>
        <p:nvPicPr>
          <p:cNvPr id="3074" name="Picture 2" descr="data:image/jpeg;base64,/9j/4AAQSkZJRgABAQAAAQABAAD/2wCEAAkGBwgHBgkIBwgKCgkLDRYPDQwMDRsUFRAWIB0iIiAdHx8kKDQsJCYxJx8fLT0tMTU3Ojo6Iys/RD84QzQ5OjcBCgoKDQwNGg8PGjclHyU3Nzc3Nzc3Nzc3Nzc3Nzc3Nzc3Nzc3Nzc3Nzc3Nzc3Nzc3Nzc3Nzc3Nzc3Nzc3Nzc3N//AABEIAUYBRgMBEQACEQEDEQH/xAAbAAACAwEBAQAAAAAAAAAAAAAAAQIDBQYEB//EAEEQAAICAgAEAwQHBgQFBAMAAAABAgMEEQUSITEGQVETMmFxIkJSgZGhsRQjJGJywTNDc9ElNVOCkhVjk+EWNET/xAAaAQEBAQEBAQEAAAAAAAAAAAAAAQIDBQQG/8QALhEBAAICAQQABAYCAwEBAAAAAAECAxEEBRIhMRMiQVEUMjNCYXEjUhWBoTSR/9oADAMBAAIRAxEAPwD7iAAAAAAAAAAAAAAAABTdk00rdtkY/NhuuO9vUPBfxzHr2q4ym/wJuH1U4OS3t5J+IZfUpj97HdDvHT4+sq34gv8AKuv8x3L/AMfT7mvEF3nXD8x3QT0+v3Tj4hf1qU/kx3QzPT4/2Xw4/U9KdE18i7hzng2+kvRXxrDn0cpQf80Q5Tw8seoemvMx7Pcurf8A3BxtiyV9wvTDn6CAYAAAAAAAAAAAAAAAAAAAAAAAAAAAAAAAAAAAAHhzOJ4+LtOXPP0iw+jFxsmT+IYmXxnItbUJKEH5Iz3PRxcOlfflnSslN7k9mdy+yKxCtthrRpl0LKKHfNxT16s1Wky5ZcsYq7e9Y1Ff1N/FnWMdYeXfmZJnwOeEeigl8ka7YfPOa8/VZXPZdM/Et93ohqfRpP7hMHxLfdZ+xVWdHXBmNQ3HIyR9Vc8C2D/hbZ1NeW3pkmrvTkxPi8beL/1PPx5uE7duL001smn2fhsOSNxD01cfuX+JVGXy6E05W6fWfUvVXx/Hlr2ldkfl1GnC3AyR6l66+KYdna+K/q6DThbi5q/R6oW12L6FkJfKWyOU0tHuEwyAAAAAAAAAAAAAAAAAAAAAAAAAAAA8eZxHHxU1KXNP7Me4d8XHvk9emDm8Xvv3GL9nD0j/ALkmXp4eHSnmfMs2U2+5jb7IrpFsjWi2AuZFXRqSNJpdTc6ZqcHp/qaidOOTHF41LQjl0WxSk+R/kdYtEvMycO8flLki/dnB7/mRrcPlnDkj3CcIOPp+I2z2W+y+nUXzTlFL4sTJ8O0+oeqObjVrcrYv00ZluOPkn6PLk8Zgv8KLb9WSNQ+rFwbT5tLEutdk3OT229sky9WlIiNQr5ibb0fMJTQ59Gdr2hWyj1TaLtJpEvRVxHKra9ndYvh3G9uN+Njt7h66eO50e8PafOH+wfPbg4J+unsq8QT/AM3DmvjEjhbgR+272V8bxJe+rK/6oFcJ4eWPXl6q8/Ft9zIrfw5kNONsGWvusvQpJ9nsjkNgMAAAAAAAAAAAAAAAADyZfEMfFT9pNOX2Y9WHbFgvk9Qw83jN1+41/u4+ifUky9LDw6V828suc2+rbMzL7YrEIbI0iyNFGE7HqEW/kNTPpLXrWN2lfHAufvNR+Zv4cy+aebjhOPDpPvavwL8KXOeoUj6GuFy8siL/AO3/AOzXw5hP+Sp9jfC79/RshJfgXslqOoYp9wqnhZVa3ybS84vZmYmHWvJw3+qhWP4om3fshPnfqXadkE7G/MHZBc7KvbBbYXUEFAAAa29EhJnUNGrDrhXGU1ts6RV5mfmTE6qsTjFrlil9xrUPityL29ysjZL1ZdOU2mVim35hNythFy8tg7pj0uWBVbFuyqL+7qYnTrTkZKepeDPxbcBxnRdNRb7c3Ymno4Mtc/i8K6uL5tfezmX8y2Tw3bh4bfR7qfEEv82pP4xehqHzX6f/AKy08biWNkaULEpP6suhNPjycfJT3D2EcAAAAAAAAAAtgefKzKcaPNZNb+yu4dceG+SfEMLN41bbuNK9nH82NxD0sPCrXzbzLKnZKb222zEy+6KxCDI0CqXQgekxo20sB1+x5Y6U/P4n0U1p5nMreZ39ErU472jo81GmaXdgXppvoBbDq+hEaFNa9nua7mJlGJxyFHND2airN/S16EtD1+DbJqYt6ZGjD0gAFAAAABsinFpMMzG3upzYqCham16o3Fnn5uF3eYWc9c+sbEv6lo1Fnw24uSppP7cPxLuGPgX+yyuST+lKOvma2fh8n2e6nMxal9Oab9EYWOLln6FbxumHSuEmTw704F59sfMzrMqe7H0XZehmbPRw8euONVeZyJt20TloztdErdPaHcvZto8P41djtRk+evfuvy+RqJiXx5+FW/mPEumw8ynLr56pfNeaEw8bLitinVoekjmAAAAAIznGEXKTSS82FiJmdQxeIcYabhjvS+0XxD0MHD+tmFddKyTcpbb9TE2enSkV9KmzDeib0VdI8/XSTb+AVNVXy92mbLqfsxOTHHuySxcl96mvm0WK2lieThj9weNkR/ym/kO2YSORhn1KHPOt6knFr4aES6fLb0vrzbNcrkpJfa6mq3lxvxcdvcLFlR864/czp3uE8Gn0SWbFLpX+Ze9PwFUo8ScOsIRXzHc1HAojbxPJsWvaNL4Ge77OteJjr9HjlNvu22ZfRFYj0gGgwpALYFkMe6xbjB69WPLnbNjp7lbHAsfv2Rj+Ze2XC3PxQmuGOX+ev/EfDlznqVf9U/8A0l+V6++I+HKf8lX/AFD4Rka3CcZfkO2Wo6hin28+Ri5ON1uraXquqM6l9OPNjyfllWpsOnbB87CaguZkk0XMxtrRNk2aRc0Tua7VUrCbaiqtzZG9JRmypNXtwc2zFtjOuWmvzOlZ+j5s2CuSupdpgZkMzHVlff6y9GWY0/O5sU4r9svURyAABC2yNUHOb0kI8rWs2nUOb4pxGV7aj0rT7FtOnr8bjRTz9WHblxUustnCcnl6VMMoRyq2/eJFolucVoWKyL7aLtjtW41auujCT0mbrG5c815pSZhpciq+jCPKkfRFYh4mTPe0+UXJ+bZrThtbXLoEWx6sD2V1QnH6cE/uMSReY9SryOE41sNez5W/OPRmZrD6MXMy0n3tzuTS8e+dTltxet+pjWnt47/ErFleyumiKABoAACoeiG1uNGuN8ZWrcF3NV9ueSbTWYq07YNrmr04eWjo8K9bxPzKG2iuYUmvNkHpp5mEa1FeoRZiWVeffj1UyjZKLbWuXvsPowYslrRMOWlGO3pdPIxp7sTOkH3I2i2SVhW5fEy1EKbLGuxzmXSKqJZOve6HPv06xjRVyk+hYttezSyJ1iGE0jcQm0lLlKzrbb8O53sMpQk/oWdH/Y6R5h5vPwd9Nx7h2Jh4IATaSbfRIDneK5zts5Yv6C7I1Ph6vGwdsbn2w8n2lraT5YnC25enj7avDZhyitx0znNH01zRPt5Wmm00YdomJCk49nou9ExE+1kcq2DXXZe+YYthrbw0sfjjUVG+HMvXzO1eR93nZul1t5rL1x4lh2dVZKL9GjvGasvht0zNHpdVlY2v8eP4M131cZ4OaPouWXjRaftd/JF7oZ/BZfs9K4zi1x0oyk/wMTaG46fkn3LzZHHLbVy1JQXr5me6H0Y+BWs7t5ZU588nJvbfmyb2++tdRqEGGwUBFLmSKaSjGc/di39wZtetfcprHyH2rbGpcvxGL7n+y5flRJ/IeT8Rh/2HsMqK26LNfIm5WMuKfVhG+6rr9OH4ovfME1pZZ+3WPvqXzRfiOduLjn3B/tj+xD8B8SWPwWP7Jx4jbH3dL7h8Q/BYvsVnEMife2WvTZO+W68bHH0eedsn1bJ3S7RSIV87JtvSMp6J3NRVVKwky1FVM7PiYmXSKqJ2bfQzM7dYqr9m59zE0213dqUKNNMtcekm+3qij6Kw4ylo2haLoW0ScZpp609lq53jcafQMO32+LVb9qKZmY1L8tmr2XmHoI5svjuX7DHVaf0rP0G9Ps4eLvvv7OZcnJ7ZmZexEaJ9SNIy1sLCqyMJLqiTDdZmHlnjQ7pnOaO0ZJUyx2uzTM9kusZIVOqS8jM1lqLQg4teo01Eo6a7NhfCSnNdpM1uU7apxyLF9bZe6UnHVNZc17yT+RYv92Zwx9E45sfrJmovDE4JXRyoP6xvvhicVoWRujLs0XuhiaTCXMmXaalp4WPX7FWaUp/HyOlYjTyuXnvFu2PS5vr2Z0edNpNMMra5ddAe6lbRGXp9jGcNTW0ZWLTE7hkcZ4bjV0e2rXs577LzMTWHp8Pk5LW7Z8ww30MvULZFLY2ukXNLuNrEK5WpGdtRVTO1epnbcUUyt9CbdYojqUxETK+IWwq13NxRibLIpI1FWZk9F0h9jUIChpNlRbCOmIYmXZ+Hp8/DYLfutoX9vzvOjWaWmzD5HJ8cv9txCcV1UPoozL3OHj7cUfyz+bRH16QlYTbUVVStENxRU7GzTcVRdnQLpHmJpdDnJo0G4vyHavlB1wfkTshe6YJ46fZk7F+JKDx38GTsa+JCDpkvIna13wrlFryM6aiYR0NNGm16iE8JwutS2pNr4mu+YZmlXsxeKXUP1XobrmmHzZuHTJHloVcapmv3lbi/gdozRPt5mTpNv2yvjxHFl/ma+aNfEq+W3Ts0LI5+Knv2qL3wn4DL9nqr41i1ru5Em8H/ABuWUbfEi5dVQivizM3q706X/tLKyuJTyZbssb/QzN9vvxcWuOPlh5XkR85GJs7xjlCWTBEm0NRilXLKXkZ724xSpllN+6Ju3GLXtW5yb94zuZb7YNRcixGyZiFsKtHSKOc2XKKRuIY2ZUAAA0VE1E1EMzKaiaZ2ku4SXV+F5bwrF6Wf2M3eF1GP8kT/AA2JtRi5Pslsw+CI3OnB5FvPdObfWUmznMv0+OmqxDzzsI7RVU5Mm29K5NlhqIR2zTWi5i7NFzEhdDmKaHMDRbYNJxkVJhNSIzo9kQaT8kTUHlGVUX5CYhYtKuVEW/Mna3F5QdEjPavfCDrkvIabi0INaJMNImVHUA6+oPA7+YB1AGQCAEgbWRr2WKszZbGrR1irnNlsYpG4rpiZ2ZpDAAABpGtJtOKLEMzK6muVsuSuLlJ+Rr053vFY3L2T4VlqvmUYvz0n1MTL5q8zFNtPBF9evfzLEvrdT4Uf8Pkf1r9CW8xDxOpR89WnxSz2WBfP0gzMvj49e7LWHBTls5S/URCpsztsARZYVFrRpraI2pNFgIqgAANlDUtESYS5iGklMM6S5gmi5gaPmTIaJtA0i+XrtDTXlVOMX2ZJrDcTKpxWzEw3tHQXZ6Gg9DQGidqEo7JpZldCvzOkVc5stSOnaxtM0yAAAAEiiSRUNFROCcpKKW2zTNp1G3S4GJHFqW9ObX0n/Ykvz/J5E5LePT21fS6EfLE+XO8ao9lnSklpT+kSHu8PJ34tfZs+E/8AAyP61+gs+Hqf5qvV4lnycJs15yS/Mxb049PrvPDiG2cn6OCIr14ODPMn06QXeWi1rNnzcjk1wx/LosfhmJQly1RlLzcurO0UiHjZOZlv9Vr4bjW+9VH8C9sMRyslfUszP8Prlcsbo/TyMTSfo+3B1CY8Wc/fTOmbhZFxa9TES9fHlreNwpZuHaCAAAoADYUEQbZJg0fMQ0OYGicmDSLDUIkUtDSjRDYKgANEldrsdJvr2FY8uWSV84pPodYhzidolUwAoaQDKgKGRDRYGjwWj2uVzy7Vrf3lfDzsnZj1HuWtkWtS0mHgPbhQlypsIyfE0f31PxTJHt7HTp+Wz3eE1/DX/wBa/Ql3z9T/AD1/pPxbLXC0vWyP9znf0z0yN5/+nGnJ+hEerS9egS06jbq+H0qmiMUtJLqfRXxGn5vkX77zMvQ7OXubfMvompog9SW1rQRmca4ZDMofLFKce0jFq7fZxeTOK38OJsi4TlGS1JPTRiH6WlotG4QK2CgAABhR5ALZADQBoBAhoDQ0paIBhSQAQIki6h9S1YvC+T2dXKIJIKGAIokVAggKGQBob/AIfw1kkuspaDxepX+eIe54zlYm0HltOivlrWyDn/FE1+00xXdQe/xEe3sdOj5Jl7vCi1h3P/3P7IX+j5upz88f0j4yesCletv9mcr+mulR/ln+nInJ76eNr9oq39tfqI9uWX8kuvj9GKPrfmLe3lvsewwvwrOgGtU9ozKG4gcT4mxlRxHaWo2R5vvOcxqX6PpuWb4tT9GQV6JAAAAMA38AEFAAQAAAAIik0AIikwEQTp94R7Zs9OjpDkGUBYF2Nj2ZE+WqO35+iK5ZMtccbtL2X8Hyqq3ZqM0lt8rG3z4+divOmeuxX1mQADN6SXT+HofwMH6yZJ9vB6hO80tlU9UyPPW6S0vIyOM4zesjiNsl1UXyr7jcQ/Q8TH2YYbvhZfwNn+p/ZC/t5vUv1Y/p5/Gb/h8eP87f5HC/p26VHz2coc3thNqSku6ewTG406/GsV+NCyPVNH1RO42/MZ6dl5iVdlfMyuD0Y1TiuwGlQvUzKLJdWSByHjKSeVTFd1F7/Ezb293pMfJMueD1wUAB2ARFAAAABnQCgKAgABgLQlSaMqiyCVb1JBLQ9W+h0hxLZVWY9Ur7Y1QX0pPSLDnkvFKzafo6vExq8WlQguq7v1Nafm8+e2W0zL1V7kuqQcImYlynE6fYZ1taWk3zfiSPs/Sca/fiiXlK+gAM3COo8LTjLEnW/ehPf3MzZ4fUq6yRb7t1vSMPNeHi+asLEl1/ezWoIsQ+ni4Jy3j7OP6723t+Z0iH6GHVeGOnD5f6j/RGcnt4fUf1f+ni8aP6GKvjI4X9Po6V7s5g5vaIK0+DZ6x5+xtf7uXZ+jOlL68S8/ncb4kd1fboocsmpJ7R2eFasxPl66tPXQMvStIiFN8sXL0C62+f8bzFm8QnZD3F9GPxRzmfL9RwsPwsMRPt4CvrBQAD7BSIABhCYUEAUAA0AAIgApMBGVOPcErt9CuRx7moJbfh6hOVmQ17v0V/c6R6eR1PLqsU+7SusbnypleK0cStqC33COc8SrXEv+xGY9y9/p36LKK+8FDRUevhuZPByVbDqu0o/aRZjb5uThjNTUt+zxFR7Pddc3LXZoxqXlU4F5tqZ8MDJybMy522y2/JeiNxGnrYsVcVe2qs06Ot8NrXDl8Zs5ZPbweofrM3xj72N8mcb+n19K/c5k5vaAB07+YR7sDidmLLU9zh6ehuttPl5HDrljceJdBicawLEuax1y81NHXuiXk5OBmr6jb028c4bSv/ANhSfpBNsndDnXgci37XPcZ4/bmwdOPF1Uvvv3pf7GZtt6vE6fXFPdfzP/jD8xt6cEIUGgmgo0A0AAIgAAAAAAAAQCIoARFNdwizyKylA1DNnV8Er1w6Cj3k22bj0/OdQtvNL1Qxf3u36lfA1K4csEZRyPiWSlxWSX1YpCH6Hp0awMs0+4AAEkzUIaZU0mmVlJBHX+H1rhkP6mcr+35/n/rSy/GPW2hfys5X9Pu6V6s5lnJ7JBTCFoKNdNBCa+ZdhaJtRosSqD7nSGiKAoAAACkAEAAAAAAAAEWRQAEAu4Eyspw7moZl23BYfwNGuzhs3D8vy53ls040pS2R8icmoptvpFbCx58Q4HOu/aMy63ylPp8jUQ/U4KdmOtVAdQAANAARNM1EszCcWVJdlwBf8Lq+O3+Zzyfmfneb5zyx/F7/AImlfyHK/p6HS4+SXNyOT2IRQUwGEAUgEAmWFQfc3DUEaAUIKAAAACAAAAAAAEwpEAAhKmu4hJTDKcTUMy7fw3ZG7hlaXvV7izT8xzqduad/VrfIj5GP4h4hHGxJUQl++s6aXkix7ffweNOS/fPqHII298ym1qx7nDnVM3H15WY3DnOWkTrasrYAAGgJRfU1DMu34GtcLo+X9znf2/N8z9ezC8XP+MrXpWv1Od3qdL/Tn+3PSOT1YRIoKABgLYBsKQEZG6rCOzcNAoQAAAAAAgGQAAAARZFAAAMSoj3EJKwMpR7GoZlqcG4pLhtstxc6p+9Hf5o0+Hl8SM9f5hr5XiWr2X8PXNyf2uiDz8fTbb+f052++y+2VlsnKUu7NvYpStK9tYRK01+D8OU4rIvXT6kX+pLeXl83lzWeyrdrUdcqRnTyZtO9ud43ixoylOC5YzXb4iJ+j2uDmm9dSzjT7wQAEo9ywku64Mv+F439Bi3t+Z5X61v7c74sf/EEvStHK71umR/i/wC2Azm9QgoIAoQUyIQUGhFmoWEUnJpJNt9tGolZnXlq4nAMq6KlZKNSfk+rNRt8GXqOKk6jyts8N3r/AA7oy/7dDUudeqUn3DNysDIxH+9raXquqJv7vtxcjHk/LLzFdwwABBTCAgADyAXQigBADChdwkplZTiaZlMsICokjaL8Kl5OTXUu0n1+Qcc2T4dJs6e6aqgowSSS0kjL8za02ncrcFysk3ojLw+KIJUVS8+b+xPq9Lps/PLnDT2wAwGmGZd7wla4bjf6aMT7fmOT+tb+3M+Kn/xJ/wCnE53ez0z9H/thM5vTgiAACgIoCEFKRqFhBm1dB4fwIKCyLEnKXu/A1WHi9Q5UzPZVvc67HR4+1tT32CbSuxqr4ONkU9/AkxEt0yWpO4cpxzgrxN3UbdXmvQzrT3eFzfifJb2xA9QAIBgAAAmAiSpkCANAOPcEplhlOPY3DMpbKgRQywjX8O1p322fYjpfeWZeZ1K+scV+7VuqnOWktGXhNHCq5IEGX4sa/ZqV58/9ifV6fS4/yS5ku3tggCiSKku/4etYGOvSuP6GJ9vyued5bf3LlfFPXik1/LH9Dnd7fTf0GKzm9KESKAAAAApMogzUNQSW2a2lp8O1xIKuiCXZROsQ/KZrTN52LrOXsacFmHZvzA069NERC+iN1coTW1JaI3S80t3Q+e8QxniZltD+q+nyMv1nHyRlxxZ5g7ABgAABFhQQMBEA2ALuCVhYZSibhmUioEUS8ywjoPDMN13S/mS/IS8bqk/NWG/7Dck0jLyHpjHljomzblfFdyll1Up+5HbXzD2+mU1SbfdiIPTAAUNdwkvoeJHWJSvSuP6GJfk8k7vM/wAuQ8TPfFbflH9DF3vdO/QhjSOb0SCggAABBSZYEWbhqAmaJ9Ozw7Pa4dc15xR1jzD8pyaduSYV3xK+dPEg4vr2CNfG7EkWyIOL8WwjHiaa+tWtk+r9F0uZnDr+WGSXpgA8gEQAUAAQEUgAAXcEplhlOJuGTKAokWGXS+EWpwyavNOMkSzxuqx5rZ0q6LXoZeRKF1saapW2NKEVtsLSs2tFY9y4HLyJZWVZfL673r0QfqcOOMdIrH0VB0IBoCUVuSRqGbPo1S1XBekUc35K3uXFeJf+bXfJfojnZ+i6d+hDIZh6BABAFAQIKGUQZuGoR0Ub/hzNSX7JY9ddw/2OtJ+jyOo8ff8Akhtyr2+pp4b01UxREeyEVFdAmja33Irg/Et6v4tZp7UEokfp+nY5pgjf1ZZH3AAARABTCABABFISBdyCRpFkexuGZSKhANMqPdwnPlw/Nhck3DtNeqE+ny8rB8fHNfq7F8VwXT7WOTXy/wBX9jL8/wDhc0W7ZrLmuNcYec1TT0oT/wDIPY4fDjF81vbJK+9Oqqd1irrW5MjF71pXuluY3BaeT985Sk/TsNPJydRtv5PTwcT4c8OxOvbrl2b8iR7fbxuV8aNT7ebHjzXVr1kv1OkQ75J1WZfRF2RyflHD+JP+bX/d+iOV/b9J0/8AQqyWZfeQAAABAgoKFrZpdjlKbLcoNSg9ST2magmItGpdBw3jSnqvIaUuyl5M6beLyuBMfNR0dD54qUGmvgXTyb1ms6l60ml1Mue2NxzjlOFVKnHnGzJa107Q+LK9Dh8K+W0WvGquIk3Jtye23tsj9LEajwRFAAAgABkAAAJkUhIEQSRqEWI6QwYAAeZQwhoIlEiJBHQcHxVRje2sj9Oz8kV4XOz99+2PUNCFic0kHnq+MUqeDOT7x6mZ+76+HfWWGBw6PNm0LX10dHsZ51jt/Tvji/MuE8Sf83v+79Ecr+36Xp//AM9WWZfcQAAAACCgoaACojI1CwSR1hXpx776P8G2cPlI6xDhfHS/5o2ttzsu2OrMm5r05izEaYrx8VZ3FYeFnOX1QiYUmRQAABAgGAAACCkSQIgmjdWU0bZMAAEUPQQwiSIi7Fr9tkV1r60kHLNfspNnT3vkhpdivy8zudpcPrcpcz7hl6OLR1w25+kTMvo4v61XO8GjzcSx1/Ns6fR7PLnWG0u4OL844TxJ/wA4v+79Ecr+36Xp/wD89WWYfcRQAAAAgoKAAKEzdQ4o6wSsidYZlCTMzKxCtmJbIyAgQUAAAQAAAgBkUgoQSU0ahlNG2T2BHfUBpgSKhkRJBGhwSPNnw+CbD4edOsMumlRzL5lfnpenFqUF20Q28/H5qvhti856QjzL6uFXeaGL4br5uJRl9lN/kbt+WXo9QtrD/bsDi8Jw3iePLxe34qL/ACOV/b9H02d8eGSYegSAAAoABhSKAAAGbqGjrVJSOiISMy1CBhomRS2QNlCARFDYAmDQ2AtkB3AAoXcJKS7lhE0dGZSrhK2ahBNyk9JEZtaKRuXR4HA6IRi8mPtJtefRIa+7xM/UbzOsfiFHGuEVU0vIxlpR9+O/IR4duHzbXt2XYiK9U0ESRUlq+G1zcRcf5Hr8jUvP6j+jv+XX1wXKto57fn5WpJdEQc74oyOayvHi/dXNL5m6x9Xr9Ox6ibyn4Vp+lda/JKKLk8Rpjqd/VXRnJ5TjfF1fLxCM9dJVo55Hv9LtvDMfywTm9Q9gIAKABBQIAUBQFgNHWqJHREWhKwrZzluCZFLRAdii2qm26Wqq5Tf8q2NsWyVpHzTpbPh+XD3sea+4m3OOTin1Z5ZQlFtSi016obh2i0T6RDQACKAAAXcJKaNRKGjbMug8PYiVbyrIrr0hv8xDxep5/Pw4bHtY82k+pXjr8ilW4lkZdnEzLpiv23iXCNcsmvR6LE+H6uPMbMqmiwkvdwjJWJn03S91PUvky29Pl5eOcmKaw7vaaTT2n6HJ+Y9eJefOzK8Ol2T1za+jH1Gtu2HDOa3bDjsi2V98rZ9ZSe2fTEah+gpSKUisfR1vA8f2HD69rUp/SZxyTuzwuXk78s/w0Tm+VzfjGluqi5Ls3FmL+nrdKvq1quU2ctvdIAAAAoRdKAAmwFAWA0dqokdIQNdBIpl3OcukF3IoCNDhPDnm2bm9Vp9fiI8vj5fLjDHj26yimmitQrgoxXotGoiH57JmtedzK+MYS7xX4Fc+6VOXwujLg04LfrozasS7YuVfHPiXJcW4Rdgvn1upvv6GfMe3vcTmVzRr6swj7yCmNoRNqaKhlhE4pyail1b0jbNp1G3aRr/Z8SFUenLBI0/JZr915sWFW52NyT2mHJq2Q/cyT7aMrX80Pnc9Oyf9TJE+H6+vqCRYlUjUSykjW0mGph8ZzMalVQsUoLspLeh2w+LLwsOS3dMeVF+VblWc903JliNOlMVccarC7huO8rKrr8m+vwRvfbG3PkZIx45s7iCUYqK7Loj5X5uZ3O5SAz+O437Vw26CX0kuZfcSY3D6eHk+HmiXz99z5/q/VQCgAAEFBQFAAABYEjrVDO0ITfQkimRyl0gkFSQZnw63hFPscSteetstYfmuZk78kvXZPl2zb4k8a7n7ge+vqiIhl48MimVc4pprqmTW3THkmlu6Hz7iWLLEzLKtaSfT5GH6rjZYy44s8jMvoDCgBruWEkywj1cPjz52PH1sRuHHkTrFaf4dz7Hni2zT8jPtbjU609ERLiN3sMK+19owbI64K9+WtXznfXZh+uNFEjW2T2aRZFmmZWR+RpiXXeHMD9nod9i+nZ2T8kc8lt+Hg87P327I9Q2Tm+AAKS2uoHA8cwv2LPnBLUJfSg/gcbxqX6fhZ/i4omfbOMvsLZNqBsA2AoDUAACgLoNHSqJHaERl2JKqpHKW4Iimgzb07XBaeLBrruKOlfT8pyImMk7V5LeiuAxJPm0EbGO+xJJXtEghyPjLHUbqbl3kmjFnu9JvMxNXMsy9oaIABo0g2Ue7g7S4ni77OxI3Evl5cT8C+vs+g1R78wflJWLUewZYHi/LVWFDGi/pXNb+SMy9TpeHuyTf7OOMv0KS6G0lIqJIqJxT7moYmW/wDhTyJxyL1+5i9xX2n/sLW16eVzeXFI7K+3WJaWjk8QwAAAzuM8OjxDFcO1kesJfH0JMbh9PF5M4L7+jhMiidF0q7YuMovTTPnmNS/T48kXr3VUsm3QGQthSTLCpJnSGTKA0AoaOlUSOsIT7ElY9qpHKW4RIoA6fw9kq3F9jtc9fT7jdZ8Pz/AFHB237vu0bK+boaeXKyjH5evmwjQphyrr3MyLe7IjkPGt276al5JtmLvf6RT5Zs5ky9kEDKGagAE6rJVWwsj70JKS+aNQ53rFqzWfq+k4OVXmYld9b3GS/B+aLt+QzY7Ysk0sWZl04dLuuklFLt6lkxYbZbdtXA8Tzp8Qy53T7dor0Rj6v1PGwRgxxSHmLp3NBJSRqEX42PbkWqumuU5vySNOOTLWkbtOnUcL8Owq5bM1qcv+muy/3JNvs8Xk9Rm3y4/Efd0EYqMUopJLskYeXM78ykAAAAAAZ/FOFUcQh9NctiX0Zokxt9PH5V8E+PTjOI8LyMCbV0Po76TXZnCaafoePyseaPlny8EjnL6olFjTRJlhTTRuElI1CDZpBssCSOtUlI6IUuxJWFUjlLcIkUtkF2Jk2Yl8ban1XdeqEW1LlmxVy17bOvwc+jMgpR0pecfNHWLRL85yOLbFP8NKqS6aD49PVHsSUQzMqrDx533zUYxX4/IjWLHbLeKUh844lmSzsyeRLa5n0XovJHKZ3L9dx8MYccUh5SO4AZQFgMoCj1YXEcvB5v2W5wUurj3T+4bfPm42LN+eNo5ebk5s1LJtlN+SfZfcPbWLBjxRqkaUIOqaLDMpRTbSSbb7aNMzMN/hfhu/I1ZmbqqfXl+s/9ht5XJ6lSny4/M/8Ajq8PDow61Xj1qEfzZNvEyZb5Z3eXoI5gAAAAAAAACFlcLIOFkVKL6NMLWZrO4YPEPDNFu54kvZS+y+sTE44l6WDqd6+MnmHN53CczD37amXL9qK2vxOc009jDzMWX8ss9xa8jHa+vY7FgPZqJNDZo0WxEmk4PZ2rLMwk5G00g5GdtRCOzMy0izMiJFBFTptnTNTrk4yXmixLF6ReNS2sPxLkVaV9cLF8OjNRf7vMy9Lx2/LOnot8XXaapxoRfk5S2SbudekV/dZh5+flZ9inlWuevdS6KPyRmZl6WDjY8EapDykfQAABgBoBQwAAKhpFGpwvg2XxBp1w9nV/1JrS+71LD4eTzceHxPmfs7DhfBcTAScY89vnZLv93oNvA5HMy5/EzqPs0ktEfIYAAAAAAAAAAAABoBaXoBn5nBsDKe7MeKl9qHR/kTtiX04+ZnxerMrI8I0y60ZE4fCS2ZmkPup1e8fnrtm3+FeIV9anXavg9P8AMnZL7KdVw297hm38Lz8f/FxLkvVQ2vyGn105eG/5bQ8bi09NNP0YiH0RMT6Sj0OlYSUn2Nz6SFZzbLZFISEZUAAAAECAAGAgGAGgFDACo9GHh5Gbaq8aqU5eeuy+bK5Zs9MNd3nTreE+F6cflszWrrF9TX0V/uHg8nql7/Lj8Q6KMYxioxSSS0kkHlTO/MmAAAAAAAAAAAAAAAAAAAAAALQFN2JRetXU1zX80Uw3TJen5ZmGff4c4bbvVHs/9OTRdvrp1HkV/dv+3gv8Jw/yMuS9FOO/zLFn006rb91WZkeF8+G3X7O7+mWv1JM7fZTquCfe4Zl/C86jftcS2K9eXa/Izp9tOVhv+W0PHL6L1JafoyPoid+iGlBAEAAiAKGQBQDQNF0AAKJ11ztmoVRlOT7KK22Vi161jdp06XhXhWdmrOIycI/9KPd/NlePyeqxHy4vP8urxsWnFrVePXGuC8ooPEyZL5Ld152uDAAAAAAAAAAAAAAAAAAAAAAAAAAAAAAWgDSApuw8a9aux6rP6oJh0plyU/LMwzr/AA3wu3esf2bf/Tk0NPqp1Lk1/dv+2bf4OqfWjLnF+k4pk0+unWb/ALqs6/wnxCv/AApVWr4PT/Mmn106tgt7iYZ9/B+I0f4mJakvOK5v0Jp9dObx7+rw8U4ShLlnFxfo1oPpraLeYIKC6AAwgA9GNw/MynqjGsnvz1pfiXTjk5OLH+a0N3A8JXT1LNuVa+xDq/xGnmZ+r1jxijf9umwOGYmBHWNTGL85vrJ/eV4+bk5c0/PL2aDgYAAAAAAAAAAAAAAAAAAAAAAAAAAAAAAAAAAAAAAAAFdtNdq1ZXCa9JRTDVbWr+WXht4Hwy7fNhUp+sVy/oTUPorzeTX1eXmn4X4VL/KnH+mxjtdo6pyY+v8A4j/+KcL37tv/AMg7V/5Xk/eP/wAWQ8NcLh//ADuX9U2xpi3UuTP7tPbRw3Bx9exxKYNeagtl0+e/JzX/ADWl61rXRBxMAAAAAAAAAAAAAAAAAA//2Q==">
            <a:extLst>
              <a:ext uri="{FF2B5EF4-FFF2-40B4-BE49-F238E27FC236}">
                <a16:creationId xmlns:a16="http://schemas.microsoft.com/office/drawing/2014/main" id="{4625EC43-92CB-DD4E-BDAD-5C6881610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441" y="1562230"/>
            <a:ext cx="1726092" cy="172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45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Frequency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772884"/>
            <a:ext cx="8686800" cy="185056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lvl="1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Roll a “fair” die 1000 times (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= 1000). What is the frequency of obtaining 3 (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800" i="1" baseline="-25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= ?)?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8505" y="2053256"/>
            <a:ext cx="5758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Let’s do this with </a:t>
            </a:r>
            <a:r>
              <a:rPr lang="en-US" sz="2400" u="sng" dirty="0">
                <a:latin typeface="Times New Roman"/>
                <a:cs typeface="Times New Roman"/>
              </a:rPr>
              <a:t>simulation</a:t>
            </a:r>
            <a:r>
              <a:rPr lang="en-US" sz="2400" dirty="0">
                <a:latin typeface="Times New Roman"/>
                <a:cs typeface="Times New Roman"/>
              </a:rPr>
              <a:t> (</a:t>
            </a:r>
            <a:r>
              <a:rPr lang="en-US" sz="2400" b="1" dirty="0">
                <a:latin typeface="Times New Roman"/>
                <a:cs typeface="Times New Roman"/>
              </a:rPr>
              <a:t>Monte Carlo</a:t>
            </a:r>
            <a:r>
              <a:rPr lang="en-US" sz="2400" dirty="0">
                <a:latin typeface="Times New Roman"/>
                <a:cs typeface="Times New Roman"/>
              </a:rPr>
              <a:t>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594" y="3141086"/>
            <a:ext cx="9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In 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12748" y="5389910"/>
            <a:ext cx="1202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>Result: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8532" y="2678245"/>
            <a:ext cx="7020191" cy="1569660"/>
          </a:xfrm>
          <a:prstGeom prst="rect">
            <a:avLst/>
          </a:prstGeom>
          <a:solidFill>
            <a:srgbClr val="000C78"/>
          </a:solidFill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Sample from 1 through 6, 1000 times:</a:t>
            </a: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n    &lt;- 1000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samp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 &lt;- sample(c(1,2,3,4,5,6), size=n, replace=T)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samp</a:t>
            </a:r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endParaRPr lang="en-US" sz="1600" dirty="0">
              <a:solidFill>
                <a:schemeClr val="bg1"/>
              </a:solidFill>
              <a:latin typeface="Courier"/>
              <a:cs typeface="Courier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sum(</a:t>
            </a:r>
            <a:r>
              <a:rPr lang="en-US" sz="1600" dirty="0" err="1">
                <a:solidFill>
                  <a:schemeClr val="bg1"/>
                </a:solidFill>
                <a:latin typeface="Courier"/>
                <a:cs typeface="Courier"/>
              </a:rPr>
              <a:t>samp</a:t>
            </a:r>
            <a:r>
              <a:rPr lang="en-US" sz="1600" dirty="0">
                <a:solidFill>
                  <a:schemeClr val="bg1"/>
                </a:solidFill>
                <a:latin typeface="Courier"/>
                <a:cs typeface="Courier"/>
              </a:rPr>
              <a:t>==3)/n </a:t>
            </a:r>
            <a:r>
              <a:rPr lang="en-US" sz="1600" dirty="0">
                <a:solidFill>
                  <a:srgbClr val="FFFF00"/>
                </a:solidFill>
                <a:latin typeface="Courier"/>
                <a:cs typeface="Courier"/>
              </a:rPr>
              <a:t># Frequency of rolling a 3 in 1000 rolls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25D0-3F76-6017-6D94-E54F4D2C9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56" y="4498317"/>
            <a:ext cx="4829401" cy="228463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434DD11-C06F-1C51-E6A4-4AD6E6E50E88}"/>
              </a:ext>
            </a:extLst>
          </p:cNvPr>
          <p:cNvSpPr/>
          <p:nvPr/>
        </p:nvSpPr>
        <p:spPr>
          <a:xfrm>
            <a:off x="7176662" y="5087628"/>
            <a:ext cx="7986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n</a:t>
            </a:r>
            <a:r>
              <a:rPr lang="en-GB" sz="2000" i="1" baseline="-25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= 3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DC7EA9-8800-42DB-69F6-E085B9B2C78D}"/>
              </a:ext>
            </a:extLst>
          </p:cNvPr>
          <p:cNvSpPr/>
          <p:nvPr/>
        </p:nvSpPr>
        <p:spPr>
          <a:xfrm>
            <a:off x="6307967" y="5713075"/>
            <a:ext cx="28360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freq</a:t>
            </a:r>
            <a:r>
              <a:rPr lang="en-GB" sz="2000" i="1" baseline="-25000" dirty="0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= 149/1000 = 0.149 </a:t>
            </a:r>
            <a:endParaRPr lang="en-US" sz="2000" dirty="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C3F56094-B959-7ED7-14CA-45E7D239D71D}"/>
              </a:ext>
            </a:extLst>
          </p:cNvPr>
          <p:cNvSpPr txBox="1"/>
          <p:nvPr/>
        </p:nvSpPr>
        <p:spPr>
          <a:xfrm>
            <a:off x="7610003" y="4220257"/>
            <a:ext cx="817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dice6.R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11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 animBg="1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F9F50AA-F9F3-13CC-EFD8-572B26F61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Frequency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DF475E-6F49-FF7B-5FB5-031CA0599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340F3954-7AB8-9A9E-5D46-98F7B8CB7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72884"/>
            <a:ext cx="8686800" cy="185056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63563" lvl="1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But that was just one run of 1000 trials. What happens if we vary the number of trials and repeat the process many times</a:t>
            </a:r>
            <a:r>
              <a:rPr lang="en-GB" sz="2800" baseline="30000" dirty="0">
                <a:solidFill>
                  <a:srgbClr val="000000"/>
                </a:solidFill>
                <a:latin typeface="Times New Roman" pitchFamily="18" charset="0"/>
              </a:rPr>
              <a:t>*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2A00C-81B4-64BD-1728-FCAAA4DEC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14" y="2421780"/>
            <a:ext cx="7108371" cy="434400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6E2A5C5-DEA6-8CEC-F239-B35344F3D05A}"/>
              </a:ext>
            </a:extLst>
          </p:cNvPr>
          <p:cNvCxnSpPr>
            <a:cxnSpLocks/>
          </p:cNvCxnSpPr>
          <p:nvPr/>
        </p:nvCxnSpPr>
        <p:spPr>
          <a:xfrm>
            <a:off x="5812971" y="4136574"/>
            <a:ext cx="1970315" cy="1251857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CEA19F-A9C3-B5C7-E359-5706585B3A7D}"/>
              </a:ext>
            </a:extLst>
          </p:cNvPr>
          <p:cNvCxnSpPr>
            <a:cxnSpLocks/>
          </p:cNvCxnSpPr>
          <p:nvPr/>
        </p:nvCxnSpPr>
        <p:spPr>
          <a:xfrm flipH="1">
            <a:off x="1491343" y="4136574"/>
            <a:ext cx="4321628" cy="1436914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069C17-F568-EB9B-2AAE-1DEAC7734ABE}"/>
              </a:ext>
            </a:extLst>
          </p:cNvPr>
          <p:cNvSpPr txBox="1"/>
          <p:nvPr/>
        </p:nvSpPr>
        <p:spPr>
          <a:xfrm>
            <a:off x="3902529" y="3841895"/>
            <a:ext cx="268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approaches 1/6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88957-6F78-9577-B810-9DE1047F5629}"/>
              </a:ext>
            </a:extLst>
          </p:cNvPr>
          <p:cNvSpPr txBox="1"/>
          <p:nvPr/>
        </p:nvSpPr>
        <p:spPr>
          <a:xfrm>
            <a:off x="0" y="6581001"/>
            <a:ext cx="16165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aseline="30000" dirty="0">
                <a:solidFill>
                  <a:srgbClr val="000000"/>
                </a:solidFill>
                <a:latin typeface="Times New Roman" pitchFamily="18" charset="0"/>
              </a:rPr>
              <a:t>*</a:t>
            </a:r>
            <a:r>
              <a:rPr lang="en-GB" sz="1200" dirty="0">
                <a:solidFill>
                  <a:srgbClr val="000000"/>
                </a:solidFill>
                <a:latin typeface="Times New Roman" pitchFamily="18" charset="0"/>
              </a:rPr>
              <a:t>Law of large numbers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7146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229594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Belief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A “Bayesian’s” interpretation of probability. 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Probability is a measure of one’s state of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knowlege</a:t>
            </a:r>
            <a:r>
              <a:rPr lang="en-GB" sz="2800" baseline="30000" dirty="0" err="1">
                <a:solidFill>
                  <a:srgbClr val="000000"/>
                </a:solidFill>
                <a:latin typeface="Times New Roman" pitchFamily="18" charset="0"/>
                <a:hlinkClick r:id="rId3"/>
              </a:rPr>
              <a:t>Jaynes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Belief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3266117"/>
            <a:ext cx="8686800" cy="128663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Bayesian-probabilities reflect degree of belief and can be assigned to any statement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4717715"/>
            <a:ext cx="8686800" cy="1664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Beliefs (probabilities) can be updated in light of new evidence (data) via Bayes’ theorem. </a:t>
            </a:r>
          </a:p>
        </p:txBody>
      </p:sp>
    </p:spTree>
    <p:extLst>
      <p:ext uri="{BB962C8B-B14F-4D97-AF65-F5344CB8AC3E}">
        <p14:creationId xmlns:p14="http://schemas.microsoft.com/office/powerpoint/2010/main" val="389999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799994" y="1200631"/>
            <a:ext cx="20794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Pr(Sprinkler)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5748901" y="1197986"/>
            <a:ext cx="14212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Pr(Rain)</a:t>
            </a:r>
            <a:endParaRPr lang="en-US" sz="2800" dirty="0"/>
          </a:p>
        </p:txBody>
      </p:sp>
      <p:sp>
        <p:nvSpPr>
          <p:cNvPr id="15" name="Rectangle 14"/>
          <p:cNvSpPr/>
          <p:nvPr/>
        </p:nvSpPr>
        <p:spPr>
          <a:xfrm>
            <a:off x="3639816" y="5063733"/>
            <a:ext cx="2213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Pr(Grass Wet)</a:t>
            </a:r>
            <a:endParaRPr lang="en-US" sz="2800" dirty="0"/>
          </a:p>
        </p:txBody>
      </p:sp>
      <p:pic>
        <p:nvPicPr>
          <p:cNvPr id="2" name="Picture 1" descr="rain_net.tif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5" t="7722" r="4814" b="7913"/>
          <a:stretch/>
        </p:blipFill>
        <p:spPr>
          <a:xfrm>
            <a:off x="1559950" y="1753332"/>
            <a:ext cx="6129363" cy="3340988"/>
          </a:xfrm>
          <a:prstGeom prst="rect">
            <a:avLst/>
          </a:prstGeom>
        </p:spPr>
      </p:pic>
      <p:pic>
        <p:nvPicPr>
          <p:cNvPr id="6" name="Picture 5" descr="rain_net_ev.tif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" t="7085" r="3467" b="7502"/>
          <a:stretch/>
        </p:blipFill>
        <p:spPr>
          <a:xfrm>
            <a:off x="1546141" y="1737142"/>
            <a:ext cx="6163050" cy="3402043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6074143" y="4542085"/>
            <a:ext cx="2549707" cy="778758"/>
            <a:chOff x="6074143" y="4542085"/>
            <a:chExt cx="2549707" cy="778758"/>
          </a:xfrm>
        </p:grpSpPr>
        <p:cxnSp>
          <p:nvCxnSpPr>
            <p:cNvPr id="16" name="Straight Arrow Connector 15"/>
            <p:cNvCxnSpPr/>
            <p:nvPr/>
          </p:nvCxnSpPr>
          <p:spPr>
            <a:xfrm flipH="1" flipV="1">
              <a:off x="6074143" y="4542085"/>
              <a:ext cx="1256242" cy="331340"/>
            </a:xfrm>
            <a:prstGeom prst="straightConnector1">
              <a:avLst/>
            </a:prstGeom>
            <a:ln w="38100" cmpd="sng">
              <a:solidFill>
                <a:srgbClr val="008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7272198" y="4674512"/>
              <a:ext cx="135165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You observe</a:t>
              </a:r>
            </a:p>
            <a:p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grass </a:t>
              </a:r>
              <a:r>
                <a:rPr lang="en-GB" i="1" u="sng" dirty="0">
                  <a:solidFill>
                    <a:srgbClr val="000000"/>
                  </a:solidFill>
                  <a:latin typeface="Times New Roman" pitchFamily="18" charset="0"/>
                </a:rPr>
                <a:t>is</a:t>
              </a:r>
              <a:r>
                <a:rPr lang="en-GB" dirty="0">
                  <a:solidFill>
                    <a:srgbClr val="000000"/>
                  </a:solidFill>
                  <a:latin typeface="Times New Roman" pitchFamily="18" charset="0"/>
                </a:rPr>
                <a:t> wet.</a:t>
              </a:r>
              <a:endParaRPr lang="en-US" dirty="0"/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773074" y="2567867"/>
            <a:ext cx="73165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73074" y="2926823"/>
            <a:ext cx="73165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7722996" y="2507549"/>
            <a:ext cx="73165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722996" y="2866505"/>
            <a:ext cx="731654" cy="0"/>
          </a:xfrm>
          <a:prstGeom prst="straightConnector1">
            <a:avLst/>
          </a:prstGeom>
          <a:ln w="381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47093" y="3211104"/>
            <a:ext cx="19522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Other probabilities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are </a:t>
            </a:r>
            <a:r>
              <a:rPr lang="en-GB" i="1" dirty="0">
                <a:solidFill>
                  <a:srgbClr val="000000"/>
                </a:solidFill>
                <a:latin typeface="Times New Roman" pitchFamily="18" charset="0"/>
              </a:rPr>
              <a:t>updated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 given </a:t>
            </a:r>
          </a:p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the observation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B51F4D9-2492-FDC2-B9FF-8EE924470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Belief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52269-9974-CAD5-3638-5603F2C47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5958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5498FE4-742B-791D-864E-7ACB90477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Belief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38FAC6-2E7F-5575-25EF-7DFB61614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4" name="Picture 3" descr="painter.network_with_evidence_entered.tiff">
            <a:extLst>
              <a:ext uri="{FF2B5EF4-FFF2-40B4-BE49-F238E27FC236}">
                <a16:creationId xmlns:a16="http://schemas.microsoft.com/office/drawing/2014/main" id="{6F06FF49-D943-A9C9-FB44-D4B9FD422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465"/>
            <a:ext cx="9144000" cy="48316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A4205E-BBF7-4600-BD24-AB45084E2AC3}"/>
              </a:ext>
            </a:extLst>
          </p:cNvPr>
          <p:cNvSpPr/>
          <p:nvPr/>
        </p:nvSpPr>
        <p:spPr>
          <a:xfrm>
            <a:off x="135468" y="6187215"/>
            <a:ext cx="891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Bayesian network for the provenance of a painting given trace evidence found on that painting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330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28BD5B-948A-B4EF-899D-065497864BF9}"/>
              </a:ext>
            </a:extLst>
          </p:cNvPr>
          <p:cNvSpPr/>
          <p:nvPr/>
        </p:nvSpPr>
        <p:spPr>
          <a:xfrm>
            <a:off x="1012260" y="3279384"/>
            <a:ext cx="3841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Refractive index of glass shards = </a:t>
            </a:r>
            <a:r>
              <a:rPr lang="en-GB" sz="2000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  <a:endParaRPr lang="en-US" sz="2000" i="1" dirty="0"/>
          </a:p>
        </p:txBody>
      </p:sp>
      <p:pic>
        <p:nvPicPr>
          <p:cNvPr id="3" name="Picture 2" descr="Crime Scene: Density">
            <a:extLst>
              <a:ext uri="{FF2B5EF4-FFF2-40B4-BE49-F238E27FC236}">
                <a16:creationId xmlns:a16="http://schemas.microsoft.com/office/drawing/2014/main" id="{0B83ECFE-1797-E218-D3E1-EB697A213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16009" r="6675" b="14588"/>
          <a:stretch/>
        </p:blipFill>
        <p:spPr bwMode="auto">
          <a:xfrm>
            <a:off x="5609113" y="2619908"/>
            <a:ext cx="2777924" cy="222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1115EA-AD35-5647-725B-68157FDFA65A}"/>
              </a:ext>
            </a:extLst>
          </p:cNvPr>
          <p:cNvSpPr/>
          <p:nvPr/>
        </p:nvSpPr>
        <p:spPr>
          <a:xfrm>
            <a:off x="6209838" y="4871606"/>
            <a:ext cx="21771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wiki.chemprime.chemeddl.org</a:t>
            </a:r>
            <a:r>
              <a:rPr lang="en-US" sz="1000" dirty="0"/>
              <a:t>/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3B02A5FF-8422-4E4B-2946-B547094C5384}"/>
              </a:ext>
            </a:extLst>
          </p:cNvPr>
          <p:cNvSpPr/>
          <p:nvPr/>
        </p:nvSpPr>
        <p:spPr>
          <a:xfrm>
            <a:off x="4772253" y="3238147"/>
            <a:ext cx="1192192" cy="370226"/>
          </a:xfrm>
          <a:custGeom>
            <a:avLst/>
            <a:gdLst>
              <a:gd name="connsiteX0" fmla="*/ 1192192 w 1192192"/>
              <a:gd name="connsiteY0" fmla="*/ 370226 h 370226"/>
              <a:gd name="connsiteX1" fmla="*/ 810228 w 1192192"/>
              <a:gd name="connsiteY1" fmla="*/ 80859 h 370226"/>
              <a:gd name="connsiteX2" fmla="*/ 416688 w 1192192"/>
              <a:gd name="connsiteY2" fmla="*/ 11411 h 370226"/>
              <a:gd name="connsiteX3" fmla="*/ 0 w 1192192"/>
              <a:gd name="connsiteY3" fmla="*/ 277628 h 37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2192" h="370226">
                <a:moveTo>
                  <a:pt x="1192192" y="370226"/>
                </a:moveTo>
                <a:cubicBezTo>
                  <a:pt x="1065835" y="255443"/>
                  <a:pt x="939479" y="140661"/>
                  <a:pt x="810228" y="80859"/>
                </a:cubicBezTo>
                <a:cubicBezTo>
                  <a:pt x="680977" y="21057"/>
                  <a:pt x="551726" y="-21384"/>
                  <a:pt x="416688" y="11411"/>
                </a:cubicBezTo>
                <a:cubicBezTo>
                  <a:pt x="281650" y="44206"/>
                  <a:pt x="94526" y="223613"/>
                  <a:pt x="0" y="277628"/>
                </a:cubicBezTo>
              </a:path>
            </a:pathLst>
          </a:custGeom>
          <a:noFill/>
          <a:ln w="31750"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1505E89-7878-DAC4-649D-7C4145D058C3}"/>
              </a:ext>
            </a:extLst>
          </p:cNvPr>
          <p:cNvSpPr/>
          <p:nvPr/>
        </p:nvSpPr>
        <p:spPr>
          <a:xfrm rot="12194264" flipH="1">
            <a:off x="4697577" y="3861296"/>
            <a:ext cx="1666978" cy="267145"/>
          </a:xfrm>
          <a:custGeom>
            <a:avLst/>
            <a:gdLst>
              <a:gd name="connsiteX0" fmla="*/ 1192192 w 1192192"/>
              <a:gd name="connsiteY0" fmla="*/ 370226 h 370226"/>
              <a:gd name="connsiteX1" fmla="*/ 810228 w 1192192"/>
              <a:gd name="connsiteY1" fmla="*/ 80859 h 370226"/>
              <a:gd name="connsiteX2" fmla="*/ 416688 w 1192192"/>
              <a:gd name="connsiteY2" fmla="*/ 11411 h 370226"/>
              <a:gd name="connsiteX3" fmla="*/ 0 w 1192192"/>
              <a:gd name="connsiteY3" fmla="*/ 277628 h 37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2192" h="370226">
                <a:moveTo>
                  <a:pt x="1192192" y="370226"/>
                </a:moveTo>
                <a:cubicBezTo>
                  <a:pt x="1065835" y="255443"/>
                  <a:pt x="939479" y="140661"/>
                  <a:pt x="810228" y="80859"/>
                </a:cubicBezTo>
                <a:cubicBezTo>
                  <a:pt x="680977" y="21057"/>
                  <a:pt x="551726" y="-21384"/>
                  <a:pt x="416688" y="11411"/>
                </a:cubicBezTo>
                <a:cubicBezTo>
                  <a:pt x="281650" y="44206"/>
                  <a:pt x="94526" y="223613"/>
                  <a:pt x="0" y="277628"/>
                </a:cubicBezTo>
              </a:path>
            </a:pathLst>
          </a:custGeom>
          <a:noFill/>
          <a:ln w="31750"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BDB850E-89C1-C643-398D-F35DDE9E2627}"/>
              </a:ext>
            </a:extLst>
          </p:cNvPr>
          <p:cNvSpPr/>
          <p:nvPr/>
        </p:nvSpPr>
        <p:spPr>
          <a:xfrm rot="20638980">
            <a:off x="4669781" y="2784498"/>
            <a:ext cx="2225822" cy="370226"/>
          </a:xfrm>
          <a:custGeom>
            <a:avLst/>
            <a:gdLst>
              <a:gd name="connsiteX0" fmla="*/ 1192192 w 1192192"/>
              <a:gd name="connsiteY0" fmla="*/ 370226 h 370226"/>
              <a:gd name="connsiteX1" fmla="*/ 810228 w 1192192"/>
              <a:gd name="connsiteY1" fmla="*/ 80859 h 370226"/>
              <a:gd name="connsiteX2" fmla="*/ 416688 w 1192192"/>
              <a:gd name="connsiteY2" fmla="*/ 11411 h 370226"/>
              <a:gd name="connsiteX3" fmla="*/ 0 w 1192192"/>
              <a:gd name="connsiteY3" fmla="*/ 277628 h 37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2192" h="370226">
                <a:moveTo>
                  <a:pt x="1192192" y="370226"/>
                </a:moveTo>
                <a:cubicBezTo>
                  <a:pt x="1065835" y="255443"/>
                  <a:pt x="939479" y="140661"/>
                  <a:pt x="810228" y="80859"/>
                </a:cubicBezTo>
                <a:cubicBezTo>
                  <a:pt x="680977" y="21057"/>
                  <a:pt x="551726" y="-21384"/>
                  <a:pt x="416688" y="11411"/>
                </a:cubicBezTo>
                <a:cubicBezTo>
                  <a:pt x="281650" y="44206"/>
                  <a:pt x="94526" y="223613"/>
                  <a:pt x="0" y="277628"/>
                </a:cubicBezTo>
              </a:path>
            </a:pathLst>
          </a:custGeom>
          <a:noFill/>
          <a:ln w="31750"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505CA-C4DE-49B8-7D2F-226FA26F5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069" y="4645333"/>
            <a:ext cx="1920240" cy="27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23841-8BC1-C402-057F-9E8CD1775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483" y="3808799"/>
            <a:ext cx="2485653" cy="2795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AA915-C2F3-5B23-BB21-A905EC6684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256" y="4235360"/>
            <a:ext cx="2468880" cy="2743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339D2B-C8BF-1AAD-2DFD-226EF6E08879}"/>
              </a:ext>
            </a:extLst>
          </p:cNvPr>
          <p:cNvSpPr/>
          <p:nvPr/>
        </p:nvSpPr>
        <p:spPr>
          <a:xfrm>
            <a:off x="1192098" y="1270622"/>
            <a:ext cx="6939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What’s our updated beliefs about the mean RI given a probability model for RI’s and the RI data we observe?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B91D67-4C9A-5107-91D0-6D7D6A189865}"/>
              </a:ext>
            </a:extLst>
          </p:cNvPr>
          <p:cNvSpPr/>
          <p:nvPr/>
        </p:nvSpPr>
        <p:spPr>
          <a:xfrm>
            <a:off x="7496307" y="5703230"/>
            <a:ext cx="16492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b="1" dirty="0">
                <a:solidFill>
                  <a:srgbClr val="000000"/>
                </a:solidFill>
                <a:latin typeface="Times New Roman" pitchFamily="18" charset="0"/>
              </a:rPr>
              <a:t>posterior sample</a:t>
            </a:r>
            <a:endParaRPr lang="en-US" sz="1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1BB310-3A2A-046A-7A12-DF0441644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171" y="5776531"/>
            <a:ext cx="953477" cy="265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7CB547-A58F-06CD-9043-BD7C3987BD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7" y="5792490"/>
            <a:ext cx="6405429" cy="240366"/>
          </a:xfrm>
          <a:prstGeom prst="rect">
            <a:avLst/>
          </a:prstGeom>
        </p:spPr>
      </p:pic>
      <p:sp>
        <p:nvSpPr>
          <p:cNvPr id="15" name="Rectangle 4">
            <a:extLst>
              <a:ext uri="{FF2B5EF4-FFF2-40B4-BE49-F238E27FC236}">
                <a16:creationId xmlns:a16="http://schemas.microsoft.com/office/drawing/2014/main" id="{A2563F09-68FB-5C68-507C-55FC76A4A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Probability: Belief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756C50-C378-4C5C-A694-35999945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11558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8F4E4BCB-8B00-ADDE-8F21-6DCBDDBAC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32E490F-90E6-98CB-3B4F-16F3BCC3557C}"/>
              </a:ext>
            </a:extLst>
          </p:cNvPr>
          <p:cNvSpPr txBox="1"/>
          <p:nvPr/>
        </p:nvSpPr>
        <p:spPr>
          <a:xfrm>
            <a:off x="6023928" y="4780609"/>
            <a:ext cx="17812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beliefs: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CD400FE-D213-5067-80BE-4BFE8750BC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75" b="11401"/>
          <a:stretch/>
        </p:blipFill>
        <p:spPr>
          <a:xfrm>
            <a:off x="685800" y="725349"/>
            <a:ext cx="3552346" cy="3168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94302D-CC73-0E1E-E608-D9F53324B5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394"/>
          <a:stretch/>
        </p:blipFill>
        <p:spPr>
          <a:xfrm>
            <a:off x="5032888" y="914507"/>
            <a:ext cx="3697456" cy="2990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72AFA1-E5F7-CCD9-C010-0067CBFFCA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029"/>
          <a:stretch/>
        </p:blipFill>
        <p:spPr>
          <a:xfrm>
            <a:off x="977916" y="4155482"/>
            <a:ext cx="3176741" cy="24521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045C6B-7DA2-CEA2-2F97-2B9165B6586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946" t="1" r="19625" b="6764"/>
          <a:stretch/>
        </p:blipFill>
        <p:spPr>
          <a:xfrm>
            <a:off x="2663377" y="3817670"/>
            <a:ext cx="189905" cy="253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1E1DD-DE93-A4CD-6ECA-C5582C5C685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946" t="1" r="19625" b="6764"/>
          <a:stretch/>
        </p:blipFill>
        <p:spPr>
          <a:xfrm>
            <a:off x="2565404" y="6571751"/>
            <a:ext cx="189905" cy="253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C90C0C-C18A-F7C9-4287-E037FBEAE11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742" t="1" r="48829" b="6764"/>
          <a:stretch/>
        </p:blipFill>
        <p:spPr>
          <a:xfrm>
            <a:off x="482563" y="1793082"/>
            <a:ext cx="189905" cy="253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61EE93-A6DE-4549-CFA8-8C03DB6924C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742" t="1" r="48829" b="6764"/>
          <a:stretch/>
        </p:blipFill>
        <p:spPr>
          <a:xfrm>
            <a:off x="6556787" y="3839596"/>
            <a:ext cx="189905" cy="2535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676CB95-914E-A2BB-56D1-304F61E553C8}"/>
              </a:ext>
            </a:extLst>
          </p:cNvPr>
          <p:cNvSpPr txBox="1"/>
          <p:nvPr/>
        </p:nvSpPr>
        <p:spPr>
          <a:xfrm>
            <a:off x="5803590" y="4791758"/>
            <a:ext cx="2207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beliefs: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879267-71E7-D95D-3D45-C22EAA6DE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862" y="634741"/>
            <a:ext cx="3455284" cy="32591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360685-BAD0-20D9-6044-6DA04E32F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5195" y="979910"/>
            <a:ext cx="3838455" cy="2786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E99710-2738-21EA-D8F6-FBC033D8E9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391" y="4166368"/>
            <a:ext cx="3455284" cy="2337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99683-13CB-4216-A67E-73BE9602E6B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1742" t="1" r="19625" b="6764"/>
          <a:stretch/>
        </p:blipFill>
        <p:spPr>
          <a:xfrm>
            <a:off x="2426564" y="454609"/>
            <a:ext cx="475352" cy="25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483B1-DBEE-A856-F261-E7E7660B5B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529" y="5242106"/>
            <a:ext cx="1340535" cy="3701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639F78-FA89-9721-66C3-E7B9A9BB07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5226967"/>
            <a:ext cx="4516916" cy="36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6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31775" y="746125"/>
            <a:ext cx="8760987" cy="5715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600" dirty="0">
                <a:solidFill>
                  <a:srgbClr val="000000"/>
                </a:solidFill>
                <a:latin typeface="Times New Roman" pitchFamily="18" charset="0"/>
              </a:rPr>
              <a:t>Study of relationships in data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Descriptive Statistics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– techniques to summarize data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E.g. mean, median, mode, range, standard deviation, stem and leaf plots, histograms, box and whiskers plots, etc.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8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Inferential Statistics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– techniques to draw conclusions from a given data set taking into account  inherent randomness</a:t>
            </a:r>
          </a:p>
          <a:p>
            <a:pPr marL="1344613" lvl="2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E.g. confidence intervals, hypothesis testing, Bayes’  theorem, forecasting, etc.</a:t>
            </a: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231775" y="68648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400" dirty="0">
                <a:solidFill>
                  <a:srgbClr val="000000"/>
                </a:solidFill>
                <a:latin typeface="Times New Roman" pitchFamily="18" charset="0"/>
              </a:rPr>
              <a:t>What is Statistics??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182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52400" y="838200"/>
            <a:ext cx="8686800" cy="5273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lnSpc>
                <a:spcPct val="100000"/>
              </a:lnSpc>
              <a:spcBef>
                <a:spcPts val="800"/>
              </a:spcBef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430213" indent="-323850">
              <a:lnSpc>
                <a:spcPct val="100000"/>
              </a:lnSpc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Population and Sample Representations: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31775" y="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Data and Sampling</a:t>
            </a:r>
          </a:p>
        </p:txBody>
      </p:sp>
      <p:sp>
        <p:nvSpPr>
          <p:cNvPr id="10" name="Oval 9"/>
          <p:cNvSpPr/>
          <p:nvPr/>
        </p:nvSpPr>
        <p:spPr bwMode="auto">
          <a:xfrm>
            <a:off x="533400" y="1752600"/>
            <a:ext cx="3352800" cy="2286000"/>
          </a:xfrm>
          <a:prstGeom prst="ellipse">
            <a:avLst/>
          </a:prstGeom>
          <a:solidFill>
            <a:schemeClr val="accent2">
              <a:alpha val="94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438400" y="2590800"/>
            <a:ext cx="1219200" cy="10668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8200" y="2156732"/>
            <a:ext cx="1739579" cy="510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Population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1621" y="2013866"/>
            <a:ext cx="4939979" cy="1713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Representative </a:t>
            </a:r>
            <a:r>
              <a:rPr lang="en-GB" sz="2000" b="1" dirty="0">
                <a:solidFill>
                  <a:srgbClr val="000000"/>
                </a:solidFill>
                <a:latin typeface="Times New Roman" pitchFamily="18" charset="0"/>
              </a:rPr>
              <a:t>independent random sample</a:t>
            </a: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  <a:p>
            <a:pPr marL="430213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All observations have an equal chance of being made and no observation affects any other</a:t>
            </a:r>
          </a:p>
          <a:p>
            <a:pPr marL="887413" lvl="1" indent="-323850">
              <a:spcBef>
                <a:spcPts val="800"/>
              </a:spcBef>
              <a:buFont typeface="Times New Roman" pitchFamily="18" charset="0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independent and identically distributed random sample (</a:t>
            </a:r>
            <a:r>
              <a:rPr lang="en-GB" b="1" dirty="0">
                <a:solidFill>
                  <a:srgbClr val="000000"/>
                </a:solidFill>
                <a:latin typeface="Times New Roman" pitchFamily="18" charset="0"/>
              </a:rPr>
              <a:t>I.I.D.</a:t>
            </a:r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)</a:t>
            </a:r>
            <a:endParaRPr lang="en-GB" sz="16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24716" y="4804210"/>
            <a:ext cx="144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Biased Samples</a:t>
            </a:r>
          </a:p>
        </p:txBody>
      </p:sp>
      <p:cxnSp>
        <p:nvCxnSpPr>
          <p:cNvPr id="20" name="Shape 19"/>
          <p:cNvCxnSpPr>
            <a:cxnSpLocks/>
          </p:cNvCxnSpPr>
          <p:nvPr/>
        </p:nvCxnSpPr>
        <p:spPr bwMode="auto">
          <a:xfrm flipV="1">
            <a:off x="3200399" y="2369762"/>
            <a:ext cx="851222" cy="591155"/>
          </a:xfrm>
          <a:prstGeom prst="bentConnector3">
            <a:avLst>
              <a:gd name="adj1" fmla="val 50000"/>
            </a:avLst>
          </a:prstGeom>
          <a:solidFill>
            <a:srgbClr val="00B8FF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20"/>
          <p:cNvSpPr/>
          <p:nvPr/>
        </p:nvSpPr>
        <p:spPr bwMode="auto">
          <a:xfrm>
            <a:off x="5791200" y="4419600"/>
            <a:ext cx="3276600" cy="22098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29400" y="4724400"/>
            <a:ext cx="1739579" cy="510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Population</a:t>
            </a:r>
          </a:p>
        </p:txBody>
      </p:sp>
      <p:sp>
        <p:nvSpPr>
          <p:cNvPr id="23" name="Rectangle 22"/>
          <p:cNvSpPr/>
          <p:nvPr/>
        </p:nvSpPr>
        <p:spPr bwMode="auto">
          <a:xfrm>
            <a:off x="5334000" y="5410200"/>
            <a:ext cx="1066800" cy="1219200"/>
          </a:xfrm>
          <a:prstGeom prst="rect">
            <a:avLst/>
          </a:prstGeom>
          <a:solidFill>
            <a:srgbClr val="26FA2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5791200" y="5410200"/>
            <a:ext cx="609600" cy="12192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371237" y="5811985"/>
            <a:ext cx="877163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</a:p>
        </p:txBody>
      </p:sp>
      <p:sp>
        <p:nvSpPr>
          <p:cNvPr id="29" name="Oval 28"/>
          <p:cNvSpPr/>
          <p:nvPr/>
        </p:nvSpPr>
        <p:spPr bwMode="auto">
          <a:xfrm>
            <a:off x="609600" y="4343400"/>
            <a:ext cx="3352800" cy="2286000"/>
          </a:xfrm>
          <a:prstGeom prst="ellipse">
            <a:avLst/>
          </a:prstGeom>
          <a:gradFill flip="none" rotWithShape="1">
            <a:gsLst>
              <a:gs pos="93000">
                <a:schemeClr val="accent1">
                  <a:tint val="66000"/>
                  <a:satMod val="160000"/>
                </a:schemeClr>
              </a:gs>
              <a:gs pos="0">
                <a:srgbClr val="FF0000"/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0" name="Oval 29"/>
          <p:cNvSpPr/>
          <p:nvPr/>
        </p:nvSpPr>
        <p:spPr bwMode="auto">
          <a:xfrm>
            <a:off x="1352772" y="5521363"/>
            <a:ext cx="12192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1" fontAlgn="base" latinLnBrk="0" hangingPunct="1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460821" y="4595132"/>
            <a:ext cx="1739579" cy="510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Population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39508" y="5760496"/>
            <a:ext cx="877163" cy="360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</a:p>
        </p:txBody>
      </p:sp>
      <p:cxnSp>
        <p:nvCxnSpPr>
          <p:cNvPr id="35" name="Curved Connector 34"/>
          <p:cNvCxnSpPr>
            <a:cxnSpLocks/>
          </p:cNvCxnSpPr>
          <p:nvPr/>
        </p:nvCxnSpPr>
        <p:spPr bwMode="auto">
          <a:xfrm flipV="1">
            <a:off x="2571971" y="5216563"/>
            <a:ext cx="1628233" cy="803238"/>
          </a:xfrm>
          <a:prstGeom prst="curvedConnector3">
            <a:avLst>
              <a:gd name="adj1" fmla="val 50000"/>
            </a:avLst>
          </a:prstGeom>
          <a:solidFill>
            <a:srgbClr val="00B8FF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Curved Connector 36"/>
          <p:cNvCxnSpPr>
            <a:cxnSpLocks/>
            <a:stCxn id="28" idx="0"/>
          </p:cNvCxnSpPr>
          <p:nvPr/>
        </p:nvCxnSpPr>
        <p:spPr bwMode="auto">
          <a:xfrm rot="16200000" flipV="1">
            <a:off x="5225670" y="5227836"/>
            <a:ext cx="577317" cy="590982"/>
          </a:xfrm>
          <a:prstGeom prst="curvedConnector2">
            <a:avLst/>
          </a:prstGeom>
          <a:solidFill>
            <a:srgbClr val="00B8FF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937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/>
      <p:bldP spid="15" grpId="0"/>
      <p:bldP spid="17" grpId="0"/>
      <p:bldP spid="21" grpId="0" animBg="1"/>
      <p:bldP spid="22" grpId="0"/>
      <p:bldP spid="23" grpId="0" animBg="1"/>
      <p:bldP spid="24" grpId="0" animBg="1"/>
      <p:bldP spid="28" grpId="0"/>
      <p:bldP spid="29" grpId="0" animBg="1"/>
      <p:bldP spid="30" grpId="0" animBg="1"/>
      <p:bldP spid="31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838200"/>
            <a:ext cx="8686800" cy="19699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Parameter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any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function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of the </a:t>
            </a:r>
            <a:r>
              <a:rPr lang="en-GB" sz="3200" u="sng" dirty="0">
                <a:solidFill>
                  <a:srgbClr val="000000"/>
                </a:solidFill>
                <a:latin typeface="Times New Roman" pitchFamily="18" charset="0"/>
              </a:rPr>
              <a:t>population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Statistic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: any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function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of a </a:t>
            </a:r>
            <a:r>
              <a:rPr lang="en-GB" sz="3200" u="sng" dirty="0">
                <a:solidFill>
                  <a:srgbClr val="000000"/>
                </a:solidFill>
                <a:latin typeface="Times New Roman" pitchFamily="18" charset="0"/>
              </a:rPr>
              <a:t>sample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from the population</a:t>
            </a: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76200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Parameters and Statistics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2650858"/>
            <a:ext cx="8686800" cy="124622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Statistics are used to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estimate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population parameters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07633" y="3803540"/>
            <a:ext cx="8686800" cy="279319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We may construct probability distributions for statistics</a:t>
            </a:r>
          </a:p>
          <a:p>
            <a:pPr marL="1992313" lvl="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Populations have probability distributions for observations</a:t>
            </a:r>
          </a:p>
          <a:p>
            <a:pPr marL="1992313" lvl="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Samples have probability distributions for observations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and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statistics</a:t>
            </a:r>
          </a:p>
        </p:txBody>
      </p:sp>
    </p:spTree>
    <p:extLst>
      <p:ext uri="{BB962C8B-B14F-4D97-AF65-F5344CB8AC3E}">
        <p14:creationId xmlns:p14="http://schemas.microsoft.com/office/powerpoint/2010/main" val="2926930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8969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Standardized Language: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1652650"/>
            <a:ext cx="8686800" cy="181413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The problems of applying statistics to practice and assessing uncertainties are not new or unique to forensic science.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8600" y="3512738"/>
            <a:ext cx="8801173" cy="225698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In 1977 the “world’s highest authority in metrology”,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Comité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 International des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Poids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 et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Mesures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(CIPM) requested an international consensus document for the application of statistics and expression of uncertainty for measurement.</a:t>
            </a:r>
            <a:endParaRPr lang="en-GB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1D5DA-00CB-E241-F5E4-7C908CBFEAC9}"/>
              </a:ext>
            </a:extLst>
          </p:cNvPr>
          <p:cNvSpPr txBox="1"/>
          <p:nvPr/>
        </p:nvSpPr>
        <p:spPr>
          <a:xfrm>
            <a:off x="1836964" y="5976649"/>
            <a:ext cx="62184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Guide to Uncertainty in Measurement (GUM)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420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8969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 to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1775" y="1231284"/>
            <a:ext cx="8801173" cy="18606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Bureau International des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Poids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 et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Mesures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(BIPM) put in charge and convened the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  <a:hlinkClick r:id="rId3"/>
              </a:rPr>
              <a:t>Joint Committee on Guides for Metrology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(JCGM)</a:t>
            </a:r>
            <a:endParaRPr lang="en-GB" sz="28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4290" y="2865504"/>
            <a:ext cx="8801173" cy="8252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By 1994 CIPM-BIPM-JCGM had something:</a:t>
            </a:r>
            <a:endParaRPr lang="en-GB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2692" y="3525189"/>
            <a:ext cx="8801173" cy="82529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6363" algn="ctr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“Evaluation of measurement data-Guide to the expression of uncertainty in measurement”: JCGM 100:2008</a:t>
            </a:r>
            <a:endParaRPr lang="en-GB" sz="3200" b="1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25614" y="4420101"/>
            <a:ext cx="1974218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The GUM</a:t>
            </a:r>
            <a:endParaRPr lang="en-US" sz="32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231775" y="5320938"/>
            <a:ext cx="7037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The GUM with supplements is available at this </a:t>
            </a:r>
            <a:r>
              <a:rPr lang="en-US" sz="2400" dirty="0">
                <a:latin typeface="Times New Roman"/>
                <a:cs typeface="Times New Roman"/>
                <a:hlinkClick r:id="rId4"/>
              </a:rPr>
              <a:t>link</a:t>
            </a:r>
            <a:r>
              <a:rPr lang="en-US" sz="2400" dirty="0">
                <a:latin typeface="Times New Roman"/>
                <a:cs typeface="Times New Roman"/>
              </a:rPr>
              <a:t>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775" y="5964450"/>
            <a:ext cx="5217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A zip file of all the documents is </a:t>
            </a:r>
            <a:r>
              <a:rPr lang="en-US" sz="2400" dirty="0">
                <a:latin typeface="Times New Roman"/>
                <a:cs typeface="Times New Roman"/>
                <a:hlinkClick r:id="rId5"/>
              </a:rPr>
              <a:t>here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652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4322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 to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1206335"/>
            <a:ext cx="8686800" cy="93122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GUM is a set of prescriptions to make statements about uncertainty related to measurement 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1775" y="2328234"/>
            <a:ext cx="8686800" cy="41309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Distilled from the literature on production and quality control</a:t>
            </a:r>
          </a:p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Based also on experience from practitioners around the world: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Engineers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Metrologists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Applied Statisticians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Scientists</a:t>
            </a:r>
          </a:p>
        </p:txBody>
      </p:sp>
    </p:spTree>
    <p:extLst>
      <p:ext uri="{BB962C8B-B14F-4D97-AF65-F5344CB8AC3E}">
        <p14:creationId xmlns:p14="http://schemas.microsoft.com/office/powerpoint/2010/main" val="88885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4322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 to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1361556"/>
            <a:ext cx="8686800" cy="18981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The GUM catalogues standard methodologies for uncertainty assessment from both the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frequentist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Type A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)and </a:t>
            </a:r>
            <a:r>
              <a:rPr lang="en-GB" sz="2800" b="1" i="1" u="sng" dirty="0">
                <a:solidFill>
                  <a:srgbClr val="000000"/>
                </a:solidFill>
                <a:latin typeface="Times New Roman" pitchFamily="18" charset="0"/>
              </a:rPr>
              <a:t>Bayesian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(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Type B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) worlds</a:t>
            </a: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Very (overly??) general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28600" y="3480839"/>
            <a:ext cx="8686800" cy="9641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GUM language is not entirely congruent with textbook  statistics language…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5779" y="4606897"/>
            <a:ext cx="8686800" cy="122098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“measurand”, “input quantities”, “standard uncertainty”, “conformance”, etc. used by the GUM are more commonly called other things that we’ll discuss. </a:t>
            </a:r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61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4322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 to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1079336"/>
            <a:ext cx="8686800" cy="51522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In a nutshell: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42711" y="1601443"/>
            <a:ext cx="8686800" cy="2504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Type A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methods rely on the frequentist definition of probability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Require repeatable experiments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“Objective”…in theory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“Push button”; you can look up in any text book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Interpretation is clunky…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42711" y="4226089"/>
            <a:ext cx="8686800" cy="25048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u="sng" dirty="0">
                <a:solidFill>
                  <a:srgbClr val="000000"/>
                </a:solidFill>
                <a:latin typeface="Times New Roman" pitchFamily="18" charset="0"/>
              </a:rPr>
              <a:t>Type B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methods rely on the Bayesian definition of probability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Can use judgement and/or repeatable experiments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“Subjective”; but not necessarily a bad thing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i="1" dirty="0">
                <a:solidFill>
                  <a:srgbClr val="000000"/>
                </a:solidFill>
                <a:latin typeface="Times New Roman" pitchFamily="18" charset="0"/>
              </a:rPr>
              <a:t>NOT</a:t>
            </a: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 “push button”. Much harder to carry out in practice usually.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200" dirty="0">
                <a:solidFill>
                  <a:srgbClr val="000000"/>
                </a:solidFill>
                <a:latin typeface="Times New Roman" pitchFamily="18" charset="0"/>
              </a:rPr>
              <a:t> Interpretation is intuitive</a:t>
            </a:r>
          </a:p>
        </p:txBody>
      </p:sp>
    </p:spTree>
    <p:extLst>
      <p:ext uri="{BB962C8B-B14F-4D97-AF65-F5344CB8AC3E}">
        <p14:creationId xmlns:p14="http://schemas.microsoft.com/office/powerpoint/2010/main" val="291738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31775" y="243225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Intro to the GUM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3112" y="1479278"/>
            <a:ext cx="8686800" cy="14135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Note: There are “gray areas” in the GUM which discuss uncertainty using mixtures of frequentist and Bayesian ideas.</a:t>
            </a:r>
          </a:p>
          <a:p>
            <a:pPr marL="106363">
              <a:spcBef>
                <a:spcPts val="800"/>
              </a:spcBef>
              <a:buClr>
                <a:srgbClr val="000000"/>
              </a:buClr>
              <a:buSzPct val="100000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4443" y="3466888"/>
            <a:ext cx="843844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071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600" dirty="0">
                <a:solidFill>
                  <a:srgbClr val="000000"/>
                </a:solidFill>
                <a:latin typeface="Times New Roman" pitchFamily="18" charset="0"/>
              </a:rPr>
              <a:t>When encountering these “gray areas” we will be explicit about which concepts are more “frequentist” and which are more “Bayesian”</a:t>
            </a:r>
          </a:p>
        </p:txBody>
      </p:sp>
    </p:spTree>
    <p:extLst>
      <p:ext uri="{BB962C8B-B14F-4D97-AF65-F5344CB8AC3E}">
        <p14:creationId xmlns:p14="http://schemas.microsoft.com/office/powerpoint/2010/main" val="273061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951082"/>
            <a:ext cx="8686800" cy="2437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Random variables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- All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measurements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have an associated “randomness” component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Randomness 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</a:rPr>
              <a:t>–patternless, unstructured, typical, total ignorance</a:t>
            </a:r>
            <a:endParaRPr lang="en-GB" sz="24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GUM Terminology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31775" y="2959318"/>
            <a:ext cx="8686800" cy="356001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887413" lvl="1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Any experiment/observation recorded is a </a:t>
            </a: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random </a:t>
            </a:r>
            <a:r>
              <a:rPr lang="en-GB" sz="2800" b="1" dirty="0" err="1">
                <a:solidFill>
                  <a:srgbClr val="000000"/>
                </a:solidFill>
                <a:latin typeface="Times New Roman" pitchFamily="18" charset="0"/>
              </a:rPr>
              <a:t>variate</a:t>
            </a:r>
            <a:endParaRPr lang="en-GB" sz="28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GUM calls direct experimental observations </a:t>
            </a: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input quantities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x</a:t>
            </a:r>
          </a:p>
          <a:p>
            <a:pPr marL="1801813" lvl="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000" dirty="0">
                <a:solidFill>
                  <a:srgbClr val="000000"/>
                </a:solidFill>
                <a:latin typeface="Times New Roman" pitchFamily="18" charset="0"/>
              </a:rPr>
              <a:t>Usually I call this </a:t>
            </a:r>
            <a:r>
              <a:rPr lang="en-GB" sz="2000" b="1" dirty="0">
                <a:solidFill>
                  <a:srgbClr val="000000"/>
                </a:solidFill>
                <a:latin typeface="Times New Roman" pitchFamily="18" charset="0"/>
              </a:rPr>
              <a:t>data</a:t>
            </a:r>
          </a:p>
          <a:p>
            <a:pPr marL="1344613" lvl="2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400" b="1" dirty="0">
                <a:solidFill>
                  <a:srgbClr val="000000"/>
                </a:solidFill>
                <a:latin typeface="Times New Roman" pitchFamily="18" charset="0"/>
              </a:rPr>
              <a:t>Measurand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: quantity intended to be </a:t>
            </a:r>
            <a:r>
              <a:rPr lang="en-GB" sz="2400" dirty="0" err="1">
                <a:solidFill>
                  <a:srgbClr val="000000"/>
                </a:solidFill>
                <a:latin typeface="Times New Roman" pitchFamily="18" charset="0"/>
              </a:rPr>
              <a:t>measured</a:t>
            </a:r>
            <a:r>
              <a:rPr lang="en-GB" sz="24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r>
              <a:rPr lang="en-GB" sz="2400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GB" sz="2400" i="1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r="43949" b="-48047"/>
          <a:stretch/>
        </p:blipFill>
        <p:spPr>
          <a:xfrm>
            <a:off x="3730978" y="6049433"/>
            <a:ext cx="1758245" cy="695677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3344333" y="4797778"/>
            <a:ext cx="5621294" cy="1926907"/>
          </a:xfrm>
          <a:custGeom>
            <a:avLst/>
            <a:gdLst>
              <a:gd name="connsiteX0" fmla="*/ 0 w 5621294"/>
              <a:gd name="connsiteY0" fmla="*/ 0 h 1926907"/>
              <a:gd name="connsiteX1" fmla="*/ 5602111 w 5621294"/>
              <a:gd name="connsiteY1" fmla="*/ 620889 h 1926907"/>
              <a:gd name="connsiteX2" fmla="*/ 1834445 w 5621294"/>
              <a:gd name="connsiteY2" fmla="*/ 1876778 h 1926907"/>
              <a:gd name="connsiteX3" fmla="*/ 1806223 w 5621294"/>
              <a:gd name="connsiteY3" fmla="*/ 1679222 h 1926907"/>
              <a:gd name="connsiteX4" fmla="*/ 1806223 w 5621294"/>
              <a:gd name="connsiteY4" fmla="*/ 1693333 h 192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1294" h="1926907">
                <a:moveTo>
                  <a:pt x="0" y="0"/>
                </a:moveTo>
                <a:cubicBezTo>
                  <a:pt x="2648185" y="154046"/>
                  <a:pt x="5296370" y="308093"/>
                  <a:pt x="5602111" y="620889"/>
                </a:cubicBezTo>
                <a:cubicBezTo>
                  <a:pt x="5907852" y="933685"/>
                  <a:pt x="2467093" y="1700389"/>
                  <a:pt x="1834445" y="1876778"/>
                </a:cubicBezTo>
                <a:cubicBezTo>
                  <a:pt x="1201797" y="2053167"/>
                  <a:pt x="1810927" y="1709796"/>
                  <a:pt x="1806223" y="1679222"/>
                </a:cubicBezTo>
                <a:cubicBezTo>
                  <a:pt x="1801519" y="1648648"/>
                  <a:pt x="1806223" y="1693333"/>
                  <a:pt x="1806223" y="1693333"/>
                </a:cubicBezTo>
              </a:path>
            </a:pathLst>
          </a:cu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6"/>
          <p:cNvSpPr/>
          <p:nvPr/>
        </p:nvSpPr>
        <p:spPr>
          <a:xfrm>
            <a:off x="1947333" y="5799667"/>
            <a:ext cx="1651000" cy="522111"/>
          </a:xfrm>
          <a:custGeom>
            <a:avLst/>
            <a:gdLst>
              <a:gd name="connsiteX0" fmla="*/ 0 w 1651000"/>
              <a:gd name="connsiteY0" fmla="*/ 0 h 522111"/>
              <a:gd name="connsiteX1" fmla="*/ 1651000 w 1651000"/>
              <a:gd name="connsiteY1" fmla="*/ 522111 h 522111"/>
              <a:gd name="connsiteX2" fmla="*/ 1651000 w 1651000"/>
              <a:gd name="connsiteY2" fmla="*/ 522111 h 52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0" h="522111">
                <a:moveTo>
                  <a:pt x="0" y="0"/>
                </a:moveTo>
                <a:lnTo>
                  <a:pt x="1651000" y="522111"/>
                </a:lnTo>
                <a:lnTo>
                  <a:pt x="1651000" y="522111"/>
                </a:lnTo>
              </a:path>
            </a:pathLst>
          </a:cu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836334" y="6462890"/>
            <a:ext cx="733777" cy="225776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379" y="5902212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 this course we’ll usually use </a:t>
            </a:r>
            <a:r>
              <a:rPr lang="en-US" dirty="0">
                <a:latin typeface="Symbol" charset="2"/>
                <a:cs typeface="Symbol" charset="2"/>
              </a:rPr>
              <a:t>m</a:t>
            </a:r>
            <a:r>
              <a:rPr lang="en-US" dirty="0">
                <a:latin typeface="Times New Roman"/>
                <a:cs typeface="Times New Roman"/>
              </a:rPr>
              <a:t> or </a:t>
            </a:r>
            <a:r>
              <a:rPr lang="en-US" dirty="0">
                <a:latin typeface="Symbol" charset="2"/>
                <a:cs typeface="Symbol" charset="2"/>
              </a:rPr>
              <a:t>q</a:t>
            </a:r>
            <a:r>
              <a:rPr lang="en-US" dirty="0">
                <a:latin typeface="Times New Roman"/>
                <a:cs typeface="Times New Roman"/>
              </a:rPr>
              <a:t> instead of </a:t>
            </a:r>
            <a:r>
              <a:rPr lang="en-US" i="1" dirty="0">
                <a:latin typeface="Times New Roman"/>
                <a:cs typeface="Times New Roman"/>
              </a:rPr>
              <a:t>y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270000" y="6688666"/>
            <a:ext cx="1566334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18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7" grpId="0" animBg="1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228600" y="1106309"/>
            <a:ext cx="8686800" cy="88335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Measurands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are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parameters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1924746"/>
            <a:ext cx="8686800" cy="175825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Estimates of measurands are </a:t>
            </a:r>
            <a:r>
              <a:rPr lang="en-GB" sz="3200" i="1" dirty="0">
                <a:solidFill>
                  <a:srgbClr val="000000"/>
                </a:solidFill>
                <a:latin typeface="Times New Roman" pitchFamily="18" charset="0"/>
              </a:rPr>
              <a:t>statistics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b="1" dirty="0">
                <a:solidFill>
                  <a:srgbClr val="000000"/>
                </a:solidFill>
                <a:latin typeface="Times New Roman" pitchFamily="18" charset="0"/>
              </a:rPr>
              <a:t>Measured quantity value</a:t>
            </a: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 is an estimate of the </a:t>
            </a:r>
            <a:r>
              <a:rPr lang="en-GB" sz="2800" dirty="0" err="1">
                <a:solidFill>
                  <a:srgbClr val="000000"/>
                </a:solidFill>
                <a:latin typeface="Times New Roman" pitchFamily="18" charset="0"/>
              </a:rPr>
              <a:t>measurand</a:t>
            </a:r>
            <a:r>
              <a:rPr lang="en-GB" sz="28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2800" baseline="30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28600" y="3773288"/>
            <a:ext cx="8686800" cy="29576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Example:</a:t>
            </a: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Most common measurand we’ll be interested in is a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mean</a:t>
            </a:r>
          </a:p>
          <a:p>
            <a:pPr marL="1992313" lvl="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Estimate for a mean is an </a:t>
            </a:r>
            <a:r>
              <a:rPr lang="en-GB" sz="2800" i="1" u="sng" dirty="0">
                <a:solidFill>
                  <a:srgbClr val="000000"/>
                </a:solidFill>
                <a:latin typeface="Times New Roman" pitchFamily="18" charset="0"/>
              </a:rPr>
              <a:t>average</a:t>
            </a:r>
          </a:p>
          <a:p>
            <a:pPr marL="1992313" lvl="3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An average is a </a:t>
            </a:r>
            <a:r>
              <a:rPr lang="en-GB" sz="2800" i="1" dirty="0">
                <a:solidFill>
                  <a:srgbClr val="000000"/>
                </a:solidFill>
                <a:latin typeface="Times New Roman" pitchFamily="18" charset="0"/>
              </a:rPr>
              <a:t>statistic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09B847F-BFF9-B0EB-9BF7-B05ED3343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GUM Terminology</a:t>
            </a:r>
          </a:p>
        </p:txBody>
      </p:sp>
    </p:spTree>
    <p:extLst>
      <p:ext uri="{BB962C8B-B14F-4D97-AF65-F5344CB8AC3E}">
        <p14:creationId xmlns:p14="http://schemas.microsoft.com/office/powerpoint/2010/main" val="129270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86267" y="3166531"/>
            <a:ext cx="8686800" cy="164535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Systematic Error: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error that remains constant or that varies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predictably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3200" baseline="30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535113" lvl="2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2800" dirty="0">
                <a:solidFill>
                  <a:srgbClr val="000000"/>
                </a:solidFill>
                <a:latin typeface="Times New Roman" pitchFamily="18" charset="0"/>
              </a:rPr>
              <a:t>Related to bias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85044" y="5113854"/>
            <a:ext cx="8686800" cy="127847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914400" lvl="1" indent="-457200">
              <a:buFont typeface="Arial"/>
              <a:buChar char="•"/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Random Error</a:t>
            </a: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GB" sz="3200" dirty="0">
                <a:latin typeface="Times New Roman"/>
                <a:cs typeface="Times New Roman"/>
              </a:rPr>
              <a:t>error that varies in an “unpredictable” </a:t>
            </a:r>
            <a:r>
              <a:rPr lang="en-GB" sz="3200" dirty="0" err="1">
                <a:latin typeface="Times New Roman"/>
                <a:cs typeface="Times New Roman"/>
              </a:rPr>
              <a:t>manner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3200" dirty="0">
              <a:latin typeface="Times New Roman"/>
              <a:cs typeface="Times New Roman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8289" y="1597541"/>
            <a:ext cx="8686800" cy="112590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Error: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measured quantity value minus a reference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value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3200" baseline="30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39A0BFBB-6688-7EB2-D2C3-5100ED9B3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Basic GUM Terminology</a:t>
            </a:r>
          </a:p>
        </p:txBody>
      </p:sp>
    </p:spTree>
    <p:extLst>
      <p:ext uri="{BB962C8B-B14F-4D97-AF65-F5344CB8AC3E}">
        <p14:creationId xmlns:p14="http://schemas.microsoft.com/office/powerpoint/2010/main" val="317069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ChangeArrowheads="1"/>
          </p:cNvSpPr>
          <p:nvPr/>
        </p:nvSpPr>
        <p:spPr bwMode="auto">
          <a:xfrm>
            <a:off x="129823" y="1261530"/>
            <a:ext cx="8686800" cy="143932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1077913" lvl="1" indent="-514350">
              <a:spcBef>
                <a:spcPts val="800"/>
              </a:spcBef>
              <a:buClr>
                <a:srgbClr val="000000"/>
              </a:buClr>
              <a:buSzPct val="100000"/>
              <a:buFont typeface="Arial"/>
              <a:buChar char="•"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Bias:</a:t>
            </a:r>
            <a:r>
              <a:rPr lang="en-GB" sz="3200" dirty="0">
                <a:solidFill>
                  <a:srgbClr val="000000"/>
                </a:solidFill>
                <a:latin typeface="Times New Roman" pitchFamily="18" charset="0"/>
              </a:rPr>
              <a:t> systematic error associated with the measurement </a:t>
            </a:r>
            <a:r>
              <a:rPr lang="en-GB" sz="3200" dirty="0" err="1">
                <a:solidFill>
                  <a:srgbClr val="000000"/>
                </a:solidFill>
                <a:latin typeface="Times New Roman" pitchFamily="18" charset="0"/>
              </a:rPr>
              <a:t>process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3200" baseline="30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8600" y="2771412"/>
            <a:ext cx="8686800" cy="168769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pPr marL="430213" indent="-323850">
              <a:spcBef>
                <a:spcPts val="8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430213" algn="l"/>
                <a:tab pos="1344613" algn="l"/>
                <a:tab pos="2259013" algn="l"/>
                <a:tab pos="3173413" algn="l"/>
                <a:tab pos="4087813" algn="l"/>
                <a:tab pos="5002213" algn="l"/>
                <a:tab pos="5916613" algn="l"/>
                <a:tab pos="6831013" algn="l"/>
                <a:tab pos="7745413" algn="l"/>
                <a:tab pos="8659813" algn="l"/>
                <a:tab pos="9574213" algn="l"/>
                <a:tab pos="10488613" algn="l"/>
              </a:tabLst>
            </a:pPr>
            <a:endParaRPr lang="en-GB" sz="12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914400" lvl="1" indent="-457200">
              <a:buFont typeface="Arial"/>
              <a:buChar char="•"/>
            </a:pPr>
            <a:r>
              <a:rPr lang="en-GB" sz="3200" b="1" dirty="0">
                <a:solidFill>
                  <a:srgbClr val="000000"/>
                </a:solidFill>
                <a:latin typeface="Times New Roman" pitchFamily="18" charset="0"/>
              </a:rPr>
              <a:t>Uncertainty</a:t>
            </a:r>
            <a:r>
              <a:rPr lang="en-GB" sz="32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GB" sz="3200" dirty="0">
                <a:latin typeface="Times New Roman"/>
                <a:cs typeface="Times New Roman"/>
              </a:rPr>
              <a:t>non-negative parameter characterizing the dispersion of the quantity values being attributed to a </a:t>
            </a:r>
            <a:r>
              <a:rPr lang="en-GB" sz="3200" dirty="0" err="1">
                <a:latin typeface="Times New Roman"/>
                <a:cs typeface="Times New Roman"/>
              </a:rPr>
              <a:t>measurand</a:t>
            </a:r>
            <a:r>
              <a:rPr lang="en-GB" sz="3200" baseline="30000" dirty="0" err="1">
                <a:solidFill>
                  <a:srgbClr val="000000"/>
                </a:solidFill>
                <a:latin typeface="Times New Roman" pitchFamily="18" charset="0"/>
              </a:rPr>
              <a:t>GUM</a:t>
            </a:r>
            <a:endParaRPr lang="en-GB" sz="3200" dirty="0">
              <a:latin typeface="Times New Roman"/>
              <a:cs typeface="Times New Roman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9823" y="4597493"/>
            <a:ext cx="888717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2" indent="-457200">
              <a:buFont typeface="Arial"/>
              <a:buChar char="•"/>
            </a:pPr>
            <a:r>
              <a:rPr lang="en-GB" sz="2800" dirty="0">
                <a:latin typeface="Times New Roman"/>
                <a:cs typeface="Times New Roman"/>
              </a:rPr>
              <a:t>One form or another of </a:t>
            </a:r>
            <a:r>
              <a:rPr lang="en-GB" sz="2800" b="1" dirty="0">
                <a:latin typeface="Times New Roman"/>
                <a:cs typeface="Times New Roman"/>
              </a:rPr>
              <a:t>standard deviation</a:t>
            </a:r>
          </a:p>
          <a:p>
            <a:pPr marL="1828800" lvl="3" indent="-457200">
              <a:buFont typeface="Arial"/>
              <a:buChar char="•"/>
            </a:pPr>
            <a:r>
              <a:rPr lang="en-GB" sz="2400" dirty="0">
                <a:latin typeface="Times New Roman"/>
                <a:cs typeface="Times New Roman"/>
              </a:rPr>
              <a:t>There are both type A (frequentist) and B (Bayesian) versions</a:t>
            </a:r>
          </a:p>
          <a:p>
            <a:pPr marL="1828800" lvl="3" indent="-457200">
              <a:buFont typeface="Arial"/>
              <a:buChar char="•"/>
            </a:pPr>
            <a:r>
              <a:rPr lang="en-GB" sz="2400" dirty="0">
                <a:latin typeface="Times New Roman"/>
                <a:cs typeface="Times New Roman"/>
              </a:rPr>
              <a:t>GUM calls </a:t>
            </a:r>
            <a:r>
              <a:rPr lang="en-GB" sz="2400" b="1" dirty="0">
                <a:latin typeface="Times New Roman"/>
                <a:cs typeface="Times New Roman"/>
              </a:rPr>
              <a:t> </a:t>
            </a:r>
            <a:r>
              <a:rPr lang="en-GB" sz="2400" dirty="0">
                <a:latin typeface="Times New Roman"/>
                <a:cs typeface="Times New Roman"/>
              </a:rPr>
              <a:t>standard deviation,</a:t>
            </a:r>
            <a:r>
              <a:rPr lang="en-GB" sz="2400" b="1" dirty="0">
                <a:latin typeface="Times New Roman"/>
                <a:cs typeface="Times New Roman"/>
              </a:rPr>
              <a:t> standard uncertainty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43B43E6-2E01-01B0-9170-22DDDF6A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Basic GUM Terminology</a:t>
            </a:r>
          </a:p>
        </p:txBody>
      </p:sp>
    </p:spTree>
    <p:extLst>
      <p:ext uri="{BB962C8B-B14F-4D97-AF65-F5344CB8AC3E}">
        <p14:creationId xmlns:p14="http://schemas.microsoft.com/office/powerpoint/2010/main" val="201973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D0211324-BD70-F6EE-2777-A685F051D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Standards Organizations and Documents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8C9F940-4960-3C23-1A9F-CE495FD83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FD620E-7472-09DE-0958-5BAF0C13F4B4}"/>
              </a:ext>
            </a:extLst>
          </p:cNvPr>
          <p:cNvSpPr txBox="1"/>
          <p:nvPr/>
        </p:nvSpPr>
        <p:spPr>
          <a:xfrm>
            <a:off x="5104208" y="2493587"/>
            <a:ext cx="2526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OSAC Registry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58002-17CB-DCEC-74E4-6EAE4F293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41" y="1089477"/>
            <a:ext cx="4526474" cy="3061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0687F2-D936-3C3F-05A8-B4261010C09C}"/>
              </a:ext>
            </a:extLst>
          </p:cNvPr>
          <p:cNvSpPr txBox="1"/>
          <p:nvPr/>
        </p:nvSpPr>
        <p:spPr>
          <a:xfrm>
            <a:off x="5104207" y="1614357"/>
            <a:ext cx="294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NIST OSAC Info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E5A915-95C1-4DE2-0308-F5171D00B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3862" y="4343400"/>
            <a:ext cx="5429832" cy="23218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054B74-A5C5-3E4A-F6BA-4ACA4EB77248}"/>
              </a:ext>
            </a:extLst>
          </p:cNvPr>
          <p:cNvSpPr txBox="1"/>
          <p:nvPr/>
        </p:nvSpPr>
        <p:spPr>
          <a:xfrm>
            <a:off x="1110344" y="5245303"/>
            <a:ext cx="192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AAFS-ASB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2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BED0532E-5E96-BE2A-322C-843AA47FA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Standards Organizations and Documents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F69E8D-FFD8-79F6-E26A-C648D71AD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73672-9507-8F2A-FACD-46D1B3A74B09}"/>
              </a:ext>
            </a:extLst>
          </p:cNvPr>
          <p:cNvSpPr txBox="1"/>
          <p:nvPr/>
        </p:nvSpPr>
        <p:spPr>
          <a:xfrm>
            <a:off x="101145" y="2037474"/>
            <a:ext cx="3448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ASTM E30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Committee on Forensic Science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5DEEE-6A9E-F2E5-4AD7-073E0A165D77}"/>
              </a:ext>
            </a:extLst>
          </p:cNvPr>
          <p:cNvSpPr txBox="1"/>
          <p:nvPr/>
        </p:nvSpPr>
        <p:spPr>
          <a:xfrm>
            <a:off x="101145" y="2940204"/>
            <a:ext cx="3270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ASTM E30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Subcommittees and Standards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57438A-4A6C-5B32-08EE-8636B88172DF}"/>
              </a:ext>
            </a:extLst>
          </p:cNvPr>
          <p:cNvSpPr txBox="1"/>
          <p:nvPr/>
        </p:nvSpPr>
        <p:spPr>
          <a:xfrm>
            <a:off x="101145" y="1428655"/>
            <a:ext cx="2268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ASTM International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D8A4F-76A1-6141-16FF-84A418471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4880" y="1343859"/>
            <a:ext cx="5440594" cy="22887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2EE26B-5ED5-CA39-C9E4-239461022033}"/>
              </a:ext>
            </a:extLst>
          </p:cNvPr>
          <p:cNvSpPr txBox="1"/>
          <p:nvPr/>
        </p:nvSpPr>
        <p:spPr>
          <a:xfrm>
            <a:off x="6715130" y="5125953"/>
            <a:ext cx="2428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NIST e-Handbook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of Statistical Methods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4598F-B67F-0949-1472-A409EAC741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5589" y="4028816"/>
            <a:ext cx="4358946" cy="273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3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EB3480-5479-9D40-27FF-F44908FF0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6" y="2093735"/>
            <a:ext cx="5211594" cy="238880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4709511B-951F-CD94-9F13-477F9F043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DE1EA0-E0D9-F74C-7A21-49FD5586C671}"/>
              </a:ext>
            </a:extLst>
          </p:cNvPr>
          <p:cNvSpPr txBox="1"/>
          <p:nvPr/>
        </p:nvSpPr>
        <p:spPr>
          <a:xfrm>
            <a:off x="206626" y="1096282"/>
            <a:ext cx="8544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to other agencies that uses statistics in mission critical situations: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D91A7-2C83-E6A9-7055-24C785010BF3}"/>
              </a:ext>
            </a:extLst>
          </p:cNvPr>
          <p:cNvSpPr txBox="1"/>
          <p:nvPr/>
        </p:nvSpPr>
        <p:spPr>
          <a:xfrm>
            <a:off x="5520902" y="2069208"/>
            <a:ext cx="95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EPA 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93D81-E558-F87A-7A6B-44B2137F0D37}"/>
              </a:ext>
            </a:extLst>
          </p:cNvPr>
          <p:cNvSpPr txBox="1"/>
          <p:nvPr/>
        </p:nvSpPr>
        <p:spPr>
          <a:xfrm>
            <a:off x="6985735" y="3622237"/>
            <a:ext cx="952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EPA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D1D4B-4F34-85A8-D6AA-2F776BB64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2035" y="4165627"/>
            <a:ext cx="4875904" cy="252957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4E15DCA7-EE75-6EA7-873C-517B2BDCD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Look to other agencies as well</a:t>
            </a:r>
          </a:p>
        </p:txBody>
      </p:sp>
    </p:spTree>
    <p:extLst>
      <p:ext uri="{BB962C8B-B14F-4D97-AF65-F5344CB8AC3E}">
        <p14:creationId xmlns:p14="http://schemas.microsoft.com/office/powerpoint/2010/main" val="3590654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CCF898F-9C75-5931-22CF-33BD608AC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5" y="162796"/>
            <a:ext cx="8607425" cy="1127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dirty="0">
                <a:solidFill>
                  <a:srgbClr val="000000"/>
                </a:solidFill>
                <a:latin typeface="Times New Roman" pitchFamily="18" charset="0"/>
              </a:rPr>
              <a:t>Look to other agencies as well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8E7FF2-6B46-75E0-3458-2B7235E83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4188" y="76200"/>
            <a:ext cx="8202612" cy="2397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0823D-2E49-6A34-39C6-068667359FB4}"/>
              </a:ext>
            </a:extLst>
          </p:cNvPr>
          <p:cNvSpPr txBox="1"/>
          <p:nvPr/>
        </p:nvSpPr>
        <p:spPr>
          <a:xfrm>
            <a:off x="206626" y="1096282"/>
            <a:ext cx="8544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to other agencies that uses statistics in mission critical situations: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7CE84-F9F2-8EFC-8974-B3A5D7F13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53" y="2369612"/>
            <a:ext cx="4028740" cy="25368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6EDED2-6D13-96D3-098B-261662DCD0EA}"/>
              </a:ext>
            </a:extLst>
          </p:cNvPr>
          <p:cNvSpPr txBox="1"/>
          <p:nvPr/>
        </p:nvSpPr>
        <p:spPr>
          <a:xfrm>
            <a:off x="392653" y="1907947"/>
            <a:ext cx="1015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FDA 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94D5F-9B41-7E89-D39B-77BE59C09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20572"/>
            <a:ext cx="4413325" cy="2737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53EFDE-9DD7-5F37-CBA0-A26378AC6E3E}"/>
              </a:ext>
            </a:extLst>
          </p:cNvPr>
          <p:cNvSpPr txBox="1"/>
          <p:nvPr/>
        </p:nvSpPr>
        <p:spPr>
          <a:xfrm>
            <a:off x="7969662" y="3658907"/>
            <a:ext cx="1015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FDA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84F1D1-9970-88F4-AFB1-66DD0781C63E}"/>
              </a:ext>
            </a:extLst>
          </p:cNvPr>
          <p:cNvSpPr txBox="1"/>
          <p:nvPr/>
        </p:nvSpPr>
        <p:spPr>
          <a:xfrm>
            <a:off x="545904" y="5970495"/>
            <a:ext cx="3670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cf. FDA/EPA links in syllabus as well</a:t>
            </a:r>
          </a:p>
        </p:txBody>
      </p:sp>
    </p:spTree>
    <p:extLst>
      <p:ext uri="{BB962C8B-B14F-4D97-AF65-F5344CB8AC3E}">
        <p14:creationId xmlns:p14="http://schemas.microsoft.com/office/powerpoint/2010/main" val="279829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6287</TotalTime>
  <Words>2106</Words>
  <Application>Microsoft Macintosh PowerPoint</Application>
  <PresentationFormat>On-screen Show (4:3)</PresentationFormat>
  <Paragraphs>301</Paragraphs>
  <Slides>40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Calibri Light</vt:lpstr>
      <vt:lpstr>Courier</vt:lpstr>
      <vt:lpstr>Symbol</vt:lpstr>
      <vt:lpstr>Times New Roman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Petraco</dc:creator>
  <cp:lastModifiedBy>Nicholas Petraco</cp:lastModifiedBy>
  <cp:revision>79</cp:revision>
  <dcterms:created xsi:type="dcterms:W3CDTF">2024-01-05T18:14:04Z</dcterms:created>
  <dcterms:modified xsi:type="dcterms:W3CDTF">2026-01-29T00:56:56Z</dcterms:modified>
</cp:coreProperties>
</file>