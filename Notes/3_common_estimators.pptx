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43" r:id="rId2"/>
    <p:sldId id="345" r:id="rId3"/>
    <p:sldId id="328" r:id="rId4"/>
    <p:sldId id="348" r:id="rId5"/>
    <p:sldId id="349" r:id="rId6"/>
    <p:sldId id="351" r:id="rId7"/>
    <p:sldId id="352" r:id="rId8"/>
    <p:sldId id="337" r:id="rId9"/>
    <p:sldId id="339" r:id="rId10"/>
    <p:sldId id="363" r:id="rId11"/>
    <p:sldId id="353" r:id="rId12"/>
    <p:sldId id="354" r:id="rId13"/>
    <p:sldId id="362" r:id="rId14"/>
    <p:sldId id="355" r:id="rId15"/>
    <p:sldId id="356" r:id="rId16"/>
    <p:sldId id="357" r:id="rId17"/>
    <p:sldId id="359" r:id="rId18"/>
    <p:sldId id="344" r:id="rId19"/>
    <p:sldId id="360" r:id="rId20"/>
    <p:sldId id="334" r:id="rId21"/>
    <p:sldId id="36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5"/>
    <p:restoredTop sz="94648"/>
  </p:normalViewPr>
  <p:slideViewPr>
    <p:cSldViewPr snapToGrid="0">
      <p:cViewPr varScale="1">
        <p:scale>
          <a:sx n="112" d="100"/>
          <a:sy n="112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96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6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6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0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8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06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35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36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9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88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13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734872-B72A-314E-925A-A42D1F35A83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C3EEE-F441-4B46-AAE4-6CEC1223F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npetraco/709/blob/main/R/script_bucket/central_tend.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npetraco/709/blob/main/R/script_bucket/kde_mode.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npetraco/709/blob/main/R/script_bucket/spreads.R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petraco/709/blob/main/R/script_bucket/spreads.R" TargetMode="External"/><Relationship Id="rId3" Type="http://schemas.openxmlformats.org/officeDocument/2006/relationships/image" Target="../media/image20.emf"/><Relationship Id="rId7" Type="http://schemas.openxmlformats.org/officeDocument/2006/relationships/image" Target="../media/image2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t.auckland.ac.nz/~curra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npetraco/709/blob/main/R/script_bucket/spreads.R" TargetMode="Externa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npetraco/709/blob/main/R/script_bucket/spreads.R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npetraco/709/blob/main/R/script_bucket/quantiles_percentiles.R" TargetMode="Externa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npetraco/709/blob/main/R/script_bucket/cv_rsd.R" TargetMode="Externa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npetraco/709/blob/main/R/script_bucket/cv_rsd.R" TargetMode="Externa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68286" y="374048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Common Data Descriptive Statistics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68287" y="187285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800" dirty="0">
                <a:solidFill>
                  <a:srgbClr val="000000"/>
                </a:solidFill>
                <a:latin typeface="Times New Roman" pitchFamily="18" charset="0"/>
              </a:rPr>
              <a:t>Estimation I</a:t>
            </a:r>
          </a:p>
        </p:txBody>
      </p:sp>
    </p:spTree>
    <p:extLst>
      <p:ext uri="{BB962C8B-B14F-4D97-AF65-F5344CB8AC3E}">
        <p14:creationId xmlns:p14="http://schemas.microsoft.com/office/powerpoint/2010/main" val="3096539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990601"/>
            <a:ext cx="8686800" cy="90771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Given a sample from some population: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16827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400" dirty="0">
                <a:solidFill>
                  <a:srgbClr val="000000"/>
                </a:solidFill>
                <a:latin typeface="Times New Roman" pitchFamily="18" charset="0"/>
              </a:rPr>
              <a:t>Measures of Central Tendency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5537126"/>
            <a:ext cx="9144000" cy="1168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For reference see (available on-line): 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“</a:t>
            </a:r>
            <a:r>
              <a:rPr lang="en-GB" u="sng" dirty="0">
                <a:solidFill>
                  <a:srgbClr val="000000"/>
                </a:solidFill>
                <a:latin typeface="Times New Roman" pitchFamily="18" charset="0"/>
              </a:rPr>
              <a:t>The Dynamic Character of Disguised Behaviour for Text-based, Mixed and Stylized Signatures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”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LA Mohammed, B Found, M Caligiuri and D Rogers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J Forensic Sci  </a:t>
            </a:r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56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(1),S136-S141 (2011)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1739208"/>
            <a:ext cx="8686800" cy="368834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What is a good “summary” value which well describes the sample?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We will look at:</a:t>
            </a: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Average (arithmetic mean)</a:t>
            </a: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Median</a:t>
            </a: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Mode</a:t>
            </a:r>
          </a:p>
        </p:txBody>
      </p:sp>
    </p:spTree>
    <p:extLst>
      <p:ext uri="{BB962C8B-B14F-4D97-AF65-F5344CB8AC3E}">
        <p14:creationId xmlns:p14="http://schemas.microsoft.com/office/powerpoint/2010/main" val="373560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Histogram Points of Interest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1219200"/>
            <a:ext cx="3429000" cy="2438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u="sng" dirty="0">
                <a:solidFill>
                  <a:srgbClr val="000000"/>
                </a:solidFill>
                <a:latin typeface="Times New Roman" pitchFamily="18" charset="0"/>
              </a:rPr>
              <a:t>Velocity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for the </a:t>
            </a:r>
            <a:r>
              <a:rPr lang="en-GB" sz="2400" b="1" i="1" dirty="0">
                <a:solidFill>
                  <a:srgbClr val="000000"/>
                </a:solidFill>
                <a:latin typeface="Times New Roman" pitchFamily="18" charset="0"/>
              </a:rPr>
              <a:t>first segment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of </a:t>
            </a:r>
            <a:r>
              <a:rPr lang="en-GB" sz="2400" b="1" i="1" dirty="0">
                <a:solidFill>
                  <a:srgbClr val="000000"/>
                </a:solidFill>
                <a:latin typeface="Times New Roman" pitchFamily="18" charset="0"/>
              </a:rPr>
              <a:t>genuine signatures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in Mohammed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et al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. study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685800"/>
            <a:ext cx="5791200" cy="6172200"/>
          </a:xfrm>
          <a:prstGeom prst="rect">
            <a:avLst/>
          </a:prstGeom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3657600"/>
            <a:ext cx="3581400" cy="1447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620713" indent="-514350">
              <a:spcBef>
                <a:spcPts val="800"/>
              </a:spcBef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What is a good summary number?</a:t>
            </a:r>
          </a:p>
          <a:p>
            <a:pPr marL="1077913" lvl="1" indent="-514350">
              <a:spcBef>
                <a:spcPts val="800"/>
              </a:spcBef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“Central Tendency”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-76199" y="5334000"/>
            <a:ext cx="3657600" cy="810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0713" indent="-514350">
              <a:spcBef>
                <a:spcPts val="800"/>
              </a:spcBef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How spread out is the data?</a:t>
            </a:r>
          </a:p>
        </p:txBody>
      </p:sp>
    </p:spTree>
    <p:extLst>
      <p:ext uri="{BB962C8B-B14F-4D97-AF65-F5344CB8AC3E}">
        <p14:creationId xmlns:p14="http://schemas.microsoft.com/office/powerpoint/2010/main" val="298463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838200"/>
            <a:ext cx="8686800" cy="5273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Example: </a:t>
            </a: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Absolute Average Velocity for Genuine Signatures across all writers in the LAM study:  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9207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Measures of Central Tendency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362200"/>
            <a:ext cx="4267200" cy="4267200"/>
          </a:xfrm>
          <a:prstGeom prst="rect">
            <a:avLst/>
          </a:prstGeom>
        </p:spPr>
      </p:pic>
      <p:graphicFrame>
        <p:nvGraphicFramePr>
          <p:cNvPr id="234500" name="Object 4"/>
          <p:cNvGraphicFramePr>
            <a:graphicFrameLocks noChangeAspect="1"/>
          </p:cNvGraphicFramePr>
          <p:nvPr/>
        </p:nvGraphicFramePr>
        <p:xfrm>
          <a:off x="4491038" y="4510087"/>
          <a:ext cx="4043362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300" imgH="457200" progId="Equation.3">
                  <p:embed/>
                </p:oleObj>
              </mc:Choice>
              <mc:Fallback>
                <p:oleObj name="Equation" r:id="rId4" imgW="1892300" imgH="457200" progId="Equation.3">
                  <p:embed/>
                  <p:pic>
                    <p:nvPicPr>
                      <p:cNvPr id="2345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038" y="4510087"/>
                        <a:ext cx="4043362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2481305" y="2924832"/>
            <a:ext cx="6502914" cy="3624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92 subjects × 10 measurements/subject = 920 velocity measurements 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 bwMode="auto">
          <a:xfrm rot="5400000">
            <a:off x="2133600" y="3505200"/>
            <a:ext cx="1447800" cy="99060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rot="5400000" flipH="1" flipV="1">
            <a:off x="1050035" y="6391822"/>
            <a:ext cx="762000" cy="17956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1413476" y="6019800"/>
            <a:ext cx="6571156" cy="76200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 rot="16200000" flipH="1">
            <a:off x="7570220" y="5604593"/>
            <a:ext cx="846781" cy="794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4267200" y="4038600"/>
            <a:ext cx="4765848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Average</a:t>
            </a:r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  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Absolute Average Velocity:</a:t>
            </a:r>
            <a:endParaRPr 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630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279525"/>
            <a:ext cx="8686800" cy="5273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Sample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 median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b="1" i="1" u="sng" dirty="0">
                <a:solidFill>
                  <a:srgbClr val="000000"/>
                </a:solidFill>
                <a:latin typeface="Times New Roman" pitchFamily="18" charset="0"/>
              </a:rPr>
              <a:t>Ordering 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the </a:t>
            </a:r>
            <a:r>
              <a:rPr lang="en-GB" sz="26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 pieces of data from smallest value to largest value, the median is the “</a:t>
            </a:r>
            <a:r>
              <a:rPr lang="en-GB" sz="2600" u="sng" dirty="0">
                <a:solidFill>
                  <a:srgbClr val="000000"/>
                </a:solidFill>
                <a:latin typeface="Times New Roman" pitchFamily="18" charset="0"/>
              </a:rPr>
              <a:t>middle value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”: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If </a:t>
            </a:r>
            <a:r>
              <a:rPr lang="en-GB" sz="2400" i="1" u="sng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400" u="sng" dirty="0">
                <a:solidFill>
                  <a:srgbClr val="000000"/>
                </a:solidFill>
                <a:latin typeface="Times New Roman" pitchFamily="18" charset="0"/>
              </a:rPr>
              <a:t> is odd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, median is	           largest data point.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If </a:t>
            </a:r>
            <a:r>
              <a:rPr lang="en-GB" sz="2400" i="1" u="sng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400" u="sng" dirty="0">
                <a:solidFill>
                  <a:srgbClr val="000000"/>
                </a:solidFill>
                <a:latin typeface="Times New Roman" pitchFamily="18" charset="0"/>
              </a:rPr>
              <a:t> is even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, median is average of	        and  	   largest data points.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9207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Measures of Central Tendency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267200" y="3032125"/>
          <a:ext cx="814021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431640" progId="Equation.DSMT4">
                  <p:embed/>
                </p:oleObj>
              </mc:Choice>
              <mc:Fallback>
                <p:oleObj name="Equation" r:id="rId2" imgW="419040" imgH="43164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032125"/>
                        <a:ext cx="814021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5334000" y="3981160"/>
          <a:ext cx="444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431640" progId="Equation.3">
                  <p:embed/>
                </p:oleObj>
              </mc:Choice>
              <mc:Fallback>
                <p:oleObj name="Equation" r:id="rId4" imgW="228600" imgH="431640" progId="Equation.3">
                  <p:embed/>
                  <p:pic>
                    <p:nvPicPr>
                      <p:cNvPr id="604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981160"/>
                        <a:ext cx="4445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6400800" y="4050435"/>
          <a:ext cx="814388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040" imgH="393480" progId="Equation.3">
                  <p:embed/>
                </p:oleObj>
              </mc:Choice>
              <mc:Fallback>
                <p:oleObj name="Equation" r:id="rId6" imgW="419040" imgH="393480" progId="Equation.3">
                  <p:embed/>
                  <p:pic>
                    <p:nvPicPr>
                      <p:cNvPr id="604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050435"/>
                        <a:ext cx="814388" cy="763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00783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838200"/>
            <a:ext cx="8686800" cy="5273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Example: </a:t>
            </a: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Median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of Average Absolute Velocity for Genuine Signatures, LAM: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9207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Measures of Central Tendency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362200"/>
            <a:ext cx="4267200" cy="4267200"/>
          </a:xfrm>
          <a:prstGeom prst="rect">
            <a:avLst/>
          </a:prstGeom>
        </p:spPr>
      </p:pic>
      <p:graphicFrame>
        <p:nvGraphicFramePr>
          <p:cNvPr id="234500" name="Object 4"/>
          <p:cNvGraphicFramePr>
            <a:graphicFrameLocks noChangeAspect="1"/>
          </p:cNvGraphicFramePr>
          <p:nvPr/>
        </p:nvGraphicFramePr>
        <p:xfrm>
          <a:off x="4217726" y="2438400"/>
          <a:ext cx="4805624" cy="181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9500" imgH="889000" progId="Equation.3">
                  <p:embed/>
                </p:oleObj>
              </mc:Choice>
              <mc:Fallback>
                <p:oleObj name="Equation" r:id="rId4" imgW="2349500" imgH="889000" progId="Equation.3">
                  <p:embed/>
                  <p:pic>
                    <p:nvPicPr>
                      <p:cNvPr id="2345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726" y="2438400"/>
                        <a:ext cx="4805624" cy="181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Arrow Connector 16"/>
          <p:cNvCxnSpPr/>
          <p:nvPr/>
        </p:nvCxnSpPr>
        <p:spPr bwMode="auto">
          <a:xfrm rot="5400000" flipH="1" flipV="1">
            <a:off x="1216453" y="6244624"/>
            <a:ext cx="464752" cy="1588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1337276" y="5943600"/>
            <a:ext cx="7187514" cy="83820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 rot="16200000" flipH="1">
            <a:off x="7625437" y="5058322"/>
            <a:ext cx="1752600" cy="17956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rot="5400000" flipH="1" flipV="1">
            <a:off x="968341" y="6391822"/>
            <a:ext cx="762000" cy="17956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1317643" y="6390313"/>
            <a:ext cx="451090" cy="2723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>
                <a:solidFill>
                  <a:srgbClr val="000000"/>
                </a:solidFill>
                <a:latin typeface="Times New Roman" pitchFamily="18" charset="0"/>
              </a:rPr>
              <a:t>Avg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0691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533400" y="685801"/>
            <a:ext cx="8001000" cy="1844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Sample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 mode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Needs careful definition but basically: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The data value that occurs the most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9207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Measures of Central Tendency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391998-32BD-469C-FDF0-17D835530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303162"/>
            <a:ext cx="4267200" cy="42672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40004A-6983-A886-A3CD-F2F427F3A824}"/>
              </a:ext>
            </a:extLst>
          </p:cNvPr>
          <p:cNvCxnSpPr/>
          <p:nvPr/>
        </p:nvCxnSpPr>
        <p:spPr bwMode="auto">
          <a:xfrm rot="5400000" flipH="1" flipV="1">
            <a:off x="1216453" y="6185586"/>
            <a:ext cx="464752" cy="1588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3A34CC-FEE2-4F8B-F495-1BA71723A843}"/>
              </a:ext>
            </a:extLst>
          </p:cNvPr>
          <p:cNvCxnSpPr/>
          <p:nvPr/>
        </p:nvCxnSpPr>
        <p:spPr bwMode="auto">
          <a:xfrm rot="5400000" flipH="1" flipV="1">
            <a:off x="1089281" y="6211844"/>
            <a:ext cx="533400" cy="31237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A6286C2-28BA-4AF1-0287-F97C527169C0}"/>
              </a:ext>
            </a:extLst>
          </p:cNvPr>
          <p:cNvSpPr/>
          <p:nvPr/>
        </p:nvSpPr>
        <p:spPr>
          <a:xfrm>
            <a:off x="1317643" y="6331275"/>
            <a:ext cx="451090" cy="2723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>
                <a:solidFill>
                  <a:srgbClr val="000000"/>
                </a:solidFill>
                <a:latin typeface="Times New Roman" pitchFamily="18" charset="0"/>
              </a:rPr>
              <a:t>Avg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517205-77A5-36BF-2F7D-A48AF6D3D3F9}"/>
              </a:ext>
            </a:extLst>
          </p:cNvPr>
          <p:cNvSpPr/>
          <p:nvPr/>
        </p:nvSpPr>
        <p:spPr>
          <a:xfrm>
            <a:off x="4090298" y="2778060"/>
            <a:ext cx="1502652" cy="1056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mode</a:t>
            </a: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≈ 9.25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8AD87A-3251-8624-BB02-E2B9DF862267}"/>
              </a:ext>
            </a:extLst>
          </p:cNvPr>
          <p:cNvSpPr/>
          <p:nvPr/>
        </p:nvSpPr>
        <p:spPr>
          <a:xfrm>
            <a:off x="931562" y="6341762"/>
            <a:ext cx="466794" cy="2723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200" dirty="0">
                <a:solidFill>
                  <a:srgbClr val="000000"/>
                </a:solidFill>
                <a:latin typeface="Times New Roman" pitchFamily="18" charset="0"/>
              </a:rPr>
              <a:t>Med</a:t>
            </a:r>
            <a:endParaRPr lang="en-US" sz="12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E6B42C-312C-C852-0BEC-BE80E38AB37E}"/>
              </a:ext>
            </a:extLst>
          </p:cNvPr>
          <p:cNvCxnSpPr/>
          <p:nvPr/>
        </p:nvCxnSpPr>
        <p:spPr bwMode="auto">
          <a:xfrm rot="16200000" flipV="1">
            <a:off x="1392025" y="6091709"/>
            <a:ext cx="745866" cy="481915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B0E13B-96BC-5628-1104-411F5226EA5B}"/>
              </a:ext>
            </a:extLst>
          </p:cNvPr>
          <p:cNvCxnSpPr>
            <a:cxnSpLocks/>
          </p:cNvCxnSpPr>
          <p:nvPr/>
        </p:nvCxnSpPr>
        <p:spPr bwMode="auto">
          <a:xfrm>
            <a:off x="1981200" y="6688438"/>
            <a:ext cx="2369756" cy="0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18CD9D-D4DB-0FF0-CAA2-865DB3136FCF}"/>
              </a:ext>
            </a:extLst>
          </p:cNvPr>
          <p:cNvCxnSpPr/>
          <p:nvPr/>
        </p:nvCxnSpPr>
        <p:spPr bwMode="auto">
          <a:xfrm rot="5400000">
            <a:off x="2865852" y="5206714"/>
            <a:ext cx="2971797" cy="1588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3D30A52-AE8B-E180-C2A4-4FF7700864D8}"/>
              </a:ext>
            </a:extLst>
          </p:cNvPr>
          <p:cNvSpPr txBox="1"/>
          <p:nvPr/>
        </p:nvSpPr>
        <p:spPr>
          <a:xfrm>
            <a:off x="4536824" y="3858548"/>
            <a:ext cx="4427084" cy="2862322"/>
          </a:xfrm>
          <a:prstGeom prst="rect">
            <a:avLst/>
          </a:prstGeom>
          <a:solidFill>
            <a:srgbClr val="000045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frequtils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Slice out the data of interest: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row.idxs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which(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linton$Condition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== 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"GEN"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&amp;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              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linton$Segment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== 1)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  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linton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row.idxs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]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head(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vel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dat$AverageAbsoluteVelocity</a:t>
            </a:r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Histogram, sample mean and median: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hist(vel)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mean(vel)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median(vel)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93237-AB89-80D5-0C0A-0753075AA0C6}"/>
              </a:ext>
            </a:extLst>
          </p:cNvPr>
          <p:cNvSpPr txBox="1"/>
          <p:nvPr/>
        </p:nvSpPr>
        <p:spPr>
          <a:xfrm>
            <a:off x="7758727" y="3550771"/>
            <a:ext cx="1237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central_tend.R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22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7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533400" y="882701"/>
            <a:ext cx="8001000" cy="1844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Sample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 mode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Issues…..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9207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Measures of Central Tendency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33400" y="1535720"/>
            <a:ext cx="8001000" cy="33475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What’s the mode 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094" y="1816158"/>
            <a:ext cx="941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Sample: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5800"/>
            <a:ext cx="9144000" cy="132521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010" y="3110633"/>
            <a:ext cx="4725836" cy="365850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4010" y="3110633"/>
            <a:ext cx="4725836" cy="35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9207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Measures of Central Tendency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28600" y="838200"/>
            <a:ext cx="8686800" cy="5273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Other issues: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511099"/>
            <a:ext cx="3894083" cy="25095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103" y="2438400"/>
            <a:ext cx="4201297" cy="2590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1283" y="5541104"/>
            <a:ext cx="3713702" cy="9304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Nice and symmetric:</a:t>
            </a:r>
          </a:p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Mean = Median = Mode</a:t>
            </a:r>
            <a:endParaRPr lang="en-US" sz="2800" dirty="0"/>
          </a:p>
        </p:txBody>
      </p:sp>
      <p:cxnSp>
        <p:nvCxnSpPr>
          <p:cNvPr id="9" name="Straight Arrow Connector 8"/>
          <p:cNvCxnSpPr/>
          <p:nvPr/>
        </p:nvCxnSpPr>
        <p:spPr bwMode="auto">
          <a:xfrm rot="5400000" flipH="1" flipV="1">
            <a:off x="6082671" y="4702312"/>
            <a:ext cx="1379152" cy="1588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6233597" y="5257800"/>
            <a:ext cx="1005403" cy="512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Mean</a:t>
            </a:r>
            <a:endParaRPr lang="en-US" sz="2800" dirty="0"/>
          </a:p>
        </p:txBody>
      </p:sp>
      <p:sp>
        <p:nvSpPr>
          <p:cNvPr id="12" name="Rectangle 11"/>
          <p:cNvSpPr/>
          <p:nvPr/>
        </p:nvSpPr>
        <p:spPr>
          <a:xfrm>
            <a:off x="6553200" y="1447800"/>
            <a:ext cx="1162122" cy="512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Modes</a:t>
            </a:r>
            <a:endParaRPr lang="en-US" sz="2800" dirty="0"/>
          </a:p>
        </p:txBody>
      </p:sp>
      <p:cxnSp>
        <p:nvCxnSpPr>
          <p:cNvPr id="13" name="Straight Arrow Connector 12"/>
          <p:cNvCxnSpPr>
            <a:stCxn id="12" idx="2"/>
          </p:cNvCxnSpPr>
          <p:nvPr/>
        </p:nvCxnSpPr>
        <p:spPr bwMode="auto">
          <a:xfrm rot="5400000">
            <a:off x="6490354" y="1794493"/>
            <a:ext cx="478153" cy="809663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rot="16200000" flipH="1">
            <a:off x="6834354" y="2262353"/>
            <a:ext cx="1005487" cy="413405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rgbClr val="3366FF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87990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4F3C3F4-78AE-D87E-C9A3-140AD9252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9207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But I Really Want A Mode!!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B5D5D-58B1-D9FC-30B3-B229DEC5B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81E443-D5A5-1FD4-7223-0CDA90380EF5}"/>
              </a:ext>
            </a:extLst>
          </p:cNvPr>
          <p:cNvSpPr txBox="1"/>
          <p:nvPr/>
        </p:nvSpPr>
        <p:spPr>
          <a:xfrm>
            <a:off x="4401941" y="1036320"/>
            <a:ext cx="4706313" cy="4154984"/>
          </a:xfrm>
          <a:prstGeom prst="rect">
            <a:avLst/>
          </a:prstGeom>
          <a:solidFill>
            <a:srgbClr val="000045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frequtils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Slice out the data of interest: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row.idxs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which(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linton$Condition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== 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"GEN"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&amp;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              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linton$Segment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== 1)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  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linton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row.idxs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]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vel     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dat$AverageAbsoluteVelocity</a:t>
            </a:r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This usually doesn't work for decimal data!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table(vel)</a:t>
            </a:r>
          </a:p>
          <a:p>
            <a:endParaRPr lang="en-US" sz="1200" dirty="0">
              <a:solidFill>
                <a:srgbClr val="FFFF00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Histogram, with quick and dirty KED around it: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hist(vel, probability = T)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dk &lt;- density(vel)         </a:t>
            </a:r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The KDE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lines(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dk$x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dk$y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lwd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=3)   </a:t>
            </a:r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Plot it over hist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max.idx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which.max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dk$y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dk$x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max.idx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]              </a:t>
            </a:r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Approx mode (max)</a:t>
            </a:r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Plot the mode on the KDE: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points(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dk$x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max.idx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],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dk$y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max.idx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],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   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pch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=16, col="red")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643CE-2741-3299-10E4-82F376873A80}"/>
              </a:ext>
            </a:extLst>
          </p:cNvPr>
          <p:cNvSpPr txBox="1"/>
          <p:nvPr/>
        </p:nvSpPr>
        <p:spPr>
          <a:xfrm>
            <a:off x="224790" y="2974421"/>
            <a:ext cx="395813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table()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(usually bad):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DF185-1F0D-05CA-527A-C18F29D4CBCC}"/>
              </a:ext>
            </a:extLst>
          </p:cNvPr>
          <p:cNvSpPr txBox="1"/>
          <p:nvPr/>
        </p:nvSpPr>
        <p:spPr>
          <a:xfrm>
            <a:off x="224790" y="3379320"/>
            <a:ext cx="389480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 curve around histogram (kernel density estimate)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max of curve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Pedantic and sensitive to sample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F863C9-30A7-398B-BF44-2F79F4BA666A}"/>
              </a:ext>
            </a:extLst>
          </p:cNvPr>
          <p:cNvSpPr txBox="1"/>
          <p:nvPr/>
        </p:nvSpPr>
        <p:spPr>
          <a:xfrm>
            <a:off x="-11112" y="991881"/>
            <a:ext cx="2400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can I do?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27014-38B7-0F48-D18C-480FED5B819E}"/>
              </a:ext>
            </a:extLst>
          </p:cNvPr>
          <p:cNvSpPr txBox="1"/>
          <p:nvPr/>
        </p:nvSpPr>
        <p:spPr>
          <a:xfrm>
            <a:off x="224791" y="1362106"/>
            <a:ext cx="389480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your eyes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Imprecise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very subjective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practical for 1 random variate (1D histogram)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757ACC-54B2-7165-8C2E-35B0FE999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88" y="5295741"/>
            <a:ext cx="5852160" cy="15089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3A085F-C88B-9C19-226F-DE4588AEB408}"/>
              </a:ext>
            </a:extLst>
          </p:cNvPr>
          <p:cNvSpPr txBox="1"/>
          <p:nvPr/>
        </p:nvSpPr>
        <p:spPr>
          <a:xfrm>
            <a:off x="7481136" y="5214164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kde_mode.R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54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990600"/>
            <a:ext cx="8686800" cy="3124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Sample variance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(Almost) the average of squared deviations from the sample mean.</a:t>
            </a: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6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6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6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6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228600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Measures of Data Spread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 rot="10800000" flipV="1">
            <a:off x="4495800" y="2556941"/>
            <a:ext cx="609600" cy="15240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rot="5400000" flipH="1" flipV="1">
            <a:off x="4533900" y="3357041"/>
            <a:ext cx="381000" cy="30480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rot="16200000" flipV="1">
            <a:off x="5379028" y="3363969"/>
            <a:ext cx="339434" cy="18011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3657600" y="3719945"/>
            <a:ext cx="1223412" cy="360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data point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endParaRPr lang="en-US" i="1" dirty="0"/>
          </a:p>
        </p:txBody>
      </p:sp>
      <p:sp>
        <p:nvSpPr>
          <p:cNvPr id="21" name="Rectangle 20"/>
          <p:cNvSpPr/>
          <p:nvPr/>
        </p:nvSpPr>
        <p:spPr>
          <a:xfrm>
            <a:off x="5189468" y="3567545"/>
            <a:ext cx="1396536" cy="360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sample mean</a:t>
            </a:r>
            <a:endParaRPr lang="en-US" i="1" dirty="0"/>
          </a:p>
        </p:txBody>
      </p:sp>
      <p:sp>
        <p:nvSpPr>
          <p:cNvPr id="22" name="Rectangle 21"/>
          <p:cNvSpPr/>
          <p:nvPr/>
        </p:nvSpPr>
        <p:spPr>
          <a:xfrm>
            <a:off x="5043055" y="2362200"/>
            <a:ext cx="2223686" cy="360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there are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data points</a:t>
            </a:r>
            <a:endParaRPr lang="en-US" i="1" dirty="0"/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5" name="Rectangle 14"/>
          <p:cNvSpPr/>
          <p:nvPr/>
        </p:nvSpPr>
        <p:spPr>
          <a:xfrm>
            <a:off x="159952" y="4366577"/>
            <a:ext cx="8686800" cy="1805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b="1" dirty="0">
                <a:solidFill>
                  <a:srgbClr val="000000"/>
                </a:solidFill>
                <a:latin typeface="Times New Roman" pitchFamily="18" charset="0"/>
              </a:rPr>
              <a:t>Sample standard deviation 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is 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The sample average and standard dev. are the most common measures of central tendency and spread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Sample average and standard dev </a:t>
            </a:r>
            <a:r>
              <a:rPr lang="en-GB" sz="2400" i="1" u="sng" dirty="0">
                <a:solidFill>
                  <a:srgbClr val="000000"/>
                </a:solidFill>
                <a:latin typeface="Times New Roman" pitchFamily="18" charset="0"/>
              </a:rPr>
              <a:t>have the same units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93667-0A7A-E2B3-36D9-7385FF43A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898" y="2735515"/>
            <a:ext cx="3027918" cy="8036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A9F8CF-0B6E-4E00-480D-F487DA098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538" y="4432288"/>
            <a:ext cx="1211610" cy="32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8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228600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Measures of Data Spread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31775" y="988377"/>
            <a:ext cx="86868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b="1" dirty="0">
                <a:solidFill>
                  <a:srgbClr val="000000"/>
                </a:solidFill>
                <a:latin typeface="Times New Roman" pitchFamily="18" charset="0"/>
              </a:rPr>
              <a:t>Standard deviation 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is “instructive” to do by hand a few times: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175" y="2131377"/>
            <a:ext cx="86868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63563" lvl="1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Compute the standard deviation of the following blood alcohol volumes assayed in 10 samples of 10 </a:t>
            </a:r>
            <a:r>
              <a:rPr lang="en-GB" sz="2600" dirty="0">
                <a:solidFill>
                  <a:srgbClr val="000000"/>
                </a:solidFill>
                <a:latin typeface="Symbol" charset="2"/>
                <a:cs typeface="Symbol" charset="2"/>
              </a:rPr>
              <a:t>m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L of blood drawn from a drunk driving suspect (units: </a:t>
            </a:r>
            <a:r>
              <a:rPr lang="en-GB" sz="2600" dirty="0" err="1">
                <a:solidFill>
                  <a:srgbClr val="000000"/>
                </a:solidFill>
                <a:latin typeface="Times New Roman" pitchFamily="18" charset="0"/>
              </a:rPr>
              <a:t>nL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):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6996" y="3696910"/>
            <a:ext cx="71432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7.97, 7.80, 7.79, 8.12, 8.12, 8.22, 8.03, 7.97, 7.88, 8.08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11" y="4360467"/>
            <a:ext cx="911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To prevent writers cramp: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6B504-A5B9-9018-A4F6-96B8ABAD5474}"/>
              </a:ext>
            </a:extLst>
          </p:cNvPr>
          <p:cNvSpPr txBox="1"/>
          <p:nvPr/>
        </p:nvSpPr>
        <p:spPr>
          <a:xfrm>
            <a:off x="2574610" y="4197746"/>
            <a:ext cx="6227987" cy="707886"/>
          </a:xfrm>
          <a:prstGeom prst="rect">
            <a:avLst/>
          </a:prstGeom>
          <a:solidFill>
            <a:srgbClr val="000045"/>
          </a:solidFill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(c(7.97, 7.80, 7.79, 8.12, 8.12, 8.22, 8.03, 7.97, 7.88, 8.08))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5882F1-B56C-8715-B634-870E0FA85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689" y="5207159"/>
            <a:ext cx="4488177" cy="14659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7620E4-3AB0-C7CF-4828-B7C63B4FC6FF}"/>
              </a:ext>
            </a:extLst>
          </p:cNvPr>
          <p:cNvSpPr txBox="1"/>
          <p:nvPr/>
        </p:nvSpPr>
        <p:spPr>
          <a:xfrm>
            <a:off x="7906160" y="4892520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spreads.R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33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09045E-BEDB-11DE-68E4-D4ACA1BD9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B447FD-3EBF-3422-DFB9-34E111C08087}"/>
              </a:ext>
            </a:extLst>
          </p:cNvPr>
          <p:cNvSpPr/>
          <p:nvPr/>
        </p:nvSpPr>
        <p:spPr>
          <a:xfrm>
            <a:off x="231775" y="1087528"/>
            <a:ext cx="86868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Standard deviation can be very sensitive to outliers.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2FF39C-563D-8887-6A9B-07B70D78C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228600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Measures of Data Spread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5ADEAB-C9CA-5FF9-0155-006FF2D8836B}"/>
              </a:ext>
            </a:extLst>
          </p:cNvPr>
          <p:cNvSpPr/>
          <p:nvPr/>
        </p:nvSpPr>
        <p:spPr>
          <a:xfrm>
            <a:off x="231775" y="1781590"/>
            <a:ext cx="86868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Median absolute deviation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Tempers standard deviation’s sensitivity to outliers by: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replacing sample mean    with sample median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replacing the sum of squares with the median of the absolute deviations from the sample median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Sometimes include a scale factor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for “consistency”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DD5F62-FD5B-5287-0E40-B7FA7A066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084" y="2723690"/>
            <a:ext cx="173736" cy="286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21017C-CD05-28CA-A74F-6E57FF930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289" y="2655063"/>
            <a:ext cx="1029696" cy="3713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C77DA1-B036-10F0-141F-252B680A0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995" y="3552350"/>
            <a:ext cx="1434181" cy="281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7B0451-0120-D3C1-4918-52B91EC88E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775" y="4636879"/>
            <a:ext cx="3134637" cy="1023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6AC6BD-9E07-C487-4494-B13A67115F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4595" y="4946371"/>
            <a:ext cx="4682205" cy="3977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C56E23-EE97-FAA7-7C68-444104743979}"/>
              </a:ext>
            </a:extLst>
          </p:cNvPr>
          <p:cNvSpPr txBox="1"/>
          <p:nvPr/>
        </p:nvSpPr>
        <p:spPr>
          <a:xfrm>
            <a:off x="738889" y="5856525"/>
            <a:ext cx="2819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lang="en-GB" sz="1800" b="1" dirty="0">
                <a:solidFill>
                  <a:srgbClr val="000000"/>
                </a:solidFill>
                <a:latin typeface="Times New Roman" pitchFamily="18" charset="0"/>
              </a:rPr>
              <a:t>ample standard deviation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772C6-76A6-1BFC-F2C6-7DE3BE2CF76A}"/>
              </a:ext>
            </a:extLst>
          </p:cNvPr>
          <p:cNvSpPr txBox="1"/>
          <p:nvPr/>
        </p:nvSpPr>
        <p:spPr>
          <a:xfrm>
            <a:off x="4824321" y="5856525"/>
            <a:ext cx="3520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sample median absolute </a:t>
            </a:r>
            <a:r>
              <a:rPr lang="en-GB" sz="1800" b="1" dirty="0">
                <a:solidFill>
                  <a:srgbClr val="000000"/>
                </a:solidFill>
                <a:latin typeface="Times New Roman" pitchFamily="18" charset="0"/>
              </a:rPr>
              <a:t>deviation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AA0E1-D7B6-6A95-BAAA-BD524A7E44B0}"/>
              </a:ext>
            </a:extLst>
          </p:cNvPr>
          <p:cNvSpPr txBox="1"/>
          <p:nvPr/>
        </p:nvSpPr>
        <p:spPr>
          <a:xfrm>
            <a:off x="1586254" y="6322958"/>
            <a:ext cx="6320961" cy="461665"/>
          </a:xfrm>
          <a:prstGeom prst="rect">
            <a:avLst/>
          </a:prstGeom>
          <a:solidFill>
            <a:srgbClr val="000045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mad(c(7.97, 7.80, 7.79, 8.12, 8.12, 8.22, 8.03, 7.97, 7.88, 8.08))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?mad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38E3AB-9BDD-49F6-723E-0785A4322045}"/>
              </a:ext>
            </a:extLst>
          </p:cNvPr>
          <p:cNvSpPr txBox="1"/>
          <p:nvPr/>
        </p:nvSpPr>
        <p:spPr>
          <a:xfrm>
            <a:off x="7907215" y="6498371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spreads.R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05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3" grpId="0"/>
      <p:bldP spid="14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524000"/>
            <a:ext cx="8686800" cy="4800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Sample</a:t>
            </a:r>
            <a:r>
              <a:rPr lang="en-GB" sz="3600" b="1" dirty="0">
                <a:solidFill>
                  <a:srgbClr val="000000"/>
                </a:solidFill>
                <a:latin typeface="Times New Roman" pitchFamily="18" charset="0"/>
              </a:rPr>
              <a:t> range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The difference between the largest and smallest value in the sample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Very sensitive to outliers (extreme observations)</a:t>
            </a: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b="1" dirty="0">
                <a:solidFill>
                  <a:srgbClr val="000000"/>
                </a:solidFill>
                <a:latin typeface="Times New Roman" pitchFamily="18" charset="0"/>
              </a:rPr>
              <a:t>Percentiles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The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GB" sz="3200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percentile data value,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, means that 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-percent of the data are </a:t>
            </a:r>
            <a:r>
              <a:rPr lang="en-GB" sz="3200" i="1" u="sng" dirty="0">
                <a:solidFill>
                  <a:srgbClr val="000000"/>
                </a:solidFill>
                <a:latin typeface="Times New Roman" pitchFamily="18" charset="0"/>
              </a:rPr>
              <a:t>smaller than or equal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to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Median = 50</a:t>
            </a:r>
            <a:r>
              <a:rPr lang="en-GB" sz="2800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percentile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609600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800" dirty="0">
                <a:solidFill>
                  <a:srgbClr val="000000"/>
                </a:solidFill>
                <a:latin typeface="Times New Roman" pitchFamily="18" charset="0"/>
              </a:rPr>
              <a:t>Measures of Data Spread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5047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228600" y="1381462"/>
            <a:ext cx="8686800" cy="56630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What is the sample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range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of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deoxypyridinoline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conc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?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31775" y="609600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800" dirty="0">
                <a:solidFill>
                  <a:srgbClr val="000000"/>
                </a:solidFill>
                <a:latin typeface="Times New Roman" pitchFamily="18" charset="0"/>
              </a:rPr>
              <a:t>Measures of Data Spread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25768" y="1982813"/>
            <a:ext cx="79798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0.62, 0.64, 1.14, 1.04, 1.07, 1.83, 1.32, 1.19, 1.28, 0.85, 1.36, 1.16, 1.00, 1.69, 1.62, 1.25, 1.49, 1.45, 1.14, 2.40, 3.05, 2.81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6770" y="3198377"/>
            <a:ext cx="7380547" cy="1815882"/>
          </a:xfrm>
          <a:prstGeom prst="rect">
            <a:avLst/>
          </a:prstGeom>
          <a:solidFill>
            <a:srgbClr val="000045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Dr. James Curran's </a:t>
            </a:r>
            <a:r>
              <a:rPr lang="en-US" sz="1400" dirty="0" err="1">
                <a:solidFill>
                  <a:srgbClr val="FFFF00"/>
                </a:solidFill>
                <a:latin typeface="Courier"/>
                <a:cs typeface="Courier"/>
              </a:rPr>
              <a:t>dafs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 </a:t>
            </a:r>
            <a:r>
              <a:rPr lang="en-US" sz="1400" dirty="0">
                <a:solidFill>
                  <a:srgbClr val="3366FF"/>
                </a:solidFill>
                <a:latin typeface="Courier"/>
                <a:cs typeface="Courier"/>
              </a:rPr>
              <a:t>(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  <a:hlinkClick r:id="rId3"/>
              </a:rPr>
              <a:t>http://www.stat.auckland.ac.nz/~curran</a:t>
            </a:r>
            <a:r>
              <a:rPr lang="en-US" sz="1400" dirty="0">
                <a:solidFill>
                  <a:srgbClr val="3366FF"/>
                </a:solidFill>
                <a:latin typeface="Courier"/>
                <a:cs typeface="Courier"/>
              </a:rPr>
              <a:t>) 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library(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dafs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data(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dpd.df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             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sz="1400" dirty="0" err="1">
                <a:solidFill>
                  <a:srgbClr val="FFFF00"/>
                </a:solidFill>
                <a:latin typeface="Courier"/>
                <a:cs typeface="Courier"/>
              </a:rPr>
              <a:t>Deoxypyridinoline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 data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range(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dpd.df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[,5])        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Look at column 5 for </a:t>
            </a:r>
            <a:r>
              <a:rPr lang="en-US" sz="1400" dirty="0" err="1">
                <a:solidFill>
                  <a:srgbClr val="FFFF00"/>
                </a:solidFill>
                <a:latin typeface="Courier"/>
                <a:cs typeface="Courier"/>
              </a:rPr>
              <a:t>Deoxypyridinoline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 </a:t>
            </a:r>
          </a:p>
          <a:p>
            <a:r>
              <a:rPr lang="en-US" sz="1400" dirty="0">
                <a:solidFill>
                  <a:srgbClr val="3366FF"/>
                </a:solidFill>
                <a:latin typeface="Courier"/>
                <a:cs typeface="Courier"/>
              </a:rPr>
              <a:t>                         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concentration and get its range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diff(range(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dpd.df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[,5]))  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Range as defined in the notes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555" y="5597877"/>
            <a:ext cx="6337300" cy="927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6FB8A1-F9E4-795B-3872-4B9F0BCBAC30}"/>
              </a:ext>
            </a:extLst>
          </p:cNvPr>
          <p:cNvSpPr txBox="1"/>
          <p:nvPr/>
        </p:nvSpPr>
        <p:spPr>
          <a:xfrm>
            <a:off x="7323627" y="5014259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spreads.R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07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228600" y="1524000"/>
            <a:ext cx="8686800" cy="118811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Box-and-whisker plot again for reference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Deoxypyridinoline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conc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?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31775" y="475488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800" dirty="0">
                <a:solidFill>
                  <a:srgbClr val="000000"/>
                </a:solidFill>
                <a:latin typeface="Times New Roman" pitchFamily="18" charset="0"/>
              </a:rPr>
              <a:t>Range Example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5801" t="8495" r="2784"/>
          <a:stretch/>
        </p:blipFill>
        <p:spPr>
          <a:xfrm>
            <a:off x="1084713" y="3425825"/>
            <a:ext cx="6878669" cy="2470301"/>
          </a:xfrm>
          <a:prstGeom prst="rect">
            <a:avLst/>
          </a:prstGeom>
        </p:spPr>
      </p:pic>
      <p:sp>
        <p:nvSpPr>
          <p:cNvPr id="10" name="Left-Right Arrow 9"/>
          <p:cNvSpPr/>
          <p:nvPr/>
        </p:nvSpPr>
        <p:spPr bwMode="auto">
          <a:xfrm>
            <a:off x="1388960" y="3896858"/>
            <a:ext cx="6256945" cy="152400"/>
          </a:xfrm>
          <a:prstGeom prst="leftRightArrow">
            <a:avLst/>
          </a:prstGeom>
          <a:solidFill>
            <a:srgbClr val="26FA2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rot="5400000" flipH="1" flipV="1">
            <a:off x="2139406" y="4937270"/>
            <a:ext cx="381000" cy="381000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rot="16200000" flipV="1">
            <a:off x="3982061" y="4916490"/>
            <a:ext cx="381000" cy="381000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 rot="5400000" flipH="1" flipV="1">
            <a:off x="2829555" y="5145088"/>
            <a:ext cx="457205" cy="1588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1086461" y="5125030"/>
            <a:ext cx="1242648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25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st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-quartile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325758" y="5125030"/>
            <a:ext cx="1268296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75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rd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-quartile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35949" y="5238224"/>
            <a:ext cx="1099981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median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50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8501" y="3514124"/>
            <a:ext cx="697627" cy="360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range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84188" y="2552495"/>
            <a:ext cx="79798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0.62, 0.64, 1.14, 1.04, 1.07, 1.83, 1.32, 1.19, 1.28, 0.85, 1.36, 1.16, 1.00, 1.69, 1.62, 1.25, 1.49, 1.45, 1.14, 2.40, 3.05, 2.81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2143" y="5896126"/>
            <a:ext cx="8803812" cy="954107"/>
          </a:xfrm>
          <a:prstGeom prst="rect">
            <a:avLst/>
          </a:prstGeom>
          <a:solidFill>
            <a:srgbClr val="000045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Box and whiskers plots: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boxplot(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dpd.df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[,5], horizontal = T, range = 0,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xlab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= </a:t>
            </a:r>
            <a:r>
              <a:rPr lang="en-US" sz="1400" dirty="0">
                <a:solidFill>
                  <a:srgbClr val="00B050"/>
                </a:solidFill>
                <a:latin typeface="Courier"/>
                <a:cs typeface="Courier"/>
              </a:rPr>
              <a:t>"Deoxypyridinoline conc."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summary(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dpd.df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[,5])      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Common summary statistics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37A2D0-EA71-3E24-E1B6-5B44C81CFD9F}"/>
              </a:ext>
            </a:extLst>
          </p:cNvPr>
          <p:cNvSpPr txBox="1"/>
          <p:nvPr/>
        </p:nvSpPr>
        <p:spPr>
          <a:xfrm>
            <a:off x="8095968" y="5546016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spreads.R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95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5" grpId="0"/>
      <p:bldP spid="16" grpId="0"/>
      <p:bldP spid="17" grpId="0"/>
      <p:bldP spid="21" grpId="0" animBg="1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ACE04B-2706-F95B-71D7-C3CD85227C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94"/>
          <a:stretch/>
        </p:blipFill>
        <p:spPr>
          <a:xfrm>
            <a:off x="48768" y="2337850"/>
            <a:ext cx="4967193" cy="431898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DFBA3F0-20FD-8B4A-CE8C-617114A35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426720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800" dirty="0">
                <a:solidFill>
                  <a:srgbClr val="000000"/>
                </a:solidFill>
                <a:latin typeface="Times New Roman" pitchFamily="18" charset="0"/>
              </a:rPr>
              <a:t>Percentiles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0D0ABA-5E21-77EE-A880-6A326ECCE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44E16B-C84C-01E0-7A0F-87582DCC90DF}"/>
              </a:ext>
            </a:extLst>
          </p:cNvPr>
          <p:cNvSpPr txBox="1"/>
          <p:nvPr/>
        </p:nvSpPr>
        <p:spPr>
          <a:xfrm>
            <a:off x="725424" y="1591474"/>
            <a:ext cx="3371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Times New Roman" pitchFamily="18" charset="0"/>
              </a:rPr>
              <a:t>Mohammed </a:t>
            </a:r>
            <a:r>
              <a:rPr lang="en-GB" sz="1800" i="1" dirty="0">
                <a:solidFill>
                  <a:srgbClr val="000000"/>
                </a:solidFill>
                <a:latin typeface="Times New Roman" pitchFamily="18" charset="0"/>
              </a:rPr>
              <a:t>et al.</a:t>
            </a:r>
            <a:r>
              <a:rPr lang="en-GB" sz="1800" dirty="0">
                <a:solidFill>
                  <a:srgbClr val="000000"/>
                </a:solidFill>
                <a:latin typeface="Times New Roman" pitchFamily="18" charset="0"/>
              </a:rPr>
              <a:t>: Velocity for the first segment of genuine signatures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557BE9-5C81-BDC7-F6A3-CE7E3ADD3814}"/>
              </a:ext>
            </a:extLst>
          </p:cNvPr>
          <p:cNvSpPr/>
          <p:nvPr/>
        </p:nvSpPr>
        <p:spPr>
          <a:xfrm>
            <a:off x="61087" y="6155837"/>
            <a:ext cx="7922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sz="1400" baseline="30000" dirty="0">
                <a:solidFill>
                  <a:srgbClr val="000000"/>
                </a:solidFill>
                <a:latin typeface="Times New Roman" pitchFamily="18" charset="0"/>
              </a:rPr>
              <a:t>st</a:t>
            </a:r>
            <a:r>
              <a:rPr lang="en-GB" sz="1400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AA8BC2-8ACF-EDE7-61AE-78466A107D63}"/>
              </a:ext>
            </a:extLst>
          </p:cNvPr>
          <p:cNvSpPr/>
          <p:nvPr/>
        </p:nvSpPr>
        <p:spPr>
          <a:xfrm>
            <a:off x="3671361" y="6197541"/>
            <a:ext cx="8947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>
                <a:solidFill>
                  <a:srgbClr val="000000"/>
                </a:solidFill>
                <a:latin typeface="Times New Roman" pitchFamily="18" charset="0"/>
              </a:rPr>
              <a:t>99</a:t>
            </a:r>
            <a:r>
              <a:rPr lang="en-GB" sz="1400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sz="1400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8A7D15-43E0-5E33-7705-F15966C69507}"/>
              </a:ext>
            </a:extLst>
          </p:cNvPr>
          <p:cNvSpPr/>
          <p:nvPr/>
        </p:nvSpPr>
        <p:spPr>
          <a:xfrm>
            <a:off x="73279" y="6349054"/>
            <a:ext cx="5470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0.67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3BD61-C839-0E4E-D422-B9CB8D44A18E}"/>
              </a:ext>
            </a:extLst>
          </p:cNvPr>
          <p:cNvSpPr/>
          <p:nvPr/>
        </p:nvSpPr>
        <p:spPr>
          <a:xfrm>
            <a:off x="3657480" y="6416744"/>
            <a:ext cx="5888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22.6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A59C00-6F78-BAE5-CC24-3A81ECE79F65}"/>
              </a:ext>
            </a:extLst>
          </p:cNvPr>
          <p:cNvCxnSpPr>
            <a:cxnSpLocks/>
          </p:cNvCxnSpPr>
          <p:nvPr/>
        </p:nvCxnSpPr>
        <p:spPr>
          <a:xfrm flipH="1">
            <a:off x="1279302" y="3839505"/>
            <a:ext cx="91440" cy="0"/>
          </a:xfrm>
          <a:prstGeom prst="straightConnector1">
            <a:avLst/>
          </a:prstGeom>
          <a:ln w="28575"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3A4F66-DCEA-7424-2BA9-9B275A8F1696}"/>
              </a:ext>
            </a:extLst>
          </p:cNvPr>
          <p:cNvCxnSpPr>
            <a:cxnSpLocks/>
          </p:cNvCxnSpPr>
          <p:nvPr/>
        </p:nvCxnSpPr>
        <p:spPr>
          <a:xfrm flipH="1">
            <a:off x="1227088" y="4167963"/>
            <a:ext cx="2714438" cy="0"/>
          </a:xfrm>
          <a:prstGeom prst="straightConnector1">
            <a:avLst/>
          </a:prstGeom>
          <a:ln w="28575">
            <a:solidFill>
              <a:srgbClr val="00B05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0557FD-0A4E-3E96-5D0E-62349EB22B13}"/>
              </a:ext>
            </a:extLst>
          </p:cNvPr>
          <p:cNvCxnSpPr/>
          <p:nvPr/>
        </p:nvCxnSpPr>
        <p:spPr>
          <a:xfrm flipV="1">
            <a:off x="1242726" y="3809593"/>
            <a:ext cx="0" cy="157890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B0BE50-4B69-69AA-BC41-3D5130948EE0}"/>
              </a:ext>
            </a:extLst>
          </p:cNvPr>
          <p:cNvCxnSpPr>
            <a:cxnSpLocks/>
          </p:cNvCxnSpPr>
          <p:nvPr/>
        </p:nvCxnSpPr>
        <p:spPr>
          <a:xfrm flipV="1">
            <a:off x="3941526" y="4143579"/>
            <a:ext cx="0" cy="1232723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D527BD-2E79-0D1C-773A-9A668084991D}"/>
              </a:ext>
            </a:extLst>
          </p:cNvPr>
          <p:cNvCxnSpPr/>
          <p:nvPr/>
        </p:nvCxnSpPr>
        <p:spPr>
          <a:xfrm flipV="1">
            <a:off x="1346358" y="3840073"/>
            <a:ext cx="0" cy="1578901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DAE2410-B998-D69A-AB28-5AC299DA83F5}"/>
              </a:ext>
            </a:extLst>
          </p:cNvPr>
          <p:cNvCxnSpPr>
            <a:cxnSpLocks/>
          </p:cNvCxnSpPr>
          <p:nvPr/>
        </p:nvCxnSpPr>
        <p:spPr>
          <a:xfrm flipH="1">
            <a:off x="508572" y="5488539"/>
            <a:ext cx="758540" cy="667298"/>
          </a:xfrm>
          <a:prstGeom prst="straightConnector1">
            <a:avLst/>
          </a:prstGeom>
          <a:ln w="28575">
            <a:solidFill>
              <a:schemeClr val="accent1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5CD5BBD-E7B5-2D58-384B-A2ABC118191F}"/>
              </a:ext>
            </a:extLst>
          </p:cNvPr>
          <p:cNvCxnSpPr>
            <a:cxnSpLocks/>
          </p:cNvCxnSpPr>
          <p:nvPr/>
        </p:nvCxnSpPr>
        <p:spPr>
          <a:xfrm>
            <a:off x="3941526" y="5508245"/>
            <a:ext cx="0" cy="689296"/>
          </a:xfrm>
          <a:prstGeom prst="straightConnector1">
            <a:avLst/>
          </a:prstGeom>
          <a:ln w="28575">
            <a:solidFill>
              <a:srgbClr val="00B05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19DC51-3294-6F2B-BFE3-9260F9F81E29}"/>
              </a:ext>
            </a:extLst>
          </p:cNvPr>
          <p:cNvSpPr txBox="1"/>
          <p:nvPr/>
        </p:nvSpPr>
        <p:spPr>
          <a:xfrm>
            <a:off x="4099588" y="1432559"/>
            <a:ext cx="4995644" cy="3785652"/>
          </a:xfrm>
          <a:prstGeom prst="rect">
            <a:avLst/>
          </a:prstGeom>
          <a:solidFill>
            <a:srgbClr val="000045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frequtils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Slice out the data of interest: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row.idxs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which(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linton$Condition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== 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"GEN"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&amp;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              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linton$Segment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== 1)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linton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[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row.idxs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]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vel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dat$AverageAbsoluteVelocity</a:t>
            </a:r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Percentiles, Quantiles and Histogram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quantls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quantile(vel, probs = c(0.01, 0.99))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quantls</a:t>
            </a:r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hist(vel)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points(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quantls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c(0,0),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pch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=16)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Inverse of the quantile function: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percs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percentiles(vel,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              quantiles = c(0.674491, 22.572147))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percs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* 100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1C24F3-8479-DC9F-56C1-976F1C070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656" y="5640939"/>
            <a:ext cx="2112168" cy="10463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587AFF-307D-DB11-FFA6-05B369F8D27D}"/>
              </a:ext>
            </a:extLst>
          </p:cNvPr>
          <p:cNvSpPr txBox="1"/>
          <p:nvPr/>
        </p:nvSpPr>
        <p:spPr>
          <a:xfrm>
            <a:off x="7314499" y="5180762"/>
            <a:ext cx="1867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quantiles_percentiles.R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24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  <p:bldP spid="2" grpId="0" animBg="1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F519CC32-57EA-6F2B-623F-8AAC4A89E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76400"/>
            <a:ext cx="8686800" cy="4800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Coefficient of variation 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cv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The ratio of standard deviation to mean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Gives a sense of variation of the data relative to the data’s average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In practice, often written as a percentage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Estimate as sample standard dev to average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Also called the </a:t>
            </a: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relative standard deviation</a:t>
            </a: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 (</a:t>
            </a:r>
            <a:r>
              <a:rPr lang="en-GB" sz="2200" b="1" dirty="0" err="1">
                <a:solidFill>
                  <a:srgbClr val="000000"/>
                </a:solidFill>
                <a:latin typeface="Times New Roman" pitchFamily="18" charset="0"/>
              </a:rPr>
              <a:t>rsd</a:t>
            </a: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CVs (RSDs) ≤ 20% − 25% is generally considered “OK”. . 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113C2D-7895-E695-9E93-31C73C6D8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609600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800" dirty="0">
                <a:solidFill>
                  <a:srgbClr val="000000"/>
                </a:solidFill>
                <a:latin typeface="Times New Roman" pitchFamily="18" charset="0"/>
              </a:rPr>
              <a:t>Measures of Data Spread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C8AA1-3BF4-954B-27FA-5A9D383E6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359555-3AAA-899E-084A-CEF4B8D8A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322" y="5466448"/>
            <a:ext cx="1384300" cy="1054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BE0F6-1228-46CB-9547-F2695317F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614" y="5530456"/>
            <a:ext cx="30353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C33ABF-39FE-FD39-7448-4B2F7ED72BE7}"/>
              </a:ext>
            </a:extLst>
          </p:cNvPr>
          <p:cNvSpPr txBox="1"/>
          <p:nvPr/>
        </p:nvSpPr>
        <p:spPr>
          <a:xfrm>
            <a:off x="170689" y="2285694"/>
            <a:ext cx="5067300" cy="2123658"/>
          </a:xfrm>
          <a:prstGeom prst="rect">
            <a:avLst/>
          </a:prstGeom>
          <a:solidFill>
            <a:srgbClr val="000045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frequtils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cv% ethylbenzene in gasoline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data(gas)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?gas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hist(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gas$Ethylbenzene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mean(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gas$Ethylbenzene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gas$Ethylbenzene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cv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gas$Ethylbenzene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)/mean(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gas$Ethylbenzene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)*100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cv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7F026A-8EA0-5172-C773-99D90E599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426720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800" dirty="0">
                <a:solidFill>
                  <a:srgbClr val="000000"/>
                </a:solidFill>
                <a:latin typeface="Times New Roman" pitchFamily="18" charset="0"/>
              </a:rPr>
              <a:t>Coefficient of Variation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3C686E-1645-6228-6EB6-0E9D606DE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162179-9D02-5EBE-17C4-63E75466EAD5}"/>
              </a:ext>
            </a:extLst>
          </p:cNvPr>
          <p:cNvSpPr txBox="1"/>
          <p:nvPr/>
        </p:nvSpPr>
        <p:spPr>
          <a:xfrm>
            <a:off x="725424" y="1420786"/>
            <a:ext cx="271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Times New Roman" pitchFamily="18" charset="0"/>
              </a:rPr>
              <a:t>Gil: </a:t>
            </a:r>
            <a:r>
              <a:rPr lang="en-US" sz="1800" dirty="0">
                <a:solidFill>
                  <a:srgbClr val="000000"/>
                </a:solidFill>
                <a:latin typeface="Times New Roman" pitchFamily="18" charset="0"/>
              </a:rPr>
              <a:t>GC-MS gasoline data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02A4D8-32AA-EC30-A08C-E92B444CC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556" y="1654220"/>
            <a:ext cx="3630542" cy="3465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CFDE2-FC75-A8E3-CE6F-46DCC431C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75" y="5120132"/>
            <a:ext cx="5067300" cy="1485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41FECE-97BC-B71D-3A90-BF771DF08552}"/>
              </a:ext>
            </a:extLst>
          </p:cNvPr>
          <p:cNvSpPr txBox="1"/>
          <p:nvPr/>
        </p:nvSpPr>
        <p:spPr>
          <a:xfrm>
            <a:off x="4460069" y="4348152"/>
            <a:ext cx="849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cv_rsd.R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8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758664-A553-8CCE-5106-ECCB242DE2E2}"/>
              </a:ext>
            </a:extLst>
          </p:cNvPr>
          <p:cNvSpPr txBox="1"/>
          <p:nvPr/>
        </p:nvSpPr>
        <p:spPr>
          <a:xfrm>
            <a:off x="170689" y="2099000"/>
            <a:ext cx="4693921" cy="2862322"/>
          </a:xfrm>
          <a:prstGeom prst="rect">
            <a:avLst/>
          </a:prstGeom>
          <a:solidFill>
            <a:srgbClr val="000045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Courier"/>
                <a:cs typeface="Courier"/>
              </a:rPr>
              <a:t>library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frequtils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data(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"shedder"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?shedder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row.idxs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which(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shedder$location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==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"LU"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   &lt;- shedder[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row.idxs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]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hist(dat$DNA.amt1)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cv%: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cvp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(dat$DNA.amt1)/mean(dat$DNA.amt1) * 100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mean(dat$DNA.amt1)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(dat$DNA.amt1)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cvp</a:t>
            </a:r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A36CE-F848-4469-E038-35A71ED29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406" y="1823277"/>
            <a:ext cx="3803905" cy="38133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5AAF439-F1C0-C752-E0F1-D76B07B40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426720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Another Coefficient of Variation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9AA5E1-0457-F390-5D00-9CBF46A6E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56C830-0E14-5A49-F1CD-0AE72EC93B09}"/>
              </a:ext>
            </a:extLst>
          </p:cNvPr>
          <p:cNvSpPr txBox="1"/>
          <p:nvPr/>
        </p:nvSpPr>
        <p:spPr>
          <a:xfrm>
            <a:off x="725424" y="1399014"/>
            <a:ext cx="3371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Times New Roman" pitchFamily="18" charset="0"/>
              </a:rPr>
              <a:t>Chen (sim): quantity shedder DNA</a:t>
            </a:r>
            <a:r>
              <a:rPr lang="en-US" dirty="0"/>
              <a:t>, 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lang="en-GB" sz="1800" dirty="0">
                <a:solidFill>
                  <a:srgbClr val="000000"/>
                </a:solidFill>
                <a:latin typeface="Times New Roman" pitchFamily="18" charset="0"/>
              </a:rPr>
              <a:t>eft upper shoulder (LU)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13BA06-5A9A-C7CC-57CC-F8C860433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544" y="5208524"/>
            <a:ext cx="2082800" cy="1536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DC3851-A497-74C5-698E-C08E2E264BDA}"/>
              </a:ext>
            </a:extLst>
          </p:cNvPr>
          <p:cNvSpPr txBox="1"/>
          <p:nvPr/>
        </p:nvSpPr>
        <p:spPr>
          <a:xfrm>
            <a:off x="4122374" y="4961322"/>
            <a:ext cx="849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cv_rsd.R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77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56C229-2854-06F4-1191-F97E33D4E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950" y="1792902"/>
            <a:ext cx="3462274" cy="3350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1A83C5-3ED1-7FDB-0051-76A7B30A5D6A}"/>
              </a:ext>
            </a:extLst>
          </p:cNvPr>
          <p:cNvSpPr txBox="1"/>
          <p:nvPr/>
        </p:nvSpPr>
        <p:spPr>
          <a:xfrm>
            <a:off x="2203704" y="1257490"/>
            <a:ext cx="5087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DNA shed at LU per Donor: cv%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0C536-17CF-CCAF-C8C7-3C8000515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913E1A-3679-721D-53DD-8F7B45E61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325" y="5216451"/>
            <a:ext cx="6495288" cy="15653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8559DB-FF42-D7B9-E15A-8FD51D5EC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426720"/>
            <a:ext cx="8607425" cy="685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Another Coefficient of Variation Example</a:t>
            </a:r>
          </a:p>
        </p:txBody>
      </p:sp>
    </p:spTree>
    <p:extLst>
      <p:ext uri="{BB962C8B-B14F-4D97-AF65-F5344CB8AC3E}">
        <p14:creationId xmlns:p14="http://schemas.microsoft.com/office/powerpoint/2010/main" val="344670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12963</TotalTime>
  <Words>1535</Words>
  <Application>Microsoft Macintosh PowerPoint</Application>
  <PresentationFormat>On-screen Show (4:3)</PresentationFormat>
  <Paragraphs>244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Courier</vt:lpstr>
      <vt:lpstr>Courier New</vt:lpstr>
      <vt:lpstr>Symbol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Petraco</dc:creator>
  <cp:lastModifiedBy>Nicholas Petraco</cp:lastModifiedBy>
  <cp:revision>13</cp:revision>
  <dcterms:created xsi:type="dcterms:W3CDTF">2025-06-11T18:58:59Z</dcterms:created>
  <dcterms:modified xsi:type="dcterms:W3CDTF">2026-02-01T00:23:50Z</dcterms:modified>
</cp:coreProperties>
</file>