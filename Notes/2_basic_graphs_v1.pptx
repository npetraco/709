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326" r:id="rId2"/>
    <p:sldId id="279" r:id="rId3"/>
    <p:sldId id="280" r:id="rId4"/>
    <p:sldId id="282" r:id="rId5"/>
    <p:sldId id="283" r:id="rId6"/>
    <p:sldId id="341" r:id="rId7"/>
    <p:sldId id="327" r:id="rId8"/>
    <p:sldId id="333" r:id="rId9"/>
    <p:sldId id="375" r:id="rId10"/>
    <p:sldId id="373" r:id="rId11"/>
    <p:sldId id="377" r:id="rId12"/>
    <p:sldId id="374" r:id="rId13"/>
    <p:sldId id="372" r:id="rId14"/>
    <p:sldId id="37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70"/>
    <p:restoredTop sz="94718"/>
  </p:normalViewPr>
  <p:slideViewPr>
    <p:cSldViewPr snapToGrid="0">
      <p:cViewPr varScale="1">
        <p:scale>
          <a:sx n="112" d="100"/>
          <a:sy n="112" d="100"/>
        </p:scale>
        <p:origin x="17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3EB49-0961-6744-BA97-FA0D6724AECB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8C2E4-111E-2446-A315-4A2CAF078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34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3EB49-0961-6744-BA97-FA0D6724AECB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8C2E4-111E-2446-A315-4A2CAF078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135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3EB49-0961-6744-BA97-FA0D6724AECB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8C2E4-111E-2446-A315-4A2CAF078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893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3EB49-0961-6744-BA97-FA0D6724AECB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8C2E4-111E-2446-A315-4A2CAF078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92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3EB49-0961-6744-BA97-FA0D6724AECB}" type="datetimeFigureOut">
              <a:rPr lang="en-US" smtClean="0"/>
              <a:t>12/3/25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8C2E4-111E-2446-A315-4A2CAF078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07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3EB49-0961-6744-BA97-FA0D6724AECB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8C2E4-111E-2446-A315-4A2CAF078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06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3EB49-0961-6744-BA97-FA0D6724AECB}" type="datetimeFigureOut">
              <a:rPr lang="en-US" smtClean="0"/>
              <a:t>12/3/25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8C2E4-111E-2446-A315-4A2CAF078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728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3EB49-0961-6744-BA97-FA0D6724AECB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8C2E4-111E-2446-A315-4A2CAF078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809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3EB49-0961-6744-BA97-FA0D6724AECB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8C2E4-111E-2446-A315-4A2CAF078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649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3EB49-0961-6744-BA97-FA0D6724AECB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8C2E4-111E-2446-A315-4A2CAF078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219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3EB49-0961-6744-BA97-FA0D6724AECB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8C2E4-111E-2446-A315-4A2CAF078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338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F3EB49-0961-6744-BA97-FA0D6724AECB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F8C2E4-111E-2446-A315-4A2CAF078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84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268286" y="3740485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600" dirty="0">
                <a:solidFill>
                  <a:srgbClr val="000000"/>
                </a:solidFill>
                <a:latin typeface="Times New Roman" pitchFamily="18" charset="0"/>
              </a:rPr>
              <a:t>First Thing: Look at your Data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68287" y="187285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800" dirty="0">
                <a:solidFill>
                  <a:srgbClr val="000000"/>
                </a:solidFill>
                <a:latin typeface="Times New Roman" pitchFamily="18" charset="0"/>
              </a:rPr>
              <a:t>Common Graphs</a:t>
            </a:r>
          </a:p>
        </p:txBody>
      </p:sp>
    </p:spTree>
    <p:extLst>
      <p:ext uri="{BB962C8B-B14F-4D97-AF65-F5344CB8AC3E}">
        <p14:creationId xmlns:p14="http://schemas.microsoft.com/office/powerpoint/2010/main" val="55611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838200"/>
            <a:ext cx="8686800" cy="5715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Histograms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: “bin” a variable and plot frequencies</a:t>
            </a: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32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15240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First Thing: Look at your Data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329" y="1722889"/>
            <a:ext cx="6399463" cy="500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328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838200"/>
            <a:ext cx="8686800" cy="88468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Histograms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: “bin” a variable and plot frequencies</a:t>
            </a: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32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15240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First Thing: Look at your Data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801" y="1722889"/>
            <a:ext cx="8531135" cy="3811637"/>
          </a:xfrm>
          <a:prstGeom prst="rect">
            <a:avLst/>
          </a:prstGeom>
        </p:spPr>
      </p:pic>
      <p:cxnSp>
        <p:nvCxnSpPr>
          <p:cNvPr id="27" name="Straight Arrow Connector 26"/>
          <p:cNvCxnSpPr/>
          <p:nvPr/>
        </p:nvCxnSpPr>
        <p:spPr>
          <a:xfrm flipH="1" flipV="1">
            <a:off x="2860871" y="4692303"/>
            <a:ext cx="294105" cy="110957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7968" y="5841986"/>
            <a:ext cx="8150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Each bar is a “bin” that contains a number of data points: </a:t>
            </a:r>
            <a:r>
              <a:rPr lang="en-US" sz="2400" b="1" dirty="0">
                <a:latin typeface="Times New Roman"/>
                <a:cs typeface="Times New Roman"/>
              </a:rPr>
              <a:t>counts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 flipH="1" flipV="1">
            <a:off x="1630976" y="4946303"/>
            <a:ext cx="1524000" cy="85557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 flipV="1">
            <a:off x="2286029" y="4812619"/>
            <a:ext cx="868947" cy="98926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3154976" y="4692303"/>
            <a:ext cx="267369" cy="110957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3154976" y="4692303"/>
            <a:ext cx="842211" cy="110957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3154976" y="4879461"/>
            <a:ext cx="1483895" cy="9224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3154976" y="4879461"/>
            <a:ext cx="1911685" cy="9224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3154976" y="4879461"/>
            <a:ext cx="2459790" cy="9224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3154976" y="4879461"/>
            <a:ext cx="3048000" cy="9224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3154976" y="4879461"/>
            <a:ext cx="3662919" cy="9224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3154976" y="4879461"/>
            <a:ext cx="4157550" cy="9224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V="1">
            <a:off x="3154976" y="4946303"/>
            <a:ext cx="4852708" cy="85557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5900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838200"/>
            <a:ext cx="8686800" cy="5715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Box and Whiskers plots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32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15240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First Thing: Look at your Data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6" name="Picture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86690" y="1676400"/>
            <a:ext cx="73914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Left-Right Arrow 7"/>
          <p:cNvSpPr/>
          <p:nvPr/>
        </p:nvSpPr>
        <p:spPr bwMode="auto">
          <a:xfrm>
            <a:off x="1039090" y="2362200"/>
            <a:ext cx="7010400" cy="152400"/>
          </a:xfrm>
          <a:prstGeom prst="leftRightArrow">
            <a:avLst/>
          </a:prstGeom>
          <a:solidFill>
            <a:srgbClr val="26FA2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9" name="Straight Arrow Connector 8"/>
          <p:cNvCxnSpPr/>
          <p:nvPr/>
        </p:nvCxnSpPr>
        <p:spPr bwMode="auto">
          <a:xfrm rot="5400000" flipH="1" flipV="1">
            <a:off x="4163290" y="4897580"/>
            <a:ext cx="381000" cy="381000"/>
          </a:xfrm>
          <a:prstGeom prst="straightConnector1">
            <a:avLst/>
          </a:prstGeom>
          <a:solidFill>
            <a:srgbClr val="00B8FF"/>
          </a:solidFill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Straight Arrow Connector 9"/>
          <p:cNvCxnSpPr/>
          <p:nvPr/>
        </p:nvCxnSpPr>
        <p:spPr bwMode="auto">
          <a:xfrm rot="16200000" flipV="1">
            <a:off x="6005945" y="4876800"/>
            <a:ext cx="381000" cy="381000"/>
          </a:xfrm>
          <a:prstGeom prst="straightConnector1">
            <a:avLst/>
          </a:prstGeom>
          <a:solidFill>
            <a:srgbClr val="00B8FF"/>
          </a:solidFill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" name="Straight Arrow Connector 10"/>
          <p:cNvCxnSpPr/>
          <p:nvPr/>
        </p:nvCxnSpPr>
        <p:spPr bwMode="auto">
          <a:xfrm rot="5400000" flipH="1" flipV="1">
            <a:off x="5091543" y="5105398"/>
            <a:ext cx="457205" cy="1588"/>
          </a:xfrm>
          <a:prstGeom prst="straightConnector1">
            <a:avLst/>
          </a:prstGeom>
          <a:solidFill>
            <a:srgbClr val="00B8FF"/>
          </a:solidFill>
          <a:ln w="349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2" name="Rectangle 11"/>
          <p:cNvSpPr/>
          <p:nvPr/>
        </p:nvSpPr>
        <p:spPr>
          <a:xfrm>
            <a:off x="3110345" y="5085340"/>
            <a:ext cx="1242648" cy="62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25</a:t>
            </a:r>
            <a:r>
              <a:rPr lang="en-GB" baseline="30000" dirty="0">
                <a:solidFill>
                  <a:srgbClr val="000000"/>
                </a:solidFill>
                <a:latin typeface="Times New Roman" pitchFamily="18" charset="0"/>
              </a:rPr>
              <a:t>th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-%tile</a:t>
            </a:r>
          </a:p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en-GB" baseline="30000" dirty="0">
                <a:solidFill>
                  <a:srgbClr val="000000"/>
                </a:solidFill>
                <a:latin typeface="Times New Roman" pitchFamily="18" charset="0"/>
              </a:rPr>
              <a:t>st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-quartile 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6349642" y="5085340"/>
            <a:ext cx="1268296" cy="62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75</a:t>
            </a:r>
            <a:r>
              <a:rPr lang="en-GB" baseline="30000" dirty="0">
                <a:solidFill>
                  <a:srgbClr val="000000"/>
                </a:solidFill>
                <a:latin typeface="Times New Roman" pitchFamily="18" charset="0"/>
              </a:rPr>
              <a:t>th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-%tile</a:t>
            </a:r>
          </a:p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3</a:t>
            </a:r>
            <a:r>
              <a:rPr lang="en-GB" baseline="30000" dirty="0">
                <a:solidFill>
                  <a:srgbClr val="000000"/>
                </a:solidFill>
                <a:latin typeface="Times New Roman" pitchFamily="18" charset="0"/>
              </a:rPr>
              <a:t>rd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-quartile 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4797937" y="5198534"/>
            <a:ext cx="1099981" cy="62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median</a:t>
            </a:r>
          </a:p>
          <a:p>
            <a:pPr algn="ctr"/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50</a:t>
            </a:r>
            <a:r>
              <a:rPr lang="en-GB" baseline="30000" dirty="0">
                <a:solidFill>
                  <a:srgbClr val="000000"/>
                </a:solidFill>
                <a:latin typeface="Times New Roman" pitchFamily="18" charset="0"/>
              </a:rPr>
              <a:t>th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-%tile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39490" y="2037340"/>
            <a:ext cx="697627" cy="360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range</a:t>
            </a:r>
            <a:endParaRPr lang="en-US" dirty="0"/>
          </a:p>
        </p:txBody>
      </p:sp>
      <p:sp>
        <p:nvSpPr>
          <p:cNvPr id="16" name="Oval 15"/>
          <p:cNvSpPr/>
          <p:nvPr/>
        </p:nvSpPr>
        <p:spPr bwMode="auto">
          <a:xfrm>
            <a:off x="13855" y="3505200"/>
            <a:ext cx="990600" cy="533400"/>
          </a:xfrm>
          <a:prstGeom prst="ellipse">
            <a:avLst/>
          </a:prstGeom>
          <a:solidFill>
            <a:srgbClr val="26FA26">
              <a:alpha val="71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0055" y="3505200"/>
            <a:ext cx="859531" cy="5700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600" dirty="0">
                <a:solidFill>
                  <a:srgbClr val="000000"/>
                </a:solidFill>
                <a:latin typeface="Times New Roman" pitchFamily="18" charset="0"/>
              </a:rPr>
              <a:t>possible</a:t>
            </a:r>
          </a:p>
          <a:p>
            <a:pPr algn="ctr"/>
            <a:r>
              <a:rPr lang="en-GB" sz="1600" dirty="0">
                <a:solidFill>
                  <a:srgbClr val="000000"/>
                </a:solidFill>
                <a:latin typeface="Times New Roman" pitchFamily="18" charset="0"/>
              </a:rPr>
              <a:t>outliers</a:t>
            </a:r>
            <a:endParaRPr lang="en-US" sz="1600" dirty="0"/>
          </a:p>
        </p:txBody>
      </p:sp>
      <p:sp>
        <p:nvSpPr>
          <p:cNvPr id="18" name="Oval 17"/>
          <p:cNvSpPr/>
          <p:nvPr/>
        </p:nvSpPr>
        <p:spPr bwMode="auto">
          <a:xfrm>
            <a:off x="8125690" y="3505200"/>
            <a:ext cx="990600" cy="533400"/>
          </a:xfrm>
          <a:prstGeom prst="ellipse">
            <a:avLst/>
          </a:prstGeom>
          <a:solidFill>
            <a:srgbClr val="26FA26">
              <a:alpha val="71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201890" y="3505200"/>
            <a:ext cx="859531" cy="5700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600" dirty="0">
                <a:solidFill>
                  <a:srgbClr val="000000"/>
                </a:solidFill>
                <a:latin typeface="Times New Roman" pitchFamily="18" charset="0"/>
              </a:rPr>
              <a:t>possible</a:t>
            </a:r>
          </a:p>
          <a:p>
            <a:pPr algn="ctr"/>
            <a:r>
              <a:rPr lang="en-GB" sz="1600" dirty="0">
                <a:solidFill>
                  <a:srgbClr val="000000"/>
                </a:solidFill>
                <a:latin typeface="Times New Roman" pitchFamily="18" charset="0"/>
              </a:rPr>
              <a:t>outliers</a:t>
            </a:r>
            <a:endParaRPr lang="en-US" sz="1600" dirty="0"/>
          </a:p>
        </p:txBody>
      </p:sp>
      <p:sp>
        <p:nvSpPr>
          <p:cNvPr id="20" name="Rectangle 19"/>
          <p:cNvSpPr/>
          <p:nvPr/>
        </p:nvSpPr>
        <p:spPr>
          <a:xfrm>
            <a:off x="4419600" y="6096000"/>
            <a:ext cx="53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RI</a:t>
            </a:r>
          </a:p>
        </p:txBody>
      </p:sp>
    </p:spTree>
    <p:extLst>
      <p:ext uri="{BB962C8B-B14F-4D97-AF65-F5344CB8AC3E}">
        <p14:creationId xmlns:p14="http://schemas.microsoft.com/office/powerpoint/2010/main" val="320909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/>
      <p:bldP spid="13" grpId="0"/>
      <p:bldP spid="14" grpId="0"/>
      <p:bldP spid="15" grpId="0"/>
      <p:bldP spid="16" grpId="0" animBg="1"/>
      <p:bldP spid="17" grpId="0"/>
      <p:bldP spid="18" grpId="0" animBg="1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1127125"/>
            <a:ext cx="8686800" cy="52736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Note the relationship:</a:t>
            </a:r>
          </a:p>
        </p:txBody>
      </p:sp>
      <p:sp>
        <p:nvSpPr>
          <p:cNvPr id="11267" name="Rectangle 4"/>
          <p:cNvSpPr>
            <a:spLocks noChangeArrowheads="1"/>
          </p:cNvSpPr>
          <p:nvPr/>
        </p:nvSpPr>
        <p:spPr bwMode="auto">
          <a:xfrm>
            <a:off x="231775" y="168272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Visualizing Data</a:t>
            </a:r>
          </a:p>
        </p:txBody>
      </p:sp>
      <p:sp>
        <p:nvSpPr>
          <p:cNvPr id="11" name="Rectangle 10"/>
          <p:cNvSpPr/>
          <p:nvPr/>
        </p:nvSpPr>
        <p:spPr bwMode="auto">
          <a:xfrm>
            <a:off x="1267690" y="3782290"/>
            <a:ext cx="180110" cy="162791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7058890" y="3761510"/>
            <a:ext cx="180110" cy="162791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7168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4258733"/>
            <a:ext cx="57912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1693337"/>
            <a:ext cx="65532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20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460056-D9C0-04A4-8A75-24EA297BFB25}"/>
              </a:ext>
            </a:extLst>
          </p:cNvPr>
          <p:cNvSpPr txBox="1"/>
          <p:nvPr/>
        </p:nvSpPr>
        <p:spPr>
          <a:xfrm>
            <a:off x="2892539" y="1314431"/>
            <a:ext cx="6019686" cy="2492990"/>
          </a:xfrm>
          <a:prstGeom prst="rect">
            <a:avLst/>
          </a:prstGeom>
          <a:solidFill>
            <a:srgbClr val="000045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  <a:latin typeface="Courier"/>
                <a:cs typeface="Courier"/>
              </a:rPr>
              <a:t>library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mlbench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Load some sample data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data(</a:t>
            </a:r>
            <a:r>
              <a:rPr lang="en-US" sz="1200" dirty="0">
                <a:solidFill>
                  <a:srgbClr val="00B050"/>
                </a:solidFill>
                <a:latin typeface="Courier"/>
                <a:cs typeface="Courier"/>
              </a:rPr>
              <a:t>"Glass"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) 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?Glass</a:t>
            </a: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A histogram of RIs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hist(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Glass$RI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Corresponding BW plots of RIs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boxplot(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Glass$RI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boxplot(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Glass$RI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, range=0, horizontal = T)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boxplot(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Glass$RI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~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Glass$Type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xlab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=</a:t>
            </a:r>
            <a:r>
              <a:rPr lang="en-US" sz="1200" dirty="0">
                <a:solidFill>
                  <a:srgbClr val="00B050"/>
                </a:solidFill>
                <a:latin typeface="Courier"/>
                <a:cs typeface="Courier"/>
              </a:rPr>
              <a:t>"Glass Label"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ylab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=</a:t>
            </a:r>
            <a:r>
              <a:rPr lang="en-US" sz="1200" dirty="0">
                <a:solidFill>
                  <a:srgbClr val="00B050"/>
                </a:solidFill>
                <a:latin typeface="Courier"/>
                <a:cs typeface="Courier"/>
              </a:rPr>
              <a:t>"RI"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2E8049E-D27D-E14C-8977-93E4ACF21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168272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Histogram and BW Examples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0BEFC4C-CE6B-1038-759E-61B387CDA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D4E16C-6554-4C5C-65B3-06F5BF85B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38" y="1165370"/>
            <a:ext cx="2514714" cy="25985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7F4FA1-F8B5-2599-81BA-773089DDE5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3386" y="4463661"/>
            <a:ext cx="2699657" cy="23181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60BAED-C011-E7A0-5B6C-911A95C2A2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941" y="4469561"/>
            <a:ext cx="2419606" cy="23181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D49C05-3DD3-615E-218C-C0240775DA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5334" y="4358499"/>
            <a:ext cx="2782207" cy="24668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1B2F3B-729B-E396-8F5A-6CEB43CCF405}"/>
              </a:ext>
            </a:extLst>
          </p:cNvPr>
          <p:cNvSpPr txBox="1"/>
          <p:nvPr/>
        </p:nvSpPr>
        <p:spPr>
          <a:xfrm>
            <a:off x="2788105" y="3775182"/>
            <a:ext cx="153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glass_RI_plots.R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721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31775" y="1170224"/>
            <a:ext cx="7520940" cy="4308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b="1" dirty="0">
                <a:solidFill>
                  <a:srgbClr val="000000"/>
                </a:solidFill>
                <a:latin typeface="Times New Roman" pitchFamily="18" charset="0"/>
              </a:rPr>
              <a:t>Scatter plots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: plot any </a:t>
            </a:r>
            <a:r>
              <a:rPr lang="en-GB" sz="2400" i="1" u="sng" dirty="0">
                <a:solidFill>
                  <a:srgbClr val="000000"/>
                </a:solidFill>
                <a:latin typeface="Times New Roman" pitchFamily="18" charset="0"/>
              </a:rPr>
              <a:t>two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variables against each other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15240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First Thing: Look at your Data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492" y="1299318"/>
            <a:ext cx="4938634" cy="49386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60D6C1-850A-E6A0-FE53-D47D8F94DA61}"/>
              </a:ext>
            </a:extLst>
          </p:cNvPr>
          <p:cNvSpPr txBox="1"/>
          <p:nvPr/>
        </p:nvSpPr>
        <p:spPr>
          <a:xfrm>
            <a:off x="1065525" y="5936159"/>
            <a:ext cx="66871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Typically, the data for these is continuous variables but can be discrete</a:t>
            </a:r>
          </a:p>
        </p:txBody>
      </p:sp>
    </p:spTree>
    <p:extLst>
      <p:ext uri="{BB962C8B-B14F-4D97-AF65-F5344CB8AC3E}">
        <p14:creationId xmlns:p14="http://schemas.microsoft.com/office/powerpoint/2010/main" val="321380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9F51F9-35F1-2B91-EE51-714354E794E7}"/>
              </a:ext>
            </a:extLst>
          </p:cNvPr>
          <p:cNvSpPr txBox="1"/>
          <p:nvPr/>
        </p:nvSpPr>
        <p:spPr>
          <a:xfrm>
            <a:off x="3463545" y="1691465"/>
            <a:ext cx="5532014" cy="2492990"/>
          </a:xfrm>
          <a:prstGeom prst="rect">
            <a:avLst/>
          </a:prstGeom>
          <a:solidFill>
            <a:srgbClr val="000045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  <a:latin typeface="Courier"/>
                <a:cs typeface="Courier"/>
              </a:rPr>
              <a:t>library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mlbench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) </a:t>
            </a: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Load some sample data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data(</a:t>
            </a:r>
            <a:r>
              <a:rPr lang="en-US" sz="1200" dirty="0">
                <a:solidFill>
                  <a:srgbClr val="00B050"/>
                </a:solidFill>
                <a:latin typeface="Courier"/>
                <a:cs typeface="Courier"/>
              </a:rPr>
              <a:t>"Glass"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) 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?Glass</a:t>
            </a: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Scatter plots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plot(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Glass$RI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Glass$Na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plot(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Glass$Na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Glass$Si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Strip chart</a:t>
            </a:r>
          </a:p>
          <a:p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stripchart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as.numeric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(Type)~Na, data=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Glass,xlab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=</a:t>
            </a:r>
            <a:r>
              <a:rPr lang="en-US" sz="1200" dirty="0">
                <a:solidFill>
                  <a:srgbClr val="00B050"/>
                </a:solidFill>
                <a:latin typeface="Courier"/>
                <a:cs typeface="Courier"/>
              </a:rPr>
              <a:t>"Glass#"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, 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                    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ylab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=</a:t>
            </a:r>
            <a:r>
              <a:rPr lang="en-US" sz="1200" dirty="0">
                <a:solidFill>
                  <a:srgbClr val="00B050"/>
                </a:solidFill>
                <a:latin typeface="Courier"/>
                <a:cs typeface="Courier"/>
              </a:rPr>
              <a:t>"Na conc."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, vertical=F,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pch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=16)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F7AC8A7-52F6-197F-AAC6-4FFFDF1AB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168272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Scatter Plots and </a:t>
            </a:r>
            <a:r>
              <a:rPr lang="en-GB" sz="4000" dirty="0" err="1">
                <a:solidFill>
                  <a:srgbClr val="000000"/>
                </a:solidFill>
                <a:latin typeface="Times New Roman" pitchFamily="18" charset="0"/>
              </a:rPr>
              <a:t>Stripcharts</a:t>
            </a:r>
            <a:endParaRPr lang="en-GB" sz="4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AD569AB-C05C-3BBA-8287-306488A08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193EC5-2F0C-95E2-249D-4F72FCC34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58" y="1216457"/>
            <a:ext cx="3101731" cy="27501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F7FD2B-EED8-69A4-E257-37A14663A6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79" y="4107850"/>
            <a:ext cx="3101732" cy="27501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60BD83-D3CA-EF6D-FC64-9CE9AEB475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3852" y="4479423"/>
            <a:ext cx="5715978" cy="20134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2B6C87-5F48-0932-6E2F-22153A0D4191}"/>
              </a:ext>
            </a:extLst>
          </p:cNvPr>
          <p:cNvSpPr txBox="1"/>
          <p:nvPr/>
        </p:nvSpPr>
        <p:spPr>
          <a:xfrm>
            <a:off x="3365049" y="4123524"/>
            <a:ext cx="153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glass_RI_plots.R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173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37A07-CB93-D20B-57BF-12F6977FC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DDF51737-E197-3622-3B66-5A3E61AD3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168272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Pie Charts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16A17AE-7AE5-A611-1F7B-415C9A83F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909AADF-8133-1D2B-0B36-169ECFE84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0" y="2009140"/>
            <a:ext cx="3735070" cy="38774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35376B-AD00-F7BF-3B0A-1C1BC1F92F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2" y="2009140"/>
            <a:ext cx="3735070" cy="38774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939C5B-4BFC-96FE-EE1B-A60BCD6E0336}"/>
              </a:ext>
            </a:extLst>
          </p:cNvPr>
          <p:cNvSpPr txBox="1"/>
          <p:nvPr/>
        </p:nvSpPr>
        <p:spPr>
          <a:xfrm>
            <a:off x="231775" y="1522752"/>
            <a:ext cx="1471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pie_charts.R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1C7C9B7-5A1D-D3E5-6B94-22EE089DF621}"/>
              </a:ext>
            </a:extLst>
          </p:cNvPr>
          <p:cNvCxnSpPr>
            <a:cxnSpLocks/>
          </p:cNvCxnSpPr>
          <p:nvPr/>
        </p:nvCxnSpPr>
        <p:spPr>
          <a:xfrm flipH="1">
            <a:off x="2937510" y="1814802"/>
            <a:ext cx="2151102" cy="1625628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9166CE3-427B-AB8E-6E2B-9A9F42D02277}"/>
              </a:ext>
            </a:extLst>
          </p:cNvPr>
          <p:cNvCxnSpPr>
            <a:cxnSpLocks/>
          </p:cNvCxnSpPr>
          <p:nvPr/>
        </p:nvCxnSpPr>
        <p:spPr>
          <a:xfrm flipH="1">
            <a:off x="1847215" y="1814802"/>
            <a:ext cx="3241397" cy="1710690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65CCF1A-107C-F278-FFB5-A0AFC6FEF32E}"/>
              </a:ext>
            </a:extLst>
          </p:cNvPr>
          <p:cNvSpPr txBox="1"/>
          <p:nvPr/>
        </p:nvSpPr>
        <p:spPr>
          <a:xfrm>
            <a:off x="3140018" y="1436474"/>
            <a:ext cx="44999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way to depict relative proportions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2E8246-42BB-B008-CDCD-3CDE028F09D8}"/>
              </a:ext>
            </a:extLst>
          </p:cNvPr>
          <p:cNvSpPr txBox="1"/>
          <p:nvPr/>
        </p:nvSpPr>
        <p:spPr>
          <a:xfrm>
            <a:off x="2162336" y="6029723"/>
            <a:ext cx="52765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Shown here are are (average) relative proportions of Mg and Si in a sample of some glass types </a:t>
            </a:r>
          </a:p>
        </p:txBody>
      </p:sp>
    </p:spTree>
    <p:extLst>
      <p:ext uri="{BB962C8B-B14F-4D97-AF65-F5344CB8AC3E}">
        <p14:creationId xmlns:p14="http://schemas.microsoft.com/office/powerpoint/2010/main" val="2729449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320419BC-E845-3E9D-83DF-EEF1E23BC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168272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Pie Charts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329BDF2-C871-23A0-66CD-02572AF1B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5DCFFD-EE83-6191-2539-A3B925110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428" y="1433189"/>
            <a:ext cx="8461372" cy="50061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727106-8E96-C489-A3C2-2ED9E7420E5D}"/>
              </a:ext>
            </a:extLst>
          </p:cNvPr>
          <p:cNvSpPr txBox="1"/>
          <p:nvPr/>
        </p:nvSpPr>
        <p:spPr>
          <a:xfrm>
            <a:off x="7629779" y="3736199"/>
            <a:ext cx="1471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pie_charts.R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671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5AE2D21-39F8-D13E-36D7-3B5EC20AF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" y="1232298"/>
            <a:ext cx="7772400" cy="4782023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3F31206-A33B-C52F-8240-1CBBE2F364F2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5669280" y="1197622"/>
            <a:ext cx="1164828" cy="1854188"/>
          </a:xfrm>
          <a:prstGeom prst="straightConnector1">
            <a:avLst/>
          </a:prstGeom>
          <a:ln w="317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1EA5CFD-C137-3ADC-8E7B-6095D1B69105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5669280" y="1197622"/>
            <a:ext cx="1164828" cy="597697"/>
          </a:xfrm>
          <a:prstGeom prst="straightConnector1">
            <a:avLst/>
          </a:prstGeom>
          <a:ln w="317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C213174-F2CE-64BD-5BAB-C8C5BDC5F321}"/>
              </a:ext>
            </a:extLst>
          </p:cNvPr>
          <p:cNvSpPr txBox="1"/>
          <p:nvPr/>
        </p:nvSpPr>
        <p:spPr>
          <a:xfrm>
            <a:off x="6834108" y="843679"/>
            <a:ext cx="2173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heights shows relative proportions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7723733-A03A-90F9-93E3-3743302C4EE0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3474721" y="1197622"/>
            <a:ext cx="3359387" cy="862582"/>
          </a:xfrm>
          <a:prstGeom prst="straightConnector1">
            <a:avLst/>
          </a:prstGeom>
          <a:ln w="317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4">
            <a:extLst>
              <a:ext uri="{FF2B5EF4-FFF2-40B4-BE49-F238E27FC236}">
                <a16:creationId xmlns:a16="http://schemas.microsoft.com/office/drawing/2014/main" id="{5BB74F63-595A-5EDC-DABB-7BE2B4312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168272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Stacked Bar Plots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0069277A-C236-3D15-F333-6DFC3DF3F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CB3EB5E-E7C3-7B00-1E2B-AC426606F50E}"/>
              </a:ext>
            </a:extLst>
          </p:cNvPr>
          <p:cNvSpPr txBox="1"/>
          <p:nvPr/>
        </p:nvSpPr>
        <p:spPr>
          <a:xfrm>
            <a:off x="7209971" y="6289618"/>
            <a:ext cx="16292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stacked_bar.R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64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E5B19B5-FDC7-2BA1-0F11-7F407823D0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168272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Stacked Bar Plots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E911D5-4A13-3942-A2D6-482F48D46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58514E-F576-3663-4E38-7CD4FDB4B4E3}"/>
              </a:ext>
            </a:extLst>
          </p:cNvPr>
          <p:cNvSpPr txBox="1"/>
          <p:nvPr/>
        </p:nvSpPr>
        <p:spPr>
          <a:xfrm>
            <a:off x="7057571" y="3448909"/>
            <a:ext cx="16292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stacked_bar.R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977216-FD0F-640D-0E3F-8B1A376CC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194865"/>
            <a:ext cx="6057900" cy="558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722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lot3d_clip.mp4">
            <a:hlinkClick r:id="" action="ppaction://media"/>
            <a:extLst>
              <a:ext uri="{FF2B5EF4-FFF2-40B4-BE49-F238E27FC236}">
                <a16:creationId xmlns:a16="http://schemas.microsoft.com/office/drawing/2014/main" id="{DDA807FC-8F1B-E467-03AA-531245A3600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9250" t="16444" r="50875" b="17778"/>
          <a:stretch>
            <a:fillRect/>
          </a:stretch>
        </p:blipFill>
        <p:spPr>
          <a:xfrm>
            <a:off x="1543050" y="990837"/>
            <a:ext cx="5812155" cy="5393097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09A2386B-AB9A-E116-12AD-C0FE603A6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168272"/>
            <a:ext cx="8607425" cy="82256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Interactive 3D Scatter Plots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5DC478-46EC-0E3A-B269-1F7CD0FAB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405BF6E-2005-8F2B-1C06-FE63B33A80E6}"/>
              </a:ext>
            </a:extLst>
          </p:cNvPr>
          <p:cNvSpPr txBox="1"/>
          <p:nvPr/>
        </p:nvSpPr>
        <p:spPr>
          <a:xfrm>
            <a:off x="7503341" y="6100669"/>
            <a:ext cx="16001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3d_plotting.R</a:t>
            </a:r>
          </a:p>
        </p:txBody>
      </p:sp>
    </p:spTree>
    <p:extLst>
      <p:ext uri="{BB962C8B-B14F-4D97-AF65-F5344CB8AC3E}">
        <p14:creationId xmlns:p14="http://schemas.microsoft.com/office/powerpoint/2010/main" val="3676120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83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08DB757B-9937-2AC3-27DA-3EC1ABA00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168272"/>
            <a:ext cx="8607425" cy="82256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Interactive 3D Surface Plots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453F17-58A1-2470-4C18-F28126634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2" name="surface3d_clip.mp4">
            <a:hlinkClick r:id="" action="ppaction://media"/>
            <a:extLst>
              <a:ext uri="{FF2B5EF4-FFF2-40B4-BE49-F238E27FC236}">
                <a16:creationId xmlns:a16="http://schemas.microsoft.com/office/drawing/2014/main" id="{B702E7B0-5FF6-0781-D5E5-382D7FDC0FE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14625" r="3333"/>
          <a:stretch>
            <a:fillRect/>
          </a:stretch>
        </p:blipFill>
        <p:spPr>
          <a:xfrm>
            <a:off x="846235" y="990837"/>
            <a:ext cx="7318497" cy="50177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5C6C9D-7DAA-87F9-5100-53C785DB5F8A}"/>
              </a:ext>
            </a:extLst>
          </p:cNvPr>
          <p:cNvSpPr txBox="1"/>
          <p:nvPr/>
        </p:nvSpPr>
        <p:spPr>
          <a:xfrm>
            <a:off x="7503341" y="6100669"/>
            <a:ext cx="16001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3d_plotting.R</a:t>
            </a:r>
          </a:p>
        </p:txBody>
      </p:sp>
    </p:spTree>
    <p:extLst>
      <p:ext uri="{BB962C8B-B14F-4D97-AF65-F5344CB8AC3E}">
        <p14:creationId xmlns:p14="http://schemas.microsoft.com/office/powerpoint/2010/main" val="935989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11421</TotalTime>
  <Words>370</Words>
  <Application>Microsoft Macintosh PowerPoint</Application>
  <PresentationFormat>On-screen Show (4:3)</PresentationFormat>
  <Paragraphs>74</Paragraphs>
  <Slides>14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Courier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Petraco</dc:creator>
  <cp:lastModifiedBy>Nicholas Petraco</cp:lastModifiedBy>
  <cp:revision>16</cp:revision>
  <dcterms:created xsi:type="dcterms:W3CDTF">2025-11-25T13:29:35Z</dcterms:created>
  <dcterms:modified xsi:type="dcterms:W3CDTF">2025-12-03T16:36:03Z</dcterms:modified>
</cp:coreProperties>
</file>