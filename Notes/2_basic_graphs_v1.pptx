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326" r:id="rId2"/>
    <p:sldId id="279" r:id="rId3"/>
    <p:sldId id="280" r:id="rId4"/>
    <p:sldId id="282" r:id="rId5"/>
    <p:sldId id="283" r:id="rId6"/>
    <p:sldId id="341" r:id="rId7"/>
    <p:sldId id="327" r:id="rId8"/>
    <p:sldId id="333" r:id="rId9"/>
    <p:sldId id="375" r:id="rId10"/>
    <p:sldId id="373" r:id="rId11"/>
    <p:sldId id="377" r:id="rId12"/>
    <p:sldId id="374" r:id="rId13"/>
    <p:sldId id="372" r:id="rId14"/>
    <p:sldId id="378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791"/>
    <p:restoredTop sz="94718"/>
  </p:normalViewPr>
  <p:slideViewPr>
    <p:cSldViewPr snapToGrid="0">
      <p:cViewPr varScale="1">
        <p:scale>
          <a:sx n="112" d="100"/>
          <a:sy n="112" d="100"/>
        </p:scale>
        <p:origin x="118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F3EB49-0961-6744-BA97-FA0D6724AECB}" type="datetimeFigureOut">
              <a:rPr lang="en-US" smtClean="0"/>
              <a:t>1/5/26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8C2E4-111E-2446-A315-4A2CAF0781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9344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F3EB49-0961-6744-BA97-FA0D6724AECB}" type="datetimeFigureOut">
              <a:rPr lang="en-US" smtClean="0"/>
              <a:t>1/5/26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8C2E4-111E-2446-A315-4A2CAF0781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2135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F3EB49-0961-6744-BA97-FA0D6724AECB}" type="datetimeFigureOut">
              <a:rPr lang="en-US" smtClean="0"/>
              <a:t>1/5/26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8C2E4-111E-2446-A315-4A2CAF0781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38931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F3EB49-0961-6744-BA97-FA0D6724AECB}" type="datetimeFigureOut">
              <a:rPr lang="en-US" smtClean="0"/>
              <a:t>1/5/26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8C2E4-111E-2446-A315-4A2CAF0781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3921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F3EB49-0961-6744-BA97-FA0D6724AECB}" type="datetimeFigureOut">
              <a:rPr lang="en-US" smtClean="0"/>
              <a:t>1/5/26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8C2E4-111E-2446-A315-4A2CAF0781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1073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F3EB49-0961-6744-BA97-FA0D6724AECB}" type="datetimeFigureOut">
              <a:rPr lang="en-US" smtClean="0"/>
              <a:t>1/5/26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8C2E4-111E-2446-A315-4A2CAF0781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7068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F3EB49-0961-6744-BA97-FA0D6724AECB}" type="datetimeFigureOut">
              <a:rPr lang="en-US" smtClean="0"/>
              <a:t>1/5/26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8C2E4-111E-2446-A315-4A2CAF0781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87284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F3EB49-0961-6744-BA97-FA0D6724AECB}" type="datetimeFigureOut">
              <a:rPr lang="en-US" smtClean="0"/>
              <a:t>1/5/26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8C2E4-111E-2446-A315-4A2CAF0781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28092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F3EB49-0961-6744-BA97-FA0D6724AECB}" type="datetimeFigureOut">
              <a:rPr lang="en-US" smtClean="0"/>
              <a:t>1/5/26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8C2E4-111E-2446-A315-4A2CAF0781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6499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F3EB49-0961-6744-BA97-FA0D6724AECB}" type="datetimeFigureOut">
              <a:rPr lang="en-US" smtClean="0"/>
              <a:t>1/5/26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8C2E4-111E-2446-A315-4A2CAF0781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82197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F3EB49-0961-6744-BA97-FA0D6724AECB}" type="datetimeFigureOut">
              <a:rPr lang="en-US" smtClean="0"/>
              <a:t>1/5/26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F8C2E4-111E-2446-A315-4A2CAF0781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3381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F3EB49-0961-6744-BA97-FA0D6724AECB}" type="datetimeFigureOut">
              <a:rPr lang="en-US" smtClean="0"/>
              <a:t>1/5/26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F8C2E4-111E-2446-A315-4A2CAF0781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6843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.png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5" Type="http://schemas.openxmlformats.org/officeDocument/2006/relationships/image" Target="../media/image20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ChangeArrowheads="1"/>
          </p:cNvSpPr>
          <p:nvPr/>
        </p:nvSpPr>
        <p:spPr bwMode="auto">
          <a:xfrm>
            <a:off x="268286" y="3740485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3600" dirty="0">
                <a:solidFill>
                  <a:srgbClr val="000000"/>
                </a:solidFill>
                <a:latin typeface="Times New Roman" pitchFamily="18" charset="0"/>
              </a:rPr>
              <a:t>First Thing: Look at your Data</a:t>
            </a:r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4" name="Rectangle 4"/>
          <p:cNvSpPr>
            <a:spLocks noChangeArrowheads="1"/>
          </p:cNvSpPr>
          <p:nvPr/>
        </p:nvSpPr>
        <p:spPr bwMode="auto">
          <a:xfrm>
            <a:off x="268287" y="1872850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800" dirty="0">
                <a:solidFill>
                  <a:srgbClr val="000000"/>
                </a:solidFill>
                <a:latin typeface="Times New Roman" pitchFamily="18" charset="0"/>
              </a:rPr>
              <a:t>Common Graphs</a:t>
            </a:r>
          </a:p>
        </p:txBody>
      </p:sp>
    </p:spTree>
    <p:extLst>
      <p:ext uri="{BB962C8B-B14F-4D97-AF65-F5344CB8AC3E}">
        <p14:creationId xmlns:p14="http://schemas.microsoft.com/office/powerpoint/2010/main" val="556118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5"/>
          <p:cNvSpPr>
            <a:spLocks noChangeArrowheads="1"/>
          </p:cNvSpPr>
          <p:nvPr/>
        </p:nvSpPr>
        <p:spPr bwMode="auto">
          <a:xfrm>
            <a:off x="228600" y="838200"/>
            <a:ext cx="8686800" cy="5715000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b="1" dirty="0">
                <a:solidFill>
                  <a:srgbClr val="000000"/>
                </a:solidFill>
                <a:latin typeface="Times New Roman" pitchFamily="18" charset="0"/>
              </a:rPr>
              <a:t>Histograms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: “bin” a variable and plot frequencies</a:t>
            </a: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3200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25603" name="Rectangle 4"/>
          <p:cNvSpPr>
            <a:spLocks noChangeArrowheads="1"/>
          </p:cNvSpPr>
          <p:nvPr/>
        </p:nvSpPr>
        <p:spPr bwMode="auto">
          <a:xfrm>
            <a:off x="231775" y="152400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First Thing: Look at your Data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8329" y="1722889"/>
            <a:ext cx="6399463" cy="5001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93280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5"/>
          <p:cNvSpPr>
            <a:spLocks noChangeArrowheads="1"/>
          </p:cNvSpPr>
          <p:nvPr/>
        </p:nvSpPr>
        <p:spPr bwMode="auto">
          <a:xfrm>
            <a:off x="228600" y="838200"/>
            <a:ext cx="8686800" cy="884689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b="1" dirty="0">
                <a:solidFill>
                  <a:srgbClr val="000000"/>
                </a:solidFill>
                <a:latin typeface="Times New Roman" pitchFamily="18" charset="0"/>
              </a:rPr>
              <a:t>Histograms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: “bin” a variable and plot frequencies</a:t>
            </a: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3200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25603" name="Rectangle 4"/>
          <p:cNvSpPr>
            <a:spLocks noChangeArrowheads="1"/>
          </p:cNvSpPr>
          <p:nvPr/>
        </p:nvSpPr>
        <p:spPr bwMode="auto">
          <a:xfrm>
            <a:off x="231775" y="152400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First Thing: Look at your Data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pic>
        <p:nvPicPr>
          <p:cNvPr id="26" name="Picture 2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801" y="1722889"/>
            <a:ext cx="8531135" cy="3811637"/>
          </a:xfrm>
          <a:prstGeom prst="rect">
            <a:avLst/>
          </a:prstGeom>
        </p:spPr>
      </p:pic>
      <p:cxnSp>
        <p:nvCxnSpPr>
          <p:cNvPr id="27" name="Straight Arrow Connector 26"/>
          <p:cNvCxnSpPr/>
          <p:nvPr/>
        </p:nvCxnSpPr>
        <p:spPr>
          <a:xfrm flipH="1" flipV="1">
            <a:off x="2860871" y="4692303"/>
            <a:ext cx="294105" cy="1109579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7968" y="5841986"/>
            <a:ext cx="81504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Times New Roman"/>
                <a:cs typeface="Times New Roman"/>
              </a:rPr>
              <a:t>Each bar is a “bin” that contains a number of data points: </a:t>
            </a:r>
            <a:r>
              <a:rPr lang="en-US" sz="2400" b="1" dirty="0">
                <a:latin typeface="Times New Roman"/>
                <a:cs typeface="Times New Roman"/>
              </a:rPr>
              <a:t>counts</a:t>
            </a:r>
          </a:p>
        </p:txBody>
      </p:sp>
      <p:cxnSp>
        <p:nvCxnSpPr>
          <p:cNvPr id="29" name="Straight Arrow Connector 28"/>
          <p:cNvCxnSpPr/>
          <p:nvPr/>
        </p:nvCxnSpPr>
        <p:spPr>
          <a:xfrm flipH="1" flipV="1">
            <a:off x="1630976" y="4946303"/>
            <a:ext cx="1524000" cy="855579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/>
          <p:cNvCxnSpPr/>
          <p:nvPr/>
        </p:nvCxnSpPr>
        <p:spPr>
          <a:xfrm flipH="1" flipV="1">
            <a:off x="2286029" y="4812619"/>
            <a:ext cx="868947" cy="989263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/>
          <p:cNvCxnSpPr/>
          <p:nvPr/>
        </p:nvCxnSpPr>
        <p:spPr>
          <a:xfrm flipV="1">
            <a:off x="3154976" y="4692303"/>
            <a:ext cx="267369" cy="1109579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 flipV="1">
            <a:off x="3154976" y="4692303"/>
            <a:ext cx="842211" cy="1109579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/>
          <p:cNvCxnSpPr/>
          <p:nvPr/>
        </p:nvCxnSpPr>
        <p:spPr>
          <a:xfrm flipV="1">
            <a:off x="3154976" y="4879461"/>
            <a:ext cx="1483895" cy="922421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/>
          <p:nvPr/>
        </p:nvCxnSpPr>
        <p:spPr>
          <a:xfrm flipV="1">
            <a:off x="3154976" y="4879461"/>
            <a:ext cx="1911685" cy="922421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/>
          <p:nvPr/>
        </p:nvCxnSpPr>
        <p:spPr>
          <a:xfrm flipV="1">
            <a:off x="3154976" y="4879461"/>
            <a:ext cx="2459790" cy="92242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/>
          <p:nvPr/>
        </p:nvCxnSpPr>
        <p:spPr>
          <a:xfrm flipV="1">
            <a:off x="3154976" y="4879461"/>
            <a:ext cx="3048000" cy="92242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/>
          <p:nvPr/>
        </p:nvCxnSpPr>
        <p:spPr>
          <a:xfrm flipV="1">
            <a:off x="3154976" y="4879461"/>
            <a:ext cx="3662919" cy="922421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V="1">
            <a:off x="3154976" y="4879461"/>
            <a:ext cx="4157550" cy="92242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/>
          <p:nvPr/>
        </p:nvCxnSpPr>
        <p:spPr>
          <a:xfrm flipV="1">
            <a:off x="3154976" y="4946303"/>
            <a:ext cx="4852708" cy="855579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5900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0"/>
                            </p:stCondLst>
                            <p:childTnLst>
                              <p:par>
                                <p:cTn id="2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3000"/>
                            </p:stCondLst>
                            <p:childTnLst>
                              <p:par>
                                <p:cTn id="3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500"/>
                            </p:stCondLst>
                            <p:childTnLst>
                              <p:par>
                                <p:cTn id="4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4000"/>
                            </p:stCondLst>
                            <p:childTnLst>
                              <p:par>
                                <p:cTn id="4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4500"/>
                            </p:stCondLst>
                            <p:childTnLst>
                              <p:par>
                                <p:cTn id="5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5000"/>
                            </p:stCondLst>
                            <p:childTnLst>
                              <p:par>
                                <p:cTn id="5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5500"/>
                            </p:stCondLst>
                            <p:childTnLst>
                              <p:par>
                                <p:cTn id="6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5"/>
          <p:cNvSpPr>
            <a:spLocks noChangeArrowheads="1"/>
          </p:cNvSpPr>
          <p:nvPr/>
        </p:nvSpPr>
        <p:spPr bwMode="auto">
          <a:xfrm>
            <a:off x="228600" y="838200"/>
            <a:ext cx="8686800" cy="5715000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 charset="0"/>
              <a:buNone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1200" dirty="0">
              <a:solidFill>
                <a:srgbClr val="000000"/>
              </a:solidFill>
              <a:latin typeface="Times New Roman" pitchFamily="18" charset="0"/>
            </a:endParaRPr>
          </a:p>
          <a:p>
            <a:pPr marL="1344613" lvl="2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800" b="1" dirty="0">
                <a:solidFill>
                  <a:srgbClr val="000000"/>
                </a:solidFill>
                <a:latin typeface="Times New Roman" pitchFamily="18" charset="0"/>
              </a:rPr>
              <a:t>Box and Whiskers plots</a:t>
            </a:r>
            <a:r>
              <a:rPr lang="en-GB" sz="2800" dirty="0">
                <a:solidFill>
                  <a:srgbClr val="000000"/>
                </a:solidFill>
                <a:latin typeface="Times New Roman" pitchFamily="18" charset="0"/>
              </a:rPr>
              <a:t>:</a:t>
            </a:r>
          </a:p>
          <a:p>
            <a:pPr marL="887413" lvl="1" indent="-323850">
              <a:spcBef>
                <a:spcPts val="800"/>
              </a:spcBef>
              <a:buClr>
                <a:srgbClr val="000000"/>
              </a:buClr>
              <a:buSzPct val="100000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endParaRPr lang="en-GB" sz="3200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25603" name="Rectangle 4"/>
          <p:cNvSpPr>
            <a:spLocks noChangeArrowheads="1"/>
          </p:cNvSpPr>
          <p:nvPr/>
        </p:nvSpPr>
        <p:spPr bwMode="auto">
          <a:xfrm>
            <a:off x="231775" y="152400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First Thing: Look at your Data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pic>
        <p:nvPicPr>
          <p:cNvPr id="6" name="Picture 5"/>
          <p:cNvPicPr/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886690" y="1676400"/>
            <a:ext cx="7391400" cy="4343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Left-Right Arrow 7"/>
          <p:cNvSpPr/>
          <p:nvPr/>
        </p:nvSpPr>
        <p:spPr bwMode="auto">
          <a:xfrm>
            <a:off x="1039090" y="2362200"/>
            <a:ext cx="7010400" cy="152400"/>
          </a:xfrm>
          <a:prstGeom prst="leftRightArrow">
            <a:avLst/>
          </a:prstGeom>
          <a:solidFill>
            <a:srgbClr val="26FA26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57200" rtl="0" eaLnBrk="1" fontAlgn="base" latinLnBrk="0" hangingPunct="1">
              <a:lnSpc>
                <a:spcPct val="97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charset="0"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charset="0"/>
            </a:endParaRPr>
          </a:p>
        </p:txBody>
      </p:sp>
      <p:cxnSp>
        <p:nvCxnSpPr>
          <p:cNvPr id="9" name="Straight Arrow Connector 8"/>
          <p:cNvCxnSpPr/>
          <p:nvPr/>
        </p:nvCxnSpPr>
        <p:spPr bwMode="auto">
          <a:xfrm rot="5400000" flipH="1" flipV="1">
            <a:off x="4163290" y="4897580"/>
            <a:ext cx="381000" cy="381000"/>
          </a:xfrm>
          <a:prstGeom prst="straightConnector1">
            <a:avLst/>
          </a:prstGeom>
          <a:solidFill>
            <a:srgbClr val="00B8FF"/>
          </a:solidFill>
          <a:ln w="3492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10" name="Straight Arrow Connector 9"/>
          <p:cNvCxnSpPr/>
          <p:nvPr/>
        </p:nvCxnSpPr>
        <p:spPr bwMode="auto">
          <a:xfrm rot="16200000" flipV="1">
            <a:off x="6005945" y="4876800"/>
            <a:ext cx="381000" cy="381000"/>
          </a:xfrm>
          <a:prstGeom prst="straightConnector1">
            <a:avLst/>
          </a:prstGeom>
          <a:solidFill>
            <a:srgbClr val="00B8FF"/>
          </a:solidFill>
          <a:ln w="3492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11" name="Straight Arrow Connector 10"/>
          <p:cNvCxnSpPr/>
          <p:nvPr/>
        </p:nvCxnSpPr>
        <p:spPr bwMode="auto">
          <a:xfrm rot="5400000" flipH="1" flipV="1">
            <a:off x="5091543" y="5105398"/>
            <a:ext cx="457205" cy="1588"/>
          </a:xfrm>
          <a:prstGeom prst="straightConnector1">
            <a:avLst/>
          </a:prstGeom>
          <a:solidFill>
            <a:srgbClr val="00B8FF"/>
          </a:solidFill>
          <a:ln w="34925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/>
          </a:ln>
          <a:effectLst/>
        </p:spPr>
      </p:cxnSp>
      <p:sp>
        <p:nvSpPr>
          <p:cNvPr id="12" name="Rectangle 11"/>
          <p:cNvSpPr/>
          <p:nvPr/>
        </p:nvSpPr>
        <p:spPr>
          <a:xfrm>
            <a:off x="3110345" y="5085340"/>
            <a:ext cx="1242648" cy="62966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25</a:t>
            </a:r>
            <a:r>
              <a:rPr lang="en-GB" baseline="30000" dirty="0">
                <a:solidFill>
                  <a:srgbClr val="000000"/>
                </a:solidFill>
                <a:latin typeface="Times New Roman" pitchFamily="18" charset="0"/>
              </a:rPr>
              <a:t>th</a:t>
            </a:r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-%tile</a:t>
            </a:r>
          </a:p>
          <a:p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1</a:t>
            </a:r>
            <a:r>
              <a:rPr lang="en-GB" baseline="30000" dirty="0">
                <a:solidFill>
                  <a:srgbClr val="000000"/>
                </a:solidFill>
                <a:latin typeface="Times New Roman" pitchFamily="18" charset="0"/>
              </a:rPr>
              <a:t>st</a:t>
            </a:r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-quartile </a:t>
            </a:r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6349642" y="5085340"/>
            <a:ext cx="1268296" cy="62966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75</a:t>
            </a:r>
            <a:r>
              <a:rPr lang="en-GB" baseline="30000" dirty="0">
                <a:solidFill>
                  <a:srgbClr val="000000"/>
                </a:solidFill>
                <a:latin typeface="Times New Roman" pitchFamily="18" charset="0"/>
              </a:rPr>
              <a:t>th</a:t>
            </a:r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-%tile</a:t>
            </a:r>
          </a:p>
          <a:p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3</a:t>
            </a:r>
            <a:r>
              <a:rPr lang="en-GB" baseline="30000" dirty="0">
                <a:solidFill>
                  <a:srgbClr val="000000"/>
                </a:solidFill>
                <a:latin typeface="Times New Roman" pitchFamily="18" charset="0"/>
              </a:rPr>
              <a:t>rd</a:t>
            </a:r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-quartile </a:t>
            </a:r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4797937" y="5198534"/>
            <a:ext cx="1099981" cy="62966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median</a:t>
            </a:r>
          </a:p>
          <a:p>
            <a:pPr algn="ctr"/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50</a:t>
            </a:r>
            <a:r>
              <a:rPr lang="en-GB" baseline="30000" dirty="0">
                <a:solidFill>
                  <a:srgbClr val="000000"/>
                </a:solidFill>
                <a:latin typeface="Times New Roman" pitchFamily="18" charset="0"/>
              </a:rPr>
              <a:t>th</a:t>
            </a:r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-%tile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39490" y="2037340"/>
            <a:ext cx="697627" cy="3609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range</a:t>
            </a:r>
            <a:endParaRPr lang="en-US" dirty="0"/>
          </a:p>
        </p:txBody>
      </p:sp>
      <p:sp>
        <p:nvSpPr>
          <p:cNvPr id="16" name="Oval 15"/>
          <p:cNvSpPr/>
          <p:nvPr/>
        </p:nvSpPr>
        <p:spPr bwMode="auto">
          <a:xfrm>
            <a:off x="13855" y="3505200"/>
            <a:ext cx="990600" cy="533400"/>
          </a:xfrm>
          <a:prstGeom prst="ellipse">
            <a:avLst/>
          </a:prstGeom>
          <a:solidFill>
            <a:srgbClr val="26FA26">
              <a:alpha val="71000"/>
            </a:srgb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57200" rtl="0" eaLnBrk="1" fontAlgn="base" latinLnBrk="0" hangingPunct="1">
              <a:lnSpc>
                <a:spcPct val="97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charset="0"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charset="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90055" y="3505200"/>
            <a:ext cx="859531" cy="57002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1600" dirty="0">
                <a:solidFill>
                  <a:srgbClr val="000000"/>
                </a:solidFill>
                <a:latin typeface="Times New Roman" pitchFamily="18" charset="0"/>
              </a:rPr>
              <a:t>possible</a:t>
            </a:r>
          </a:p>
          <a:p>
            <a:pPr algn="ctr"/>
            <a:r>
              <a:rPr lang="en-GB" sz="1600" dirty="0">
                <a:solidFill>
                  <a:srgbClr val="000000"/>
                </a:solidFill>
                <a:latin typeface="Times New Roman" pitchFamily="18" charset="0"/>
              </a:rPr>
              <a:t>outliers</a:t>
            </a:r>
            <a:endParaRPr lang="en-US" sz="1600" dirty="0"/>
          </a:p>
        </p:txBody>
      </p:sp>
      <p:sp>
        <p:nvSpPr>
          <p:cNvPr id="18" name="Oval 17"/>
          <p:cNvSpPr/>
          <p:nvPr/>
        </p:nvSpPr>
        <p:spPr bwMode="auto">
          <a:xfrm>
            <a:off x="8125690" y="3505200"/>
            <a:ext cx="990600" cy="533400"/>
          </a:xfrm>
          <a:prstGeom prst="ellipse">
            <a:avLst/>
          </a:prstGeom>
          <a:solidFill>
            <a:srgbClr val="26FA26">
              <a:alpha val="71000"/>
            </a:srgb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57200" rtl="0" eaLnBrk="1" fontAlgn="base" latinLnBrk="0" hangingPunct="1">
              <a:lnSpc>
                <a:spcPct val="97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charset="0"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charset="0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8201890" y="3505200"/>
            <a:ext cx="859531" cy="57002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1600" dirty="0">
                <a:solidFill>
                  <a:srgbClr val="000000"/>
                </a:solidFill>
                <a:latin typeface="Times New Roman" pitchFamily="18" charset="0"/>
              </a:rPr>
              <a:t>possible</a:t>
            </a:r>
          </a:p>
          <a:p>
            <a:pPr algn="ctr"/>
            <a:r>
              <a:rPr lang="en-GB" sz="1600" dirty="0">
                <a:solidFill>
                  <a:srgbClr val="000000"/>
                </a:solidFill>
                <a:latin typeface="Times New Roman" pitchFamily="18" charset="0"/>
              </a:rPr>
              <a:t>outliers</a:t>
            </a:r>
            <a:endParaRPr lang="en-US" sz="1600" dirty="0"/>
          </a:p>
        </p:txBody>
      </p:sp>
      <p:sp>
        <p:nvSpPr>
          <p:cNvPr id="20" name="Rectangle 19"/>
          <p:cNvSpPr/>
          <p:nvPr/>
        </p:nvSpPr>
        <p:spPr>
          <a:xfrm>
            <a:off x="4419600" y="6096000"/>
            <a:ext cx="5334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0000"/>
                </a:solidFill>
                <a:latin typeface="Times New Roman" pitchFamily="18" charset="0"/>
              </a:rPr>
              <a:t>RI</a:t>
            </a:r>
          </a:p>
        </p:txBody>
      </p:sp>
    </p:spTree>
    <p:extLst>
      <p:ext uri="{BB962C8B-B14F-4D97-AF65-F5344CB8AC3E}">
        <p14:creationId xmlns:p14="http://schemas.microsoft.com/office/powerpoint/2010/main" val="3209099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/>
      <p:bldP spid="13" grpId="0"/>
      <p:bldP spid="14" grpId="0"/>
      <p:bldP spid="15" grpId="0"/>
      <p:bldP spid="16" grpId="0" animBg="1"/>
      <p:bldP spid="17" grpId="0"/>
      <p:bldP spid="18" grpId="0" animBg="1"/>
      <p:bldP spid="19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5"/>
          <p:cNvSpPr>
            <a:spLocks noChangeArrowheads="1"/>
          </p:cNvSpPr>
          <p:nvPr/>
        </p:nvSpPr>
        <p:spPr bwMode="auto">
          <a:xfrm>
            <a:off x="228600" y="1127125"/>
            <a:ext cx="8686800" cy="527367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lnSpc>
                <a:spcPct val="100000"/>
              </a:lnSpc>
              <a:spcBef>
                <a:spcPts val="800"/>
              </a:spcBef>
              <a:buFont typeface="Times New Roman" pitchFamily="18" charset="0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Note the relationship:</a:t>
            </a:r>
          </a:p>
        </p:txBody>
      </p:sp>
      <p:sp>
        <p:nvSpPr>
          <p:cNvPr id="11267" name="Rectangle 4"/>
          <p:cNvSpPr>
            <a:spLocks noChangeArrowheads="1"/>
          </p:cNvSpPr>
          <p:nvPr/>
        </p:nvSpPr>
        <p:spPr bwMode="auto">
          <a:xfrm>
            <a:off x="231775" y="168272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Visualizing Data</a:t>
            </a:r>
          </a:p>
        </p:txBody>
      </p:sp>
      <p:sp>
        <p:nvSpPr>
          <p:cNvPr id="11" name="Rectangle 10"/>
          <p:cNvSpPr/>
          <p:nvPr/>
        </p:nvSpPr>
        <p:spPr bwMode="auto">
          <a:xfrm>
            <a:off x="1267690" y="3782290"/>
            <a:ext cx="180110" cy="162791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57200" rtl="0" eaLnBrk="1" fontAlgn="base" latinLnBrk="0" hangingPunct="1">
              <a:lnSpc>
                <a:spcPct val="97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charset="0"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charset="0"/>
            </a:endParaRPr>
          </a:p>
        </p:txBody>
      </p:sp>
      <p:sp>
        <p:nvSpPr>
          <p:cNvPr id="12" name="Rectangle 11"/>
          <p:cNvSpPr/>
          <p:nvPr/>
        </p:nvSpPr>
        <p:spPr bwMode="auto">
          <a:xfrm>
            <a:off x="7058890" y="3761510"/>
            <a:ext cx="180110" cy="162791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57200" rtl="0" eaLnBrk="1" fontAlgn="base" latinLnBrk="0" hangingPunct="1">
              <a:lnSpc>
                <a:spcPct val="97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charset="0"/>
              <a:buNone/>
              <a:tabLst/>
            </a:pPr>
            <a:endParaRPr kumimoji="0" lang="en-US" sz="18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charset="0"/>
            </a:endParaRPr>
          </a:p>
        </p:txBody>
      </p:sp>
      <p:pic>
        <p:nvPicPr>
          <p:cNvPr id="71681" name="Picture 1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371600" y="4258733"/>
            <a:ext cx="5791200" cy="2590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3" name="Picture 12"/>
          <p:cNvPicPr/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990600" y="1693337"/>
            <a:ext cx="6553200" cy="2667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36204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460056-D9C0-04A4-8A75-24EA297BFB25}"/>
              </a:ext>
            </a:extLst>
          </p:cNvPr>
          <p:cNvSpPr txBox="1"/>
          <p:nvPr/>
        </p:nvSpPr>
        <p:spPr>
          <a:xfrm>
            <a:off x="2892539" y="1314431"/>
            <a:ext cx="6019686" cy="2492990"/>
          </a:xfrm>
          <a:prstGeom prst="rect">
            <a:avLst/>
          </a:prstGeom>
          <a:solidFill>
            <a:srgbClr val="000045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2"/>
                </a:solidFill>
                <a:latin typeface="Courier"/>
                <a:cs typeface="Courier"/>
              </a:rPr>
              <a:t>library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(</a:t>
            </a:r>
            <a:r>
              <a:rPr lang="en-US" sz="1200" dirty="0" err="1">
                <a:solidFill>
                  <a:schemeClr val="bg1"/>
                </a:solidFill>
                <a:latin typeface="Courier"/>
                <a:cs typeface="Courier"/>
              </a:rPr>
              <a:t>mlbench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  <a:p>
            <a:endParaRPr lang="en-US" sz="12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200" dirty="0">
                <a:solidFill>
                  <a:srgbClr val="FFFF00"/>
                </a:solidFill>
                <a:latin typeface="Courier"/>
                <a:cs typeface="Courier"/>
              </a:rPr>
              <a:t># Load some sample data</a:t>
            </a:r>
          </a:p>
          <a:p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data(</a:t>
            </a:r>
            <a:r>
              <a:rPr lang="en-US" sz="1200" dirty="0">
                <a:solidFill>
                  <a:srgbClr val="00B050"/>
                </a:solidFill>
                <a:latin typeface="Courier"/>
                <a:cs typeface="Courier"/>
              </a:rPr>
              <a:t>"Glass"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) </a:t>
            </a:r>
          </a:p>
          <a:p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?Glass</a:t>
            </a:r>
          </a:p>
          <a:p>
            <a:endParaRPr lang="en-US" sz="12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200" dirty="0">
                <a:solidFill>
                  <a:srgbClr val="FFFF00"/>
                </a:solidFill>
                <a:latin typeface="Courier"/>
                <a:cs typeface="Courier"/>
              </a:rPr>
              <a:t># A histogram of RIs</a:t>
            </a:r>
          </a:p>
          <a:p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hist(</a:t>
            </a:r>
            <a:r>
              <a:rPr lang="en-US" sz="1200" dirty="0" err="1">
                <a:solidFill>
                  <a:schemeClr val="bg1"/>
                </a:solidFill>
                <a:latin typeface="Courier"/>
                <a:cs typeface="Courier"/>
              </a:rPr>
              <a:t>Glass$RI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  <a:p>
            <a:endParaRPr lang="en-US" sz="12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200" dirty="0">
                <a:solidFill>
                  <a:srgbClr val="FFFF00"/>
                </a:solidFill>
                <a:latin typeface="Courier"/>
                <a:cs typeface="Courier"/>
              </a:rPr>
              <a:t># Corresponding BW plots of RIs</a:t>
            </a:r>
          </a:p>
          <a:p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boxplot(</a:t>
            </a:r>
            <a:r>
              <a:rPr lang="en-US" sz="1200" dirty="0" err="1">
                <a:solidFill>
                  <a:schemeClr val="bg1"/>
                </a:solidFill>
                <a:latin typeface="Courier"/>
                <a:cs typeface="Courier"/>
              </a:rPr>
              <a:t>Glass$RI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  <a:p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boxplot(</a:t>
            </a:r>
            <a:r>
              <a:rPr lang="en-US" sz="1200" dirty="0" err="1">
                <a:solidFill>
                  <a:schemeClr val="bg1"/>
                </a:solidFill>
                <a:latin typeface="Courier"/>
                <a:cs typeface="Courier"/>
              </a:rPr>
              <a:t>Glass$RI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, range=0, horizontal = T)</a:t>
            </a:r>
          </a:p>
          <a:p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boxplot(</a:t>
            </a:r>
            <a:r>
              <a:rPr lang="en-US" sz="1200" dirty="0" err="1">
                <a:solidFill>
                  <a:schemeClr val="bg1"/>
                </a:solidFill>
                <a:latin typeface="Courier"/>
                <a:cs typeface="Courier"/>
              </a:rPr>
              <a:t>Glass$RI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 ~ </a:t>
            </a:r>
            <a:r>
              <a:rPr lang="en-US" sz="1200" dirty="0" err="1">
                <a:solidFill>
                  <a:schemeClr val="bg1"/>
                </a:solidFill>
                <a:latin typeface="Courier"/>
                <a:cs typeface="Courier"/>
              </a:rPr>
              <a:t>Glass$Type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, </a:t>
            </a:r>
            <a:r>
              <a:rPr lang="en-US" sz="1200" dirty="0" err="1">
                <a:solidFill>
                  <a:schemeClr val="bg1"/>
                </a:solidFill>
                <a:latin typeface="Courier"/>
                <a:cs typeface="Courier"/>
              </a:rPr>
              <a:t>xlab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=</a:t>
            </a:r>
            <a:r>
              <a:rPr lang="en-US" sz="1200" dirty="0">
                <a:solidFill>
                  <a:srgbClr val="00B050"/>
                </a:solidFill>
                <a:latin typeface="Courier"/>
                <a:cs typeface="Courier"/>
              </a:rPr>
              <a:t>"Glass Label"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, </a:t>
            </a:r>
            <a:r>
              <a:rPr lang="en-US" sz="1200" dirty="0" err="1">
                <a:solidFill>
                  <a:schemeClr val="bg1"/>
                </a:solidFill>
                <a:latin typeface="Courier"/>
                <a:cs typeface="Courier"/>
              </a:rPr>
              <a:t>ylab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=</a:t>
            </a:r>
            <a:r>
              <a:rPr lang="en-US" sz="1200" dirty="0">
                <a:solidFill>
                  <a:srgbClr val="00B050"/>
                </a:solidFill>
                <a:latin typeface="Courier"/>
                <a:cs typeface="Courier"/>
              </a:rPr>
              <a:t>"RI"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52E8049E-D27D-E14C-8977-93E4ACF212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775" y="168272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Histogram and BW Examples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90BEFC4C-CE6B-1038-759E-61B387CDAD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DD4E16C-6554-4C5C-65B3-06F5BF85B3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738" y="1165370"/>
            <a:ext cx="2514714" cy="259853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E7F4FA1-F8B5-2599-81BA-773089DDE5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23386" y="4463661"/>
            <a:ext cx="2699657" cy="231813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360BAED-C011-E7A0-5B6C-911A95C2A2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2941" y="4469561"/>
            <a:ext cx="2419606" cy="231813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DD49C05-3DD3-615E-218C-C0240775DA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95334" y="4358499"/>
            <a:ext cx="2782207" cy="246684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91B2F3B-729B-E396-8F5A-6CEB43CCF405}"/>
              </a:ext>
            </a:extLst>
          </p:cNvPr>
          <p:cNvSpPr txBox="1"/>
          <p:nvPr/>
        </p:nvSpPr>
        <p:spPr>
          <a:xfrm>
            <a:off x="2788105" y="3775182"/>
            <a:ext cx="153352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glass_RI_plots.R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2721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5"/>
          <p:cNvSpPr>
            <a:spLocks noChangeArrowheads="1"/>
          </p:cNvSpPr>
          <p:nvPr/>
        </p:nvSpPr>
        <p:spPr bwMode="auto">
          <a:xfrm>
            <a:off x="231775" y="1170224"/>
            <a:ext cx="7520940" cy="430887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/>
          <a:lstStyle/>
          <a:p>
            <a:pPr marL="430213" indent="-323850">
              <a:spcBef>
                <a:spcPts val="800"/>
              </a:spcBef>
              <a:buClr>
                <a:srgbClr val="000000"/>
              </a:buClr>
              <a:buSzPct val="100000"/>
              <a:buFont typeface="Arial"/>
              <a:buChar char="•"/>
              <a:tabLst>
                <a:tab pos="430213" algn="l"/>
                <a:tab pos="1344613" algn="l"/>
                <a:tab pos="2259013" algn="l"/>
                <a:tab pos="3173413" algn="l"/>
                <a:tab pos="4087813" algn="l"/>
                <a:tab pos="5002213" algn="l"/>
                <a:tab pos="5916613" algn="l"/>
                <a:tab pos="6831013" algn="l"/>
                <a:tab pos="7745413" algn="l"/>
                <a:tab pos="8659813" algn="l"/>
                <a:tab pos="9574213" algn="l"/>
                <a:tab pos="10488613" algn="l"/>
              </a:tabLst>
            </a:pPr>
            <a:r>
              <a:rPr lang="en-GB" sz="2400" b="1" dirty="0">
                <a:solidFill>
                  <a:srgbClr val="000000"/>
                </a:solidFill>
                <a:latin typeface="Times New Roman" pitchFamily="18" charset="0"/>
              </a:rPr>
              <a:t>Scatter plots</a:t>
            </a: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: plot any </a:t>
            </a:r>
            <a:r>
              <a:rPr lang="en-GB" sz="2400" i="1" u="sng" dirty="0">
                <a:solidFill>
                  <a:srgbClr val="000000"/>
                </a:solidFill>
                <a:latin typeface="Times New Roman" pitchFamily="18" charset="0"/>
              </a:rPr>
              <a:t>two</a:t>
            </a:r>
            <a:r>
              <a:rPr lang="en-GB" sz="2400" dirty="0">
                <a:solidFill>
                  <a:srgbClr val="000000"/>
                </a:solidFill>
                <a:latin typeface="Times New Roman" pitchFamily="18" charset="0"/>
              </a:rPr>
              <a:t> variables against each other</a:t>
            </a:r>
          </a:p>
        </p:txBody>
      </p:sp>
      <p:sp>
        <p:nvSpPr>
          <p:cNvPr id="25603" name="Rectangle 4"/>
          <p:cNvSpPr>
            <a:spLocks noChangeArrowheads="1"/>
          </p:cNvSpPr>
          <p:nvPr/>
        </p:nvSpPr>
        <p:spPr bwMode="auto">
          <a:xfrm>
            <a:off x="231775" y="152400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First Thing: Look at your Data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4492" y="1299318"/>
            <a:ext cx="4938634" cy="493863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F60D6C1-850A-E6A0-FE53-D47D8F94DA61}"/>
              </a:ext>
            </a:extLst>
          </p:cNvPr>
          <p:cNvSpPr txBox="1"/>
          <p:nvPr/>
        </p:nvSpPr>
        <p:spPr>
          <a:xfrm>
            <a:off x="1065525" y="5936159"/>
            <a:ext cx="668719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Typically, the data for these is continuous variables but can be discrete</a:t>
            </a:r>
          </a:p>
        </p:txBody>
      </p:sp>
    </p:spTree>
    <p:extLst>
      <p:ext uri="{BB962C8B-B14F-4D97-AF65-F5344CB8AC3E}">
        <p14:creationId xmlns:p14="http://schemas.microsoft.com/office/powerpoint/2010/main" val="3213803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49F51F9-35F1-2B91-EE51-714354E794E7}"/>
              </a:ext>
            </a:extLst>
          </p:cNvPr>
          <p:cNvSpPr txBox="1"/>
          <p:nvPr/>
        </p:nvSpPr>
        <p:spPr>
          <a:xfrm>
            <a:off x="3463545" y="1691465"/>
            <a:ext cx="5532014" cy="2492990"/>
          </a:xfrm>
          <a:prstGeom prst="rect">
            <a:avLst/>
          </a:prstGeom>
          <a:solidFill>
            <a:srgbClr val="000045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2"/>
                </a:solidFill>
                <a:latin typeface="Courier"/>
                <a:cs typeface="Courier"/>
              </a:rPr>
              <a:t>library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(</a:t>
            </a:r>
            <a:r>
              <a:rPr lang="en-US" sz="1200" dirty="0" err="1">
                <a:solidFill>
                  <a:schemeClr val="bg1"/>
                </a:solidFill>
                <a:latin typeface="Courier"/>
                <a:cs typeface="Courier"/>
              </a:rPr>
              <a:t>mlbench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) </a:t>
            </a:r>
          </a:p>
          <a:p>
            <a:endParaRPr lang="en-US" sz="12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200" dirty="0">
                <a:solidFill>
                  <a:srgbClr val="FFFF00"/>
                </a:solidFill>
                <a:latin typeface="Courier"/>
                <a:cs typeface="Courier"/>
              </a:rPr>
              <a:t># Load some sample data</a:t>
            </a:r>
          </a:p>
          <a:p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data(</a:t>
            </a:r>
            <a:r>
              <a:rPr lang="en-US" sz="1200" dirty="0">
                <a:solidFill>
                  <a:srgbClr val="00B050"/>
                </a:solidFill>
                <a:latin typeface="Courier"/>
                <a:cs typeface="Courier"/>
              </a:rPr>
              <a:t>"Glass"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) </a:t>
            </a:r>
          </a:p>
          <a:p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?Glass</a:t>
            </a:r>
          </a:p>
          <a:p>
            <a:endParaRPr lang="en-US" sz="12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200" dirty="0">
                <a:solidFill>
                  <a:srgbClr val="FFFF00"/>
                </a:solidFill>
                <a:latin typeface="Courier"/>
                <a:cs typeface="Courier"/>
              </a:rPr>
              <a:t># Scatter plots</a:t>
            </a:r>
          </a:p>
          <a:p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plot(</a:t>
            </a:r>
            <a:r>
              <a:rPr lang="en-US" sz="1200" dirty="0" err="1">
                <a:solidFill>
                  <a:schemeClr val="bg1"/>
                </a:solidFill>
                <a:latin typeface="Courier"/>
                <a:cs typeface="Courier"/>
              </a:rPr>
              <a:t>Glass$RI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, </a:t>
            </a:r>
            <a:r>
              <a:rPr lang="en-US" sz="1200" dirty="0" err="1">
                <a:solidFill>
                  <a:schemeClr val="bg1"/>
                </a:solidFill>
                <a:latin typeface="Courier"/>
                <a:cs typeface="Courier"/>
              </a:rPr>
              <a:t>Glass$Na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  <a:p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plot(</a:t>
            </a:r>
            <a:r>
              <a:rPr lang="en-US" sz="1200" dirty="0" err="1">
                <a:solidFill>
                  <a:schemeClr val="bg1"/>
                </a:solidFill>
                <a:latin typeface="Courier"/>
                <a:cs typeface="Courier"/>
              </a:rPr>
              <a:t>Glass$Na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, </a:t>
            </a:r>
            <a:r>
              <a:rPr lang="en-US" sz="1200" dirty="0" err="1">
                <a:solidFill>
                  <a:schemeClr val="bg1"/>
                </a:solidFill>
                <a:latin typeface="Courier"/>
                <a:cs typeface="Courier"/>
              </a:rPr>
              <a:t>Glass$Si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)</a:t>
            </a:r>
          </a:p>
          <a:p>
            <a:endParaRPr lang="en-US" sz="1200" dirty="0">
              <a:solidFill>
                <a:schemeClr val="bg1"/>
              </a:solidFill>
              <a:latin typeface="Courier"/>
              <a:cs typeface="Courier"/>
            </a:endParaRPr>
          </a:p>
          <a:p>
            <a:r>
              <a:rPr lang="en-US" sz="1200" dirty="0">
                <a:solidFill>
                  <a:srgbClr val="FFFF00"/>
                </a:solidFill>
                <a:latin typeface="Courier"/>
                <a:cs typeface="Courier"/>
              </a:rPr>
              <a:t># Strip chart</a:t>
            </a:r>
          </a:p>
          <a:p>
            <a:r>
              <a:rPr lang="en-US" sz="1200" dirty="0" err="1">
                <a:solidFill>
                  <a:schemeClr val="bg1"/>
                </a:solidFill>
                <a:latin typeface="Courier"/>
                <a:cs typeface="Courier"/>
              </a:rPr>
              <a:t>stripchart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(</a:t>
            </a:r>
            <a:r>
              <a:rPr lang="en-US" sz="1200" dirty="0" err="1">
                <a:solidFill>
                  <a:schemeClr val="bg1"/>
                </a:solidFill>
                <a:latin typeface="Courier"/>
                <a:cs typeface="Courier"/>
              </a:rPr>
              <a:t>as.numeric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(Type)~Na, data=</a:t>
            </a:r>
            <a:r>
              <a:rPr lang="en-US" sz="1200" dirty="0" err="1">
                <a:solidFill>
                  <a:schemeClr val="bg1"/>
                </a:solidFill>
                <a:latin typeface="Courier"/>
                <a:cs typeface="Courier"/>
              </a:rPr>
              <a:t>Glass,xlab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=</a:t>
            </a:r>
            <a:r>
              <a:rPr lang="en-US" sz="1200" dirty="0">
                <a:solidFill>
                  <a:srgbClr val="00B050"/>
                </a:solidFill>
                <a:latin typeface="Courier"/>
                <a:cs typeface="Courier"/>
              </a:rPr>
              <a:t>"Glass#"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, </a:t>
            </a:r>
          </a:p>
          <a:p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                      </a:t>
            </a:r>
            <a:r>
              <a:rPr lang="en-US" sz="1200" dirty="0" err="1">
                <a:solidFill>
                  <a:schemeClr val="bg1"/>
                </a:solidFill>
                <a:latin typeface="Courier"/>
                <a:cs typeface="Courier"/>
              </a:rPr>
              <a:t>ylab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=</a:t>
            </a:r>
            <a:r>
              <a:rPr lang="en-US" sz="1200" dirty="0">
                <a:solidFill>
                  <a:srgbClr val="00B050"/>
                </a:solidFill>
                <a:latin typeface="Courier"/>
                <a:cs typeface="Courier"/>
              </a:rPr>
              <a:t>"Na conc."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, vertical=F, </a:t>
            </a:r>
            <a:r>
              <a:rPr lang="en-US" sz="1200" dirty="0" err="1">
                <a:solidFill>
                  <a:schemeClr val="bg1"/>
                </a:solidFill>
                <a:latin typeface="Courier"/>
                <a:cs typeface="Courier"/>
              </a:rPr>
              <a:t>pch</a:t>
            </a:r>
            <a:r>
              <a:rPr lang="en-US" sz="1200" dirty="0">
                <a:solidFill>
                  <a:schemeClr val="bg1"/>
                </a:solidFill>
                <a:latin typeface="Courier"/>
                <a:cs typeface="Courier"/>
              </a:rPr>
              <a:t>=16)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2F7AC8A7-52F6-197F-AAC6-4FFFDF1AB3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775" y="168272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Scatter Plots and </a:t>
            </a:r>
            <a:r>
              <a:rPr lang="en-GB" sz="4000" dirty="0" err="1">
                <a:solidFill>
                  <a:srgbClr val="000000"/>
                </a:solidFill>
                <a:latin typeface="Times New Roman" pitchFamily="18" charset="0"/>
              </a:rPr>
              <a:t>Stripcharts</a:t>
            </a:r>
            <a:endParaRPr lang="en-GB" sz="4000" dirty="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6AD569AB-C05C-3BBA-8287-306488A082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8193EC5-2F0C-95E2-249D-4F72FCC346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58" y="1216457"/>
            <a:ext cx="3101731" cy="275014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7F7FD2B-EED8-69A4-E257-37A14663A6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79" y="4107850"/>
            <a:ext cx="3101732" cy="27501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460BD83-D3CA-EF6D-FC64-9CE9AEB475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53852" y="4479423"/>
            <a:ext cx="5715978" cy="201340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92B6C87-5F48-0932-6E2F-22153A0D4191}"/>
              </a:ext>
            </a:extLst>
          </p:cNvPr>
          <p:cNvSpPr txBox="1"/>
          <p:nvPr/>
        </p:nvSpPr>
        <p:spPr>
          <a:xfrm>
            <a:off x="3365049" y="4123524"/>
            <a:ext cx="153352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glass_RI_plots.R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0173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C37A07-CB93-D20B-57BF-12F6977FC6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4">
            <a:extLst>
              <a:ext uri="{FF2B5EF4-FFF2-40B4-BE49-F238E27FC236}">
                <a16:creationId xmlns:a16="http://schemas.microsoft.com/office/drawing/2014/main" id="{DDF51737-E197-3622-3B66-5A3E61AD37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775" y="168272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Pie Charts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B16A17AE-7AE5-A611-1F7B-415C9A83F4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909AADF-8133-1D2B-0B36-169ECFE84F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330" y="2009140"/>
            <a:ext cx="3735070" cy="387743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835376B-AD00-F7BF-3B0A-1C1BC1F92F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2" y="2009140"/>
            <a:ext cx="3735070" cy="387743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E939C5B-4BFC-96FE-EE1B-A60BCD6E0336}"/>
              </a:ext>
            </a:extLst>
          </p:cNvPr>
          <p:cNvSpPr txBox="1"/>
          <p:nvPr/>
        </p:nvSpPr>
        <p:spPr>
          <a:xfrm>
            <a:off x="231775" y="1522752"/>
            <a:ext cx="21114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glass_pie_charts.R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1C7C9B7-5A1D-D3E5-6B94-22EE089DF621}"/>
              </a:ext>
            </a:extLst>
          </p:cNvPr>
          <p:cNvCxnSpPr>
            <a:cxnSpLocks/>
          </p:cNvCxnSpPr>
          <p:nvPr/>
        </p:nvCxnSpPr>
        <p:spPr>
          <a:xfrm flipH="1">
            <a:off x="2937510" y="1814802"/>
            <a:ext cx="2151102" cy="1625628"/>
          </a:xfrm>
          <a:prstGeom prst="straightConnector1">
            <a:avLst/>
          </a:prstGeom>
          <a:ln w="317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9166CE3-427B-AB8E-6E2B-9A9F42D02277}"/>
              </a:ext>
            </a:extLst>
          </p:cNvPr>
          <p:cNvCxnSpPr>
            <a:cxnSpLocks/>
          </p:cNvCxnSpPr>
          <p:nvPr/>
        </p:nvCxnSpPr>
        <p:spPr>
          <a:xfrm flipH="1">
            <a:off x="1847215" y="1814802"/>
            <a:ext cx="3241397" cy="1710690"/>
          </a:xfrm>
          <a:prstGeom prst="straightConnector1">
            <a:avLst/>
          </a:prstGeom>
          <a:ln w="317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65CCF1A-107C-F278-FFB5-A0AFC6FEF32E}"/>
              </a:ext>
            </a:extLst>
          </p:cNvPr>
          <p:cNvSpPr txBox="1"/>
          <p:nvPr/>
        </p:nvSpPr>
        <p:spPr>
          <a:xfrm>
            <a:off x="3140018" y="1436474"/>
            <a:ext cx="44999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Popular way to depict relative proportions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C2E8246-42BB-B008-CDCD-3CDE028F09D8}"/>
              </a:ext>
            </a:extLst>
          </p:cNvPr>
          <p:cNvSpPr txBox="1"/>
          <p:nvPr/>
        </p:nvSpPr>
        <p:spPr>
          <a:xfrm>
            <a:off x="2162336" y="6029723"/>
            <a:ext cx="527653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Shown here are are (average) relative proportions of Mg and Si in a sample of some glass types </a:t>
            </a:r>
          </a:p>
        </p:txBody>
      </p:sp>
    </p:spTree>
    <p:extLst>
      <p:ext uri="{BB962C8B-B14F-4D97-AF65-F5344CB8AC3E}">
        <p14:creationId xmlns:p14="http://schemas.microsoft.com/office/powerpoint/2010/main" val="27294491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4">
            <a:extLst>
              <a:ext uri="{FF2B5EF4-FFF2-40B4-BE49-F238E27FC236}">
                <a16:creationId xmlns:a16="http://schemas.microsoft.com/office/drawing/2014/main" id="{320419BC-E845-3E9D-83DF-EEF1E23BC9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775" y="168272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Pie Charts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B329BDF2-C871-23A0-66CD-02572AF1B0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E5DCFFD-EE83-6191-2539-A3B925110C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438" y="1433189"/>
            <a:ext cx="8461372" cy="500613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A727106-8E96-C489-A3C2-2ED9E7420E5D}"/>
              </a:ext>
            </a:extLst>
          </p:cNvPr>
          <p:cNvSpPr txBox="1"/>
          <p:nvPr/>
        </p:nvSpPr>
        <p:spPr>
          <a:xfrm>
            <a:off x="7001129" y="3770489"/>
            <a:ext cx="21114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glass_pie_charts.R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46713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65AE2D21-39F8-D13E-36D7-3B5EC20AFE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" y="1232298"/>
            <a:ext cx="7772400" cy="4782023"/>
          </a:xfrm>
          <a:prstGeom prst="rect">
            <a:avLst/>
          </a:prstGeom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63F31206-A33B-C52F-8240-1CBBE2F364F2}"/>
              </a:ext>
            </a:extLst>
          </p:cNvPr>
          <p:cNvCxnSpPr>
            <a:cxnSpLocks/>
            <a:stCxn id="5" idx="1"/>
          </p:cNvCxnSpPr>
          <p:nvPr/>
        </p:nvCxnSpPr>
        <p:spPr>
          <a:xfrm flipH="1">
            <a:off x="5669280" y="1197622"/>
            <a:ext cx="1164828" cy="1854188"/>
          </a:xfrm>
          <a:prstGeom prst="straightConnector1">
            <a:avLst/>
          </a:prstGeom>
          <a:ln w="317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1EA5CFD-C137-3ADC-8E7B-6095D1B69105}"/>
              </a:ext>
            </a:extLst>
          </p:cNvPr>
          <p:cNvCxnSpPr>
            <a:cxnSpLocks/>
            <a:stCxn id="5" idx="1"/>
          </p:cNvCxnSpPr>
          <p:nvPr/>
        </p:nvCxnSpPr>
        <p:spPr>
          <a:xfrm flipH="1">
            <a:off x="5669280" y="1197622"/>
            <a:ext cx="1164828" cy="597697"/>
          </a:xfrm>
          <a:prstGeom prst="straightConnector1">
            <a:avLst/>
          </a:prstGeom>
          <a:ln w="317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BC213174-F2CE-64BD-5BAB-C8C5BDC5F321}"/>
              </a:ext>
            </a:extLst>
          </p:cNvPr>
          <p:cNvSpPr txBox="1"/>
          <p:nvPr/>
        </p:nvSpPr>
        <p:spPr>
          <a:xfrm>
            <a:off x="6834108" y="843679"/>
            <a:ext cx="21737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Bar heights shows relative proportions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7723733-A03A-90F9-93E3-3743302C4EE0}"/>
              </a:ext>
            </a:extLst>
          </p:cNvPr>
          <p:cNvCxnSpPr>
            <a:cxnSpLocks/>
            <a:stCxn id="5" idx="1"/>
          </p:cNvCxnSpPr>
          <p:nvPr/>
        </p:nvCxnSpPr>
        <p:spPr>
          <a:xfrm flipH="1">
            <a:off x="3474721" y="1197622"/>
            <a:ext cx="3359387" cy="862582"/>
          </a:xfrm>
          <a:prstGeom prst="straightConnector1">
            <a:avLst/>
          </a:prstGeom>
          <a:ln w="317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4">
            <a:extLst>
              <a:ext uri="{FF2B5EF4-FFF2-40B4-BE49-F238E27FC236}">
                <a16:creationId xmlns:a16="http://schemas.microsoft.com/office/drawing/2014/main" id="{5BB74F63-595A-5EDC-DABB-7BE2B4312B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775" y="168272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Stacked Bar Plots</a:t>
            </a:r>
          </a:p>
        </p:txBody>
      </p:sp>
      <p:pic>
        <p:nvPicPr>
          <p:cNvPr id="15" name="Picture 2">
            <a:extLst>
              <a:ext uri="{FF2B5EF4-FFF2-40B4-BE49-F238E27FC236}">
                <a16:creationId xmlns:a16="http://schemas.microsoft.com/office/drawing/2014/main" id="{0069277A-C236-3D15-F333-6DFC3DF3F4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CB3EB5E-E7C3-7B00-1E2B-AC426606F50E}"/>
              </a:ext>
            </a:extLst>
          </p:cNvPr>
          <p:cNvSpPr txBox="1"/>
          <p:nvPr/>
        </p:nvSpPr>
        <p:spPr>
          <a:xfrm>
            <a:off x="6878501" y="6381058"/>
            <a:ext cx="226882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glass_stacked_bar.R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1645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2E5B19B5-FDC7-2BA1-0F11-7F407823D0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775" y="168272"/>
            <a:ext cx="8607425" cy="112712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Stacked Bar Plots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1E911D5-4A13-3942-A2D6-482F48D46B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E58514E-F576-3663-4E38-7CD4FDB4B4E3}"/>
              </a:ext>
            </a:extLst>
          </p:cNvPr>
          <p:cNvSpPr txBox="1"/>
          <p:nvPr/>
        </p:nvSpPr>
        <p:spPr>
          <a:xfrm>
            <a:off x="6851831" y="5197699"/>
            <a:ext cx="226882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glass_stacked_bar.R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5977216-FD0F-640D-0E3F-8B1A376CCA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950" y="1194865"/>
            <a:ext cx="6057900" cy="5586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7229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lot3d_clip.mp4">
            <a:hlinkClick r:id="" action="ppaction://media"/>
            <a:extLst>
              <a:ext uri="{FF2B5EF4-FFF2-40B4-BE49-F238E27FC236}">
                <a16:creationId xmlns:a16="http://schemas.microsoft.com/office/drawing/2014/main" id="{DDA807FC-8F1B-E467-03AA-531245A3600E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9250" t="16444" r="50875" b="17778"/>
          <a:stretch>
            <a:fillRect/>
          </a:stretch>
        </p:blipFill>
        <p:spPr>
          <a:xfrm>
            <a:off x="1543050" y="990837"/>
            <a:ext cx="5812155" cy="5393097"/>
          </a:xfrm>
          <a:prstGeom prst="rect">
            <a:avLst/>
          </a:prstGeom>
        </p:spPr>
      </p:pic>
      <p:sp>
        <p:nvSpPr>
          <p:cNvPr id="10" name="Rectangle 4">
            <a:extLst>
              <a:ext uri="{FF2B5EF4-FFF2-40B4-BE49-F238E27FC236}">
                <a16:creationId xmlns:a16="http://schemas.microsoft.com/office/drawing/2014/main" id="{09A2386B-AB9A-E116-12AD-C0FE603A6D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775" y="168272"/>
            <a:ext cx="8607425" cy="82256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Interactive 3D Scatter Plots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B5DC478-46EC-0E3A-B269-1F7CD0FAB2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405BF6E-2005-8F2B-1C06-FE63B33A80E6}"/>
              </a:ext>
            </a:extLst>
          </p:cNvPr>
          <p:cNvSpPr txBox="1"/>
          <p:nvPr/>
        </p:nvSpPr>
        <p:spPr>
          <a:xfrm>
            <a:off x="7069001" y="6466429"/>
            <a:ext cx="206979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gas_3d_plotting.R</a:t>
            </a:r>
          </a:p>
        </p:txBody>
      </p:sp>
    </p:spTree>
    <p:extLst>
      <p:ext uri="{BB962C8B-B14F-4D97-AF65-F5344CB8AC3E}">
        <p14:creationId xmlns:p14="http://schemas.microsoft.com/office/powerpoint/2010/main" val="3676120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5834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4">
            <a:extLst>
              <a:ext uri="{FF2B5EF4-FFF2-40B4-BE49-F238E27FC236}">
                <a16:creationId xmlns:a16="http://schemas.microsoft.com/office/drawing/2014/main" id="{08DB757B-9937-2AC3-27DA-3EC1ABA004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775" y="168272"/>
            <a:ext cx="8607425" cy="822565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  <p:txBody>
          <a:bodyPr lIns="0" tIns="0" rIns="0" bIns="0" anchor="ctr"/>
          <a:lstStyle/>
          <a:p>
            <a:pPr algn="ctr">
              <a:lnSpc>
                <a:spcPct val="100000"/>
              </a:lnSpc>
              <a:buFont typeface="Times New Roman" pitchFamily="18" charset="0"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GB" sz="4000" dirty="0">
                <a:solidFill>
                  <a:srgbClr val="000000"/>
                </a:solidFill>
                <a:latin typeface="Times New Roman" pitchFamily="18" charset="0"/>
              </a:rPr>
              <a:t>Interactive 3D Surface Plots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2453F17-58A1-2470-4C18-F28126634C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84188" y="76200"/>
            <a:ext cx="8202612" cy="239712"/>
          </a:xfrm>
          <a:prstGeom prst="rect">
            <a:avLst/>
          </a:prstGeom>
          <a:noFill/>
          <a:ln w="9525">
            <a:noFill/>
            <a:round/>
            <a:headEnd/>
            <a:tailEnd/>
          </a:ln>
        </p:spPr>
      </p:pic>
      <p:pic>
        <p:nvPicPr>
          <p:cNvPr id="2" name="surface3d_clip.mp4">
            <a:hlinkClick r:id="" action="ppaction://media"/>
            <a:extLst>
              <a:ext uri="{FF2B5EF4-FFF2-40B4-BE49-F238E27FC236}">
                <a16:creationId xmlns:a16="http://schemas.microsoft.com/office/drawing/2014/main" id="{B702E7B0-5FF6-0781-D5E5-382D7FDC0FEC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l="14625" r="3333"/>
          <a:stretch>
            <a:fillRect/>
          </a:stretch>
        </p:blipFill>
        <p:spPr>
          <a:xfrm>
            <a:off x="846235" y="990837"/>
            <a:ext cx="7318497" cy="501776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8B6512E-B5E6-5BBB-FF1B-A9DF0A6E180D}"/>
              </a:ext>
            </a:extLst>
          </p:cNvPr>
          <p:cNvSpPr txBox="1"/>
          <p:nvPr/>
        </p:nvSpPr>
        <p:spPr>
          <a:xfrm>
            <a:off x="7114721" y="6489289"/>
            <a:ext cx="206979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gas_3d_plotting.R</a:t>
            </a:r>
          </a:p>
        </p:txBody>
      </p:sp>
    </p:spTree>
    <p:extLst>
      <p:ext uri="{BB962C8B-B14F-4D97-AF65-F5344CB8AC3E}">
        <p14:creationId xmlns:p14="http://schemas.microsoft.com/office/powerpoint/2010/main" val="9359890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9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14982</TotalTime>
  <Words>382</Words>
  <Application>Microsoft Macintosh PowerPoint</Application>
  <PresentationFormat>On-screen Show (4:3)</PresentationFormat>
  <Paragraphs>74</Paragraphs>
  <Slides>14</Slides>
  <Notes>0</Notes>
  <HiddenSlides>0</HiddenSlides>
  <MMClips>2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Aptos</vt:lpstr>
      <vt:lpstr>Aptos Display</vt:lpstr>
      <vt:lpstr>Arial</vt:lpstr>
      <vt:lpstr>Courier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Nicholas Petraco</dc:creator>
  <cp:lastModifiedBy>Nicholas Petraco</cp:lastModifiedBy>
  <cp:revision>17</cp:revision>
  <dcterms:created xsi:type="dcterms:W3CDTF">2025-11-25T13:29:35Z</dcterms:created>
  <dcterms:modified xsi:type="dcterms:W3CDTF">2026-01-08T12:41:43Z</dcterms:modified>
</cp:coreProperties>
</file>