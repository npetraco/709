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8" r:id="rId9"/>
    <p:sldId id="291" r:id="rId10"/>
    <p:sldId id="269" r:id="rId11"/>
    <p:sldId id="352" r:id="rId12"/>
    <p:sldId id="353" r:id="rId13"/>
    <p:sldId id="297" r:id="rId14"/>
    <p:sldId id="298" r:id="rId15"/>
    <p:sldId id="299" r:id="rId16"/>
    <p:sldId id="354" r:id="rId17"/>
    <p:sldId id="351" r:id="rId18"/>
    <p:sldId id="308" r:id="rId19"/>
    <p:sldId id="309" r:id="rId20"/>
    <p:sldId id="350" r:id="rId21"/>
    <p:sldId id="310" r:id="rId22"/>
    <p:sldId id="294" r:id="rId23"/>
    <p:sldId id="29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09" d="100"/>
          <a:sy n="109" d="100"/>
        </p:scale>
        <p:origin x="19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71FD9-B322-2549-9400-AF0C57474107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B24EC-C302-4742-94E1-DA9B006B34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5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32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5"/>
            <a:ext cx="5485158" cy="4114488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B24EC-C302-4742-94E1-DA9B006B342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17F39-3343-D34D-887C-91D887A1DE4F}" type="datetimeFigureOut">
              <a:rPr lang="en-US" smtClean="0"/>
              <a:pPr/>
              <a:t>6/10/25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rstudio.org/" TargetMode="External"/><Relationship Id="rId2" Type="http://schemas.openxmlformats.org/officeDocument/2006/relationships/hyperlink" Target="http://www.r-project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jpeg"/><Relationship Id="rId4" Type="http://schemas.openxmlformats.org/officeDocument/2006/relationships/hyperlink" Target="http://cran.r-project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"/>
          <p:cNvSpPr>
            <a:spLocks noChangeArrowheads="1"/>
          </p:cNvSpPr>
          <p:nvPr/>
        </p:nvSpPr>
        <p:spPr bwMode="auto">
          <a:xfrm>
            <a:off x="14288" y="304800"/>
            <a:ext cx="9104312" cy="2438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Hands-on Introduction to R</a:t>
            </a:r>
            <a:endParaRPr lang="en-US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3" cstate="print"/>
          <a:srcRect l="5212"/>
          <a:stretch>
            <a:fillRect/>
          </a:stretch>
        </p:blipFill>
        <p:spPr bwMode="auto">
          <a:xfrm flipH="1">
            <a:off x="6677019" y="4121118"/>
            <a:ext cx="2444458" cy="233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994" y="4727150"/>
            <a:ext cx="955848" cy="6136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6588792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" name="P 1" descr="IMG_2089.jpeg"/>
          <p:cNvPicPr/>
          <p:nvPr/>
        </p:nvPicPr>
        <p:blipFill>
          <a:blip r:embed="rId6"/>
          <a:srcRect l="36665" t="30724" r="34167" b="20345"/>
          <a:stretch>
            <a:fillRect/>
          </a:stretch>
        </p:blipFill>
        <p:spPr bwMode="auto">
          <a:xfrm rot="10800000">
            <a:off x="295409" y="4279340"/>
            <a:ext cx="1864391" cy="179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IJ_3D_primershear_examp.jpg"/>
          <p:cNvPicPr>
            <a:picLocks noChangeAspect="1"/>
          </p:cNvPicPr>
          <p:nvPr/>
        </p:nvPicPr>
        <p:blipFill>
          <a:blip r:embed="rId7"/>
          <a:srcRect l="20551" t="21207" r="23050" b="25744"/>
          <a:stretch>
            <a:fillRect/>
          </a:stretch>
        </p:blipFill>
        <p:spPr>
          <a:xfrm>
            <a:off x="2935502" y="2614485"/>
            <a:ext cx="3101686" cy="176495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2273933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861836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R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8504" y="1368146"/>
            <a:ext cx="536873" cy="4080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31775" y="148284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Outline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231775" y="1063712"/>
            <a:ext cx="8607425" cy="53397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charset="0"/>
              </a:rPr>
              <a:t>R  : A powerful platform for scientific calculation and data analysis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Why bother learning    R ? 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Data, data, data, I cannot make bricks without clay </a:t>
            </a:r>
            <a:r>
              <a:rPr lang="en-US" sz="3200" baseline="30000" dirty="0">
                <a:latin typeface="Times New Roman"/>
                <a:cs typeface="Times New Roman"/>
              </a:rPr>
              <a:t>Copper Beeches</a:t>
            </a:r>
            <a:endParaRPr lang="en-GB" sz="3200" baseline="30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A tour of </a:t>
            </a:r>
            <a:r>
              <a:rPr lang="en-GB" sz="3200" dirty="0" err="1">
                <a:solidFill>
                  <a:srgbClr val="000000"/>
                </a:solidFill>
                <a:latin typeface="Times New Roman"/>
                <a:cs typeface="Times New Roman"/>
              </a:rPr>
              <a:t>RStudio</a:t>
            </a: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. Basic Input and Output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Getting Help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Visualizing with Plots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Loading your data from Excel </a:t>
            </a:r>
            <a:r>
              <a:rPr lang="en-GB" sz="3200" dirty="0" err="1">
                <a:solidFill>
                  <a:srgbClr val="000000"/>
                </a:solidFill>
                <a:latin typeface="Times New Roman"/>
                <a:cs typeface="Times New Roman"/>
              </a:rPr>
              <a:t>spreadsheets</a:t>
            </a:r>
            <a:endParaRPr lang="en-GB" sz="3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06" y="1165787"/>
            <a:ext cx="620039" cy="471232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130" y="2292070"/>
            <a:ext cx="678018" cy="51529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not a black box!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Codes available for review;  totally transparent!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 maintained by a professional group of statisticians, and computational scientists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u="sng" dirty="0">
                <a:solidFill>
                  <a:srgbClr val="000000"/>
                </a:solidFill>
                <a:latin typeface="Times New Roman" pitchFamily="18" charset="0"/>
              </a:rPr>
              <a:t>From very simple to state-of-the-art procedures available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Very good graphics for exhibits and papers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extensible (it is a full scripting language)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Coding/syntax similar to Python and MATLAB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Easy to link to C/C++ routines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33" y="1504547"/>
            <a:ext cx="391280" cy="297374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99" y="2626600"/>
            <a:ext cx="391280" cy="297374"/>
          </a:xfrm>
          <a:prstGeom prst="rect">
            <a:avLst/>
          </a:prstGeom>
        </p:spPr>
      </p:pic>
      <p:pic>
        <p:nvPicPr>
          <p:cNvPr id="9" name="Picture 8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90" y="4994156"/>
            <a:ext cx="391280" cy="29737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Where to get information on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R: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2"/>
              </a:rPr>
              <a:t>http://www.r-project.org/</a:t>
            </a:r>
            <a:endParaRPr lang="en-US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Just need the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base</a:t>
            </a:r>
            <a:endParaRPr lang="en-GB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3"/>
              </a:rPr>
              <a:t>http://rstudio.org/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 great IDE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Work on all platforms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Sometimes slows down performance…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CRAN: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4"/>
              </a:rPr>
              <a:t>http://cran.r-project.org/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Library repository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Click on Search on the left of the website to search for package/info on packages 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640" y="1495966"/>
            <a:ext cx="391280" cy="297374"/>
          </a:xfrm>
          <a:prstGeom prst="rect">
            <a:avLst/>
          </a:prstGeom>
        </p:spPr>
      </p:pic>
      <p:pic>
        <p:nvPicPr>
          <p:cNvPr id="10" name="Picture 9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613" y="2043063"/>
            <a:ext cx="391280" cy="297374"/>
          </a:xfrm>
          <a:prstGeom prst="rect">
            <a:avLst/>
          </a:prstGeom>
        </p:spPr>
      </p:pic>
      <p:pic>
        <p:nvPicPr>
          <p:cNvPr id="13" name="Picture 12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589" y="3450274"/>
            <a:ext cx="391280" cy="297374"/>
          </a:xfrm>
          <a:prstGeom prst="rect">
            <a:avLst/>
          </a:prstGeom>
        </p:spPr>
      </p:pic>
      <p:pic>
        <p:nvPicPr>
          <p:cNvPr id="14" name="Picture 13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92" y="5303672"/>
            <a:ext cx="391280" cy="297374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89205" y="23821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Finding our way around R/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pic>
        <p:nvPicPr>
          <p:cNvPr id="15" name="Picture 14" descr="RStudio_screencap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9" y="1132970"/>
            <a:ext cx="8829724" cy="5571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179731">
            <a:off x="840928" y="2471220"/>
            <a:ext cx="4305498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Script Window</a:t>
            </a:r>
          </a:p>
        </p:txBody>
      </p:sp>
      <p:sp>
        <p:nvSpPr>
          <p:cNvPr id="7" name="TextBox 6"/>
          <p:cNvSpPr txBox="1"/>
          <p:nvPr/>
        </p:nvSpPr>
        <p:spPr>
          <a:xfrm rot="1179731">
            <a:off x="1523377" y="5221976"/>
            <a:ext cx="299478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Command Line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10800000" flipV="1">
            <a:off x="368978" y="5740383"/>
            <a:ext cx="2479874" cy="797991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Basic Input and Output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15288" y="2376798"/>
            <a:ext cx="2110805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 err="1">
                <a:solidFill>
                  <a:srgbClr val="000000"/>
                </a:solidFill>
                <a:latin typeface="Courier"/>
                <a:cs typeface="Courier"/>
              </a:rPr>
              <a:t>x</a:t>
            </a:r>
            <a:r>
              <a:rPr lang="en-US" sz="3200" dirty="0">
                <a:solidFill>
                  <a:srgbClr val="000000"/>
                </a:solidFill>
                <a:latin typeface="Courier"/>
                <a:cs typeface="Courier"/>
              </a:rPr>
              <a:t> &lt;- 4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6789" y="4760925"/>
            <a:ext cx="67503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solidFill>
                  <a:srgbClr val="000000"/>
                </a:solidFill>
                <a:latin typeface="Courier"/>
                <a:cs typeface="Courier"/>
              </a:rPr>
              <a:t>x &lt;- "text goes in quotes"</a:t>
            </a:r>
            <a:endParaRPr lang="en-US" sz="3200" dirty="0">
              <a:latin typeface="Courier"/>
              <a:cs typeface="Couri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0452" y="3303510"/>
            <a:ext cx="18799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variables</a:t>
            </a:r>
            <a:r>
              <a:rPr lang="en-US" sz="2800" dirty="0">
                <a:latin typeface="Times New Roman"/>
                <a:cs typeface="Times New Roman"/>
              </a:rPr>
              <a:t>: </a:t>
            </a:r>
          </a:p>
          <a:p>
            <a:pPr algn="ctr"/>
            <a:r>
              <a:rPr lang="en-US" sz="2800" dirty="0">
                <a:latin typeface="Times New Roman"/>
                <a:cs typeface="Times New Roman"/>
              </a:rPr>
              <a:t>store </a:t>
            </a:r>
          </a:p>
          <a:p>
            <a:pPr algn="ctr"/>
            <a:r>
              <a:rPr lang="en-US" sz="2800" dirty="0">
                <a:latin typeface="Times New Roman"/>
                <a:cs typeface="Times New Roman"/>
              </a:rPr>
              <a:t>information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102316" y="2961574"/>
            <a:ext cx="1573892" cy="642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1651846" y="4054298"/>
            <a:ext cx="1364306" cy="4633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6200000" flipV="1">
            <a:off x="4182205" y="3040792"/>
            <a:ext cx="1132632" cy="7485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 flipV="1">
            <a:off x="3415288" y="3981371"/>
            <a:ext cx="1707498" cy="9867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59821" y="1918515"/>
            <a:ext cx="242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Numeric input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4158" y="5345701"/>
            <a:ext cx="3562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Text (character) input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97944" y="3657856"/>
            <a:ext cx="3519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:</a:t>
            </a:r>
            <a:r>
              <a:rPr lang="en-US" sz="2800" b="1" dirty="0">
                <a:latin typeface="Times New Roman"/>
                <a:cs typeface="Times New Roman"/>
              </a:rPr>
              <a:t>Assignment operator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Get help on an R command: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i="1" u="sng" dirty="0">
                <a:solidFill>
                  <a:srgbClr val="000000"/>
                </a:solidFill>
                <a:latin typeface="Times New Roman" pitchFamily="18" charset="0"/>
              </a:rPr>
              <a:t>If you know the name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en-GB" sz="3600" b="1" dirty="0">
                <a:solidFill>
                  <a:srgbClr val="000000"/>
                </a:solidFill>
                <a:latin typeface="Times New Roman" pitchFamily="18" charset="0"/>
              </a:rPr>
              <a:t>?command name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?plot brings up html on plot command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i="1" u="sng" dirty="0">
                <a:solidFill>
                  <a:srgbClr val="000000"/>
                </a:solidFill>
                <a:latin typeface="Times New Roman" pitchFamily="18" charset="0"/>
              </a:rPr>
              <a:t>If you don’t know the name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Use Google (my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favorite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??key word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R is driven by </a:t>
            </a:r>
            <a:r>
              <a:rPr lang="en-GB" sz="4000" b="1" dirty="0">
                <a:solidFill>
                  <a:srgbClr val="000000"/>
                </a:solidFill>
                <a:latin typeface="Times New Roman" pitchFamily="18" charset="0"/>
              </a:rPr>
              <a:t>functions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245" y="2496763"/>
            <a:ext cx="8495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urier"/>
                <a:cs typeface="Courier"/>
              </a:rPr>
              <a:t>func(arguement1, argument2)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0311" y="5515578"/>
            <a:ext cx="66490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Courier"/>
                <a:cs typeface="Courier"/>
              </a:rPr>
              <a:t>x</a:t>
            </a:r>
            <a:r>
              <a:rPr lang="en-US" sz="4000" dirty="0">
                <a:latin typeface="Courier"/>
                <a:cs typeface="Courier"/>
              </a:rPr>
              <a:t> &lt;- func(arg1, arg2)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13447" y="3316348"/>
            <a:ext cx="2248632" cy="951595"/>
            <a:chOff x="613447" y="3548035"/>
            <a:chExt cx="2248632" cy="951595"/>
          </a:xfrm>
        </p:grpSpPr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804438" y="3809603"/>
              <a:ext cx="52472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613447" y="3976410"/>
              <a:ext cx="22486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function name</a:t>
              </a:r>
              <a:endParaRPr lang="en-US" sz="2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093310" y="3204650"/>
            <a:ext cx="6490303" cy="1054534"/>
            <a:chOff x="2093310" y="3436337"/>
            <a:chExt cx="6490303" cy="1054534"/>
          </a:xfrm>
        </p:grpSpPr>
        <p:cxnSp>
          <p:nvCxnSpPr>
            <p:cNvPr id="15" name="Straight Arrow Connector 14"/>
            <p:cNvCxnSpPr/>
            <p:nvPr/>
          </p:nvCxnSpPr>
          <p:spPr>
            <a:xfrm rot="10800000">
              <a:off x="2093310" y="3436337"/>
              <a:ext cx="3160274" cy="6364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026571" y="3967651"/>
              <a:ext cx="54915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input to function goes in </a:t>
              </a:r>
              <a:r>
                <a:rPr lang="en-GB" sz="2800" i="1" u="sng" dirty="0">
                  <a:solidFill>
                    <a:srgbClr val="000000"/>
                  </a:solidFill>
                  <a:latin typeface="Times New Roman" pitchFamily="18" charset="0"/>
                </a:rPr>
                <a:t>parenthesis</a:t>
              </a:r>
              <a:endParaRPr lang="en-US" sz="2800" i="1" u="sng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5253586" y="3436337"/>
              <a:ext cx="3330027" cy="6364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4022" y="4802882"/>
            <a:ext cx="6986182" cy="938809"/>
            <a:chOff x="-1169400" y="3977997"/>
            <a:chExt cx="6986182" cy="938809"/>
          </a:xfrm>
        </p:grpSpPr>
        <p:cxnSp>
          <p:nvCxnSpPr>
            <p:cNvPr id="24" name="Straight Arrow Connector 23"/>
            <p:cNvCxnSpPr/>
            <p:nvPr/>
          </p:nvCxnSpPr>
          <p:spPr>
            <a:xfrm rot="10800000" flipV="1">
              <a:off x="-149044" y="4501217"/>
              <a:ext cx="1567795" cy="4155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-1169400" y="3977997"/>
              <a:ext cx="698618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function returns something; gets dumped into </a:t>
              </a:r>
              <a:r>
                <a:rPr lang="en-GB" sz="2800" dirty="0" err="1">
                  <a:solidFill>
                    <a:srgbClr val="000000"/>
                  </a:solidFill>
                  <a:latin typeface="Courier"/>
                  <a:cs typeface="Courier"/>
                </a:rPr>
                <a:t>x</a:t>
              </a:r>
              <a:endParaRPr lang="en-US" sz="2800" dirty="0">
                <a:latin typeface="Courier"/>
                <a:cs typeface="Courier"/>
              </a:endParaRPr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Say we have a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vector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of some data. Let’s enter it into R: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Using R functions: Example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5017" y="2583358"/>
            <a:ext cx="8454183" cy="92333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Enter in the vector of data: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c(-2*pi, -1.5*pi, -1*pi, -0.5*pi, 0, 0.5*pi, 1*pi,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1.5*pi, 2*pi)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85017" y="1695674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-2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-1.5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…, 2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31775" y="4104085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Compute 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sin()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of each of your data points: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017" y="4961173"/>
            <a:ext cx="8454183" cy="92333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Example of USING a function: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out &lt;- sin(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out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3889"/>
            <a:ext cx="9144000" cy="66907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 flipV="1">
            <a:off x="1617579" y="3168316"/>
            <a:ext cx="1684421" cy="6817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61896" y="3667913"/>
            <a:ext cx="267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c() is the “collect” function</a:t>
            </a:r>
          </a:p>
        </p:txBody>
      </p:sp>
    </p:spTree>
    <p:extLst>
      <p:ext uri="{BB962C8B-B14F-4D97-AF65-F5344CB8AC3E}">
        <p14:creationId xmlns:p14="http://schemas.microsoft.com/office/powerpoint/2010/main" val="220251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Plots: Look at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1104210"/>
            <a:ext cx="8686800" cy="11951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We will visualize our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resuts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as much as possible. Let’s make some basic plots!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200" y="2164409"/>
            <a:ext cx="8686800" cy="8484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Plot cosine from -5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to 2.8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/>
                <a:cs typeface="Times New Roman"/>
              </a:rPr>
              <a:t>, and use 100 data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017" y="3372095"/>
            <a:ext cx="8454183" cy="1754327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seq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 generates a sequence: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seq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(from= -5*pi, to= 2.8*pi,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length.out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= 100)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y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cos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(x)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plot(x, y, type=</a:t>
            </a:r>
            <a:r>
              <a:rPr lang="en-US" dirty="0">
                <a:solidFill>
                  <a:srgbClr val="00B050"/>
                </a:solidFill>
                <a:latin typeface="Courier"/>
                <a:cs typeface="Courier"/>
              </a:rPr>
              <a:t>"l"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1564105" y="3147824"/>
            <a:ext cx="828842" cy="5685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312739" y="2949790"/>
            <a:ext cx="3832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Handy R function we’ll use all the time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499515" y="4052992"/>
            <a:ext cx="3540048" cy="14860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2121327" y="4390742"/>
            <a:ext cx="4175096" cy="13915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57274" y="5623992"/>
            <a:ext cx="1742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Defines “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y-axis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042931" y="5354423"/>
            <a:ext cx="1742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Defines “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x-axis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2688816" y="5126422"/>
            <a:ext cx="270232" cy="655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289626" y="5727598"/>
            <a:ext cx="3584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Extra argument to connect the points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307413"/>
            <a:ext cx="8686800" cy="33661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Save spreadsheet as a CSV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A .csv file is just a text version of an Excel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We’ll use the </a:t>
            </a:r>
            <a:r>
              <a:rPr lang="en-GB" sz="3200" b="1" dirty="0" err="1">
                <a:solidFill>
                  <a:srgbClr val="000000"/>
                </a:solidFill>
                <a:latin typeface="Times New Roman" pitchFamily="18" charset="0"/>
              </a:rPr>
              <a:t>read.csv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function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160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08934-9E78-F058-52AA-FFD73BA08EB9}"/>
              </a:ext>
            </a:extLst>
          </p:cNvPr>
          <p:cNvSpPr txBox="1"/>
          <p:nvPr/>
        </p:nvSpPr>
        <p:spPr>
          <a:xfrm>
            <a:off x="1488831" y="2602523"/>
            <a:ext cx="7221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Re-work below to be current about loading data directly off your computer and the concepts that need to be understood to do that</a:t>
            </a:r>
          </a:p>
        </p:txBody>
      </p:sp>
    </p:spTree>
    <p:extLst>
      <p:ext uri="{BB962C8B-B14F-4D97-AF65-F5344CB8AC3E}">
        <p14:creationId xmlns:p14="http://schemas.microsoft.com/office/powerpoint/2010/main" val="98259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1775" y="194733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What You Need to Know </a:t>
            </a:r>
          </a:p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About Your Computer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13498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Data (documents, spread-sheets, music, pictures, etc…) is stored on your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hard drive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8" name="Oval 7"/>
          <p:cNvSpPr/>
          <p:nvPr/>
        </p:nvSpPr>
        <p:spPr>
          <a:xfrm>
            <a:off x="2523070" y="2883062"/>
            <a:ext cx="3638720" cy="3442943"/>
          </a:xfrm>
          <a:prstGeom prst="ellipse">
            <a:avLst/>
          </a:prstGeom>
          <a:solidFill>
            <a:srgbClr val="C2C3B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962753" y="4187305"/>
            <a:ext cx="774443" cy="73792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218135" y="4425510"/>
            <a:ext cx="244441" cy="2766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0433" y="2862532"/>
            <a:ext cx="1767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Magnetic disk or semiconductor chips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065870" y="3272905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ultiply 14"/>
          <p:cNvSpPr/>
          <p:nvPr/>
        </p:nvSpPr>
        <p:spPr>
          <a:xfrm>
            <a:off x="5629713" y="4736459"/>
            <a:ext cx="291784" cy="360383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921497" y="4032855"/>
            <a:ext cx="720878" cy="7036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21497" y="2454036"/>
            <a:ext cx="2008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Say you transfer a picture from your phone to your laptop.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6795" y="3701950"/>
            <a:ext cx="2008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Picture file gets saved 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3867" y="4925232"/>
            <a:ext cx="2236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How do we find the file when we need it again?????</a:t>
            </a:r>
          </a:p>
        </p:txBody>
      </p:sp>
    </p:spTree>
    <p:extLst>
      <p:ext uri="{BB962C8B-B14F-4D97-AF65-F5344CB8AC3E}">
        <p14:creationId xmlns:p14="http://schemas.microsoft.com/office/powerpoint/2010/main" val="290070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What You Need to Know About Your Computer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937447"/>
            <a:ext cx="8686800" cy="13498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address of any file on your computer is called its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file path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2523070" y="2157909"/>
            <a:ext cx="3638720" cy="3442943"/>
          </a:xfrm>
          <a:prstGeom prst="ellipse">
            <a:avLst/>
          </a:prstGeom>
          <a:solidFill>
            <a:srgbClr val="C2C3B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962753" y="3462152"/>
            <a:ext cx="774443" cy="73792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218135" y="3700357"/>
            <a:ext cx="244441" cy="2766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y 14"/>
          <p:cNvSpPr/>
          <p:nvPr/>
        </p:nvSpPr>
        <p:spPr>
          <a:xfrm>
            <a:off x="5629713" y="4011306"/>
            <a:ext cx="291784" cy="360383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921497" y="3307702"/>
            <a:ext cx="720878" cy="7036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55007" y="2976797"/>
            <a:ext cx="266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Your file is saved here.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93796" y="5518685"/>
            <a:ext cx="8686800" cy="13498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file path tell you how to navigate through a series of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folders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(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directories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) to get to your file.</a:t>
            </a:r>
          </a:p>
        </p:txBody>
      </p:sp>
    </p:spTree>
    <p:extLst>
      <p:ext uri="{BB962C8B-B14F-4D97-AF65-F5344CB8AC3E}">
        <p14:creationId xmlns:p14="http://schemas.microsoft.com/office/powerpoint/2010/main" val="405211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What You Need to Know About Your Computer</a:t>
            </a:r>
          </a:p>
        </p:txBody>
      </p:sp>
      <p:sp>
        <p:nvSpPr>
          <p:cNvPr id="8" name="Oval 7"/>
          <p:cNvSpPr/>
          <p:nvPr/>
        </p:nvSpPr>
        <p:spPr>
          <a:xfrm>
            <a:off x="68656" y="2505520"/>
            <a:ext cx="3638720" cy="3442943"/>
          </a:xfrm>
          <a:prstGeom prst="ellipse">
            <a:avLst/>
          </a:prstGeom>
          <a:solidFill>
            <a:srgbClr val="C2C3B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508339" y="3809763"/>
            <a:ext cx="774443" cy="73792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763721" y="4047968"/>
            <a:ext cx="244441" cy="27662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y 14"/>
          <p:cNvSpPr/>
          <p:nvPr/>
        </p:nvSpPr>
        <p:spPr>
          <a:xfrm>
            <a:off x="3175299" y="4358917"/>
            <a:ext cx="291784" cy="360383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256558" y="2252209"/>
            <a:ext cx="1918741" cy="21067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64" y="1882877"/>
            <a:ext cx="266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Your file is saved here.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667" y="2000291"/>
            <a:ext cx="5367497" cy="39889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74445" y="1129846"/>
            <a:ext cx="266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Root directory </a:t>
            </a:r>
            <a:r>
              <a:rPr lang="en-US" dirty="0">
                <a:latin typeface="Times New Roman"/>
                <a:cs typeface="Times New Roman"/>
              </a:rPr>
              <a:t>is C:\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9132" y="1341941"/>
            <a:ext cx="3537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File path </a:t>
            </a:r>
            <a:r>
              <a:rPr lang="en-US" dirty="0">
                <a:latin typeface="Times New Roman"/>
                <a:cs typeface="Times New Roman"/>
              </a:rPr>
              <a:t>to </a:t>
            </a:r>
            <a:r>
              <a:rPr lang="en-US" dirty="0" err="1">
                <a:latin typeface="Times New Roman"/>
                <a:cs typeface="Times New Roman"/>
              </a:rPr>
              <a:t>Sunset.bmp</a:t>
            </a:r>
            <a:r>
              <a:rPr lang="en-US" dirty="0">
                <a:latin typeface="Times New Roman"/>
                <a:cs typeface="Times New Roman"/>
              </a:rPr>
              <a:t> picture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4123" y="3850247"/>
            <a:ext cx="3537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Sunset.bmp</a:t>
            </a:r>
            <a:r>
              <a:rPr lang="en-US" dirty="0">
                <a:latin typeface="Times New Roman"/>
                <a:cs typeface="Times New Roman"/>
              </a:rPr>
              <a:t> picture file is in the “Sample Pictures” directory </a:t>
            </a:r>
          </a:p>
        </p:txBody>
      </p:sp>
      <p:cxnSp>
        <p:nvCxnSpPr>
          <p:cNvPr id="12" name="Straight Arrow Connector 11"/>
          <p:cNvCxnSpPr>
            <a:stCxn id="18" idx="2"/>
          </p:cNvCxnSpPr>
          <p:nvPr/>
        </p:nvCxnSpPr>
        <p:spPr>
          <a:xfrm>
            <a:off x="3707376" y="1499178"/>
            <a:ext cx="755205" cy="12809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eft Brace 22"/>
          <p:cNvSpPr/>
          <p:nvPr/>
        </p:nvSpPr>
        <p:spPr>
          <a:xfrm rot="5400000">
            <a:off x="5681851" y="515114"/>
            <a:ext cx="1130577" cy="35366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5784191" y="3191963"/>
            <a:ext cx="995499" cy="6582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67083" y="4324595"/>
            <a:ext cx="2017040" cy="2230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11159" y="6028687"/>
            <a:ext cx="5389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Sometimes we’ll need to navigate to files or look up file paths to work with data.</a:t>
            </a:r>
          </a:p>
        </p:txBody>
      </p:sp>
    </p:spTree>
    <p:extLst>
      <p:ext uri="{BB962C8B-B14F-4D97-AF65-F5344CB8AC3E}">
        <p14:creationId xmlns:p14="http://schemas.microsoft.com/office/powerpoint/2010/main" val="161229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3" grpId="0" animBg="1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20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1E7B117-D0CB-49EC-AF46-979BCA110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04211"/>
            <a:ext cx="8686800" cy="34677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 can load in a file directly from the internet using its </a:t>
            </a:r>
            <a:r>
              <a:rPr lang="en-GB" sz="3200" dirty="0">
                <a:solidFill>
                  <a:srgbClr val="00B050"/>
                </a:solidFill>
                <a:latin typeface="Times New Roman" pitchFamily="18" charset="0"/>
              </a:rPr>
              <a:t>URL address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(if we have a working internet connection):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4AECD30-1CEA-46DB-9FB7-F711EA12D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1FD6D4-ABDF-4D8F-AC2A-888F0D4EC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083E16-7BA4-474C-8727-392FDF517109}"/>
              </a:ext>
            </a:extLst>
          </p:cNvPr>
          <p:cNvSpPr/>
          <p:nvPr/>
        </p:nvSpPr>
        <p:spPr>
          <a:xfrm>
            <a:off x="152400" y="4196185"/>
            <a:ext cx="8867421" cy="1323439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A file on the internet. Use it’s URL to load: 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some.data2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"https://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raw.githubusercontent.com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/CHE302/master/Laboratories/Lab0/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bigdata.csv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, header = F)</a:t>
            </a:r>
          </a:p>
        </p:txBody>
      </p:sp>
    </p:spTree>
    <p:extLst>
      <p:ext uri="{BB962C8B-B14F-4D97-AF65-F5344CB8AC3E}">
        <p14:creationId xmlns:p14="http://schemas.microsoft.com/office/powerpoint/2010/main" val="2142262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32984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Also you can download and save spreadsheet as a CSV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You’ll need to type in the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path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to the file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 in </a:t>
            </a:r>
            <a:r>
              <a:rPr lang="en-GB" sz="3600" dirty="0" err="1">
                <a:solidFill>
                  <a:srgbClr val="000000"/>
                </a:solidFill>
                <a:latin typeface="Times New Roman" pitchFamily="18" charset="0"/>
              </a:rPr>
              <a:t>read.csv</a:t>
            </a:r>
            <a:endParaRPr lang="en-GB" sz="3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719357"/>
            <a:ext cx="7558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"/Users/</a:t>
            </a:r>
            <a:r>
              <a:rPr lang="en-US" sz="2400" dirty="0" err="1">
                <a:latin typeface="Courier"/>
                <a:cs typeface="Courier"/>
              </a:rPr>
              <a:t>npetraco</a:t>
            </a:r>
            <a:r>
              <a:rPr lang="en-US" sz="2400" dirty="0">
                <a:latin typeface="Courier"/>
                <a:cs typeface="Courier"/>
              </a:rPr>
              <a:t>/latex/papers/data.csv"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4257692"/>
            <a:ext cx="13383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Mac e.g.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064742" y="5660672"/>
            <a:ext cx="79271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"C:\Users\npetraco\latex\papers\data.csv"</a:t>
            </a:r>
          </a:p>
          <a:p>
            <a:r>
              <a:rPr lang="en-US" sz="2400" dirty="0">
                <a:latin typeface="Courier"/>
                <a:cs typeface="Courier"/>
              </a:rPr>
              <a:t>"C:/Users/npetraco/latex/papers/data.csv"</a:t>
            </a:r>
          </a:p>
          <a:p>
            <a:endParaRPr lang="en-US" sz="2400" dirty="0">
              <a:latin typeface="Courier"/>
              <a:cs typeface="Couri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4742" y="5143587"/>
            <a:ext cx="195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Windows e.g.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en-US" sz="2400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43016" y="6432887"/>
            <a:ext cx="8664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"C:\\Users\\npetraco\\latex\\papers\\data.csv"</a:t>
            </a:r>
          </a:p>
        </p:txBody>
      </p:sp>
    </p:spTree>
    <p:extLst>
      <p:ext uri="{BB962C8B-B14F-4D97-AF65-F5344CB8AC3E}">
        <p14:creationId xmlns:p14="http://schemas.microsoft.com/office/powerpoint/2010/main" val="249863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8600" y="1104210"/>
            <a:ext cx="8686800" cy="160957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Load a CSV file that is on your (mine actually…) Desktop. The file is called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bigdata.csv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and I made it in Excel:</a:t>
            </a:r>
          </a:p>
        </p:txBody>
      </p:sp>
      <p:sp>
        <p:nvSpPr>
          <p:cNvPr id="6" name="Rectangle 5"/>
          <p:cNvSpPr/>
          <p:nvPr/>
        </p:nvSpPr>
        <p:spPr>
          <a:xfrm>
            <a:off x="385017" y="2834101"/>
            <a:ext cx="8454183" cy="3693319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Load the spreadsheet: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("/Users/npetraco/Desktop/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bigdata.csv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")</a:t>
            </a: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We could also do this:</a:t>
            </a: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 &lt;-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read.csv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(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file.choose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())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Extract column 1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[,1]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Extract column 2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y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[,2]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Plot the data: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x,y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372556" y="2756122"/>
            <a:ext cx="522111" cy="10115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17888" y="2398889"/>
            <a:ext cx="424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This brings up the choose file menu instead</a:t>
            </a:r>
          </a:p>
        </p:txBody>
      </p:sp>
    </p:spTree>
    <p:extLst>
      <p:ext uri="{BB962C8B-B14F-4D97-AF65-F5344CB8AC3E}">
        <p14:creationId xmlns:p14="http://schemas.microsoft.com/office/powerpoint/2010/main" val="257876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14E827E-6C98-4F37-8156-17ECD6940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An alternative is to use </a:t>
            </a:r>
            <a:r>
              <a:rPr lang="en-GB" sz="3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file.choose</a:t>
            </a:r>
            <a:r>
              <a:rPr lang="en-GB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function with </a:t>
            </a:r>
            <a:r>
              <a:rPr lang="en-GB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A01C647-0C97-48D3-B8FA-E37647B9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89CC3E3-215C-41F5-A2BE-49C8DB71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B00B6D-FA84-4ACC-8D6D-5ECC0453DDA9}"/>
              </a:ext>
            </a:extLst>
          </p:cNvPr>
          <p:cNvSpPr/>
          <p:nvPr/>
        </p:nvSpPr>
        <p:spPr>
          <a:xfrm>
            <a:off x="385017" y="3372095"/>
            <a:ext cx="8454183" cy="175432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file.choose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 lets you navigate to file you want and gets </a:t>
            </a: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its path: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apath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file.choose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some.data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read.csv(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apath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4C0A5-9B1D-47D8-A802-81B6DA09D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948" y="3778397"/>
            <a:ext cx="4246852" cy="290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381451"/>
            <a:ext cx="8686800" cy="237210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Matrices: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X[,1] returns column 1 of matrix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X[3,] returns row 3 of matrix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Handy functions for data frames and matrices: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dim</a:t>
            </a:r>
            <a:r>
              <a:rPr lang="en-GB" sz="24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nrow</a:t>
            </a:r>
            <a:r>
              <a:rPr lang="en-GB" sz="24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ncol</a:t>
            </a:r>
            <a:r>
              <a:rPr lang="en-GB" sz="24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rbind</a:t>
            </a:r>
            <a:r>
              <a:rPr lang="en-GB" sz="24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cbind</a:t>
            </a:r>
            <a:endParaRPr lang="en-GB" sz="2400" b="1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049" y="653333"/>
            <a:ext cx="698048" cy="530518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3752099"/>
            <a:ext cx="8686800" cy="238623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User defined functions syntax: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func.name</a:t>
            </a: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 &lt;- </a:t>
            </a: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function(arguements</a:t>
            </a: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) {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			do something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			</a:t>
            </a: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return(output</a:t>
            </a: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)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  }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8600" y="6334411"/>
            <a:ext cx="8686800" cy="52356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/>
                <a:cs typeface="Times New Roman"/>
              </a:rPr>
              <a:t>To use it: </a:t>
            </a:r>
            <a:r>
              <a:rPr lang="en-GB" sz="2400" b="1" dirty="0" err="1">
                <a:solidFill>
                  <a:srgbClr val="000000"/>
                </a:solidFill>
                <a:latin typeface="Courier"/>
                <a:cs typeface="Courier"/>
              </a:rPr>
              <a:t>func.name</a:t>
            </a:r>
            <a:r>
              <a:rPr lang="en-GB" sz="2400" b="1" dirty="0">
                <a:solidFill>
                  <a:srgbClr val="000000"/>
                </a:solidFill>
                <a:latin typeface="Courier"/>
                <a:cs typeface="Courier"/>
              </a:rPr>
              <a:t>(values)  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Handy R Commands: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85017" y="1440889"/>
            <a:ext cx="8454183" cy="452431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Enter some data in a Matrix: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rbind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c(0.99, 0.92, 0.84, 0.39, 0.36),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c(0.87, 0.73, 0.80, 0.76, 0.87),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c(0.50, 0.11, 0.14, 0.43, 0.62),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c(0.08, 0.41, 0.68, 0.49, 0.02)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What happens when we execute each of these line?:</a:t>
            </a:r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X[1,3]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X[2,]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X[,1]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X[5,]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X[5]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261741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Handy R Commands: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0" y="1676400"/>
            <a:ext cx="3987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86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1311</Words>
  <Application>Microsoft Macintosh PowerPoint</Application>
  <PresentationFormat>On-screen Show (4:3)</PresentationFormat>
  <Paragraphs>192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Courier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Jay College of Criminal Justice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Nicholas Petraco</dc:creator>
  <cp:lastModifiedBy>Nicholas Petraco</cp:lastModifiedBy>
  <cp:revision>26</cp:revision>
  <dcterms:created xsi:type="dcterms:W3CDTF">2014-05-27T04:15:11Z</dcterms:created>
  <dcterms:modified xsi:type="dcterms:W3CDTF">2025-06-10T18:01:39Z</dcterms:modified>
</cp:coreProperties>
</file>