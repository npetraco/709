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8" r:id="rId9"/>
    <p:sldId id="291" r:id="rId10"/>
    <p:sldId id="269" r:id="rId11"/>
    <p:sldId id="310" r:id="rId12"/>
    <p:sldId id="294" r:id="rId13"/>
    <p:sldId id="295" r:id="rId14"/>
    <p:sldId id="352" r:id="rId15"/>
    <p:sldId id="351" r:id="rId16"/>
    <p:sldId id="308" r:id="rId17"/>
    <p:sldId id="309" r:id="rId18"/>
    <p:sldId id="350" r:id="rId19"/>
    <p:sldId id="358" r:id="rId20"/>
    <p:sldId id="359" r:id="rId21"/>
    <p:sldId id="353" r:id="rId22"/>
    <p:sldId id="355" r:id="rId23"/>
    <p:sldId id="354" r:id="rId24"/>
    <p:sldId id="356" r:id="rId25"/>
    <p:sldId id="357" r:id="rId26"/>
    <p:sldId id="36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38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9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71FD9-B322-2549-9400-AF0C57474107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B24EC-C302-4742-94E1-DA9B006B34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5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32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5"/>
            <a:ext cx="5485158" cy="4114488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B24EC-C302-4742-94E1-DA9B006B342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17F39-3343-D34D-887C-91D887A1DE4F}" type="datetimeFigureOut">
              <a:rPr lang="en-US" smtClean="0"/>
              <a:pPr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rstudio.org/" TargetMode="External"/><Relationship Id="rId2" Type="http://schemas.openxmlformats.org/officeDocument/2006/relationships/hyperlink" Target="http://www.r-project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jpeg"/><Relationship Id="rId4" Type="http://schemas.openxmlformats.org/officeDocument/2006/relationships/hyperlink" Target="http://cran.r-project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npetraco/709/blob/main/R/script_bucket/first_examples.R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first_examples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first_examples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spreadsheet_load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spreadsheet_load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petraco/709/blob/main/R/script_bucket/spreadsheet_load.R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install_a_package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install_course_package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basic_plotting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stripchart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loops_and_pie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nested_loops_and_stackedbar_plots.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"/>
          <p:cNvSpPr>
            <a:spLocks noChangeArrowheads="1"/>
          </p:cNvSpPr>
          <p:nvPr/>
        </p:nvSpPr>
        <p:spPr bwMode="auto">
          <a:xfrm>
            <a:off x="14288" y="304800"/>
            <a:ext cx="9104312" cy="2438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Hands-on Introduction to R</a:t>
            </a:r>
            <a:endParaRPr lang="en-US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3" cstate="print"/>
          <a:srcRect l="5212"/>
          <a:stretch>
            <a:fillRect/>
          </a:stretch>
        </p:blipFill>
        <p:spPr bwMode="auto">
          <a:xfrm flipH="1">
            <a:off x="6677019" y="4121118"/>
            <a:ext cx="2444458" cy="233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994" y="4727150"/>
            <a:ext cx="955848" cy="6136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6588792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" name="P 1" descr="IMG_2089.jpeg"/>
          <p:cNvPicPr/>
          <p:nvPr/>
        </p:nvPicPr>
        <p:blipFill>
          <a:blip r:embed="rId6"/>
          <a:srcRect l="36665" t="30724" r="34167" b="20345"/>
          <a:stretch>
            <a:fillRect/>
          </a:stretch>
        </p:blipFill>
        <p:spPr bwMode="auto">
          <a:xfrm rot="10800000">
            <a:off x="295409" y="4279340"/>
            <a:ext cx="1864391" cy="179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IJ_3D_primershear_examp.jpg"/>
          <p:cNvPicPr>
            <a:picLocks noChangeAspect="1"/>
          </p:cNvPicPr>
          <p:nvPr/>
        </p:nvPicPr>
        <p:blipFill>
          <a:blip r:embed="rId7"/>
          <a:srcRect l="20551" t="21207" r="23050" b="25744"/>
          <a:stretch>
            <a:fillRect/>
          </a:stretch>
        </p:blipFill>
        <p:spPr>
          <a:xfrm>
            <a:off x="2935502" y="2614485"/>
            <a:ext cx="3101686" cy="176495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2273933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861836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R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8504" y="1368146"/>
            <a:ext cx="536873" cy="4080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31775" y="148284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Outline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231775" y="1005837"/>
            <a:ext cx="8607425" cy="5718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charset="0"/>
              </a:rPr>
              <a:t>R  : A powerful platform for scientific calculation and data analysis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Why bother learning    R ? 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Data, data, data, I cannot make bricks without clay </a:t>
            </a:r>
            <a:r>
              <a:rPr lang="en-US" sz="3200" baseline="30000" dirty="0">
                <a:latin typeface="Times New Roman"/>
                <a:cs typeface="Times New Roman"/>
              </a:rPr>
              <a:t>Copper Beeches</a:t>
            </a:r>
            <a:endParaRPr lang="en-GB" sz="3200" baseline="30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A tour of </a:t>
            </a:r>
            <a:r>
              <a:rPr lang="en-GB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RStudio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. Basic Input and Output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Getting Help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Visualizing with Plots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Loading your data from Excel spreadsheets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Basic Plotting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31" y="1107912"/>
            <a:ext cx="620039" cy="471232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130" y="2234195"/>
            <a:ext cx="678018" cy="51529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not a black box!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Codes available for review;  totally transparent!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 maintained by a professional group of statisticians, and computational scientists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u="sng" dirty="0">
                <a:solidFill>
                  <a:srgbClr val="000000"/>
                </a:solidFill>
                <a:latin typeface="Times New Roman" pitchFamily="18" charset="0"/>
              </a:rPr>
              <a:t>From very simple to state-of-the-art procedures available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Very good graphics for exhibits and papers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extensible (it is a full scripting language)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Coding/syntax similar to Python and MATLAB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Easy to link to C/C++ routines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33" y="1504547"/>
            <a:ext cx="391280" cy="297374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99" y="2626600"/>
            <a:ext cx="391280" cy="297374"/>
          </a:xfrm>
          <a:prstGeom prst="rect">
            <a:avLst/>
          </a:prstGeom>
        </p:spPr>
      </p:pic>
      <p:pic>
        <p:nvPicPr>
          <p:cNvPr id="9" name="Picture 8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90" y="4994156"/>
            <a:ext cx="391280" cy="29737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Where to get information on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R: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2"/>
              </a:rPr>
              <a:t>http://www.r-project.org/</a:t>
            </a:r>
            <a:endParaRPr lang="en-US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Just need the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base</a:t>
            </a:r>
            <a:endParaRPr lang="en-GB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3"/>
              </a:rPr>
              <a:t>http://rstudio.org/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 great IDE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Work on all platforms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Sometimes slows down performance…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CRAN: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4"/>
              </a:rPr>
              <a:t>http://cran.r-project.org/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Library repository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Click on Search on the left of the website to search for package/info on packages 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640" y="1495966"/>
            <a:ext cx="391280" cy="297374"/>
          </a:xfrm>
          <a:prstGeom prst="rect">
            <a:avLst/>
          </a:prstGeom>
        </p:spPr>
      </p:pic>
      <p:pic>
        <p:nvPicPr>
          <p:cNvPr id="10" name="Picture 9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613" y="2043063"/>
            <a:ext cx="391280" cy="297374"/>
          </a:xfrm>
          <a:prstGeom prst="rect">
            <a:avLst/>
          </a:prstGeom>
        </p:spPr>
      </p:pic>
      <p:pic>
        <p:nvPicPr>
          <p:cNvPr id="13" name="Picture 12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589" y="3450274"/>
            <a:ext cx="391280" cy="297374"/>
          </a:xfrm>
          <a:prstGeom prst="rect">
            <a:avLst/>
          </a:prstGeom>
        </p:spPr>
      </p:pic>
      <p:pic>
        <p:nvPicPr>
          <p:cNvPr id="14" name="Picture 13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92" y="5303672"/>
            <a:ext cx="391280" cy="297374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89205" y="23821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Finding our way around R/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pic>
        <p:nvPicPr>
          <p:cNvPr id="15" name="Picture 14" descr="RStudio_screencap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9" y="1132970"/>
            <a:ext cx="8829724" cy="5571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179731">
            <a:off x="840928" y="2471220"/>
            <a:ext cx="4305498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Script Window</a:t>
            </a:r>
          </a:p>
        </p:txBody>
      </p:sp>
      <p:sp>
        <p:nvSpPr>
          <p:cNvPr id="7" name="TextBox 6"/>
          <p:cNvSpPr txBox="1"/>
          <p:nvPr/>
        </p:nvSpPr>
        <p:spPr>
          <a:xfrm rot="1179731">
            <a:off x="1523377" y="5221976"/>
            <a:ext cx="299478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Command Line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10800000" flipV="1">
            <a:off x="368978" y="5740383"/>
            <a:ext cx="2479874" cy="797991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Basic Input and Output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15288" y="2376798"/>
            <a:ext cx="2110805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 err="1">
                <a:solidFill>
                  <a:srgbClr val="000000"/>
                </a:solidFill>
                <a:latin typeface="Courier"/>
                <a:cs typeface="Courier"/>
              </a:rPr>
              <a:t>x</a:t>
            </a:r>
            <a:r>
              <a:rPr lang="en-US" sz="3200" dirty="0">
                <a:solidFill>
                  <a:srgbClr val="000000"/>
                </a:solidFill>
                <a:latin typeface="Courier"/>
                <a:cs typeface="Courier"/>
              </a:rPr>
              <a:t> &lt;- 4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6789" y="4760925"/>
            <a:ext cx="675038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 err="1">
                <a:solidFill>
                  <a:srgbClr val="000000"/>
                </a:solidFill>
                <a:latin typeface="Courier"/>
                <a:cs typeface="Courier"/>
              </a:rPr>
              <a:t>x</a:t>
            </a:r>
            <a:r>
              <a:rPr lang="en-US" sz="3200" dirty="0">
                <a:solidFill>
                  <a:srgbClr val="000000"/>
                </a:solidFill>
                <a:latin typeface="Courier"/>
                <a:cs typeface="Courier"/>
              </a:rPr>
              <a:t> &lt;- “text goes in quotes”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452" y="3303510"/>
            <a:ext cx="18799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variables</a:t>
            </a:r>
            <a:r>
              <a:rPr lang="en-US" sz="2800" dirty="0">
                <a:latin typeface="Times New Roman"/>
                <a:cs typeface="Times New Roman"/>
              </a:rPr>
              <a:t>: </a:t>
            </a:r>
          </a:p>
          <a:p>
            <a:pPr algn="ctr"/>
            <a:r>
              <a:rPr lang="en-US" sz="2800" dirty="0">
                <a:latin typeface="Times New Roman"/>
                <a:cs typeface="Times New Roman"/>
              </a:rPr>
              <a:t>store </a:t>
            </a:r>
          </a:p>
          <a:p>
            <a:pPr algn="ctr"/>
            <a:r>
              <a:rPr lang="en-US" sz="2800" dirty="0">
                <a:latin typeface="Times New Roman"/>
                <a:cs typeface="Times New Roman"/>
              </a:rPr>
              <a:t>information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102316" y="2961574"/>
            <a:ext cx="1573892" cy="642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1651846" y="4054298"/>
            <a:ext cx="1364306" cy="4633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6200000" flipV="1">
            <a:off x="4182205" y="3040792"/>
            <a:ext cx="1132632" cy="7485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 flipV="1">
            <a:off x="3415288" y="3981371"/>
            <a:ext cx="1707498" cy="9867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59821" y="1918515"/>
            <a:ext cx="242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Numeric input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4158" y="5345701"/>
            <a:ext cx="3562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Text (character) input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97944" y="3657856"/>
            <a:ext cx="3519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:</a:t>
            </a:r>
            <a:r>
              <a:rPr lang="en-US" sz="2800" b="1" dirty="0">
                <a:latin typeface="Times New Roman"/>
                <a:cs typeface="Times New Roman"/>
              </a:rPr>
              <a:t>Assignment operator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Get help on an        command: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i="1" u="sng" dirty="0">
                <a:solidFill>
                  <a:srgbClr val="000000"/>
                </a:solidFill>
                <a:latin typeface="Times New Roman" pitchFamily="18" charset="0"/>
              </a:rPr>
              <a:t>If you know the name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en-GB" sz="3600" b="1" dirty="0">
                <a:solidFill>
                  <a:srgbClr val="000000"/>
                </a:solidFill>
                <a:latin typeface="Times New Roman" pitchFamily="18" charset="0"/>
              </a:rPr>
              <a:t>?command name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?plot brings up html on plot command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i="1" u="sng" dirty="0">
                <a:solidFill>
                  <a:srgbClr val="000000"/>
                </a:solidFill>
                <a:latin typeface="Times New Roman" pitchFamily="18" charset="0"/>
              </a:rPr>
              <a:t>If you don’t know the name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Use Google (my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favorite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??key word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8" name="Picture 7" descr="Rlogo.jpg">
            <a:extLst>
              <a:ext uri="{FF2B5EF4-FFF2-40B4-BE49-F238E27FC236}">
                <a16:creationId xmlns:a16="http://schemas.microsoft.com/office/drawing/2014/main" id="{001F7067-7301-C443-BB66-FB3BBE1D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868" y="1507971"/>
            <a:ext cx="580388" cy="441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    is driven with </a:t>
            </a:r>
            <a:r>
              <a:rPr lang="en-GB" sz="4000" b="1" dirty="0">
                <a:solidFill>
                  <a:srgbClr val="000000"/>
                </a:solidFill>
                <a:latin typeface="Times New Roman" pitchFamily="18" charset="0"/>
              </a:rPr>
              <a:t>functions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245" y="2496763"/>
            <a:ext cx="8495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urier"/>
                <a:cs typeface="Courier"/>
              </a:rPr>
              <a:t>func(arguement1, argument2)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0311" y="5515578"/>
            <a:ext cx="66490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Courier"/>
                <a:cs typeface="Courier"/>
              </a:rPr>
              <a:t>x</a:t>
            </a:r>
            <a:r>
              <a:rPr lang="en-US" sz="4000" dirty="0">
                <a:latin typeface="Courier"/>
                <a:cs typeface="Courier"/>
              </a:rPr>
              <a:t> &lt;- func(arg1, arg2)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13447" y="3316348"/>
            <a:ext cx="2248632" cy="951595"/>
            <a:chOff x="613447" y="3548035"/>
            <a:chExt cx="2248632" cy="951595"/>
          </a:xfrm>
        </p:grpSpPr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804438" y="3809603"/>
              <a:ext cx="52472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613447" y="3976410"/>
              <a:ext cx="22486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function name</a:t>
              </a:r>
              <a:endParaRPr lang="en-US" sz="2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093310" y="3204650"/>
            <a:ext cx="6490303" cy="1054534"/>
            <a:chOff x="2093310" y="3436337"/>
            <a:chExt cx="6490303" cy="1054534"/>
          </a:xfrm>
        </p:grpSpPr>
        <p:cxnSp>
          <p:nvCxnSpPr>
            <p:cNvPr id="15" name="Straight Arrow Connector 14"/>
            <p:cNvCxnSpPr/>
            <p:nvPr/>
          </p:nvCxnSpPr>
          <p:spPr>
            <a:xfrm rot="10800000">
              <a:off x="2093310" y="3436337"/>
              <a:ext cx="3160274" cy="6364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026571" y="3967651"/>
              <a:ext cx="54915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input to function goes in </a:t>
              </a:r>
              <a:r>
                <a:rPr lang="en-GB" sz="2800" i="1" u="sng" dirty="0">
                  <a:solidFill>
                    <a:srgbClr val="000000"/>
                  </a:solidFill>
                  <a:latin typeface="Times New Roman" pitchFamily="18" charset="0"/>
                </a:rPr>
                <a:t>parenthesis</a:t>
              </a:r>
              <a:endParaRPr lang="en-US" sz="2800" i="1" u="sng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5253586" y="3436337"/>
              <a:ext cx="3330027" cy="6364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4022" y="4802882"/>
            <a:ext cx="6986182" cy="938809"/>
            <a:chOff x="-1169400" y="3977997"/>
            <a:chExt cx="6986182" cy="938809"/>
          </a:xfrm>
        </p:grpSpPr>
        <p:cxnSp>
          <p:nvCxnSpPr>
            <p:cNvPr id="24" name="Straight Arrow Connector 23"/>
            <p:cNvCxnSpPr/>
            <p:nvPr/>
          </p:nvCxnSpPr>
          <p:spPr>
            <a:xfrm rot="10800000" flipV="1">
              <a:off x="-149044" y="4501217"/>
              <a:ext cx="1567795" cy="4155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-1169400" y="3977997"/>
              <a:ext cx="698618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function returns something; gets dumped into </a:t>
              </a:r>
              <a:r>
                <a:rPr lang="en-GB" sz="2800" dirty="0" err="1">
                  <a:solidFill>
                    <a:srgbClr val="000000"/>
                  </a:solidFill>
                  <a:latin typeface="Courier"/>
                  <a:cs typeface="Courier"/>
                </a:rPr>
                <a:t>x</a:t>
              </a:r>
              <a:endParaRPr lang="en-US" sz="2800" dirty="0">
                <a:latin typeface="Courier"/>
                <a:cs typeface="Courier"/>
              </a:endParaRPr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0" name="Picture 19" descr="Rlogo.jpg">
            <a:extLst>
              <a:ext uri="{FF2B5EF4-FFF2-40B4-BE49-F238E27FC236}">
                <a16:creationId xmlns:a16="http://schemas.microsoft.com/office/drawing/2014/main" id="{FEE9D69B-1AD0-5C41-A2E7-809BB448E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0" y="1499815"/>
            <a:ext cx="571822" cy="434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Say we have a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vector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of some data. Let’s enter it into R: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Using         functions: Example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5017" y="2583358"/>
            <a:ext cx="8454183" cy="92333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Enter in the vector of data: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c(-2*pi, -1.5*pi, -1*pi, -0.5*pi, 0, 0.5*pi, 1*pi,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1.5*pi, 2*pi)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85017" y="1695674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-2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-1.5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…, 2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31775" y="4104085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Compute 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sin()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of each of your data points: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017" y="4961173"/>
            <a:ext cx="8454183" cy="92333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Example of USING a function: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out &lt;- sin(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out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3889"/>
            <a:ext cx="9144000" cy="66907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 flipV="1">
            <a:off x="1617579" y="3168316"/>
            <a:ext cx="1684421" cy="6817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61896" y="3667913"/>
            <a:ext cx="267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c() is the “collect” function</a:t>
            </a:r>
          </a:p>
        </p:txBody>
      </p:sp>
      <p:pic>
        <p:nvPicPr>
          <p:cNvPr id="14" name="Picture 13" descr="Rlogo.jpg">
            <a:extLst>
              <a:ext uri="{FF2B5EF4-FFF2-40B4-BE49-F238E27FC236}">
                <a16:creationId xmlns:a16="http://schemas.microsoft.com/office/drawing/2014/main" id="{A0BBCA32-B23B-CE40-B5C4-474AD8AD4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1247" y="639965"/>
            <a:ext cx="698048" cy="5305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F92BA2-ED8E-8803-1585-DE9C0909EB6C}"/>
              </a:ext>
            </a:extLst>
          </p:cNvPr>
          <p:cNvSpPr txBox="1"/>
          <p:nvPr/>
        </p:nvSpPr>
        <p:spPr>
          <a:xfrm>
            <a:off x="7199899" y="3440446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first_examples.R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51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Plots: Look at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1104210"/>
            <a:ext cx="8686800" cy="11951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We will visualize our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resuts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as much as possible. Let’s make some basic plots!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200" y="2164409"/>
            <a:ext cx="8686800" cy="8484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Plot cosine from -5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to 2.8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/>
                <a:cs typeface="Times New Roman"/>
              </a:rPr>
              <a:t>, and use 100 data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017" y="3372095"/>
            <a:ext cx="8454183" cy="175432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seq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 generates a sequence: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seq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(from= -5*pi, to= 2.8*pi,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length.out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= 100)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y &lt;- cos(x)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plot(x, y, type=</a:t>
            </a:r>
            <a:r>
              <a:rPr lang="en-US" dirty="0">
                <a:solidFill>
                  <a:srgbClr val="00B050"/>
                </a:solidFill>
                <a:latin typeface="Courier"/>
                <a:cs typeface="Courier"/>
              </a:rPr>
              <a:t>"l"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1564105" y="3147824"/>
            <a:ext cx="828842" cy="5685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312739" y="2949790"/>
            <a:ext cx="3832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Handy R function we’ll use all the time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499515" y="4052992"/>
            <a:ext cx="3540048" cy="14860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2121327" y="4390742"/>
            <a:ext cx="4175096" cy="13915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57274" y="5623992"/>
            <a:ext cx="1742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Defines “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y-axis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042931" y="5354423"/>
            <a:ext cx="1742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Defines “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x-axis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2885587" y="5068547"/>
            <a:ext cx="270232" cy="655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486397" y="5669723"/>
            <a:ext cx="3584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Extra argument to connect the points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4D9A1-4E2E-8C13-6A2A-CEAAFFE4D616}"/>
              </a:ext>
            </a:extLst>
          </p:cNvPr>
          <p:cNvSpPr txBox="1"/>
          <p:nvPr/>
        </p:nvSpPr>
        <p:spPr>
          <a:xfrm>
            <a:off x="7388391" y="6488668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first_examples.R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Slicing and Dicing Data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F02013A-463E-197B-165C-A78954370CAC}"/>
              </a:ext>
            </a:extLst>
          </p:cNvPr>
          <p:cNvGrpSpPr/>
          <p:nvPr/>
        </p:nvGrpSpPr>
        <p:grpSpPr>
          <a:xfrm>
            <a:off x="225425" y="1356042"/>
            <a:ext cx="8686800" cy="1400522"/>
            <a:chOff x="225425" y="1356042"/>
            <a:chExt cx="8686800" cy="1400522"/>
          </a:xfrm>
        </p:grpSpPr>
        <p:sp>
          <p:nvSpPr>
            <p:cNvPr id="11266" name="Rectangle 5"/>
            <p:cNvSpPr>
              <a:spLocks noChangeArrowheads="1"/>
            </p:cNvSpPr>
            <p:nvPr/>
          </p:nvSpPr>
          <p:spPr bwMode="auto">
            <a:xfrm>
              <a:off x="225425" y="1356042"/>
              <a:ext cx="8686800" cy="140052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/>
            <a:lstStyle/>
            <a:p>
              <a:pPr marL="887413" lvl="1" indent="-323850">
                <a:spcBef>
                  <a:spcPts val="800"/>
                </a:spcBef>
                <a:buClr>
                  <a:srgbClr val="000000"/>
                </a:buClr>
                <a:buSzPct val="100000"/>
                <a:buFont typeface="Arial"/>
                <a:buChar char="•"/>
                <a:tabLst>
                  <a:tab pos="430213" algn="l"/>
                  <a:tab pos="1344613" algn="l"/>
                  <a:tab pos="2259013" algn="l"/>
                  <a:tab pos="3173413" algn="l"/>
                  <a:tab pos="4087813" algn="l"/>
                  <a:tab pos="5002213" algn="l"/>
                  <a:tab pos="5916613" algn="l"/>
                  <a:tab pos="6831013" algn="l"/>
                  <a:tab pos="7745413" algn="l"/>
                  <a:tab pos="8659813" algn="l"/>
                  <a:tab pos="9574213" algn="l"/>
                  <a:tab pos="10488613" algn="l"/>
                </a:tabLst>
              </a:pPr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Data chucks in       are called (among other things) data frames, arrays, vectors, or matrices: </a:t>
              </a:r>
              <a:r>
                <a:rPr lang="en-GB" sz="2800" b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</a:p>
            <a:p>
              <a:pPr marL="1344613" lvl="2" indent="-323850">
                <a:spcBef>
                  <a:spcPts val="800"/>
                </a:spcBef>
                <a:buClr>
                  <a:srgbClr val="000000"/>
                </a:buClr>
                <a:buSzPct val="100000"/>
                <a:buFont typeface="Arial"/>
                <a:buChar char="•"/>
                <a:tabLst>
                  <a:tab pos="430213" algn="l"/>
                  <a:tab pos="1344613" algn="l"/>
                  <a:tab pos="2259013" algn="l"/>
                  <a:tab pos="3173413" algn="l"/>
                  <a:tab pos="4087813" algn="l"/>
                  <a:tab pos="5002213" algn="l"/>
                  <a:tab pos="5916613" algn="l"/>
                  <a:tab pos="6831013" algn="l"/>
                  <a:tab pos="7745413" algn="l"/>
                  <a:tab pos="8659813" algn="l"/>
                  <a:tab pos="9574213" algn="l"/>
                  <a:tab pos="10488613" algn="l"/>
                </a:tabLst>
              </a:pPr>
              <a:r>
                <a:rPr lang="en-GB" sz="2400" dirty="0">
                  <a:solidFill>
                    <a:srgbClr val="000000"/>
                  </a:solidFill>
                  <a:latin typeface="Times New Roman" pitchFamily="18" charset="0"/>
                  <a:cs typeface="Courier"/>
                </a:rPr>
                <a:t>These objects have “</a:t>
              </a:r>
              <a:r>
                <a:rPr lang="en-GB" sz="2400" i="1" u="sng" dirty="0">
                  <a:solidFill>
                    <a:srgbClr val="000000"/>
                  </a:solidFill>
                  <a:latin typeface="Times New Roman" pitchFamily="18" charset="0"/>
                  <a:cs typeface="Courier"/>
                </a:rPr>
                <a:t>indices</a:t>
              </a:r>
              <a:r>
                <a:rPr lang="en-GB" sz="2400" dirty="0">
                  <a:solidFill>
                    <a:srgbClr val="000000"/>
                  </a:solidFill>
                  <a:latin typeface="Times New Roman" pitchFamily="18" charset="0"/>
                  <a:cs typeface="Courier"/>
                </a:rPr>
                <a:t>”:</a:t>
              </a:r>
              <a:endParaRPr lang="en-GB" sz="2400" dirty="0">
                <a:solidFill>
                  <a:srgbClr val="000000"/>
                </a:solidFill>
                <a:latin typeface="Courier"/>
                <a:cs typeface="Courier"/>
              </a:endParaRPr>
            </a:p>
          </p:txBody>
        </p:sp>
        <p:pic>
          <p:nvPicPr>
            <p:cNvPr id="5" name="Picture 4" descr="Rlogo.jpg">
              <a:extLst>
                <a:ext uri="{FF2B5EF4-FFF2-40B4-BE49-F238E27FC236}">
                  <a16:creationId xmlns:a16="http://schemas.microsoft.com/office/drawing/2014/main" id="{E5592301-E4E1-CC4C-AF73-505B80D97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4281" y="1430541"/>
              <a:ext cx="391899" cy="297844"/>
            </a:xfrm>
            <a:prstGeom prst="rect">
              <a:avLst/>
            </a:prstGeom>
          </p:spPr>
        </p:pic>
      </p:grpSp>
      <p:sp>
        <p:nvSpPr>
          <p:cNvPr id="2" name="Rectangle 5">
            <a:extLst>
              <a:ext uri="{FF2B5EF4-FFF2-40B4-BE49-F238E27FC236}">
                <a16:creationId xmlns:a16="http://schemas.microsoft.com/office/drawing/2014/main" id="{8BCABF56-81EB-DED4-1ADC-79D651ECD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223" y="4091940"/>
            <a:ext cx="6978517" cy="18173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matrices: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X[,1] returns column 1 of matrix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X[3,] returns row 3 of matrix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X[c(2,4),] returns rows 2 and 4 of matrix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336ED0B-90D9-B7D4-7C0E-91F9C2EFE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223" y="2977237"/>
            <a:ext cx="5892667" cy="93182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vectors: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X[4] returns element 4 of vector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E6EC4-783E-B12A-DA3C-E55A07E01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145" y="5989320"/>
            <a:ext cx="8006080" cy="7886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Handy functions for data frames and matrices: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"/>
                <a:cs typeface="Courier"/>
              </a:rPr>
              <a:t>dim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nrow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ncol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rbind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cbind</a:t>
            </a:r>
            <a:endParaRPr lang="en-GB" sz="2200" b="1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056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85017" y="1440889"/>
            <a:ext cx="8454183" cy="452431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Enter some data in a Matrix: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rbind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c(0.99, 0.92, 0.84, 0.39, 0.36),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c(0.87, 0.73, 0.80, 0.76, 0.87),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c(0.50, 0.11, 0.14, 0.43, 0.62),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c(0.08, 0.41, 0.68, 0.49, 0.02)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What happens when we execute each of these line?:</a:t>
            </a:r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X[1,3]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X[2,]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X[,1]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X[5,]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X[5]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D7E980-EE7B-F047-A1D7-2B9DA774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Slicing and Dicing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430B2-EF28-40CD-52E2-3B537F2F3213}"/>
              </a:ext>
            </a:extLst>
          </p:cNvPr>
          <p:cNvSpPr txBox="1"/>
          <p:nvPr/>
        </p:nvSpPr>
        <p:spPr>
          <a:xfrm>
            <a:off x="7165609" y="5955046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first_examples.R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1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0" y="1676400"/>
            <a:ext cx="3987800" cy="3505200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0CF9FAD9-C95C-AC4E-A9AB-7D93578F2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Slicing and Dicing Data</a:t>
            </a:r>
          </a:p>
        </p:txBody>
      </p:sp>
    </p:spTree>
    <p:extLst>
      <p:ext uri="{BB962C8B-B14F-4D97-AF65-F5344CB8AC3E}">
        <p14:creationId xmlns:p14="http://schemas.microsoft.com/office/powerpoint/2010/main" val="391642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307413"/>
            <a:ext cx="8686800" cy="33661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Save spreadsheet as a CSV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A .csv file is just a text version of an Excel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We’ll use the </a:t>
            </a:r>
            <a:r>
              <a:rPr lang="en-GB" sz="3200" b="1" dirty="0" err="1">
                <a:solidFill>
                  <a:srgbClr val="000000"/>
                </a:solidFill>
                <a:latin typeface="Times New Roman" pitchFamily="18" charset="0"/>
              </a:rPr>
              <a:t>read.csv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function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Spreadsheets of Data: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1607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1E7B117-D0CB-49EC-AF46-979BCA110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04211"/>
            <a:ext cx="8686800" cy="34677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Method easiest for class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We can load in a file directly from the internet using its </a:t>
            </a:r>
            <a:r>
              <a:rPr lang="en-GB" sz="3200" dirty="0">
                <a:solidFill>
                  <a:srgbClr val="00B050"/>
                </a:solidFill>
                <a:latin typeface="Times New Roman" pitchFamily="18" charset="0"/>
              </a:rPr>
              <a:t>URL address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(if we have a working internet connection):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4AECD30-1CEA-46DB-9FB7-F711EA12D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Spreadsheets of Data: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1FD6D4-ABDF-4D8F-AC2A-888F0D4EC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083E16-7BA4-474C-8727-392FDF517109}"/>
              </a:ext>
            </a:extLst>
          </p:cNvPr>
          <p:cNvSpPr/>
          <p:nvPr/>
        </p:nvSpPr>
        <p:spPr>
          <a:xfrm>
            <a:off x="152400" y="4196185"/>
            <a:ext cx="8867421" cy="2062103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A file on the internet. Use it’s URL to load: 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"https://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raw.githubusercontent.com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/709/refs/heads/main/R/data/ASCLAD_GaugeR%26R_example_data.csv"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, header </a:t>
            </a:r>
            <a:r>
              <a:rPr lang="en-US" sz="1600">
                <a:solidFill>
                  <a:schemeClr val="bg1"/>
                </a:solidFill>
                <a:latin typeface="Courier"/>
                <a:cs typeface="Courier"/>
              </a:rPr>
              <a:t>= T)</a:t>
            </a:r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**check the datatype R thinks it loaded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class(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6FB91-8C35-A063-A6F7-2C1DE61165F5}"/>
              </a:ext>
            </a:extLst>
          </p:cNvPr>
          <p:cNvSpPr txBox="1"/>
          <p:nvPr/>
        </p:nvSpPr>
        <p:spPr>
          <a:xfrm>
            <a:off x="7099273" y="6258288"/>
            <a:ext cx="204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spreadsheet_load.R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128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298521"/>
            <a:ext cx="8686800" cy="28955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Usually however you have a spreadsheet on your computer already as a CSV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You’ll need to type in 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path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to the file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in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read.csv</a:t>
            </a: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719357"/>
            <a:ext cx="7558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"/Users/</a:t>
            </a:r>
            <a:r>
              <a:rPr lang="en-US" sz="2400" dirty="0" err="1">
                <a:latin typeface="Courier"/>
                <a:cs typeface="Courier"/>
              </a:rPr>
              <a:t>npetraco</a:t>
            </a:r>
            <a:r>
              <a:rPr lang="en-US" sz="2400" dirty="0">
                <a:latin typeface="Courier"/>
                <a:cs typeface="Courier"/>
              </a:rPr>
              <a:t>/latex/papers/data.csv"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4257692"/>
            <a:ext cx="13383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Mac e.g.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064742" y="5660672"/>
            <a:ext cx="79271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"C:\Users\npetraco\latex\papers\data.csv"</a:t>
            </a:r>
          </a:p>
          <a:p>
            <a:r>
              <a:rPr lang="en-US" sz="2400" dirty="0">
                <a:latin typeface="Courier"/>
                <a:cs typeface="Courier"/>
              </a:rPr>
              <a:t>"C:/Users/npetraco/latex/papers/data.csv"</a:t>
            </a:r>
          </a:p>
          <a:p>
            <a:endParaRPr lang="en-US" sz="2400" dirty="0">
              <a:latin typeface="Courier"/>
              <a:cs typeface="Couri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4742" y="5143587"/>
            <a:ext cx="195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Windows e.g.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en-US" sz="2400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43016" y="6432887"/>
            <a:ext cx="8664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"C:\\Users\\npetraco\\latex\\papers\\data.csv"</a:t>
            </a:r>
          </a:p>
        </p:txBody>
      </p:sp>
    </p:spTree>
    <p:extLst>
      <p:ext uri="{BB962C8B-B14F-4D97-AF65-F5344CB8AC3E}">
        <p14:creationId xmlns:p14="http://schemas.microsoft.com/office/powerpoint/2010/main" val="249863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8600" y="1104210"/>
            <a:ext cx="8686800" cy="160957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Load a CSV file that is on your (mine actually…) Desktop. The file is called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bigdata.csv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and I made it in Excel:</a:t>
            </a:r>
          </a:p>
        </p:txBody>
      </p:sp>
      <p:sp>
        <p:nvSpPr>
          <p:cNvPr id="6" name="Rectangle 5"/>
          <p:cNvSpPr/>
          <p:nvPr/>
        </p:nvSpPr>
        <p:spPr>
          <a:xfrm>
            <a:off x="385017" y="2982691"/>
            <a:ext cx="8454183" cy="3046988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Load the spreadsheet: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"/Users/npetraco/Desktop/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GC_gasoline_peak_data.csv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Extract column 1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[,1]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Extract column 2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y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[,2]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Plot the data: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x,y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1AB1C-D33A-33F1-9C64-6A9E34220716}"/>
              </a:ext>
            </a:extLst>
          </p:cNvPr>
          <p:cNvSpPr txBox="1"/>
          <p:nvPr/>
        </p:nvSpPr>
        <p:spPr>
          <a:xfrm>
            <a:off x="6870673" y="6029679"/>
            <a:ext cx="204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spreadsheet_load.R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768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14E827E-6C98-4F37-8156-17ECD6940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04211"/>
            <a:ext cx="8686800" cy="19083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An alternative is to use </a:t>
            </a:r>
            <a:r>
              <a:rPr lang="en-GB" sz="3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file.choose</a:t>
            </a:r>
            <a:r>
              <a:rPr lang="en-GB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function with </a:t>
            </a:r>
            <a:r>
              <a:rPr lang="en-GB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A01C647-0C97-48D3-B8FA-E37647B9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89CC3E3-215C-41F5-A2BE-49C8DB71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B00B6D-FA84-4ACC-8D6D-5ECC0453DDA9}"/>
              </a:ext>
            </a:extLst>
          </p:cNvPr>
          <p:cNvSpPr/>
          <p:nvPr/>
        </p:nvSpPr>
        <p:spPr>
          <a:xfrm>
            <a:off x="385017" y="3372095"/>
            <a:ext cx="8454183" cy="175432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file.choose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 lets you navigate to file you want and gets </a:t>
            </a: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its path: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apath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file.choose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some.data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read.csv(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apath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4C0A5-9B1D-47D8-A802-81B6DA09D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948" y="3778397"/>
            <a:ext cx="4246852" cy="2900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FBDF5C-A179-4336-60FF-ED7C532727EF}"/>
              </a:ext>
            </a:extLst>
          </p:cNvPr>
          <p:cNvSpPr txBox="1"/>
          <p:nvPr/>
        </p:nvSpPr>
        <p:spPr>
          <a:xfrm>
            <a:off x="1214203" y="5876144"/>
            <a:ext cx="204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spreadsheet_load.R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1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57C60F-DEFE-0D86-C2B0-18F48A8FF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Installing R packages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2A8E67-AF7E-2653-56E5-18011F66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96D43-606F-1149-F445-DD675F93FA7B}"/>
              </a:ext>
            </a:extLst>
          </p:cNvPr>
          <p:cNvSpPr txBox="1"/>
          <p:nvPr/>
        </p:nvSpPr>
        <p:spPr>
          <a:xfrm>
            <a:off x="83506" y="1691640"/>
            <a:ext cx="9060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has a vast repository of user created specialized code called CRAN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is called packages or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install and use a package from CRAN do the following: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265BA-15EC-1D57-C8F1-9CCA01C2EAC2}"/>
              </a:ext>
            </a:extLst>
          </p:cNvPr>
          <p:cNvSpPr/>
          <p:nvPr/>
        </p:nvSpPr>
        <p:spPr>
          <a:xfrm>
            <a:off x="1357703" y="3754155"/>
            <a:ext cx="6332435" cy="1477328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Install a package called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mlbench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install.packages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dirty="0" err="1">
                <a:solidFill>
                  <a:srgbClr val="00B050"/>
                </a:solidFill>
                <a:latin typeface="Courier"/>
                <a:cs typeface="Courier"/>
              </a:rPr>
              <a:t>mlbench</a:t>
            </a:r>
            <a:r>
              <a:rPr lang="en-US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Turn on the library for use:</a:t>
            </a:r>
          </a:p>
          <a:p>
            <a:r>
              <a:rPr lang="en-US" dirty="0">
                <a:solidFill>
                  <a:schemeClr val="accent6"/>
                </a:solidFill>
                <a:latin typeface="Courier"/>
                <a:cs typeface="Courier"/>
              </a:rPr>
              <a:t>library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mlbench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465EC9-6319-1985-AE1B-5AF22C26D345}"/>
              </a:ext>
            </a:extLst>
          </p:cNvPr>
          <p:cNvCxnSpPr/>
          <p:nvPr/>
        </p:nvCxnSpPr>
        <p:spPr>
          <a:xfrm flipH="1">
            <a:off x="4604038" y="3548920"/>
            <a:ext cx="377190" cy="571500"/>
          </a:xfrm>
          <a:prstGeom prst="straightConnector1">
            <a:avLst/>
          </a:prstGeom>
          <a:ln w="3492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7A0359-41BD-F65C-E563-919D97F26E4D}"/>
              </a:ext>
            </a:extLst>
          </p:cNvPr>
          <p:cNvSpPr txBox="1"/>
          <p:nvPr/>
        </p:nvSpPr>
        <p:spPr>
          <a:xfrm>
            <a:off x="4981228" y="3243058"/>
            <a:ext cx="222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package/library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9C0A8-E696-BD32-AE8D-EED7C95605AA}"/>
              </a:ext>
            </a:extLst>
          </p:cNvPr>
          <p:cNvSpPr txBox="1"/>
          <p:nvPr/>
        </p:nvSpPr>
        <p:spPr>
          <a:xfrm>
            <a:off x="1387683" y="3186203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need to do this once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0A1D97-A067-36E2-05D6-DAE03DA4526E}"/>
              </a:ext>
            </a:extLst>
          </p:cNvPr>
          <p:cNvCxnSpPr/>
          <p:nvPr/>
        </p:nvCxnSpPr>
        <p:spPr>
          <a:xfrm flipH="1">
            <a:off x="2163252" y="3501139"/>
            <a:ext cx="377190" cy="571500"/>
          </a:xfrm>
          <a:prstGeom prst="straightConnector1">
            <a:avLst/>
          </a:prstGeom>
          <a:ln w="3492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8CB7E6-59D0-4FB9-CF03-CFFD8B718CC9}"/>
              </a:ext>
            </a:extLst>
          </p:cNvPr>
          <p:cNvSpPr txBox="1"/>
          <p:nvPr/>
        </p:nvSpPr>
        <p:spPr>
          <a:xfrm>
            <a:off x="5702593" y="5186513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install_a_package.R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40ACD-DE42-A9A7-65BB-BA3E104F3964}"/>
              </a:ext>
            </a:extLst>
          </p:cNvPr>
          <p:cNvSpPr txBox="1"/>
          <p:nvPr/>
        </p:nvSpPr>
        <p:spPr>
          <a:xfrm>
            <a:off x="657070" y="5770503"/>
            <a:ext cx="3996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library()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turn on package for use </a:t>
            </a:r>
          </a:p>
        </p:txBody>
      </p:sp>
    </p:spTree>
    <p:extLst>
      <p:ext uri="{BB962C8B-B14F-4D97-AF65-F5344CB8AC3E}">
        <p14:creationId xmlns:p14="http://schemas.microsoft.com/office/powerpoint/2010/main" val="277944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6E73-6894-A652-1234-6F5F97F7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3FFD604-9919-12A9-E23B-B49ED94FB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Installing Our Course Package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7339F6-B82F-7F46-CAC1-B87FD345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F41297-9792-C7BD-0339-C1CABB114E9C}"/>
              </a:ext>
            </a:extLst>
          </p:cNvPr>
          <p:cNvSpPr txBox="1"/>
          <p:nvPr/>
        </p:nvSpPr>
        <p:spPr>
          <a:xfrm>
            <a:off x="83506" y="1271919"/>
            <a:ext cx="8843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a custom course package for the course but it’s on GitHub, not CRAN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install a package from GitHub: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52E32-143C-B1FC-B94B-59F3CFD123CC}"/>
              </a:ext>
            </a:extLst>
          </p:cNvPr>
          <p:cNvSpPr/>
          <p:nvPr/>
        </p:nvSpPr>
        <p:spPr>
          <a:xfrm>
            <a:off x="1189225" y="2540091"/>
            <a:ext cx="7185657" cy="4247317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500" dirty="0">
                <a:solidFill>
                  <a:srgbClr val="00B050"/>
                </a:solidFill>
                <a:latin typeface="Courier"/>
                <a:cs typeface="Courier"/>
              </a:rPr>
              <a:t>"remotes"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500" dirty="0">
                <a:solidFill>
                  <a:schemeClr val="accent6"/>
                </a:solidFill>
                <a:latin typeface="Courier"/>
                <a:cs typeface="Courier"/>
              </a:rPr>
              <a:t>library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(remotes)</a:t>
            </a:r>
          </a:p>
          <a:p>
            <a:endParaRPr lang="en-US" sz="15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install_github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5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50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50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500" dirty="0" err="1">
                <a:solidFill>
                  <a:srgbClr val="00B050"/>
                </a:solidFill>
                <a:latin typeface="Courier"/>
                <a:cs typeface="Courier"/>
              </a:rPr>
              <a:t>frequtils</a:t>
            </a:r>
            <a:r>
              <a:rPr lang="en-US" sz="15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500" dirty="0">
                <a:solidFill>
                  <a:schemeClr val="accent6"/>
                </a:solidFill>
                <a:latin typeface="Courier"/>
                <a:cs typeface="Courier"/>
              </a:rPr>
              <a:t>library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linton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Load some built in data as a test</a:t>
            </a:r>
          </a:p>
          <a:p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head(</a:t>
            </a:r>
            <a:r>
              <a:rPr lang="en-US" sz="1500" dirty="0" err="1">
                <a:solidFill>
                  <a:schemeClr val="bg1"/>
                </a:solidFill>
                <a:latin typeface="Courier"/>
                <a:cs typeface="Courier"/>
              </a:rPr>
              <a:t>linton</a:t>
            </a:r>
            <a:r>
              <a:rPr lang="en-US" sz="15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5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 Optional packages: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rgl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extraDistr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("tolerance")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mlbench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dafs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("outliers")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EnvStats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dixonTest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")</a:t>
            </a:r>
          </a:p>
          <a:p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install.packages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("</a:t>
            </a:r>
            <a:r>
              <a:rPr lang="en-US" sz="1500" dirty="0" err="1">
                <a:solidFill>
                  <a:srgbClr val="FFFF00"/>
                </a:solidFill>
                <a:latin typeface="Courier"/>
                <a:cs typeface="Courier"/>
              </a:rPr>
              <a:t>effectsize</a:t>
            </a:r>
            <a:r>
              <a:rPr lang="en-US" sz="1500" dirty="0">
                <a:solidFill>
                  <a:srgbClr val="FFFF00"/>
                </a:solidFill>
                <a:latin typeface="Courier"/>
                <a:cs typeface="Courier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5BE57-6D1D-FD8C-870F-1EB5295D3974}"/>
              </a:ext>
            </a:extLst>
          </p:cNvPr>
          <p:cNvSpPr txBox="1"/>
          <p:nvPr/>
        </p:nvSpPr>
        <p:spPr>
          <a:xfrm>
            <a:off x="5689272" y="2800345"/>
            <a:ext cx="255069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install_course_package.R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64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1932" y="884498"/>
            <a:ext cx="5426596" cy="217121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63563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Explore the Glass dataset </a:t>
            </a:r>
          </a:p>
          <a:p>
            <a:pPr marL="1020763"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Scatter plots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plot any two variables against each other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Plots of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-4025" t="8702" r="4025" b="-7230"/>
          <a:stretch/>
        </p:blipFill>
        <p:spPr>
          <a:xfrm>
            <a:off x="5108495" y="1250069"/>
            <a:ext cx="3786650" cy="37309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FFBBCD-CE81-F540-A53C-8C4856B0DB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985"/>
          <a:stretch/>
        </p:blipFill>
        <p:spPr>
          <a:xfrm>
            <a:off x="27005" y="3346779"/>
            <a:ext cx="4595350" cy="35124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5FFB68-9EA1-564C-8512-2229FBAD5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512" y="4543528"/>
            <a:ext cx="4407424" cy="147627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Histograms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“bin” a variable and plot frequencies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EFA348-D670-8B45-AD0A-92A9DB4A7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270"/>
            <a:ext cx="9144000" cy="4541178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623AA6D-E515-5941-B613-AEF77974D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Box and Whiskers plots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F4A7B95-DE6E-5546-AB53-0FF06F01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13B6098E-85CB-894C-B03A-D32B41160D71}"/>
              </a:ext>
            </a:extLst>
          </p:cNvPr>
          <p:cNvSpPr/>
          <p:nvPr/>
        </p:nvSpPr>
        <p:spPr bwMode="auto">
          <a:xfrm>
            <a:off x="385144" y="2223302"/>
            <a:ext cx="8442925" cy="223896"/>
          </a:xfrm>
          <a:prstGeom prst="leftRightArrow">
            <a:avLst/>
          </a:prstGeom>
          <a:solidFill>
            <a:srgbClr val="26FA2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8B7A78-73B1-7541-B40D-56B76B7BFED9}"/>
              </a:ext>
            </a:extLst>
          </p:cNvPr>
          <p:cNvCxnSpPr/>
          <p:nvPr/>
        </p:nvCxnSpPr>
        <p:spPr bwMode="auto">
          <a:xfrm rot="5400000" flipH="1" flipV="1">
            <a:off x="2021973" y="4561911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000B78-1FEE-4E4F-817C-D32CBCDC0B8C}"/>
              </a:ext>
            </a:extLst>
          </p:cNvPr>
          <p:cNvCxnSpPr/>
          <p:nvPr/>
        </p:nvCxnSpPr>
        <p:spPr bwMode="auto">
          <a:xfrm rot="16200000" flipV="1">
            <a:off x="3343767" y="4541131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995039-5EF4-E648-A286-6D1D5AB38BBF}"/>
              </a:ext>
            </a:extLst>
          </p:cNvPr>
          <p:cNvCxnSpPr/>
          <p:nvPr/>
        </p:nvCxnSpPr>
        <p:spPr bwMode="auto">
          <a:xfrm rot="5400000" flipH="1" flipV="1">
            <a:off x="2614559" y="4769729"/>
            <a:ext cx="457205" cy="1588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E68716A-691B-3444-9C93-BA2C486B316C}"/>
              </a:ext>
            </a:extLst>
          </p:cNvPr>
          <p:cNvSpPr/>
          <p:nvPr/>
        </p:nvSpPr>
        <p:spPr>
          <a:xfrm>
            <a:off x="969028" y="4749671"/>
            <a:ext cx="1242648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25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6A5D8-A494-A04F-9CD7-083F44414C90}"/>
              </a:ext>
            </a:extLst>
          </p:cNvPr>
          <p:cNvSpPr/>
          <p:nvPr/>
        </p:nvSpPr>
        <p:spPr>
          <a:xfrm>
            <a:off x="3687464" y="4749671"/>
            <a:ext cx="1268296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75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rd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0B4B3-87DC-EE48-9E02-955F97C6B0AD}"/>
              </a:ext>
            </a:extLst>
          </p:cNvPr>
          <p:cNvSpPr/>
          <p:nvPr/>
        </p:nvSpPr>
        <p:spPr>
          <a:xfrm>
            <a:off x="2320953" y="4862865"/>
            <a:ext cx="1099981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median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50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A0FD6-68C7-6C4C-A6DE-1A05ABBA5F35}"/>
              </a:ext>
            </a:extLst>
          </p:cNvPr>
          <p:cNvSpPr/>
          <p:nvPr/>
        </p:nvSpPr>
        <p:spPr>
          <a:xfrm>
            <a:off x="4239490" y="1898442"/>
            <a:ext cx="697627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range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C4146A-E974-CD41-981C-B34C8D516423}"/>
              </a:ext>
            </a:extLst>
          </p:cNvPr>
          <p:cNvSpPr/>
          <p:nvPr/>
        </p:nvSpPr>
        <p:spPr bwMode="auto">
          <a:xfrm>
            <a:off x="152752" y="3007483"/>
            <a:ext cx="990600" cy="533400"/>
          </a:xfrm>
          <a:prstGeom prst="ellipse">
            <a:avLst/>
          </a:prstGeom>
          <a:solidFill>
            <a:srgbClr val="26FA26">
              <a:alpha val="7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B4DB70-5B65-5A43-AC32-1E80E683D3DD}"/>
              </a:ext>
            </a:extLst>
          </p:cNvPr>
          <p:cNvSpPr/>
          <p:nvPr/>
        </p:nvSpPr>
        <p:spPr>
          <a:xfrm>
            <a:off x="217377" y="2984333"/>
            <a:ext cx="859531" cy="570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possible</a:t>
            </a:r>
          </a:p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outliers</a:t>
            </a:r>
            <a:endParaRPr lang="en-US" sz="16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55EF42-E0EE-A244-928A-DA0EB253F24D}"/>
              </a:ext>
            </a:extLst>
          </p:cNvPr>
          <p:cNvSpPr/>
          <p:nvPr/>
        </p:nvSpPr>
        <p:spPr bwMode="auto">
          <a:xfrm>
            <a:off x="6273442" y="2984333"/>
            <a:ext cx="990600" cy="533400"/>
          </a:xfrm>
          <a:prstGeom prst="ellipse">
            <a:avLst/>
          </a:prstGeom>
          <a:solidFill>
            <a:srgbClr val="26FA26">
              <a:alpha val="7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39AA6A-44EB-224F-9266-CA2FF9EDAFC9}"/>
              </a:ext>
            </a:extLst>
          </p:cNvPr>
          <p:cNvSpPr/>
          <p:nvPr/>
        </p:nvSpPr>
        <p:spPr>
          <a:xfrm>
            <a:off x="6349642" y="2984333"/>
            <a:ext cx="859531" cy="570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possible</a:t>
            </a:r>
          </a:p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outliers</a:t>
            </a:r>
            <a:endParaRPr 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E56A6E-8981-9747-AD17-5268D2A8B6B8}"/>
              </a:ext>
            </a:extLst>
          </p:cNvPr>
          <p:cNvSpPr/>
          <p:nvPr/>
        </p:nvSpPr>
        <p:spPr>
          <a:xfrm>
            <a:off x="4292276" y="6373792"/>
            <a:ext cx="53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RI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18C70166-8E50-1E9F-BFC0-6AF97D562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Plots of your Data</a:t>
            </a:r>
          </a:p>
        </p:txBody>
      </p:sp>
    </p:spTree>
    <p:extLst>
      <p:ext uri="{BB962C8B-B14F-4D97-AF65-F5344CB8AC3E}">
        <p14:creationId xmlns:p14="http://schemas.microsoft.com/office/powerpoint/2010/main" val="230499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Basic Plotting Commands: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15747" y="2858209"/>
            <a:ext cx="8924081" cy="341632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FFFF00"/>
                </a:solidFill>
                <a:latin typeface="Courier"/>
                <a:cs typeface="Courier"/>
              </a:rPr>
              <a:t># Load data:</a:t>
            </a:r>
          </a:p>
          <a:p>
            <a:r>
              <a:rPr lang="en-US" sz="135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35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</a:p>
          <a:p>
            <a:r>
              <a:rPr lang="en-US" sz="1350" dirty="0">
                <a:solidFill>
                  <a:srgbClr val="00B050"/>
                </a:solidFill>
                <a:latin typeface="Courier"/>
                <a:cs typeface="Courier"/>
              </a:rPr>
              <a:t>"https://</a:t>
            </a:r>
            <a:r>
              <a:rPr lang="en-US" sz="1350" dirty="0" err="1">
                <a:solidFill>
                  <a:srgbClr val="00B050"/>
                </a:solidFill>
                <a:latin typeface="Courier"/>
                <a:cs typeface="Courier"/>
              </a:rPr>
              <a:t>raw.githubusercontent.com</a:t>
            </a:r>
            <a:r>
              <a:rPr lang="en-US" sz="135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35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350" dirty="0">
                <a:solidFill>
                  <a:srgbClr val="00B050"/>
                </a:solidFill>
                <a:latin typeface="Courier"/>
                <a:cs typeface="Courier"/>
              </a:rPr>
              <a:t>/709/refs/heads/main/R/data/</a:t>
            </a:r>
            <a:r>
              <a:rPr lang="en-US" sz="1350" dirty="0" err="1">
                <a:solidFill>
                  <a:srgbClr val="00B050"/>
                </a:solidFill>
                <a:latin typeface="Courier"/>
                <a:cs typeface="Courier"/>
              </a:rPr>
              <a:t>Glass.csv</a:t>
            </a:r>
            <a:r>
              <a:rPr lang="en-US" sz="135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35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head(</a:t>
            </a:r>
            <a:r>
              <a:rPr lang="en-US" sz="135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35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50" dirty="0">
                <a:solidFill>
                  <a:srgbClr val="FFFF00"/>
                </a:solidFill>
                <a:latin typeface="Courier"/>
                <a:cs typeface="Courier"/>
              </a:rPr>
              <a:t># Scatter plot:</a:t>
            </a:r>
          </a:p>
          <a:p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35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[,1], </a:t>
            </a:r>
            <a:r>
              <a:rPr lang="en-US" sz="135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[,2])</a:t>
            </a:r>
          </a:p>
          <a:p>
            <a:endParaRPr lang="en-US" sz="135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35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50" dirty="0">
                <a:solidFill>
                  <a:srgbClr val="FFFF00"/>
                </a:solidFill>
                <a:latin typeface="Courier"/>
                <a:cs typeface="Courier"/>
              </a:rPr>
              <a:t># Histogram:</a:t>
            </a:r>
          </a:p>
          <a:p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hist(</a:t>
            </a:r>
            <a:r>
              <a:rPr lang="en-US" sz="135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[,1])</a:t>
            </a:r>
          </a:p>
          <a:p>
            <a:endParaRPr lang="en-US" sz="135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35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50" dirty="0">
                <a:solidFill>
                  <a:srgbClr val="FFFF00"/>
                </a:solidFill>
                <a:latin typeface="Courier"/>
                <a:cs typeface="Courier"/>
              </a:rPr>
              <a:t># Box and whisker plot:</a:t>
            </a:r>
          </a:p>
          <a:p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boxplot(</a:t>
            </a:r>
            <a:r>
              <a:rPr lang="en-US" sz="135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50" dirty="0">
                <a:solidFill>
                  <a:schemeClr val="bg1"/>
                </a:solidFill>
                <a:latin typeface="Courier"/>
                <a:cs typeface="Courier"/>
              </a:rPr>
              <a:t>[,1], horizontal = 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E1B04-FE96-620F-EFDA-A66B2C2482CA}"/>
              </a:ext>
            </a:extLst>
          </p:cNvPr>
          <p:cNvSpPr txBox="1"/>
          <p:nvPr/>
        </p:nvSpPr>
        <p:spPr>
          <a:xfrm>
            <a:off x="6858452" y="4566369"/>
            <a:ext cx="170431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basic_plotting.R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5A500-2C6C-C704-F02A-278AECF269A5}"/>
              </a:ext>
            </a:extLst>
          </p:cNvPr>
          <p:cNvSpPr txBox="1"/>
          <p:nvPr/>
        </p:nvSpPr>
        <p:spPr>
          <a:xfrm>
            <a:off x="605790" y="1539736"/>
            <a:ext cx="43364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2D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hist()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histogram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boxplot()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box and whiskers plot</a:t>
            </a:r>
          </a:p>
        </p:txBody>
      </p:sp>
    </p:spTree>
    <p:extLst>
      <p:ext uri="{BB962C8B-B14F-4D97-AF65-F5344CB8AC3E}">
        <p14:creationId xmlns:p14="http://schemas.microsoft.com/office/powerpoint/2010/main" val="1564070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E8BE255-C3FB-3718-FE64-B16EBD485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Advanced Plots/Syntax: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68C790-596E-F3AB-EB05-CD24A732C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F806F8E-F875-92E9-E77F-016E2CF2ADB1}"/>
              </a:ext>
            </a:extLst>
          </p:cNvPr>
          <p:cNvSpPr/>
          <p:nvPr/>
        </p:nvSpPr>
        <p:spPr>
          <a:xfrm>
            <a:off x="115747" y="2892499"/>
            <a:ext cx="8924081" cy="289310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mlbench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Load some sample data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"Glass"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?Glass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Scatter plots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Glass$RI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Glass$Na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Glass$Na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Glass$Si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Strip chart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stripchart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as.numeric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(Type)~Na, data=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Glass,xlab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"Glass#"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                   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ylab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"Na conc."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vertical=F,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pch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=16)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266C4-CFFE-74AF-6811-FCF3B04FB895}"/>
              </a:ext>
            </a:extLst>
          </p:cNvPr>
          <p:cNvSpPr txBox="1"/>
          <p:nvPr/>
        </p:nvSpPr>
        <p:spPr>
          <a:xfrm>
            <a:off x="605790" y="1459726"/>
            <a:ext cx="42402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built in data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 up help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named columns or list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stripchart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77E49-6097-9103-DC90-2AE196DD3297}"/>
              </a:ext>
            </a:extLst>
          </p:cNvPr>
          <p:cNvSpPr txBox="1"/>
          <p:nvPr/>
        </p:nvSpPr>
        <p:spPr>
          <a:xfrm>
            <a:off x="7130370" y="3429000"/>
            <a:ext cx="12682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stripchart.R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075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A05402D-EFB9-4CF2-9FCB-A394F7947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Advanced Plots/Syntax: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C6629-35E9-EFF8-0732-5D3F5ACB5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30F959-A1D9-9B47-4CE5-185EC19D2C6D}"/>
              </a:ext>
            </a:extLst>
          </p:cNvPr>
          <p:cNvSpPr/>
          <p:nvPr/>
        </p:nvSpPr>
        <p:spPr>
          <a:xfrm>
            <a:off x="123453" y="1459726"/>
            <a:ext cx="8450921" cy="4616648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mlbench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Load some sample data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"Glass"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head(Glass)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Glass[, 2:8]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Slice out columns of elements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dim(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**** Looping ****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ele.avgs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array(-1, c(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ncol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)))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Allocate space to hold element averages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for(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in 1:ncol(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)) {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ele.avg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   &lt;- mean(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])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compute average of element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ele.avgs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] &lt;-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ele.avg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 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store average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}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names(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ele.avgs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&lt;-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colnames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Optional: label the elements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ele.avgs</a:t>
            </a:r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pie(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ele.avgs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Make a pie chart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A5C10-95B9-DCE2-36EC-57EC8D129005}"/>
              </a:ext>
            </a:extLst>
          </p:cNvPr>
          <p:cNvSpPr txBox="1"/>
          <p:nvPr/>
        </p:nvSpPr>
        <p:spPr>
          <a:xfrm>
            <a:off x="6082318" y="1849148"/>
            <a:ext cx="17496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loops_and_pie.R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884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034C75-E4FE-A05B-B899-7DEB73585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17612"/>
            <a:ext cx="8607425" cy="50684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Advanced Plots/Syntax: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F11C78-0ADB-238D-9EAE-29DF1ADC1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A1BDD0-F9CD-F648-CD44-FAB66B3EBD26}"/>
              </a:ext>
            </a:extLst>
          </p:cNvPr>
          <p:cNvSpPr/>
          <p:nvPr/>
        </p:nvSpPr>
        <p:spPr>
          <a:xfrm>
            <a:off x="318323" y="860126"/>
            <a:ext cx="8450921" cy="5940088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mlbench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Load some sample data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"Glass"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Compute average element abundance for each glass type: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 &lt;- Glass[, 2:8]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Slice out columns of elements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lbl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 &lt;- Glass[, 10] 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Slice out the glass type, a set of labels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lbl.typ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&lt;- levels(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lbl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**** Nested Looping ****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num.typ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 &lt;- length(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lbl.typ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               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Number of unique glass type labels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num.ele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 &lt;-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ncol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                     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Number of elements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ele.typ.avg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&lt;- array(-1, c(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num.ele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num.typ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))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Allocate storage for each element-</a:t>
            </a:r>
            <a:r>
              <a:rPr lang="en-US" sz="1000" dirty="0" err="1">
                <a:solidFill>
                  <a:srgbClr val="FFFF00"/>
                </a:solidFill>
                <a:latin typeface="Courier"/>
                <a:cs typeface="Courier"/>
              </a:rPr>
              <a:t>glasstype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 average</a:t>
            </a:r>
          </a:p>
          <a:p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for(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i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in 1:num.ele) {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ele.col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&lt;-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[,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i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]                 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Slice out an element column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for(j in 1:num.typ) {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Now slice out the element abundances for each glass type: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ele.typ.idxs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&lt;- which(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lbl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==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lbl.typ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[j]) 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Take the average element abundance for each glass type and store it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ele.typ.avg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i,j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] &lt;- mean(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ele.col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ele.typ.idxs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])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}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}</a:t>
            </a:r>
          </a:p>
          <a:p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# L</a:t>
            </a:r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abel the rows and columns of the element-glass type averages: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element.names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  &lt;-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colnames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glass.typ.names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&lt;- c(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"bldg.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flot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"bldg.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nflot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"veh.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flot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contnr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tabwre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headlgt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rownames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ele.typ.avg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 &lt;-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element.names</a:t>
            </a:r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colnames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ele.typ.avg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 &lt;-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glass.typ.names</a:t>
            </a:r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>
                <a:solidFill>
                  <a:srgbClr val="FFFF00"/>
                </a:solidFill>
                <a:latin typeface="Courier"/>
                <a:cs typeface="Courier"/>
              </a:rPr>
              <a:t># Stacked bar plots:</a:t>
            </a: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barplot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ele.typ.avg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 ~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element.names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main=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"Elements in Glass Type"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col=rainbow(6))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legend(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topright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legend =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glass.typ.names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fill = rainbow(6),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cex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=0.75)</a:t>
            </a:r>
          </a:p>
          <a:p>
            <a:endParaRPr lang="en-US" sz="1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barplot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(t(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ele.typ.avg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) ~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glass.typ.names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main=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"Elements in Glass Type"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col=rainbow(8))</a:t>
            </a:r>
          </a:p>
          <a:p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legend(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 err="1">
                <a:solidFill>
                  <a:srgbClr val="00B050"/>
                </a:solidFill>
                <a:latin typeface="Courier"/>
                <a:cs typeface="Courier"/>
              </a:rPr>
              <a:t>topright</a:t>
            </a:r>
            <a:r>
              <a:rPr lang="en-US" sz="10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legend =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element.names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, fill = rainbow(8), </a:t>
            </a:r>
            <a:r>
              <a:rPr lang="en-US" sz="1000" dirty="0" err="1">
                <a:solidFill>
                  <a:schemeClr val="bg1"/>
                </a:solidFill>
                <a:latin typeface="Courier"/>
                <a:cs typeface="Courier"/>
              </a:rPr>
              <a:t>cex</a:t>
            </a:r>
            <a:r>
              <a:rPr lang="en-US" sz="1000" dirty="0">
                <a:solidFill>
                  <a:schemeClr val="bg1"/>
                </a:solidFill>
                <a:latin typeface="Courier"/>
                <a:cs typeface="Courier"/>
              </a:rPr>
              <a:t>=0.5)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035970-9349-20F0-75F0-67F8A6CA147D}"/>
              </a:ext>
            </a:extLst>
          </p:cNvPr>
          <p:cNvSpPr txBox="1"/>
          <p:nvPr/>
        </p:nvSpPr>
        <p:spPr>
          <a:xfrm>
            <a:off x="4825334" y="4240146"/>
            <a:ext cx="37176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nested_loops_and_stackedbar_plots.R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2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7612</TotalTime>
  <Words>2231</Words>
  <Application>Microsoft Macintosh PowerPoint</Application>
  <PresentationFormat>On-screen Show (4:3)</PresentationFormat>
  <Paragraphs>334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Courier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Jay College of Criminal Justice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Nicholas Petraco</dc:creator>
  <cp:lastModifiedBy>Nicholas Petraco</cp:lastModifiedBy>
  <cp:revision>64</cp:revision>
  <dcterms:created xsi:type="dcterms:W3CDTF">2014-05-27T04:15:11Z</dcterms:created>
  <dcterms:modified xsi:type="dcterms:W3CDTF">2026-02-05T13:29:29Z</dcterms:modified>
</cp:coreProperties>
</file>