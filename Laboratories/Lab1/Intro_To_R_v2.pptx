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6" r:id="rId7"/>
    <p:sldId id="261" r:id="rId8"/>
    <p:sldId id="268" r:id="rId9"/>
    <p:sldId id="291" r:id="rId10"/>
    <p:sldId id="269" r:id="rId11"/>
    <p:sldId id="310" r:id="rId12"/>
    <p:sldId id="294" r:id="rId13"/>
    <p:sldId id="295" r:id="rId14"/>
    <p:sldId id="352" r:id="rId15"/>
    <p:sldId id="351" r:id="rId16"/>
    <p:sldId id="308" r:id="rId17"/>
    <p:sldId id="309" r:id="rId18"/>
    <p:sldId id="350" r:id="rId19"/>
    <p:sldId id="358" r:id="rId20"/>
    <p:sldId id="359" r:id="rId21"/>
    <p:sldId id="353" r:id="rId22"/>
    <p:sldId id="355" r:id="rId23"/>
    <p:sldId id="354" r:id="rId24"/>
    <p:sldId id="356" r:id="rId25"/>
    <p:sldId id="357" r:id="rId26"/>
    <p:sldId id="360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986"/>
    <p:restoredTop sz="94648"/>
  </p:normalViewPr>
  <p:slideViewPr>
    <p:cSldViewPr snapToGrid="0" snapToObjects="1">
      <p:cViewPr varScale="1">
        <p:scale>
          <a:sx n="86" d="100"/>
          <a:sy n="86" d="100"/>
        </p:scale>
        <p:origin x="208" y="7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71FD9-B322-2549-9400-AF0C57474107}" type="datetimeFigureOut">
              <a:rPr lang="en-US" smtClean="0"/>
              <a:pPr/>
              <a:t>1/5/26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3B24EC-C302-4742-94E1-DA9B006B342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0857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3000" y="695325"/>
            <a:ext cx="4572000" cy="3429000"/>
          </a:xfrm>
          <a:solidFill>
            <a:srgbClr val="FFFFFF"/>
          </a:solidFill>
          <a:ln>
            <a:solidFill>
              <a:srgbClr val="000000"/>
            </a:solidFill>
            <a:miter lim="800000"/>
          </a:ln>
        </p:spPr>
      </p:sp>
      <p:sp>
        <p:nvSpPr>
          <p:cNvPr id="53251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686421" y="4344025"/>
            <a:ext cx="5485158" cy="4114488"/>
          </a:xfrm>
          <a:noFill/>
          <a:ln/>
        </p:spPr>
        <p:txBody>
          <a:bodyPr wrap="none" anchor="ctr"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3000" y="695325"/>
            <a:ext cx="4572000" cy="3429000"/>
          </a:xfrm>
          <a:solidFill>
            <a:srgbClr val="FFFFFF"/>
          </a:solidFill>
          <a:ln>
            <a:solidFill>
              <a:srgbClr val="000000"/>
            </a:solidFill>
            <a:miter lim="800000"/>
          </a:ln>
        </p:spPr>
      </p:sp>
      <p:sp>
        <p:nvSpPr>
          <p:cNvPr id="2457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noFill/>
          <a:ln/>
        </p:spPr>
        <p:txBody>
          <a:bodyPr wrap="none" anchor="ctr"/>
          <a:lstStyle/>
          <a:p>
            <a:endParaRPr lang="en-US" dirty="0">
              <a:latin typeface="Times New Roman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53B24EC-C302-4742-94E1-DA9B006B342F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3210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17F39-3343-D34D-887C-91D887A1DE4F}" type="datetimeFigureOut">
              <a:rPr lang="en-US" smtClean="0"/>
              <a:pPr/>
              <a:t>1/5/26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52CAD-DCB5-B64D-A4A1-138CDEFDC75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17F39-3343-D34D-887C-91D887A1DE4F}" type="datetimeFigureOut">
              <a:rPr lang="en-US" smtClean="0"/>
              <a:pPr/>
              <a:t>1/5/26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52CAD-DCB5-B64D-A4A1-138CDEFDC75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17F39-3343-D34D-887C-91D887A1DE4F}" type="datetimeFigureOut">
              <a:rPr lang="en-US" smtClean="0"/>
              <a:pPr/>
              <a:t>1/5/26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52CAD-DCB5-B64D-A4A1-138CDEFDC75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17F39-3343-D34D-887C-91D887A1DE4F}" type="datetimeFigureOut">
              <a:rPr lang="en-US" smtClean="0"/>
              <a:pPr/>
              <a:t>1/5/26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52CAD-DCB5-B64D-A4A1-138CDEFDC75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17F39-3343-D34D-887C-91D887A1DE4F}" type="datetimeFigureOut">
              <a:rPr lang="en-US" smtClean="0"/>
              <a:pPr/>
              <a:t>1/5/26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52CAD-DCB5-B64D-A4A1-138CDEFDC75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17F39-3343-D34D-887C-91D887A1DE4F}" type="datetimeFigureOut">
              <a:rPr lang="en-US" smtClean="0"/>
              <a:pPr/>
              <a:t>1/5/26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52CAD-DCB5-B64D-A4A1-138CDEFDC75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17F39-3343-D34D-887C-91D887A1DE4F}" type="datetimeFigureOut">
              <a:rPr lang="en-US" smtClean="0"/>
              <a:pPr/>
              <a:t>1/5/26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52CAD-DCB5-B64D-A4A1-138CDEFDC75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17F39-3343-D34D-887C-91D887A1DE4F}" type="datetimeFigureOut">
              <a:rPr lang="en-US" smtClean="0"/>
              <a:pPr/>
              <a:t>1/5/26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52CAD-DCB5-B64D-A4A1-138CDEFDC75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17F39-3343-D34D-887C-91D887A1DE4F}" type="datetimeFigureOut">
              <a:rPr lang="en-US" smtClean="0"/>
              <a:pPr/>
              <a:t>1/5/26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52CAD-DCB5-B64D-A4A1-138CDEFDC75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17F39-3343-D34D-887C-91D887A1DE4F}" type="datetimeFigureOut">
              <a:rPr lang="en-US" smtClean="0"/>
              <a:pPr/>
              <a:t>1/5/26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52CAD-DCB5-B64D-A4A1-138CDEFDC75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17F39-3343-D34D-887C-91D887A1DE4F}" type="datetimeFigureOut">
              <a:rPr lang="en-US" smtClean="0"/>
              <a:pPr/>
              <a:t>1/5/26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52CAD-DCB5-B64D-A4A1-138CDEFDC75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417F39-3343-D34D-887C-91D887A1DE4F}" type="datetimeFigureOut">
              <a:rPr lang="en-US" smtClean="0"/>
              <a:pPr/>
              <a:t>1/5/26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152CAD-DCB5-B64D-A4A1-138CDEFDC759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w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rstudio.org/" TargetMode="External"/><Relationship Id="rId2" Type="http://schemas.openxmlformats.org/officeDocument/2006/relationships/hyperlink" Target="http://www.r-project.org/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6.jpeg"/><Relationship Id="rId4" Type="http://schemas.openxmlformats.org/officeDocument/2006/relationships/hyperlink" Target="http://cran.r-project.org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tif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1"/>
          <p:cNvSpPr>
            <a:spLocks noChangeArrowheads="1"/>
          </p:cNvSpPr>
          <p:nvPr/>
        </p:nvSpPr>
        <p:spPr bwMode="auto">
          <a:xfrm>
            <a:off x="14288" y="304800"/>
            <a:ext cx="9104312" cy="24384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 hangingPunct="0">
              <a:lnSpc>
                <a:spcPct val="98000"/>
              </a:lnSpc>
              <a:buClr>
                <a:srgbClr val="000000"/>
              </a:buClr>
              <a:buSzPct val="45000"/>
              <a:buFont typeface="Wingdings" pitchFamily="2" charset="2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600" dirty="0">
                <a:latin typeface="Times New Roman"/>
                <a:cs typeface="Times New Roman"/>
              </a:rPr>
              <a:t>Hands-on Introduction to R</a:t>
            </a:r>
            <a:endParaRPr lang="en-US" sz="3600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pic>
        <p:nvPicPr>
          <p:cNvPr id="1029" name="Picture 4"/>
          <p:cNvPicPr>
            <a:picLocks noChangeAspect="1" noChangeArrowheads="1"/>
          </p:cNvPicPr>
          <p:nvPr/>
        </p:nvPicPr>
        <p:blipFill>
          <a:blip r:embed="rId3" cstate="print"/>
          <a:srcRect l="5212"/>
          <a:stretch>
            <a:fillRect/>
          </a:stretch>
        </p:blipFill>
        <p:spPr bwMode="auto">
          <a:xfrm flipH="1">
            <a:off x="6677019" y="4121118"/>
            <a:ext cx="2444458" cy="23389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032994" y="4727150"/>
            <a:ext cx="955848" cy="61365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84188" y="6588792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13" name="P 1" descr="IMG_2089.jpeg"/>
          <p:cNvPicPr/>
          <p:nvPr/>
        </p:nvPicPr>
        <p:blipFill>
          <a:blip r:embed="rId6"/>
          <a:srcRect l="36665" t="30724" r="34167" b="20345"/>
          <a:stretch>
            <a:fillRect/>
          </a:stretch>
        </p:blipFill>
        <p:spPr bwMode="auto">
          <a:xfrm rot="10800000">
            <a:off x="295409" y="4279340"/>
            <a:ext cx="1864391" cy="17947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7" name="Picture 16" descr="IJ_3D_primershear_examp.jpg"/>
          <p:cNvPicPr>
            <a:picLocks noChangeAspect="1"/>
          </p:cNvPicPr>
          <p:nvPr/>
        </p:nvPicPr>
        <p:blipFill>
          <a:blip r:embed="rId7"/>
          <a:srcRect l="20551" t="21207" r="23050" b="25744"/>
          <a:stretch>
            <a:fillRect/>
          </a:stretch>
        </p:blipFill>
        <p:spPr>
          <a:xfrm>
            <a:off x="2935502" y="2614485"/>
            <a:ext cx="3101686" cy="1764951"/>
          </a:xfrm>
          <a:prstGeom prst="rect">
            <a:avLst/>
          </a:prstGeom>
        </p:spPr>
      </p:pic>
      <p:cxnSp>
        <p:nvCxnSpPr>
          <p:cNvPr id="19" name="Straight Arrow Connector 18"/>
          <p:cNvCxnSpPr/>
          <p:nvPr/>
        </p:nvCxnSpPr>
        <p:spPr>
          <a:xfrm flipV="1">
            <a:off x="2273933" y="4547682"/>
            <a:ext cx="858088" cy="615454"/>
          </a:xfrm>
          <a:prstGeom prst="straightConnector1">
            <a:avLst/>
          </a:prstGeom>
          <a:ln w="63500">
            <a:solidFill>
              <a:srgbClr val="008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5861836" y="4547682"/>
            <a:ext cx="858088" cy="615454"/>
          </a:xfrm>
          <a:prstGeom prst="straightConnector1">
            <a:avLst/>
          </a:prstGeom>
          <a:ln w="63500">
            <a:solidFill>
              <a:srgbClr val="008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Rlogo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8504" y="1368146"/>
            <a:ext cx="536873" cy="408025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4"/>
          <p:cNvSpPr>
            <a:spLocks noChangeArrowheads="1"/>
          </p:cNvSpPr>
          <p:nvPr/>
        </p:nvSpPr>
        <p:spPr bwMode="auto">
          <a:xfrm>
            <a:off x="231775" y="148284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</a:bodyPr>
          <a:lstStyle/>
          <a:p>
            <a:pPr algn="ctr">
              <a:lnSpc>
                <a:spcPct val="100000"/>
              </a:lnSpc>
              <a:buFont typeface="Times New Roman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charset="0"/>
              </a:rPr>
              <a:t>Outline</a:t>
            </a:r>
          </a:p>
        </p:txBody>
      </p:sp>
      <p:sp>
        <p:nvSpPr>
          <p:cNvPr id="7172" name="Rectangle 5"/>
          <p:cNvSpPr>
            <a:spLocks noChangeArrowheads="1"/>
          </p:cNvSpPr>
          <p:nvPr/>
        </p:nvSpPr>
        <p:spPr bwMode="auto">
          <a:xfrm>
            <a:off x="231775" y="1005837"/>
            <a:ext cx="8607425" cy="5718088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600" dirty="0">
                <a:solidFill>
                  <a:srgbClr val="000000"/>
                </a:solidFill>
                <a:latin typeface="Times New Roman" charset="0"/>
              </a:rPr>
              <a:t>R  : A powerful platform for scientific calculation and data analysis</a:t>
            </a:r>
          </a:p>
          <a:p>
            <a:pPr marL="887413" lvl="1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charset="0"/>
              </a:rPr>
              <a:t>Why bother learning    R ? </a:t>
            </a:r>
          </a:p>
          <a:p>
            <a:pPr marL="887413" lvl="1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3200" dirty="0">
                <a:latin typeface="Times New Roman"/>
                <a:cs typeface="Times New Roman"/>
              </a:rPr>
              <a:t>Data, data, data, I cannot make bricks without clay </a:t>
            </a:r>
            <a:r>
              <a:rPr lang="en-US" sz="3200" baseline="30000" dirty="0">
                <a:latin typeface="Times New Roman"/>
                <a:cs typeface="Times New Roman"/>
              </a:rPr>
              <a:t>Copper Beeches</a:t>
            </a:r>
            <a:endParaRPr lang="en-GB" sz="3200" baseline="30000" dirty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1344613" lvl="2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/>
                <a:cs typeface="Times New Roman"/>
              </a:rPr>
              <a:t>A tour of </a:t>
            </a:r>
            <a:r>
              <a:rPr lang="en-GB" sz="2800" dirty="0" err="1">
                <a:solidFill>
                  <a:srgbClr val="000000"/>
                </a:solidFill>
                <a:latin typeface="Times New Roman"/>
                <a:cs typeface="Times New Roman"/>
              </a:rPr>
              <a:t>RStudio</a:t>
            </a:r>
            <a:r>
              <a:rPr lang="en-GB" sz="2800" dirty="0">
                <a:solidFill>
                  <a:srgbClr val="000000"/>
                </a:solidFill>
                <a:latin typeface="Times New Roman"/>
                <a:cs typeface="Times New Roman"/>
              </a:rPr>
              <a:t>. Basic Input and Output</a:t>
            </a:r>
          </a:p>
          <a:p>
            <a:pPr marL="1344613" lvl="2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/>
                <a:cs typeface="Times New Roman"/>
              </a:rPr>
              <a:t>Getting Help</a:t>
            </a:r>
          </a:p>
          <a:p>
            <a:pPr marL="1344613" lvl="2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/>
                <a:cs typeface="Times New Roman"/>
              </a:rPr>
              <a:t>Visualizing with Plots</a:t>
            </a:r>
          </a:p>
          <a:p>
            <a:pPr marL="1344613" lvl="2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/>
                <a:cs typeface="Times New Roman"/>
              </a:rPr>
              <a:t>Loading your data from Excel spreadsheets</a:t>
            </a:r>
          </a:p>
          <a:p>
            <a:pPr marL="1344613" lvl="2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/>
                <a:cs typeface="Times New Roman"/>
              </a:rPr>
              <a:t>Basic Plotting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7" name="Picture 6" descr="Rlog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031" y="1107912"/>
            <a:ext cx="620039" cy="471232"/>
          </a:xfrm>
          <a:prstGeom prst="rect">
            <a:avLst/>
          </a:prstGeom>
        </p:spPr>
      </p:pic>
      <p:pic>
        <p:nvPicPr>
          <p:cNvPr id="8" name="Picture 7" descr="Rlog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3130" y="2234195"/>
            <a:ext cx="678018" cy="515296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1104211"/>
            <a:ext cx="8686800" cy="534837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R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is not a black box!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Codes available for review;  totally transparent!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R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 maintained by a professional group of statisticians, and computational scientists</a:t>
            </a:r>
            <a:endParaRPr lang="en-GB" sz="28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b="1" u="sng" dirty="0">
                <a:solidFill>
                  <a:srgbClr val="000000"/>
                </a:solidFill>
                <a:latin typeface="Times New Roman" pitchFamily="18" charset="0"/>
              </a:rPr>
              <a:t>From very simple to state-of-the-art procedures available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Very good graphics for exhibits and papers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R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is extensible (it is a full scripting language)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Coding/syntax similar to Python and MATLAB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Easy to link to C/C++ routines</a:t>
            </a: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Why       ?</a:t>
            </a:r>
          </a:p>
        </p:txBody>
      </p:sp>
      <p:pic>
        <p:nvPicPr>
          <p:cNvPr id="6" name="Picture 5" descr="R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8699" y="639965"/>
            <a:ext cx="698048" cy="530518"/>
          </a:xfrm>
          <a:prstGeom prst="rect">
            <a:avLst/>
          </a:prstGeom>
        </p:spPr>
      </p:pic>
      <p:pic>
        <p:nvPicPr>
          <p:cNvPr id="7" name="Picture 6" descr="R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833" y="1504547"/>
            <a:ext cx="391280" cy="297374"/>
          </a:xfrm>
          <a:prstGeom prst="rect">
            <a:avLst/>
          </a:prstGeom>
        </p:spPr>
      </p:pic>
      <p:pic>
        <p:nvPicPr>
          <p:cNvPr id="8" name="Picture 7" descr="R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99" y="2626600"/>
            <a:ext cx="391280" cy="297374"/>
          </a:xfrm>
          <a:prstGeom prst="rect">
            <a:avLst/>
          </a:prstGeom>
        </p:spPr>
      </p:pic>
      <p:pic>
        <p:nvPicPr>
          <p:cNvPr id="9" name="Picture 8" descr="R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90" y="4994156"/>
            <a:ext cx="391280" cy="297374"/>
          </a:xfrm>
          <a:prstGeom prst="rect">
            <a:avLst/>
          </a:prstGeom>
        </p:spPr>
      </p:pic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1104211"/>
            <a:ext cx="8686800" cy="534837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Where to get information on </a:t>
            </a: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R 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R: </a:t>
            </a: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hlinkClick r:id="rId2"/>
              </a:rPr>
              <a:t>http://www.r-project.org/</a:t>
            </a:r>
            <a:endParaRPr lang="en-US" sz="24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400" dirty="0">
                <a:solidFill>
                  <a:srgbClr val="000000"/>
                </a:solidFill>
                <a:latin typeface="Times New Roman" pitchFamily="18" charset="0"/>
              </a:rPr>
              <a:t>Just need the </a:t>
            </a:r>
            <a:r>
              <a:rPr lang="en-US" sz="2400" b="1" dirty="0">
                <a:solidFill>
                  <a:srgbClr val="000000"/>
                </a:solidFill>
                <a:latin typeface="Times New Roman" pitchFamily="18" charset="0"/>
              </a:rPr>
              <a:t>base</a:t>
            </a:r>
            <a:endParaRPr lang="en-GB" sz="2400" b="1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 err="1">
                <a:solidFill>
                  <a:srgbClr val="000000"/>
                </a:solidFill>
                <a:latin typeface="Times New Roman" pitchFamily="18" charset="0"/>
              </a:rPr>
              <a:t>RStudio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: </a:t>
            </a: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hlinkClick r:id="rId3"/>
              </a:rPr>
              <a:t>http://rstudio.org/</a:t>
            </a:r>
            <a:endParaRPr lang="en-GB" sz="24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A great IDE for R</a:t>
            </a: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Work on all platforms</a:t>
            </a: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Sometimes slows down performance…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CRAN: </a:t>
            </a: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hlinkClick r:id="rId4"/>
              </a:rPr>
              <a:t>http://cran.r-project.org/</a:t>
            </a:r>
            <a:endParaRPr lang="en-GB" sz="24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Library repository for R</a:t>
            </a: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Click on Search on the left of the website to search for package/info on packages </a:t>
            </a: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Why       ?</a:t>
            </a:r>
          </a:p>
        </p:txBody>
      </p:sp>
      <p:pic>
        <p:nvPicPr>
          <p:cNvPr id="6" name="Picture 5" descr="Rlog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8699" y="639965"/>
            <a:ext cx="698048" cy="530518"/>
          </a:xfrm>
          <a:prstGeom prst="rect">
            <a:avLst/>
          </a:prstGeom>
        </p:spPr>
      </p:pic>
      <p:pic>
        <p:nvPicPr>
          <p:cNvPr id="7" name="Picture 6" descr="Rlog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6640" y="1495966"/>
            <a:ext cx="391280" cy="297374"/>
          </a:xfrm>
          <a:prstGeom prst="rect">
            <a:avLst/>
          </a:prstGeom>
        </p:spPr>
      </p:pic>
      <p:pic>
        <p:nvPicPr>
          <p:cNvPr id="10" name="Picture 9" descr="Rlog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5613" y="2043063"/>
            <a:ext cx="391280" cy="297374"/>
          </a:xfrm>
          <a:prstGeom prst="rect">
            <a:avLst/>
          </a:prstGeom>
        </p:spPr>
      </p:pic>
      <p:pic>
        <p:nvPicPr>
          <p:cNvPr id="13" name="Picture 12" descr="Rlog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48589" y="3450274"/>
            <a:ext cx="391280" cy="297374"/>
          </a:xfrm>
          <a:prstGeom prst="rect">
            <a:avLst/>
          </a:prstGeom>
        </p:spPr>
      </p:pic>
      <p:pic>
        <p:nvPicPr>
          <p:cNvPr id="14" name="Picture 13" descr="Rlog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92" y="5303672"/>
            <a:ext cx="391280" cy="297374"/>
          </a:xfrm>
          <a:prstGeom prst="rect">
            <a:avLst/>
          </a:prstGeom>
        </p:spPr>
      </p:pic>
      <p:pic>
        <p:nvPicPr>
          <p:cNvPr id="15" name="Picture 2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489205" y="23821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Finding our way around R/</a:t>
            </a:r>
            <a:r>
              <a:rPr lang="en-GB" sz="4000" dirty="0" err="1">
                <a:solidFill>
                  <a:srgbClr val="000000"/>
                </a:solidFill>
                <a:latin typeface="Times New Roman" pitchFamily="18" charset="0"/>
              </a:rPr>
              <a:t>RStudio</a:t>
            </a: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pic>
        <p:nvPicPr>
          <p:cNvPr id="15" name="Picture 14" descr="RStudio_screencap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39" y="1132970"/>
            <a:ext cx="8829724" cy="55712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 rot="1179731">
            <a:off x="840928" y="2471220"/>
            <a:ext cx="4305498" cy="92333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5400" dirty="0">
                <a:solidFill>
                  <a:srgbClr val="FF0000"/>
                </a:solidFill>
              </a:rPr>
              <a:t>Script Window</a:t>
            </a:r>
          </a:p>
        </p:txBody>
      </p:sp>
      <p:sp>
        <p:nvSpPr>
          <p:cNvPr id="7" name="TextBox 6"/>
          <p:cNvSpPr txBox="1"/>
          <p:nvPr/>
        </p:nvSpPr>
        <p:spPr>
          <a:xfrm rot="1179731">
            <a:off x="1523377" y="5221976"/>
            <a:ext cx="2994780" cy="64633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</a:rPr>
              <a:t>Command Line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rot="10800000" flipV="1">
            <a:off x="368978" y="5740383"/>
            <a:ext cx="2479874" cy="797991"/>
          </a:xfrm>
          <a:prstGeom prst="straightConnector1">
            <a:avLst/>
          </a:prstGeom>
          <a:ln w="34925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1104211"/>
            <a:ext cx="8686800" cy="534837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Basic Input and Output</a:t>
            </a: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Handy       Commands:</a:t>
            </a:r>
          </a:p>
        </p:txBody>
      </p:sp>
      <p:pic>
        <p:nvPicPr>
          <p:cNvPr id="6" name="Picture 5" descr="R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208" y="639965"/>
            <a:ext cx="698048" cy="53051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15288" y="2376798"/>
            <a:ext cx="2110805" cy="5847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3200" dirty="0" err="1">
                <a:solidFill>
                  <a:srgbClr val="000000"/>
                </a:solidFill>
                <a:latin typeface="Courier"/>
                <a:cs typeface="Courier"/>
              </a:rPr>
              <a:t>x</a:t>
            </a:r>
            <a:r>
              <a:rPr lang="en-US" sz="3200" dirty="0">
                <a:solidFill>
                  <a:srgbClr val="000000"/>
                </a:solidFill>
                <a:latin typeface="Courier"/>
                <a:cs typeface="Courier"/>
              </a:rPr>
              <a:t> &lt;- 4</a:t>
            </a:r>
          </a:p>
        </p:txBody>
      </p:sp>
      <p:sp>
        <p:nvSpPr>
          <p:cNvPr id="8" name="Rectangle 7"/>
          <p:cNvSpPr/>
          <p:nvPr/>
        </p:nvSpPr>
        <p:spPr>
          <a:xfrm>
            <a:off x="2336789" y="4760925"/>
            <a:ext cx="6750380" cy="5847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3200" dirty="0" err="1">
                <a:solidFill>
                  <a:srgbClr val="000000"/>
                </a:solidFill>
                <a:latin typeface="Courier"/>
                <a:cs typeface="Courier"/>
              </a:rPr>
              <a:t>x</a:t>
            </a:r>
            <a:r>
              <a:rPr lang="en-US" sz="3200" dirty="0">
                <a:solidFill>
                  <a:srgbClr val="000000"/>
                </a:solidFill>
                <a:latin typeface="Courier"/>
                <a:cs typeface="Courier"/>
              </a:rPr>
              <a:t> &lt;- “text goes in quotes”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452" y="3303510"/>
            <a:ext cx="1879917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Times New Roman"/>
                <a:cs typeface="Times New Roman"/>
              </a:rPr>
              <a:t>variables</a:t>
            </a:r>
            <a:r>
              <a:rPr lang="en-US" sz="2800" dirty="0">
                <a:latin typeface="Times New Roman"/>
                <a:cs typeface="Times New Roman"/>
              </a:rPr>
              <a:t>: </a:t>
            </a:r>
          </a:p>
          <a:p>
            <a:pPr algn="ctr"/>
            <a:r>
              <a:rPr lang="en-US" sz="2800" dirty="0">
                <a:latin typeface="Times New Roman"/>
                <a:cs typeface="Times New Roman"/>
              </a:rPr>
              <a:t>store </a:t>
            </a:r>
          </a:p>
          <a:p>
            <a:pPr algn="ctr"/>
            <a:r>
              <a:rPr lang="en-US" sz="2800" dirty="0">
                <a:latin typeface="Times New Roman"/>
                <a:cs typeface="Times New Roman"/>
              </a:rPr>
              <a:t>information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V="1">
            <a:off x="2102316" y="2961574"/>
            <a:ext cx="1573892" cy="64225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rot="16200000" flipH="1">
            <a:off x="1651846" y="4054298"/>
            <a:ext cx="1364306" cy="46336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rot="16200000" flipV="1">
            <a:off x="4182205" y="3040792"/>
            <a:ext cx="1132632" cy="74852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 rot="10800000" flipV="1">
            <a:off x="3415288" y="3981371"/>
            <a:ext cx="1707498" cy="98676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159821" y="1918515"/>
            <a:ext cx="24288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Times New Roman"/>
                <a:cs typeface="Times New Roman"/>
              </a:rPr>
              <a:t>Numeric input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4158" y="5345701"/>
            <a:ext cx="35620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Times New Roman"/>
                <a:cs typeface="Times New Roman"/>
              </a:rPr>
              <a:t>Text (character) input</a:t>
            </a:r>
            <a:endParaRPr lang="en-US" sz="2800" dirty="0">
              <a:latin typeface="Times New Roman"/>
              <a:cs typeface="Times New Roman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197944" y="3657856"/>
            <a:ext cx="35190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imes New Roman"/>
                <a:cs typeface="Times New Roman"/>
              </a:rPr>
              <a:t>:</a:t>
            </a:r>
            <a:r>
              <a:rPr lang="en-US" sz="2800" b="1" dirty="0">
                <a:latin typeface="Times New Roman"/>
                <a:cs typeface="Times New Roman"/>
              </a:rPr>
              <a:t>Assignment operator</a:t>
            </a:r>
          </a:p>
        </p:txBody>
      </p:sp>
      <p:pic>
        <p:nvPicPr>
          <p:cNvPr id="17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1104211"/>
            <a:ext cx="8686800" cy="534837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Get help on an        command: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600" i="1" u="sng" dirty="0">
                <a:solidFill>
                  <a:srgbClr val="000000"/>
                </a:solidFill>
                <a:latin typeface="Times New Roman" pitchFamily="18" charset="0"/>
              </a:rPr>
              <a:t>If you know the name</a:t>
            </a:r>
            <a:r>
              <a:rPr lang="en-GB" sz="3600" dirty="0">
                <a:solidFill>
                  <a:srgbClr val="000000"/>
                </a:solidFill>
                <a:latin typeface="Times New Roman" pitchFamily="18" charset="0"/>
              </a:rPr>
              <a:t>: </a:t>
            </a:r>
            <a:r>
              <a:rPr lang="en-GB" sz="3600" b="1" dirty="0">
                <a:solidFill>
                  <a:srgbClr val="000000"/>
                </a:solidFill>
                <a:latin typeface="Times New Roman" pitchFamily="18" charset="0"/>
              </a:rPr>
              <a:t>?command name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?plot brings up html on plot command</a:t>
            </a:r>
            <a:endParaRPr lang="en-GB" sz="40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36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600" i="1" u="sng" dirty="0">
                <a:solidFill>
                  <a:srgbClr val="000000"/>
                </a:solidFill>
                <a:latin typeface="Times New Roman" pitchFamily="18" charset="0"/>
              </a:rPr>
              <a:t>If you don’t know the name</a:t>
            </a:r>
            <a:r>
              <a:rPr lang="en-GB" sz="36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Use Google (my </a:t>
            </a:r>
            <a:r>
              <a:rPr lang="en-GB" sz="3200" dirty="0" err="1">
                <a:solidFill>
                  <a:srgbClr val="000000"/>
                </a:solidFill>
                <a:latin typeface="Times New Roman" pitchFamily="18" charset="0"/>
              </a:rPr>
              <a:t>favorite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)</a:t>
            </a:r>
            <a:endParaRPr lang="en-GB" sz="28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??key word</a:t>
            </a: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Handy       Commands:</a:t>
            </a:r>
          </a:p>
        </p:txBody>
      </p:sp>
      <p:pic>
        <p:nvPicPr>
          <p:cNvPr id="6" name="Picture 5" descr="R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208" y="639965"/>
            <a:ext cx="698048" cy="530518"/>
          </a:xfrm>
          <a:prstGeom prst="rect">
            <a:avLst/>
          </a:prstGeom>
        </p:spPr>
      </p:pic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8" name="Picture 7" descr="Rlogo.jpg">
            <a:extLst>
              <a:ext uri="{FF2B5EF4-FFF2-40B4-BE49-F238E27FC236}">
                <a16:creationId xmlns:a16="http://schemas.microsoft.com/office/drawing/2014/main" id="{001F7067-7301-C443-BB66-FB3BBE1D8D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868" y="1507971"/>
            <a:ext cx="580388" cy="4410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1104211"/>
            <a:ext cx="8686800" cy="534837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     is driven with </a:t>
            </a:r>
            <a:r>
              <a:rPr lang="en-GB" sz="4000" b="1" dirty="0">
                <a:solidFill>
                  <a:srgbClr val="000000"/>
                </a:solidFill>
                <a:latin typeface="Times New Roman" pitchFamily="18" charset="0"/>
              </a:rPr>
              <a:t>functions</a:t>
            </a: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Handy       Commands:</a:t>
            </a:r>
          </a:p>
        </p:txBody>
      </p:sp>
      <p:pic>
        <p:nvPicPr>
          <p:cNvPr id="6" name="Picture 5" descr="R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208" y="639965"/>
            <a:ext cx="698048" cy="5305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98245" y="2496763"/>
            <a:ext cx="849598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ourier"/>
                <a:cs typeface="Courier"/>
              </a:rPr>
              <a:t>func(arguement1, argument2)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0311" y="5515578"/>
            <a:ext cx="664902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Courier"/>
                <a:cs typeface="Courier"/>
              </a:rPr>
              <a:t>x</a:t>
            </a:r>
            <a:r>
              <a:rPr lang="en-US" sz="4000" dirty="0">
                <a:latin typeface="Courier"/>
                <a:cs typeface="Courier"/>
              </a:rPr>
              <a:t> &lt;- func(arg1, arg2)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613447" y="3316348"/>
            <a:ext cx="2248632" cy="951595"/>
            <a:chOff x="613447" y="3548035"/>
            <a:chExt cx="2248632" cy="951595"/>
          </a:xfrm>
        </p:grpSpPr>
        <p:cxnSp>
          <p:nvCxnSpPr>
            <p:cNvPr id="10" name="Straight Arrow Connector 9"/>
            <p:cNvCxnSpPr/>
            <p:nvPr/>
          </p:nvCxnSpPr>
          <p:spPr>
            <a:xfrm rot="5400000" flipH="1" flipV="1">
              <a:off x="804438" y="3809603"/>
              <a:ext cx="524724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12"/>
            <p:cNvSpPr/>
            <p:nvPr/>
          </p:nvSpPr>
          <p:spPr>
            <a:xfrm>
              <a:off x="613447" y="3976410"/>
              <a:ext cx="22486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dirty="0">
                  <a:solidFill>
                    <a:srgbClr val="000000"/>
                  </a:solidFill>
                  <a:latin typeface="Times New Roman" pitchFamily="18" charset="0"/>
                </a:rPr>
                <a:t>function name</a:t>
              </a:r>
              <a:endParaRPr lang="en-US" sz="2800" dirty="0"/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2093310" y="3204650"/>
            <a:ext cx="6490303" cy="1054534"/>
            <a:chOff x="2093310" y="3436337"/>
            <a:chExt cx="6490303" cy="1054534"/>
          </a:xfrm>
        </p:grpSpPr>
        <p:cxnSp>
          <p:nvCxnSpPr>
            <p:cNvPr id="15" name="Straight Arrow Connector 14"/>
            <p:cNvCxnSpPr/>
            <p:nvPr/>
          </p:nvCxnSpPr>
          <p:spPr>
            <a:xfrm rot="10800000">
              <a:off x="2093310" y="3436337"/>
              <a:ext cx="3160274" cy="636423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/>
            <p:cNvSpPr/>
            <p:nvPr/>
          </p:nvSpPr>
          <p:spPr>
            <a:xfrm>
              <a:off x="3026571" y="3967651"/>
              <a:ext cx="5491520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dirty="0">
                  <a:solidFill>
                    <a:srgbClr val="000000"/>
                  </a:solidFill>
                  <a:latin typeface="Times New Roman" pitchFamily="18" charset="0"/>
                </a:rPr>
                <a:t>input to function goes in </a:t>
              </a:r>
              <a:r>
                <a:rPr lang="en-GB" sz="2800" i="1" u="sng" dirty="0">
                  <a:solidFill>
                    <a:srgbClr val="000000"/>
                  </a:solidFill>
                  <a:latin typeface="Times New Roman" pitchFamily="18" charset="0"/>
                </a:rPr>
                <a:t>parenthesis</a:t>
              </a:r>
              <a:endParaRPr lang="en-US" sz="2800" i="1" u="sng" dirty="0"/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 flipV="1">
              <a:off x="5253586" y="3436337"/>
              <a:ext cx="3330027" cy="636426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4022" y="4802882"/>
            <a:ext cx="6986182" cy="938809"/>
            <a:chOff x="-1169400" y="3977997"/>
            <a:chExt cx="6986182" cy="938809"/>
          </a:xfrm>
        </p:grpSpPr>
        <p:cxnSp>
          <p:nvCxnSpPr>
            <p:cNvPr id="24" name="Straight Arrow Connector 23"/>
            <p:cNvCxnSpPr/>
            <p:nvPr/>
          </p:nvCxnSpPr>
          <p:spPr>
            <a:xfrm rot="10800000" flipV="1">
              <a:off x="-149044" y="4501217"/>
              <a:ext cx="1567795" cy="415589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ctangle 24"/>
            <p:cNvSpPr/>
            <p:nvPr/>
          </p:nvSpPr>
          <p:spPr>
            <a:xfrm>
              <a:off x="-1169400" y="3977997"/>
              <a:ext cx="698618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dirty="0">
                  <a:solidFill>
                    <a:srgbClr val="000000"/>
                  </a:solidFill>
                  <a:latin typeface="Times New Roman" pitchFamily="18" charset="0"/>
                </a:rPr>
                <a:t>function returns something; gets dumped into </a:t>
              </a:r>
              <a:r>
                <a:rPr lang="en-GB" sz="2800" dirty="0" err="1">
                  <a:solidFill>
                    <a:srgbClr val="000000"/>
                  </a:solidFill>
                  <a:latin typeface="Courier"/>
                  <a:cs typeface="Courier"/>
                </a:rPr>
                <a:t>x</a:t>
              </a:r>
              <a:endParaRPr lang="en-US" sz="2800" dirty="0">
                <a:latin typeface="Courier"/>
                <a:cs typeface="Courier"/>
              </a:endParaRPr>
            </a:p>
          </p:txBody>
        </p:sp>
      </p:grpSp>
      <p:pic>
        <p:nvPicPr>
          <p:cNvPr id="1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20" name="Picture 19" descr="Rlogo.jpg">
            <a:extLst>
              <a:ext uri="{FF2B5EF4-FFF2-40B4-BE49-F238E27FC236}">
                <a16:creationId xmlns:a16="http://schemas.microsoft.com/office/drawing/2014/main" id="{FEE9D69B-1AD0-5C41-A2E7-809BB448E3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420" y="1499815"/>
            <a:ext cx="571822" cy="43458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ChangeArrowheads="1"/>
          </p:cNvSpPr>
          <p:nvPr/>
        </p:nvSpPr>
        <p:spPr bwMode="auto">
          <a:xfrm>
            <a:off x="228600" y="1104211"/>
            <a:ext cx="8686800" cy="88768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Say we have a </a:t>
            </a: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vector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of some data. Let’s enter it into R:</a:t>
            </a:r>
          </a:p>
        </p:txBody>
      </p:sp>
      <p:sp>
        <p:nvSpPr>
          <p:cNvPr id="3" name="Rectangle 4"/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Using         functions: Example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5"/>
          <p:cNvSpPr/>
          <p:nvPr/>
        </p:nvSpPr>
        <p:spPr>
          <a:xfrm>
            <a:off x="385017" y="2583358"/>
            <a:ext cx="8454183" cy="923330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00"/>
                </a:solidFill>
                <a:latin typeface="Courier"/>
                <a:cs typeface="Courier"/>
              </a:rPr>
              <a:t># Enter in the vector of data:</a:t>
            </a:r>
          </a:p>
          <a:p>
            <a:r>
              <a:rPr lang="en-US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 &lt;- c(-2*pi, -1.5*pi, -1*pi, -0.5*pi, 0, 0.5*pi, 1*pi,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1.5*pi, 2*pi)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385017" y="1695674"/>
            <a:ext cx="8686800" cy="88768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-2</a:t>
            </a:r>
            <a:r>
              <a:rPr lang="en-GB" sz="2400" dirty="0">
                <a:solidFill>
                  <a:srgbClr val="000000"/>
                </a:solidFill>
                <a:latin typeface="Symbol" charset="2"/>
                <a:cs typeface="Symbol" charset="2"/>
              </a:rPr>
              <a:t>p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, -1.5</a:t>
            </a:r>
            <a:r>
              <a:rPr lang="en-GB" sz="2400" dirty="0">
                <a:solidFill>
                  <a:srgbClr val="000000"/>
                </a:solidFill>
                <a:latin typeface="Symbol" charset="2"/>
                <a:cs typeface="Symbol" charset="2"/>
              </a:rPr>
              <a:t>p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, …, 2</a:t>
            </a:r>
            <a:r>
              <a:rPr lang="en-GB" sz="2400" dirty="0">
                <a:solidFill>
                  <a:srgbClr val="000000"/>
                </a:solidFill>
                <a:latin typeface="Symbol" charset="2"/>
                <a:cs typeface="Symbol" charset="2"/>
              </a:rPr>
              <a:t>p</a:t>
            </a:r>
            <a:endParaRPr lang="en-GB" sz="24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31775" y="4104085"/>
            <a:ext cx="8686800" cy="88768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Compute the </a:t>
            </a: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sin()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of each of your data points:</a:t>
            </a:r>
          </a:p>
        </p:txBody>
      </p:sp>
      <p:sp>
        <p:nvSpPr>
          <p:cNvPr id="9" name="Rectangle 8"/>
          <p:cNvSpPr/>
          <p:nvPr/>
        </p:nvSpPr>
        <p:spPr>
          <a:xfrm>
            <a:off x="385017" y="4961173"/>
            <a:ext cx="8454183" cy="923330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00"/>
                </a:solidFill>
                <a:latin typeface="Courier"/>
                <a:cs typeface="Courier"/>
              </a:rPr>
              <a:t># Example of USING a function: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out &lt;- sin(</a:t>
            </a:r>
            <a:r>
              <a:rPr lang="en-US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out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053889"/>
            <a:ext cx="9144000" cy="669073"/>
          </a:xfrm>
          <a:prstGeom prst="rect">
            <a:avLst/>
          </a:prstGeom>
        </p:spPr>
      </p:pic>
      <p:cxnSp>
        <p:nvCxnSpPr>
          <p:cNvPr id="12" name="Straight Arrow Connector 11"/>
          <p:cNvCxnSpPr/>
          <p:nvPr/>
        </p:nvCxnSpPr>
        <p:spPr>
          <a:xfrm flipH="1" flipV="1">
            <a:off x="1617579" y="3168316"/>
            <a:ext cx="1684421" cy="68178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61896" y="3667913"/>
            <a:ext cx="2678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c() is the “collect” function</a:t>
            </a:r>
          </a:p>
        </p:txBody>
      </p:sp>
      <p:pic>
        <p:nvPicPr>
          <p:cNvPr id="14" name="Picture 13" descr="Rlogo.jpg">
            <a:extLst>
              <a:ext uri="{FF2B5EF4-FFF2-40B4-BE49-F238E27FC236}">
                <a16:creationId xmlns:a16="http://schemas.microsoft.com/office/drawing/2014/main" id="{A0BBCA32-B23B-CE40-B5C4-474AD8AD40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1247" y="639965"/>
            <a:ext cx="698048" cy="530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5141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Plots: Look at your data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228600" y="1104210"/>
            <a:ext cx="8686800" cy="1195157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We will visualize our </a:t>
            </a:r>
            <a:r>
              <a:rPr lang="en-GB" sz="2800" dirty="0" err="1">
                <a:solidFill>
                  <a:srgbClr val="000000"/>
                </a:solidFill>
                <a:latin typeface="Times New Roman" pitchFamily="18" charset="0"/>
              </a:rPr>
              <a:t>resuts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as much as possible. Let’s make some basic plots!</a:t>
            </a: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457200" y="2164409"/>
            <a:ext cx="8686800" cy="848457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Plot cosine from -5</a:t>
            </a:r>
            <a:r>
              <a:rPr lang="en-GB" sz="2400" dirty="0">
                <a:solidFill>
                  <a:srgbClr val="000000"/>
                </a:solidFill>
                <a:latin typeface="Symbol" charset="2"/>
                <a:cs typeface="Symbol" charset="2"/>
              </a:rPr>
              <a:t>p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to 2.8</a:t>
            </a:r>
            <a:r>
              <a:rPr lang="en-GB" sz="2400" dirty="0">
                <a:solidFill>
                  <a:srgbClr val="000000"/>
                </a:solidFill>
                <a:latin typeface="Symbol" charset="2"/>
                <a:cs typeface="Symbol" charset="2"/>
              </a:rPr>
              <a:t>p</a:t>
            </a:r>
            <a:r>
              <a:rPr lang="en-GB" sz="2400" dirty="0">
                <a:solidFill>
                  <a:srgbClr val="000000"/>
                </a:solidFill>
                <a:latin typeface="Times New Roman"/>
                <a:cs typeface="Times New Roman"/>
              </a:rPr>
              <a:t>, and use 100 data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5017" y="3372095"/>
            <a:ext cx="8454183" cy="1754326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00"/>
                </a:solidFill>
                <a:latin typeface="Courier"/>
                <a:cs typeface="Courier"/>
              </a:rPr>
              <a:t># </a:t>
            </a:r>
            <a:r>
              <a:rPr lang="en-US" dirty="0" err="1">
                <a:solidFill>
                  <a:srgbClr val="FFFF00"/>
                </a:solidFill>
                <a:latin typeface="Courier"/>
                <a:cs typeface="Courier"/>
              </a:rPr>
              <a:t>seq</a:t>
            </a:r>
            <a:r>
              <a:rPr lang="en-US" dirty="0">
                <a:solidFill>
                  <a:srgbClr val="FFFF00"/>
                </a:solidFill>
                <a:latin typeface="Courier"/>
                <a:cs typeface="Courier"/>
              </a:rPr>
              <a:t> generates a sequence: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x &lt;- </a:t>
            </a:r>
            <a:r>
              <a:rPr lang="en-US" dirty="0" err="1">
                <a:solidFill>
                  <a:schemeClr val="bg1"/>
                </a:solidFill>
                <a:latin typeface="Courier"/>
                <a:cs typeface="Courier"/>
              </a:rPr>
              <a:t>seq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(from= -5*pi, to= 2.8*pi, </a:t>
            </a:r>
            <a:r>
              <a:rPr lang="en-US" dirty="0" err="1">
                <a:solidFill>
                  <a:schemeClr val="bg1"/>
                </a:solidFill>
                <a:latin typeface="Courier"/>
                <a:cs typeface="Courier"/>
              </a:rPr>
              <a:t>length.out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 = 100)</a:t>
            </a:r>
          </a:p>
          <a:p>
            <a:endParaRPr lang="en-US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y &lt;- cos(x)</a:t>
            </a:r>
          </a:p>
          <a:p>
            <a:endParaRPr lang="en-US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plot(x, y, type=</a:t>
            </a:r>
            <a:r>
              <a:rPr lang="en-US" dirty="0">
                <a:solidFill>
                  <a:srgbClr val="00B050"/>
                </a:solidFill>
                <a:latin typeface="Courier"/>
                <a:cs typeface="Courier"/>
              </a:rPr>
              <a:t>"l"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</p:txBody>
      </p:sp>
      <p:cxnSp>
        <p:nvCxnSpPr>
          <p:cNvPr id="3" name="Straight Arrow Connector 2"/>
          <p:cNvCxnSpPr/>
          <p:nvPr/>
        </p:nvCxnSpPr>
        <p:spPr>
          <a:xfrm flipH="1">
            <a:off x="1564105" y="3147824"/>
            <a:ext cx="828842" cy="56859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2312739" y="2949790"/>
            <a:ext cx="38322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Handy R function we’ll use all the time</a:t>
            </a:r>
            <a:endParaRPr lang="en-US" dirty="0"/>
          </a:p>
        </p:txBody>
      </p:sp>
      <p:cxnSp>
        <p:nvCxnSpPr>
          <p:cNvPr id="10" name="Straight Arrow Connector 9"/>
          <p:cNvCxnSpPr/>
          <p:nvPr/>
        </p:nvCxnSpPr>
        <p:spPr>
          <a:xfrm flipH="1" flipV="1">
            <a:off x="3499515" y="4052992"/>
            <a:ext cx="3540048" cy="148609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H="1" flipV="1">
            <a:off x="2121327" y="4390742"/>
            <a:ext cx="4175096" cy="139152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257274" y="5623992"/>
            <a:ext cx="17422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Defines “</a:t>
            </a:r>
            <a:r>
              <a:rPr lang="en-GB" b="1" dirty="0">
                <a:solidFill>
                  <a:srgbClr val="000000"/>
                </a:solidFill>
                <a:latin typeface="Times New Roman" pitchFamily="18" charset="0"/>
              </a:rPr>
              <a:t>y-axis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”</a:t>
            </a:r>
            <a:endParaRPr lang="en-US" dirty="0"/>
          </a:p>
        </p:txBody>
      </p:sp>
      <p:sp>
        <p:nvSpPr>
          <p:cNvPr id="20" name="Rectangle 19"/>
          <p:cNvSpPr/>
          <p:nvPr/>
        </p:nvSpPr>
        <p:spPr>
          <a:xfrm>
            <a:off x="7042931" y="5354423"/>
            <a:ext cx="17422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Defines “</a:t>
            </a:r>
            <a:r>
              <a:rPr lang="en-GB" b="1" dirty="0">
                <a:solidFill>
                  <a:srgbClr val="000000"/>
                </a:solidFill>
                <a:latin typeface="Times New Roman" pitchFamily="18" charset="0"/>
              </a:rPr>
              <a:t>x-axis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”</a:t>
            </a:r>
            <a:endParaRPr lang="en-US" dirty="0"/>
          </a:p>
        </p:txBody>
      </p:sp>
      <p:cxnSp>
        <p:nvCxnSpPr>
          <p:cNvPr id="18" name="Straight Arrow Connector 17"/>
          <p:cNvCxnSpPr/>
          <p:nvPr/>
        </p:nvCxnSpPr>
        <p:spPr>
          <a:xfrm flipH="1" flipV="1">
            <a:off x="2885587" y="5068547"/>
            <a:ext cx="270232" cy="65584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1486397" y="5669723"/>
            <a:ext cx="35842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Extra argument to connect the points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Slicing and Dicing Data</a:t>
            </a:r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F02013A-463E-197B-165C-A78954370CAC}"/>
              </a:ext>
            </a:extLst>
          </p:cNvPr>
          <p:cNvGrpSpPr/>
          <p:nvPr/>
        </p:nvGrpSpPr>
        <p:grpSpPr>
          <a:xfrm>
            <a:off x="225425" y="1356042"/>
            <a:ext cx="8686800" cy="1400522"/>
            <a:chOff x="225425" y="1356042"/>
            <a:chExt cx="8686800" cy="1400522"/>
          </a:xfrm>
        </p:grpSpPr>
        <p:sp>
          <p:nvSpPr>
            <p:cNvPr id="11266" name="Rectangle 5"/>
            <p:cNvSpPr>
              <a:spLocks noChangeArrowheads="1"/>
            </p:cNvSpPr>
            <p:nvPr/>
          </p:nvSpPr>
          <p:spPr bwMode="auto">
            <a:xfrm>
              <a:off x="225425" y="1356042"/>
              <a:ext cx="8686800" cy="1400522"/>
            </a:xfrm>
            <a:prstGeom prst="rect">
              <a:avLst/>
            </a:prstGeom>
            <a:noFill/>
            <a:ln w="9525">
              <a:noFill/>
              <a:round/>
              <a:headEnd/>
              <a:tailEnd/>
            </a:ln>
          </p:spPr>
          <p:txBody>
            <a:bodyPr lIns="0" tIns="0" rIns="0" bIns="0"/>
            <a:lstStyle/>
            <a:p>
              <a:pPr marL="887413" lvl="1" indent="-323850">
                <a:spcBef>
                  <a:spcPts val="800"/>
                </a:spcBef>
                <a:buClr>
                  <a:srgbClr val="000000"/>
                </a:buClr>
                <a:buSzPct val="100000"/>
                <a:buFont typeface="Arial"/>
                <a:buChar char="•"/>
                <a:tabLst>
                  <a:tab pos="430213" algn="l"/>
                  <a:tab pos="1344613" algn="l"/>
                  <a:tab pos="2259013" algn="l"/>
                  <a:tab pos="3173413" algn="l"/>
                  <a:tab pos="4087813" algn="l"/>
                  <a:tab pos="5002213" algn="l"/>
                  <a:tab pos="5916613" algn="l"/>
                  <a:tab pos="6831013" algn="l"/>
                  <a:tab pos="7745413" algn="l"/>
                  <a:tab pos="8659813" algn="l"/>
                  <a:tab pos="9574213" algn="l"/>
                  <a:tab pos="10488613" algn="l"/>
                </a:tabLst>
              </a:pPr>
              <a:r>
                <a:rPr lang="en-GB" sz="2800" dirty="0">
                  <a:solidFill>
                    <a:srgbClr val="000000"/>
                  </a:solidFill>
                  <a:latin typeface="Times New Roman" pitchFamily="18" charset="0"/>
                </a:rPr>
                <a:t>Data chucks in       are called (among other things) data frames, arrays, vectors, or matrices: </a:t>
              </a:r>
              <a:r>
                <a:rPr lang="en-GB" sz="2800" b="1" dirty="0">
                  <a:solidFill>
                    <a:srgbClr val="000000"/>
                  </a:solidFill>
                  <a:latin typeface="Times New Roman" pitchFamily="18" charset="0"/>
                </a:rPr>
                <a:t>X</a:t>
              </a:r>
            </a:p>
            <a:p>
              <a:pPr marL="1344613" lvl="2" indent="-323850">
                <a:spcBef>
                  <a:spcPts val="800"/>
                </a:spcBef>
                <a:buClr>
                  <a:srgbClr val="000000"/>
                </a:buClr>
                <a:buSzPct val="100000"/>
                <a:buFont typeface="Arial"/>
                <a:buChar char="•"/>
                <a:tabLst>
                  <a:tab pos="430213" algn="l"/>
                  <a:tab pos="1344613" algn="l"/>
                  <a:tab pos="2259013" algn="l"/>
                  <a:tab pos="3173413" algn="l"/>
                  <a:tab pos="4087813" algn="l"/>
                  <a:tab pos="5002213" algn="l"/>
                  <a:tab pos="5916613" algn="l"/>
                  <a:tab pos="6831013" algn="l"/>
                  <a:tab pos="7745413" algn="l"/>
                  <a:tab pos="8659813" algn="l"/>
                  <a:tab pos="9574213" algn="l"/>
                  <a:tab pos="10488613" algn="l"/>
                </a:tabLst>
              </a:pPr>
              <a:r>
                <a:rPr lang="en-GB" sz="2400" dirty="0">
                  <a:solidFill>
                    <a:srgbClr val="000000"/>
                  </a:solidFill>
                  <a:latin typeface="Times New Roman" pitchFamily="18" charset="0"/>
                  <a:cs typeface="Courier"/>
                </a:rPr>
                <a:t>These objects have “</a:t>
              </a:r>
              <a:r>
                <a:rPr lang="en-GB" sz="2400" i="1" u="sng" dirty="0">
                  <a:solidFill>
                    <a:srgbClr val="000000"/>
                  </a:solidFill>
                  <a:latin typeface="Times New Roman" pitchFamily="18" charset="0"/>
                  <a:cs typeface="Courier"/>
                </a:rPr>
                <a:t>indices</a:t>
              </a:r>
              <a:r>
                <a:rPr lang="en-GB" sz="2400" dirty="0">
                  <a:solidFill>
                    <a:srgbClr val="000000"/>
                  </a:solidFill>
                  <a:latin typeface="Times New Roman" pitchFamily="18" charset="0"/>
                  <a:cs typeface="Courier"/>
                </a:rPr>
                <a:t>”:</a:t>
              </a:r>
              <a:endParaRPr lang="en-GB" sz="2400" dirty="0">
                <a:solidFill>
                  <a:srgbClr val="000000"/>
                </a:solidFill>
                <a:latin typeface="Courier"/>
                <a:cs typeface="Courier"/>
              </a:endParaRPr>
            </a:p>
          </p:txBody>
        </p:sp>
        <p:pic>
          <p:nvPicPr>
            <p:cNvPr id="5" name="Picture 4" descr="Rlogo.jpg">
              <a:extLst>
                <a:ext uri="{FF2B5EF4-FFF2-40B4-BE49-F238E27FC236}">
                  <a16:creationId xmlns:a16="http://schemas.microsoft.com/office/drawing/2014/main" id="{E5592301-E4E1-CC4C-AF73-505B80D970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34281" y="1430541"/>
              <a:ext cx="391899" cy="297844"/>
            </a:xfrm>
            <a:prstGeom prst="rect">
              <a:avLst/>
            </a:prstGeom>
          </p:spPr>
        </p:pic>
      </p:grpSp>
      <p:sp>
        <p:nvSpPr>
          <p:cNvPr id="2" name="Rectangle 5">
            <a:extLst>
              <a:ext uri="{FF2B5EF4-FFF2-40B4-BE49-F238E27FC236}">
                <a16:creationId xmlns:a16="http://schemas.microsoft.com/office/drawing/2014/main" id="{8BCABF56-81EB-DED4-1ADC-79D651ECDC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8223" y="4091940"/>
            <a:ext cx="6978517" cy="181737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b="1" dirty="0">
                <a:solidFill>
                  <a:srgbClr val="000000"/>
                </a:solidFill>
                <a:latin typeface="Times New Roman" pitchFamily="18" charset="0"/>
              </a:rPr>
              <a:t>matrices: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dirty="0">
                <a:solidFill>
                  <a:srgbClr val="000000"/>
                </a:solidFill>
                <a:latin typeface="Times New Roman" pitchFamily="18" charset="0"/>
              </a:rPr>
              <a:t>X[,1] returns column 1 of matrix </a:t>
            </a:r>
            <a:r>
              <a:rPr lang="en-GB" sz="2200" b="1" dirty="0">
                <a:solidFill>
                  <a:srgbClr val="000000"/>
                </a:solidFill>
                <a:latin typeface="Times New Roman" pitchFamily="18" charset="0"/>
              </a:rPr>
              <a:t>X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dirty="0">
                <a:solidFill>
                  <a:srgbClr val="000000"/>
                </a:solidFill>
                <a:latin typeface="Times New Roman" pitchFamily="18" charset="0"/>
              </a:rPr>
              <a:t>X[3,] returns row 3 of matrix </a:t>
            </a:r>
            <a:r>
              <a:rPr lang="en-GB" sz="2200" b="1" dirty="0">
                <a:solidFill>
                  <a:srgbClr val="000000"/>
                </a:solidFill>
                <a:latin typeface="Times New Roman" pitchFamily="18" charset="0"/>
              </a:rPr>
              <a:t>X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dirty="0">
                <a:solidFill>
                  <a:srgbClr val="000000"/>
                </a:solidFill>
                <a:latin typeface="Times New Roman" pitchFamily="18" charset="0"/>
              </a:rPr>
              <a:t>X[c(2,4),] returns rows 2 and 4 of matrix </a:t>
            </a:r>
            <a:r>
              <a:rPr lang="en-GB" sz="2200" b="1" dirty="0">
                <a:solidFill>
                  <a:srgbClr val="000000"/>
                </a:solidFill>
                <a:latin typeface="Times New Roman" pitchFamily="18" charset="0"/>
              </a:rPr>
              <a:t>X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1336ED0B-90D9-B7D4-7C0E-91F9C2EFE4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8223" y="2977237"/>
            <a:ext cx="5892667" cy="931823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b="1" dirty="0">
                <a:solidFill>
                  <a:srgbClr val="000000"/>
                </a:solidFill>
                <a:latin typeface="Times New Roman" pitchFamily="18" charset="0"/>
              </a:rPr>
              <a:t>vectors: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dirty="0">
                <a:solidFill>
                  <a:srgbClr val="000000"/>
                </a:solidFill>
                <a:latin typeface="Times New Roman" pitchFamily="18" charset="0"/>
              </a:rPr>
              <a:t>X[4] returns element 4 of vector </a:t>
            </a:r>
            <a:r>
              <a:rPr lang="en-GB" sz="2200" b="1" dirty="0">
                <a:solidFill>
                  <a:srgbClr val="000000"/>
                </a:solidFill>
                <a:latin typeface="Times New Roman" pitchFamily="18" charset="0"/>
              </a:rPr>
              <a:t>X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0E6EC4-783E-B12A-DA3C-E55A07E017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6145" y="5989320"/>
            <a:ext cx="8006080" cy="78867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Handy functions for data frames and matrices: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b="1" dirty="0">
                <a:solidFill>
                  <a:srgbClr val="000000"/>
                </a:solidFill>
                <a:latin typeface="Courier"/>
                <a:cs typeface="Courier"/>
              </a:rPr>
              <a:t>dim</a:t>
            </a:r>
            <a:r>
              <a:rPr lang="en-GB" sz="2200" dirty="0">
                <a:solidFill>
                  <a:srgbClr val="000000"/>
                </a:solidFill>
                <a:latin typeface="Courier"/>
                <a:cs typeface="Courier"/>
              </a:rPr>
              <a:t>, </a:t>
            </a:r>
            <a:r>
              <a:rPr lang="en-GB" sz="2200" b="1" dirty="0" err="1">
                <a:solidFill>
                  <a:srgbClr val="000000"/>
                </a:solidFill>
                <a:latin typeface="Courier"/>
                <a:cs typeface="Courier"/>
              </a:rPr>
              <a:t>nrow</a:t>
            </a:r>
            <a:r>
              <a:rPr lang="en-GB" sz="2200" dirty="0">
                <a:solidFill>
                  <a:srgbClr val="000000"/>
                </a:solidFill>
                <a:latin typeface="Courier"/>
                <a:cs typeface="Courier"/>
              </a:rPr>
              <a:t>, </a:t>
            </a:r>
            <a:r>
              <a:rPr lang="en-GB" sz="2200" b="1" dirty="0" err="1">
                <a:solidFill>
                  <a:srgbClr val="000000"/>
                </a:solidFill>
                <a:latin typeface="Courier"/>
                <a:cs typeface="Courier"/>
              </a:rPr>
              <a:t>ncol</a:t>
            </a:r>
            <a:r>
              <a:rPr lang="en-GB" sz="2200" dirty="0">
                <a:solidFill>
                  <a:srgbClr val="000000"/>
                </a:solidFill>
                <a:latin typeface="Courier"/>
                <a:cs typeface="Courier"/>
              </a:rPr>
              <a:t>, </a:t>
            </a:r>
            <a:r>
              <a:rPr lang="en-GB" sz="2200" b="1" dirty="0" err="1">
                <a:solidFill>
                  <a:srgbClr val="000000"/>
                </a:solidFill>
                <a:latin typeface="Courier"/>
                <a:cs typeface="Courier"/>
              </a:rPr>
              <a:t>rbind</a:t>
            </a:r>
            <a:r>
              <a:rPr lang="en-GB" sz="2200" dirty="0">
                <a:solidFill>
                  <a:srgbClr val="000000"/>
                </a:solidFill>
                <a:latin typeface="Courier"/>
                <a:cs typeface="Courier"/>
              </a:rPr>
              <a:t>, </a:t>
            </a:r>
            <a:r>
              <a:rPr lang="en-GB" sz="2200" b="1" dirty="0" err="1">
                <a:solidFill>
                  <a:srgbClr val="000000"/>
                </a:solidFill>
                <a:latin typeface="Courier"/>
                <a:cs typeface="Courier"/>
              </a:rPr>
              <a:t>cbind</a:t>
            </a:r>
            <a:endParaRPr lang="en-GB" sz="2200" b="1" dirty="0">
              <a:solidFill>
                <a:srgbClr val="000000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340567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Rectangle 3"/>
          <p:cNvSpPr/>
          <p:nvPr/>
        </p:nvSpPr>
        <p:spPr>
          <a:xfrm>
            <a:off x="385017" y="1440889"/>
            <a:ext cx="8454183" cy="4524316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00"/>
                </a:solidFill>
                <a:latin typeface="Courier"/>
                <a:cs typeface="Courier"/>
              </a:rPr>
              <a:t># Enter some data in a Matrix: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X &lt;- </a:t>
            </a:r>
            <a:r>
              <a:rPr lang="en-US" dirty="0" err="1">
                <a:solidFill>
                  <a:schemeClr val="bg1"/>
                </a:solidFill>
                <a:latin typeface="Courier"/>
                <a:cs typeface="Courier"/>
              </a:rPr>
              <a:t>rbind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  c(0.99, 0.92, 0.84, 0.39, 0.36),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  c(0.87, 0.73, 0.80, 0.76, 0.87),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  c(0.50, 0.11, 0.14, 0.43, 0.62),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  c(0.08, 0.41, 0.68, 0.49, 0.02)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dirty="0">
                <a:solidFill>
                  <a:srgbClr val="FFFF00"/>
                </a:solidFill>
                <a:latin typeface="Courier"/>
                <a:cs typeface="Courier"/>
              </a:rPr>
              <a:t># What happens when we execute each of these line?:</a:t>
            </a:r>
            <a:endParaRPr lang="en-US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X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X[1,3]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X[2,]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X[,1]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X[5,]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X[5]</a:t>
            </a:r>
          </a:p>
          <a:p>
            <a:endParaRPr lang="en-US" dirty="0">
              <a:solidFill>
                <a:schemeClr val="bg1"/>
              </a:solidFill>
              <a:latin typeface="Courier"/>
              <a:cs typeface="Courier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D7E980-EE7B-F047-A1D7-2B9DA77449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Slicing and Dicing Data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25688F7-A9A0-C534-A9D8-3C63030A881A}"/>
              </a:ext>
            </a:extLst>
          </p:cNvPr>
          <p:cNvSpPr txBox="1"/>
          <p:nvPr/>
        </p:nvSpPr>
        <p:spPr>
          <a:xfrm>
            <a:off x="7083591" y="5965205"/>
            <a:ext cx="1755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first_examples.R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8166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100" y="1676400"/>
            <a:ext cx="3987800" cy="3505200"/>
          </a:xfrm>
          <a:prstGeom prst="rect">
            <a:avLst/>
          </a:prstGeom>
        </p:spPr>
      </p:pic>
      <p:sp>
        <p:nvSpPr>
          <p:cNvPr id="6" name="Rectangle 4">
            <a:extLst>
              <a:ext uri="{FF2B5EF4-FFF2-40B4-BE49-F238E27FC236}">
                <a16:creationId xmlns:a16="http://schemas.microsoft.com/office/drawing/2014/main" id="{0CF9FAD9-C95C-AC4E-A9AB-7D93578F2C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Slicing and Dicing Data</a:t>
            </a:r>
          </a:p>
        </p:txBody>
      </p:sp>
    </p:spTree>
    <p:extLst>
      <p:ext uri="{BB962C8B-B14F-4D97-AF65-F5344CB8AC3E}">
        <p14:creationId xmlns:p14="http://schemas.microsoft.com/office/powerpoint/2010/main" val="39164203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1307413"/>
            <a:ext cx="8686800" cy="3366189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Input from Excel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600" dirty="0">
                <a:solidFill>
                  <a:srgbClr val="000000"/>
                </a:solidFill>
                <a:latin typeface="Times New Roman" pitchFamily="18" charset="0"/>
              </a:rPr>
              <a:t>Save spreadsheet as a CSV file</a:t>
            </a: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A .csv file is just a text version of an Excel file</a:t>
            </a: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We’ll use the </a:t>
            </a:r>
            <a:r>
              <a:rPr lang="en-GB" sz="3200" b="1" dirty="0" err="1">
                <a:solidFill>
                  <a:srgbClr val="000000"/>
                </a:solidFill>
                <a:latin typeface="Times New Roman" pitchFamily="18" charset="0"/>
              </a:rPr>
              <a:t>read.csv</a:t>
            </a: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function</a:t>
            </a: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How to Load Spreadsheets of Data:</a:t>
            </a:r>
          </a:p>
        </p:txBody>
      </p:sp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9016073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>
            <a:extLst>
              <a:ext uri="{FF2B5EF4-FFF2-40B4-BE49-F238E27FC236}">
                <a16:creationId xmlns:a16="http://schemas.microsoft.com/office/drawing/2014/main" id="{91E7B117-D0CB-49EC-AF46-979BCA1100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1104211"/>
            <a:ext cx="8686800" cy="3467789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Input from Excel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Method easiest for class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: We can load in a file directly from the internet using its </a:t>
            </a:r>
            <a:r>
              <a:rPr lang="en-GB" sz="3200" dirty="0">
                <a:solidFill>
                  <a:srgbClr val="00B050"/>
                </a:solidFill>
                <a:latin typeface="Times New Roman" pitchFamily="18" charset="0"/>
              </a:rPr>
              <a:t>URL address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(if we have a working internet connection):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32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94AECD30-1CEA-46DB-9FB7-F711EA12D9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How to Load Spreadsheets of Data: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731FD6D4-ABDF-4D8F-AC2A-888F0D4EC5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A083E16-7BA4-474C-8727-392FDF517109}"/>
              </a:ext>
            </a:extLst>
          </p:cNvPr>
          <p:cNvSpPr/>
          <p:nvPr/>
        </p:nvSpPr>
        <p:spPr>
          <a:xfrm>
            <a:off x="152400" y="4196185"/>
            <a:ext cx="8867421" cy="2062103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FFFF00"/>
                </a:solidFill>
                <a:latin typeface="Courier"/>
                <a:cs typeface="Courier"/>
              </a:rPr>
              <a:t># A file on the internet. Use it’s URL to load: </a:t>
            </a:r>
          </a:p>
          <a:p>
            <a:endParaRPr lang="en-US" sz="16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 &lt;- </a:t>
            </a:r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read.csv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600" dirty="0">
                <a:solidFill>
                  <a:srgbClr val="00B050"/>
                </a:solidFill>
                <a:latin typeface="Courier"/>
                <a:cs typeface="Courier"/>
              </a:rPr>
              <a:t>"https://</a:t>
            </a:r>
            <a:r>
              <a:rPr lang="en-US" sz="1600" dirty="0" err="1">
                <a:solidFill>
                  <a:srgbClr val="00B050"/>
                </a:solidFill>
                <a:latin typeface="Courier"/>
                <a:cs typeface="Courier"/>
              </a:rPr>
              <a:t>raw.githubusercontent.com</a:t>
            </a:r>
            <a:r>
              <a:rPr lang="en-US" sz="1600" dirty="0">
                <a:solidFill>
                  <a:srgbClr val="00B050"/>
                </a:solidFill>
                <a:latin typeface="Courier"/>
                <a:cs typeface="Courier"/>
              </a:rPr>
              <a:t>/</a:t>
            </a:r>
            <a:r>
              <a:rPr lang="en-US" sz="1600" dirty="0" err="1">
                <a:solidFill>
                  <a:srgbClr val="00B050"/>
                </a:solidFill>
                <a:latin typeface="Courier"/>
                <a:cs typeface="Courier"/>
              </a:rPr>
              <a:t>npetraco</a:t>
            </a:r>
            <a:r>
              <a:rPr lang="en-US" sz="1600" dirty="0">
                <a:solidFill>
                  <a:srgbClr val="00B050"/>
                </a:solidFill>
                <a:latin typeface="Courier"/>
                <a:cs typeface="Courier"/>
              </a:rPr>
              <a:t>/709/refs/heads/main/R/data/ASCLAD_GaugeR%26R_example_data.csv"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, header = F)</a:t>
            </a:r>
          </a:p>
          <a:p>
            <a:endParaRPr lang="en-US" sz="16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600" dirty="0">
                <a:solidFill>
                  <a:srgbClr val="FFFF00"/>
                </a:solidFill>
                <a:latin typeface="Courier"/>
                <a:cs typeface="Courier"/>
              </a:rPr>
              <a:t># **check the datatype R thinks it loaded</a:t>
            </a: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class(</a:t>
            </a:r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131282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1298521"/>
            <a:ext cx="8686800" cy="289556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Input from Excel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Usually however you have a spreadsheet on your computer already as a CSV file</a:t>
            </a: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You’ll need to type in the </a:t>
            </a: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path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to the file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in </a:t>
            </a:r>
            <a:r>
              <a:rPr lang="en-GB" sz="3200" dirty="0" err="1">
                <a:solidFill>
                  <a:srgbClr val="000000"/>
                </a:solidFill>
                <a:latin typeface="Times New Roman" pitchFamily="18" charset="0"/>
              </a:rPr>
              <a:t>read.csv</a:t>
            </a:r>
            <a:endParaRPr lang="en-GB" sz="32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How to Load </a:t>
            </a:r>
            <a:r>
              <a:rPr lang="en-GB" sz="4000" dirty="0" err="1">
                <a:solidFill>
                  <a:srgbClr val="000000"/>
                </a:solidFill>
                <a:latin typeface="Times New Roman" pitchFamily="18" charset="0"/>
              </a:rPr>
              <a:t>Spreadsheets</a:t>
            </a: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 of Data: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4719357"/>
            <a:ext cx="75584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/>
                <a:cs typeface="Courier"/>
              </a:rPr>
              <a:t>"/Users/</a:t>
            </a:r>
            <a:r>
              <a:rPr lang="en-US" sz="2400" dirty="0" err="1">
                <a:latin typeface="Courier"/>
                <a:cs typeface="Courier"/>
              </a:rPr>
              <a:t>npetraco</a:t>
            </a:r>
            <a:r>
              <a:rPr lang="en-US" sz="2400" dirty="0">
                <a:latin typeface="Courier"/>
                <a:cs typeface="Courier"/>
              </a:rPr>
              <a:t>/latex/papers/data.csv"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6800" y="4257692"/>
            <a:ext cx="133837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u="sng" dirty="0">
                <a:solidFill>
                  <a:srgbClr val="000000"/>
                </a:solidFill>
                <a:latin typeface="Times New Roman" pitchFamily="18" charset="0"/>
              </a:rPr>
              <a:t>Mac e.g.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  <a:endParaRPr lang="en-US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1064742" y="5660672"/>
            <a:ext cx="792717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/>
                <a:cs typeface="Courier"/>
              </a:rPr>
              <a:t>"C:\Users\npetraco\latex\papers\data.csv"</a:t>
            </a:r>
          </a:p>
          <a:p>
            <a:r>
              <a:rPr lang="en-US" sz="2400" dirty="0">
                <a:latin typeface="Courier"/>
                <a:cs typeface="Courier"/>
              </a:rPr>
              <a:t>"C:/Users/npetraco/latex/papers/data.csv"</a:t>
            </a:r>
          </a:p>
          <a:p>
            <a:endParaRPr lang="en-US" sz="2400" dirty="0">
              <a:latin typeface="Courier"/>
              <a:cs typeface="Courier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064742" y="5143587"/>
            <a:ext cx="195889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u="sng" dirty="0">
                <a:solidFill>
                  <a:srgbClr val="000000"/>
                </a:solidFill>
                <a:latin typeface="Times New Roman" pitchFamily="18" charset="0"/>
              </a:rPr>
              <a:t>Windows e.g.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  <a:endParaRPr lang="en-US" sz="2400" dirty="0"/>
          </a:p>
        </p:txBody>
      </p:sp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11" name="TextBox 10"/>
          <p:cNvSpPr txBox="1"/>
          <p:nvPr/>
        </p:nvSpPr>
        <p:spPr>
          <a:xfrm>
            <a:off x="143016" y="6432887"/>
            <a:ext cx="86645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/>
                <a:cs typeface="Courier"/>
              </a:rPr>
              <a:t>"C:\\Users\\npetraco\\latex\\papers\\data.csv"</a:t>
            </a:r>
          </a:p>
        </p:txBody>
      </p:sp>
    </p:spTree>
    <p:extLst>
      <p:ext uri="{BB962C8B-B14F-4D97-AF65-F5344CB8AC3E}">
        <p14:creationId xmlns:p14="http://schemas.microsoft.com/office/powerpoint/2010/main" val="2498635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3" grpId="0"/>
      <p:bldP spid="1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How to Load </a:t>
            </a:r>
            <a:r>
              <a:rPr lang="en-GB" sz="4000" dirty="0" err="1">
                <a:solidFill>
                  <a:srgbClr val="000000"/>
                </a:solidFill>
                <a:latin typeface="Times New Roman" pitchFamily="18" charset="0"/>
              </a:rPr>
              <a:t>Spreadsheets</a:t>
            </a: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 of Data: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28600" y="1104210"/>
            <a:ext cx="8686800" cy="1609579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Load a CSV file that is on your (mine actually…) Desktop. The file is called </a:t>
            </a:r>
            <a:r>
              <a:rPr lang="en-GB" sz="2800" dirty="0" err="1">
                <a:solidFill>
                  <a:srgbClr val="000000"/>
                </a:solidFill>
                <a:latin typeface="Times New Roman" pitchFamily="18" charset="0"/>
              </a:rPr>
              <a:t>bigdata.csv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and I made it in Excel:</a:t>
            </a:r>
          </a:p>
        </p:txBody>
      </p:sp>
      <p:sp>
        <p:nvSpPr>
          <p:cNvPr id="6" name="Rectangle 5"/>
          <p:cNvSpPr/>
          <p:nvPr/>
        </p:nvSpPr>
        <p:spPr>
          <a:xfrm>
            <a:off x="385017" y="2982691"/>
            <a:ext cx="8454183" cy="3046988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FFFF00"/>
                </a:solidFill>
                <a:latin typeface="Courier"/>
                <a:cs typeface="Courier"/>
              </a:rPr>
              <a:t># Load the spreadsheet:</a:t>
            </a:r>
          </a:p>
          <a:p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 &lt;- </a:t>
            </a:r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read.csv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600" dirty="0">
                <a:solidFill>
                  <a:srgbClr val="00B050"/>
                </a:solidFill>
                <a:latin typeface="Courier"/>
                <a:cs typeface="Courier"/>
              </a:rPr>
              <a:t>"/Users/npetraco/Desktop/</a:t>
            </a:r>
            <a:r>
              <a:rPr lang="en-US" sz="1600" dirty="0" err="1">
                <a:solidFill>
                  <a:srgbClr val="00B050"/>
                </a:solidFill>
                <a:latin typeface="Courier"/>
                <a:cs typeface="Courier"/>
              </a:rPr>
              <a:t>GC_gasoline_peak_data.csv</a:t>
            </a:r>
            <a:r>
              <a:rPr lang="en-US" sz="16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6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600" dirty="0">
                <a:solidFill>
                  <a:srgbClr val="FFFF00"/>
                </a:solidFill>
                <a:latin typeface="Courier"/>
                <a:cs typeface="Courier"/>
              </a:rPr>
              <a:t># Extract column 1</a:t>
            </a: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x &lt;- </a:t>
            </a:r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[,1]</a:t>
            </a:r>
          </a:p>
          <a:p>
            <a:endParaRPr lang="en-US" sz="16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600" dirty="0">
                <a:solidFill>
                  <a:srgbClr val="FFFF00"/>
                </a:solidFill>
                <a:latin typeface="Courier"/>
                <a:cs typeface="Courier"/>
              </a:rPr>
              <a:t># Extract column 2</a:t>
            </a: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y &lt;- </a:t>
            </a:r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[,2]</a:t>
            </a:r>
          </a:p>
          <a:p>
            <a:endParaRPr lang="en-US" sz="16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600" dirty="0">
                <a:solidFill>
                  <a:srgbClr val="FFFF00"/>
                </a:solidFill>
                <a:latin typeface="Courier"/>
                <a:cs typeface="Courier"/>
              </a:rPr>
              <a:t># Plot the data:</a:t>
            </a: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plot(</a:t>
            </a:r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x,y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787684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>
            <a:extLst>
              <a:ext uri="{FF2B5EF4-FFF2-40B4-BE49-F238E27FC236}">
                <a16:creationId xmlns:a16="http://schemas.microsoft.com/office/drawing/2014/main" id="{C14E827E-6C98-4F37-8156-17ECD6940F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1104211"/>
            <a:ext cx="8686800" cy="190838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Input from Excel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An alternative is to use </a:t>
            </a:r>
            <a:r>
              <a:rPr lang="en-GB" sz="32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file.choose</a:t>
            </a:r>
            <a:r>
              <a:rPr lang="en-GB" sz="32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function with </a:t>
            </a:r>
            <a:r>
              <a:rPr lang="en-GB" sz="32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read.csv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32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EA01C647-0C97-48D3-B8FA-E37647B9B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How to Load </a:t>
            </a:r>
            <a:r>
              <a:rPr lang="en-GB" sz="4000" dirty="0" err="1">
                <a:solidFill>
                  <a:srgbClr val="000000"/>
                </a:solidFill>
                <a:latin typeface="Times New Roman" pitchFamily="18" charset="0"/>
              </a:rPr>
              <a:t>Spreadsheets</a:t>
            </a: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 of Data: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89CC3E3-215C-41F5-A2BE-49C8DB7150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6B00B6D-FA84-4ACC-8D6D-5ECC0453DDA9}"/>
              </a:ext>
            </a:extLst>
          </p:cNvPr>
          <p:cNvSpPr/>
          <p:nvPr/>
        </p:nvSpPr>
        <p:spPr>
          <a:xfrm>
            <a:off x="385017" y="3372095"/>
            <a:ext cx="8454183" cy="1754326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00"/>
                </a:solidFill>
                <a:latin typeface="Courier"/>
                <a:cs typeface="Courier"/>
              </a:rPr>
              <a:t># </a:t>
            </a:r>
            <a:r>
              <a:rPr lang="en-US" dirty="0" err="1">
                <a:solidFill>
                  <a:srgbClr val="FFFF00"/>
                </a:solidFill>
                <a:latin typeface="Courier"/>
                <a:cs typeface="Courier"/>
              </a:rPr>
              <a:t>file.choose</a:t>
            </a:r>
            <a:r>
              <a:rPr lang="en-US" dirty="0">
                <a:solidFill>
                  <a:srgbClr val="FFFF00"/>
                </a:solidFill>
                <a:latin typeface="Courier"/>
                <a:cs typeface="Courier"/>
              </a:rPr>
              <a:t> lets you navigate to file you want and gets </a:t>
            </a:r>
          </a:p>
          <a:p>
            <a:r>
              <a:rPr lang="en-US" dirty="0">
                <a:solidFill>
                  <a:srgbClr val="FFFF00"/>
                </a:solidFill>
                <a:latin typeface="Courier"/>
                <a:cs typeface="Courier"/>
              </a:rPr>
              <a:t># its path:</a:t>
            </a:r>
          </a:p>
          <a:p>
            <a:r>
              <a:rPr lang="en-US" dirty="0" err="1">
                <a:solidFill>
                  <a:schemeClr val="bg1"/>
                </a:solidFill>
                <a:latin typeface="Courier"/>
                <a:cs typeface="Courier"/>
              </a:rPr>
              <a:t>apath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 &lt;- </a:t>
            </a:r>
            <a:r>
              <a:rPr lang="en-US" dirty="0" err="1">
                <a:solidFill>
                  <a:schemeClr val="bg1"/>
                </a:solidFill>
                <a:latin typeface="Courier"/>
                <a:cs typeface="Courier"/>
              </a:rPr>
              <a:t>file.choose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()</a:t>
            </a:r>
          </a:p>
          <a:p>
            <a:endParaRPr lang="en-US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dirty="0" err="1">
                <a:solidFill>
                  <a:schemeClr val="bg1"/>
                </a:solidFill>
                <a:latin typeface="Courier"/>
                <a:cs typeface="Courier"/>
              </a:rPr>
              <a:t>some.data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 &lt;- read.csv(</a:t>
            </a:r>
            <a:r>
              <a:rPr lang="en-US" dirty="0" err="1">
                <a:solidFill>
                  <a:schemeClr val="bg1"/>
                </a:solidFill>
                <a:latin typeface="Courier"/>
                <a:cs typeface="Courier"/>
              </a:rPr>
              <a:t>apath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dirty="0">
              <a:solidFill>
                <a:schemeClr val="bg1"/>
              </a:solidFill>
              <a:latin typeface="Courier"/>
              <a:cs typeface="Courier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74C0A5-9B1D-47D8-A802-81B6DA09D0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9948" y="3778397"/>
            <a:ext cx="4246852" cy="290088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7FBDF5C-A179-4336-60FF-ED7C532727EF}"/>
              </a:ext>
            </a:extLst>
          </p:cNvPr>
          <p:cNvSpPr txBox="1"/>
          <p:nvPr/>
        </p:nvSpPr>
        <p:spPr>
          <a:xfrm>
            <a:off x="1214203" y="5876144"/>
            <a:ext cx="20447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spreadsheet_load.R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010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2657C60F-DEFE-0D86-C2B0-18F48A8FFC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Installing R packages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D2A8E67-AF7E-2653-56E5-18011F666E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C796D43-606F-1149-F445-DD675F93FA7B}"/>
              </a:ext>
            </a:extLst>
          </p:cNvPr>
          <p:cNvSpPr txBox="1"/>
          <p:nvPr/>
        </p:nvSpPr>
        <p:spPr>
          <a:xfrm>
            <a:off x="83506" y="1691640"/>
            <a:ext cx="906049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 has a vast repository of user created specialized code called CRAN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code is called packages or libraries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install and use a package from CRAN do the following: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C265BA-15EC-1D57-C8F1-9CCA01C2EAC2}"/>
              </a:ext>
            </a:extLst>
          </p:cNvPr>
          <p:cNvSpPr/>
          <p:nvPr/>
        </p:nvSpPr>
        <p:spPr>
          <a:xfrm>
            <a:off x="1357703" y="3754155"/>
            <a:ext cx="6332435" cy="1477328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00"/>
                </a:solidFill>
                <a:latin typeface="Courier"/>
                <a:cs typeface="Courier"/>
              </a:rPr>
              <a:t># Install a package called </a:t>
            </a:r>
            <a:r>
              <a:rPr lang="en-US" dirty="0" err="1">
                <a:solidFill>
                  <a:srgbClr val="FFFF00"/>
                </a:solidFill>
                <a:latin typeface="Courier"/>
                <a:cs typeface="Courier"/>
              </a:rPr>
              <a:t>mlbench</a:t>
            </a:r>
            <a:r>
              <a:rPr lang="en-US" dirty="0">
                <a:solidFill>
                  <a:srgbClr val="FFFF00"/>
                </a:solidFill>
                <a:latin typeface="Courier"/>
                <a:cs typeface="Courier"/>
              </a:rPr>
              <a:t>:</a:t>
            </a:r>
          </a:p>
          <a:p>
            <a:r>
              <a:rPr lang="en-US" dirty="0" err="1">
                <a:solidFill>
                  <a:schemeClr val="bg1"/>
                </a:solidFill>
                <a:latin typeface="Courier"/>
                <a:cs typeface="Courier"/>
              </a:rPr>
              <a:t>install.packages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dirty="0" err="1">
                <a:solidFill>
                  <a:srgbClr val="00B050"/>
                </a:solidFill>
                <a:latin typeface="Courier"/>
                <a:cs typeface="Courier"/>
              </a:rPr>
              <a:t>mlbench</a:t>
            </a:r>
            <a:r>
              <a:rPr lang="en-US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dirty="0">
                <a:solidFill>
                  <a:srgbClr val="FFFF00"/>
                </a:solidFill>
                <a:latin typeface="Courier"/>
                <a:cs typeface="Courier"/>
              </a:rPr>
              <a:t># Turn on the library for use:</a:t>
            </a:r>
          </a:p>
          <a:p>
            <a:r>
              <a:rPr lang="en-US" dirty="0">
                <a:solidFill>
                  <a:schemeClr val="accent6"/>
                </a:solidFill>
                <a:latin typeface="Courier"/>
                <a:cs typeface="Courier"/>
              </a:rPr>
              <a:t>library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dirty="0" err="1">
                <a:solidFill>
                  <a:schemeClr val="bg1"/>
                </a:solidFill>
                <a:latin typeface="Courier"/>
                <a:cs typeface="Courier"/>
              </a:rPr>
              <a:t>mlbench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E465EC9-6319-1985-AE1B-5AF22C26D345}"/>
              </a:ext>
            </a:extLst>
          </p:cNvPr>
          <p:cNvCxnSpPr/>
          <p:nvPr/>
        </p:nvCxnSpPr>
        <p:spPr>
          <a:xfrm flipH="1">
            <a:off x="4604038" y="3548920"/>
            <a:ext cx="377190" cy="571500"/>
          </a:xfrm>
          <a:prstGeom prst="straightConnector1">
            <a:avLst/>
          </a:prstGeom>
          <a:ln w="34925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47A0359-41BD-F65C-E563-919D97F26E4D}"/>
              </a:ext>
            </a:extLst>
          </p:cNvPr>
          <p:cNvSpPr txBox="1"/>
          <p:nvPr/>
        </p:nvSpPr>
        <p:spPr>
          <a:xfrm>
            <a:off x="4981228" y="3243058"/>
            <a:ext cx="2222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package/library name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39C0A8-E696-BD32-AE8D-EED7C95605AA}"/>
              </a:ext>
            </a:extLst>
          </p:cNvPr>
          <p:cNvSpPr txBox="1"/>
          <p:nvPr/>
        </p:nvSpPr>
        <p:spPr>
          <a:xfrm>
            <a:off x="1387683" y="3186203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need to do this once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00A1D97-A067-36E2-05D6-DAE03DA4526E}"/>
              </a:ext>
            </a:extLst>
          </p:cNvPr>
          <p:cNvCxnSpPr/>
          <p:nvPr/>
        </p:nvCxnSpPr>
        <p:spPr>
          <a:xfrm flipH="1">
            <a:off x="2163252" y="3501139"/>
            <a:ext cx="377190" cy="571500"/>
          </a:xfrm>
          <a:prstGeom prst="straightConnector1">
            <a:avLst/>
          </a:prstGeom>
          <a:ln w="34925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58CB7E6-59D0-4FB9-CF03-CFFD8B718CC9}"/>
              </a:ext>
            </a:extLst>
          </p:cNvPr>
          <p:cNvSpPr txBox="1"/>
          <p:nvPr/>
        </p:nvSpPr>
        <p:spPr>
          <a:xfrm>
            <a:off x="5702593" y="5186513"/>
            <a:ext cx="2063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install_a_package.R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440ACD-DE42-A9A7-65BB-BA3E104F3964}"/>
              </a:ext>
            </a:extLst>
          </p:cNvPr>
          <p:cNvSpPr txBox="1"/>
          <p:nvPr/>
        </p:nvSpPr>
        <p:spPr>
          <a:xfrm>
            <a:off x="657070" y="5770503"/>
            <a:ext cx="39966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install.packages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library()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turn on package for use </a:t>
            </a:r>
          </a:p>
        </p:txBody>
      </p:sp>
    </p:spTree>
    <p:extLst>
      <p:ext uri="{BB962C8B-B14F-4D97-AF65-F5344CB8AC3E}">
        <p14:creationId xmlns:p14="http://schemas.microsoft.com/office/powerpoint/2010/main" val="2779443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96E73-6894-A652-1234-6F5F97F73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83FFD604-9919-12A9-E23B-B49ED94FB5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Installing Our Course Package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D7339F6-B82F-7F46-CAC1-B87FD345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4F41297-9792-C7BD-0339-C1CABB114E9C}"/>
              </a:ext>
            </a:extLst>
          </p:cNvPr>
          <p:cNvSpPr txBox="1"/>
          <p:nvPr/>
        </p:nvSpPr>
        <p:spPr>
          <a:xfrm>
            <a:off x="83506" y="1271919"/>
            <a:ext cx="88433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will use a custom course package for the course but it’s on GitHub, not CRAN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install a package from GitHub: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352E32-143C-B1FC-B94B-59F3CFD123CC}"/>
              </a:ext>
            </a:extLst>
          </p:cNvPr>
          <p:cNvSpPr/>
          <p:nvPr/>
        </p:nvSpPr>
        <p:spPr>
          <a:xfrm>
            <a:off x="1189225" y="2540091"/>
            <a:ext cx="7185657" cy="4247317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500" dirty="0" err="1">
                <a:solidFill>
                  <a:schemeClr val="bg1"/>
                </a:solidFill>
                <a:latin typeface="Courier"/>
                <a:cs typeface="Courier"/>
              </a:rPr>
              <a:t>install.packages</a:t>
            </a:r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500" dirty="0">
                <a:solidFill>
                  <a:srgbClr val="00B050"/>
                </a:solidFill>
                <a:latin typeface="Courier"/>
                <a:cs typeface="Courier"/>
              </a:rPr>
              <a:t>"remotes"</a:t>
            </a:r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sz="1500" dirty="0">
                <a:solidFill>
                  <a:schemeClr val="accent6"/>
                </a:solidFill>
                <a:latin typeface="Courier"/>
                <a:cs typeface="Courier"/>
              </a:rPr>
              <a:t>library</a:t>
            </a:r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(remotes)</a:t>
            </a:r>
          </a:p>
          <a:p>
            <a:endParaRPr lang="en-US" sz="15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500" dirty="0" err="1">
                <a:solidFill>
                  <a:schemeClr val="bg1"/>
                </a:solidFill>
                <a:latin typeface="Courier"/>
                <a:cs typeface="Courier"/>
              </a:rPr>
              <a:t>install_github</a:t>
            </a:r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5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500" dirty="0" err="1">
                <a:solidFill>
                  <a:srgbClr val="00B050"/>
                </a:solidFill>
                <a:latin typeface="Courier"/>
                <a:cs typeface="Courier"/>
              </a:rPr>
              <a:t>npetraco</a:t>
            </a:r>
            <a:r>
              <a:rPr lang="en-US" sz="1500" dirty="0">
                <a:solidFill>
                  <a:srgbClr val="00B050"/>
                </a:solidFill>
                <a:latin typeface="Courier"/>
                <a:cs typeface="Courier"/>
              </a:rPr>
              <a:t>/</a:t>
            </a:r>
            <a:r>
              <a:rPr lang="en-US" sz="1500" dirty="0" err="1">
                <a:solidFill>
                  <a:srgbClr val="00B050"/>
                </a:solidFill>
                <a:latin typeface="Courier"/>
                <a:cs typeface="Courier"/>
              </a:rPr>
              <a:t>frequtils</a:t>
            </a:r>
            <a:r>
              <a:rPr lang="en-US" sz="15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sz="1500" dirty="0">
                <a:solidFill>
                  <a:schemeClr val="accent6"/>
                </a:solidFill>
                <a:latin typeface="Courier"/>
                <a:cs typeface="Courier"/>
              </a:rPr>
              <a:t>library</a:t>
            </a:r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500" dirty="0" err="1">
                <a:solidFill>
                  <a:schemeClr val="bg1"/>
                </a:solidFill>
                <a:latin typeface="Courier"/>
                <a:cs typeface="Courier"/>
              </a:rPr>
              <a:t>frequtils</a:t>
            </a:r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data(</a:t>
            </a:r>
            <a:r>
              <a:rPr lang="en-US" sz="1500" dirty="0" err="1">
                <a:solidFill>
                  <a:schemeClr val="bg1"/>
                </a:solidFill>
                <a:latin typeface="Courier"/>
                <a:cs typeface="Courier"/>
              </a:rPr>
              <a:t>linton</a:t>
            </a:r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) 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 Load some built in data as a test</a:t>
            </a:r>
          </a:p>
          <a:p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head(</a:t>
            </a:r>
            <a:r>
              <a:rPr lang="en-US" sz="1500" dirty="0" err="1">
                <a:solidFill>
                  <a:schemeClr val="bg1"/>
                </a:solidFill>
                <a:latin typeface="Courier"/>
                <a:cs typeface="Courier"/>
              </a:rPr>
              <a:t>linton</a:t>
            </a:r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5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 Optional packages:</a:t>
            </a:r>
          </a:p>
          <a:p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install.packages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("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rgl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")</a:t>
            </a:r>
          </a:p>
          <a:p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install.packages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("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extraDistr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")</a:t>
            </a:r>
          </a:p>
          <a:p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install.packages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("tolerance")</a:t>
            </a:r>
          </a:p>
          <a:p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install.packages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("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mlbench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")</a:t>
            </a:r>
          </a:p>
          <a:p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install.packages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("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dafs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")</a:t>
            </a:r>
          </a:p>
          <a:p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install.packages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("outliers")</a:t>
            </a:r>
          </a:p>
          <a:p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install.packages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("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EnvStats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")</a:t>
            </a:r>
          </a:p>
          <a:p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install.packages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("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dixonTest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")</a:t>
            </a:r>
          </a:p>
          <a:p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install.packages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("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effectsize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")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F5BE57-6D1D-FD8C-870F-1EB5295D3974}"/>
              </a:ext>
            </a:extLst>
          </p:cNvPr>
          <p:cNvSpPr txBox="1"/>
          <p:nvPr/>
        </p:nvSpPr>
        <p:spPr>
          <a:xfrm>
            <a:off x="5689272" y="2800345"/>
            <a:ext cx="255069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install_course_package.R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9649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1932" y="884498"/>
            <a:ext cx="5426596" cy="2171218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563563" indent="-457200">
              <a:spcBef>
                <a:spcPts val="800"/>
              </a:spcBef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Explore the Glass dataset </a:t>
            </a:r>
          </a:p>
          <a:p>
            <a:pPr marL="1020763" lvl="1" indent="-457200">
              <a:spcBef>
                <a:spcPts val="800"/>
              </a:spcBef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b="1" dirty="0">
                <a:solidFill>
                  <a:srgbClr val="000000"/>
                </a:solidFill>
                <a:latin typeface="Times New Roman" pitchFamily="18" charset="0"/>
              </a:rPr>
              <a:t>Scatter plots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: plot any two variables against each other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32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More Plots of your Data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3"/>
          <a:srcRect l="-4025" t="8702" r="4025" b="-7230"/>
          <a:stretch/>
        </p:blipFill>
        <p:spPr>
          <a:xfrm>
            <a:off x="5108495" y="1250069"/>
            <a:ext cx="3786650" cy="373093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AFFBBCD-CE81-F540-A53C-8C4856B0DB5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7985"/>
          <a:stretch/>
        </p:blipFill>
        <p:spPr>
          <a:xfrm>
            <a:off x="27005" y="3346779"/>
            <a:ext cx="4595350" cy="351244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B5FFB68-9EA1-564C-8512-2229FBAD5E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86512" y="4543528"/>
            <a:ext cx="4407424" cy="147627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b="1" dirty="0">
                <a:solidFill>
                  <a:srgbClr val="000000"/>
                </a:solidFill>
                <a:latin typeface="Times New Roman" pitchFamily="18" charset="0"/>
              </a:rPr>
              <a:t>Histograms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: “bin” a variable and plot frequencies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3200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1EFA348-D670-8B45-AD0A-92A9DB4A7D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79270"/>
            <a:ext cx="9144000" cy="4541178"/>
          </a:xfrm>
          <a:prstGeom prst="rect">
            <a:avLst/>
          </a:prstGeom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B623AA6D-E515-5941-B613-AEF77974D8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838200"/>
            <a:ext cx="8686800" cy="57150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Box and Whiskers plots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32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1F4A7B95-DE6E-5546-AB53-0FF06F016E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Left-Right Arrow 5">
            <a:extLst>
              <a:ext uri="{FF2B5EF4-FFF2-40B4-BE49-F238E27FC236}">
                <a16:creationId xmlns:a16="http://schemas.microsoft.com/office/drawing/2014/main" id="{13B6098E-85CB-894C-B03A-D32B41160D71}"/>
              </a:ext>
            </a:extLst>
          </p:cNvPr>
          <p:cNvSpPr/>
          <p:nvPr/>
        </p:nvSpPr>
        <p:spPr bwMode="auto">
          <a:xfrm>
            <a:off x="385144" y="2223302"/>
            <a:ext cx="8442925" cy="223896"/>
          </a:xfrm>
          <a:prstGeom prst="leftRightArrow">
            <a:avLst/>
          </a:prstGeom>
          <a:solidFill>
            <a:srgbClr val="26FA26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97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charset="0"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C8B7A78-73B1-7541-B40D-56B76B7BFED9}"/>
              </a:ext>
            </a:extLst>
          </p:cNvPr>
          <p:cNvCxnSpPr/>
          <p:nvPr/>
        </p:nvCxnSpPr>
        <p:spPr bwMode="auto">
          <a:xfrm rot="5400000" flipH="1" flipV="1">
            <a:off x="2021973" y="4561911"/>
            <a:ext cx="381000" cy="381000"/>
          </a:xfrm>
          <a:prstGeom prst="straightConnector1">
            <a:avLst/>
          </a:prstGeom>
          <a:solidFill>
            <a:srgbClr val="00B8FF"/>
          </a:solidFill>
          <a:ln w="3492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8000B78-1FEE-4E4F-817C-D32CBCDC0B8C}"/>
              </a:ext>
            </a:extLst>
          </p:cNvPr>
          <p:cNvCxnSpPr/>
          <p:nvPr/>
        </p:nvCxnSpPr>
        <p:spPr bwMode="auto">
          <a:xfrm rot="16200000" flipV="1">
            <a:off x="3343767" y="4541131"/>
            <a:ext cx="381000" cy="381000"/>
          </a:xfrm>
          <a:prstGeom prst="straightConnector1">
            <a:avLst/>
          </a:prstGeom>
          <a:solidFill>
            <a:srgbClr val="00B8FF"/>
          </a:solidFill>
          <a:ln w="3492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4995039-5EF4-E648-A286-6D1D5AB38BBF}"/>
              </a:ext>
            </a:extLst>
          </p:cNvPr>
          <p:cNvCxnSpPr/>
          <p:nvPr/>
        </p:nvCxnSpPr>
        <p:spPr bwMode="auto">
          <a:xfrm rot="5400000" flipH="1" flipV="1">
            <a:off x="2614559" y="4769729"/>
            <a:ext cx="457205" cy="1588"/>
          </a:xfrm>
          <a:prstGeom prst="straightConnector1">
            <a:avLst/>
          </a:prstGeom>
          <a:solidFill>
            <a:srgbClr val="00B8FF"/>
          </a:solidFill>
          <a:ln w="34925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7E68716A-691B-3444-9C93-BA2C486B316C}"/>
              </a:ext>
            </a:extLst>
          </p:cNvPr>
          <p:cNvSpPr/>
          <p:nvPr/>
        </p:nvSpPr>
        <p:spPr>
          <a:xfrm>
            <a:off x="969028" y="4749671"/>
            <a:ext cx="1242648" cy="62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25</a:t>
            </a:r>
            <a:r>
              <a:rPr lang="en-GB" baseline="30000" dirty="0">
                <a:solidFill>
                  <a:srgbClr val="000000"/>
                </a:solidFill>
                <a:latin typeface="Times New Roman" pitchFamily="18" charset="0"/>
              </a:rPr>
              <a:t>th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-%tile</a:t>
            </a:r>
          </a:p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1</a:t>
            </a:r>
            <a:r>
              <a:rPr lang="en-GB" baseline="30000" dirty="0">
                <a:solidFill>
                  <a:srgbClr val="000000"/>
                </a:solidFill>
                <a:latin typeface="Times New Roman" pitchFamily="18" charset="0"/>
              </a:rPr>
              <a:t>st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-quartile 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86A5D8-A494-A04F-9CD7-083F44414C90}"/>
              </a:ext>
            </a:extLst>
          </p:cNvPr>
          <p:cNvSpPr/>
          <p:nvPr/>
        </p:nvSpPr>
        <p:spPr>
          <a:xfrm>
            <a:off x="3687464" y="4749671"/>
            <a:ext cx="1268296" cy="62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75</a:t>
            </a:r>
            <a:r>
              <a:rPr lang="en-GB" baseline="30000" dirty="0">
                <a:solidFill>
                  <a:srgbClr val="000000"/>
                </a:solidFill>
                <a:latin typeface="Times New Roman" pitchFamily="18" charset="0"/>
              </a:rPr>
              <a:t>th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-%tile</a:t>
            </a:r>
          </a:p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3</a:t>
            </a:r>
            <a:r>
              <a:rPr lang="en-GB" baseline="30000" dirty="0">
                <a:solidFill>
                  <a:srgbClr val="000000"/>
                </a:solidFill>
                <a:latin typeface="Times New Roman" pitchFamily="18" charset="0"/>
              </a:rPr>
              <a:t>rd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-quartile 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370B4B3-87DC-EE48-9E02-955F97C6B0AD}"/>
              </a:ext>
            </a:extLst>
          </p:cNvPr>
          <p:cNvSpPr/>
          <p:nvPr/>
        </p:nvSpPr>
        <p:spPr>
          <a:xfrm>
            <a:off x="2320953" y="4862865"/>
            <a:ext cx="1099981" cy="62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median</a:t>
            </a:r>
          </a:p>
          <a:p>
            <a:pPr algn="ctr"/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50</a:t>
            </a:r>
            <a:r>
              <a:rPr lang="en-GB" baseline="30000" dirty="0">
                <a:solidFill>
                  <a:srgbClr val="000000"/>
                </a:solidFill>
                <a:latin typeface="Times New Roman" pitchFamily="18" charset="0"/>
              </a:rPr>
              <a:t>th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-%tile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CAA0FD6-68C7-6C4C-A6DE-1A05ABBA5F35}"/>
              </a:ext>
            </a:extLst>
          </p:cNvPr>
          <p:cNvSpPr/>
          <p:nvPr/>
        </p:nvSpPr>
        <p:spPr>
          <a:xfrm>
            <a:off x="4239490" y="1898442"/>
            <a:ext cx="697627" cy="360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range</a:t>
            </a:r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3C4146A-E974-CD41-981C-B34C8D516423}"/>
              </a:ext>
            </a:extLst>
          </p:cNvPr>
          <p:cNvSpPr/>
          <p:nvPr/>
        </p:nvSpPr>
        <p:spPr bwMode="auto">
          <a:xfrm>
            <a:off x="152752" y="3007483"/>
            <a:ext cx="990600" cy="533400"/>
          </a:xfrm>
          <a:prstGeom prst="ellipse">
            <a:avLst/>
          </a:prstGeom>
          <a:solidFill>
            <a:srgbClr val="26FA26">
              <a:alpha val="71000"/>
            </a:srgb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97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charset="0"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6B4DB70-5B65-5A43-AC32-1E80E683D3DD}"/>
              </a:ext>
            </a:extLst>
          </p:cNvPr>
          <p:cNvSpPr/>
          <p:nvPr/>
        </p:nvSpPr>
        <p:spPr>
          <a:xfrm>
            <a:off x="217377" y="2984333"/>
            <a:ext cx="859531" cy="5700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1600" dirty="0">
                <a:solidFill>
                  <a:srgbClr val="000000"/>
                </a:solidFill>
                <a:latin typeface="Times New Roman" pitchFamily="18" charset="0"/>
              </a:rPr>
              <a:t>possible</a:t>
            </a:r>
          </a:p>
          <a:p>
            <a:pPr algn="ctr"/>
            <a:r>
              <a:rPr lang="en-GB" sz="1600" dirty="0">
                <a:solidFill>
                  <a:srgbClr val="000000"/>
                </a:solidFill>
                <a:latin typeface="Times New Roman" pitchFamily="18" charset="0"/>
              </a:rPr>
              <a:t>outliers</a:t>
            </a:r>
            <a:endParaRPr lang="en-US" sz="16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755EF42-E0EE-A244-928A-DA0EB253F24D}"/>
              </a:ext>
            </a:extLst>
          </p:cNvPr>
          <p:cNvSpPr/>
          <p:nvPr/>
        </p:nvSpPr>
        <p:spPr bwMode="auto">
          <a:xfrm>
            <a:off x="6273442" y="2984333"/>
            <a:ext cx="990600" cy="533400"/>
          </a:xfrm>
          <a:prstGeom prst="ellipse">
            <a:avLst/>
          </a:prstGeom>
          <a:solidFill>
            <a:srgbClr val="26FA26">
              <a:alpha val="71000"/>
            </a:srgb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97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charset="0"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739AA6A-44EB-224F-9266-CA2FF9EDAFC9}"/>
              </a:ext>
            </a:extLst>
          </p:cNvPr>
          <p:cNvSpPr/>
          <p:nvPr/>
        </p:nvSpPr>
        <p:spPr>
          <a:xfrm>
            <a:off x="6349642" y="2984333"/>
            <a:ext cx="859531" cy="5700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1600" dirty="0">
                <a:solidFill>
                  <a:srgbClr val="000000"/>
                </a:solidFill>
                <a:latin typeface="Times New Roman" pitchFamily="18" charset="0"/>
              </a:rPr>
              <a:t>possible</a:t>
            </a:r>
          </a:p>
          <a:p>
            <a:pPr algn="ctr"/>
            <a:r>
              <a:rPr lang="en-GB" sz="1600" dirty="0">
                <a:solidFill>
                  <a:srgbClr val="000000"/>
                </a:solidFill>
                <a:latin typeface="Times New Roman" pitchFamily="18" charset="0"/>
              </a:rPr>
              <a:t>outliers</a:t>
            </a:r>
            <a:endParaRPr lang="en-US" sz="16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6E56A6E-8981-9747-AD17-5268D2A8B6B8}"/>
              </a:ext>
            </a:extLst>
          </p:cNvPr>
          <p:cNvSpPr/>
          <p:nvPr/>
        </p:nvSpPr>
        <p:spPr>
          <a:xfrm>
            <a:off x="4292276" y="6373792"/>
            <a:ext cx="53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RI</a:t>
            </a:r>
          </a:p>
        </p:txBody>
      </p:sp>
      <p:sp>
        <p:nvSpPr>
          <p:cNvPr id="19" name="Rectangle 4">
            <a:extLst>
              <a:ext uri="{FF2B5EF4-FFF2-40B4-BE49-F238E27FC236}">
                <a16:creationId xmlns:a16="http://schemas.microsoft.com/office/drawing/2014/main" id="{18C70166-8E50-1E9F-BFC0-6AF97D5625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More Plots of your Data</a:t>
            </a:r>
          </a:p>
        </p:txBody>
      </p:sp>
    </p:spTree>
    <p:extLst>
      <p:ext uri="{BB962C8B-B14F-4D97-AF65-F5344CB8AC3E}">
        <p14:creationId xmlns:p14="http://schemas.microsoft.com/office/powerpoint/2010/main" val="2304992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/>
      <p:bldP spid="11" grpId="0"/>
      <p:bldP spid="12" grpId="0"/>
      <p:bldP spid="13" grpId="0"/>
      <p:bldP spid="14" grpId="0" animBg="1"/>
      <p:bldP spid="15" grpId="0"/>
      <p:bldP spid="16" grpId="0" animBg="1"/>
      <p:bldP spid="1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Basic Plotting Commands: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Rectangle 3"/>
          <p:cNvSpPr/>
          <p:nvPr/>
        </p:nvSpPr>
        <p:spPr>
          <a:xfrm>
            <a:off x="115747" y="2858209"/>
            <a:ext cx="8924081" cy="3416320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350" dirty="0">
                <a:solidFill>
                  <a:srgbClr val="FFFF00"/>
                </a:solidFill>
                <a:latin typeface="Courier"/>
                <a:cs typeface="Courier"/>
              </a:rPr>
              <a:t># Load data:</a:t>
            </a:r>
          </a:p>
          <a:p>
            <a:r>
              <a:rPr lang="en-US" sz="135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350" dirty="0">
                <a:solidFill>
                  <a:schemeClr val="bg1"/>
                </a:solidFill>
                <a:latin typeface="Courier"/>
                <a:cs typeface="Courier"/>
              </a:rPr>
              <a:t> &lt;- </a:t>
            </a:r>
            <a:r>
              <a:rPr lang="en-US" sz="1350" dirty="0" err="1">
                <a:solidFill>
                  <a:schemeClr val="bg1"/>
                </a:solidFill>
                <a:latin typeface="Courier"/>
                <a:cs typeface="Courier"/>
              </a:rPr>
              <a:t>read.csv</a:t>
            </a:r>
            <a:r>
              <a:rPr lang="en-US" sz="135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</a:p>
          <a:p>
            <a:r>
              <a:rPr lang="en-US" sz="1350" dirty="0">
                <a:solidFill>
                  <a:srgbClr val="00B050"/>
                </a:solidFill>
                <a:latin typeface="Courier"/>
                <a:cs typeface="Courier"/>
              </a:rPr>
              <a:t>"https://</a:t>
            </a:r>
            <a:r>
              <a:rPr lang="en-US" sz="1350" dirty="0" err="1">
                <a:solidFill>
                  <a:srgbClr val="00B050"/>
                </a:solidFill>
                <a:latin typeface="Courier"/>
                <a:cs typeface="Courier"/>
              </a:rPr>
              <a:t>raw.githubusercontent.com</a:t>
            </a:r>
            <a:r>
              <a:rPr lang="en-US" sz="1350" dirty="0">
                <a:solidFill>
                  <a:srgbClr val="00B050"/>
                </a:solidFill>
                <a:latin typeface="Courier"/>
                <a:cs typeface="Courier"/>
              </a:rPr>
              <a:t>/</a:t>
            </a:r>
            <a:r>
              <a:rPr lang="en-US" sz="1350" dirty="0" err="1">
                <a:solidFill>
                  <a:srgbClr val="00B050"/>
                </a:solidFill>
                <a:latin typeface="Courier"/>
                <a:cs typeface="Courier"/>
              </a:rPr>
              <a:t>npetraco</a:t>
            </a:r>
            <a:r>
              <a:rPr lang="en-US" sz="1350" dirty="0">
                <a:solidFill>
                  <a:srgbClr val="00B050"/>
                </a:solidFill>
                <a:latin typeface="Courier"/>
                <a:cs typeface="Courier"/>
              </a:rPr>
              <a:t>/709/refs/heads/main/R/data/</a:t>
            </a:r>
            <a:r>
              <a:rPr lang="en-US" sz="1350" dirty="0" err="1">
                <a:solidFill>
                  <a:srgbClr val="00B050"/>
                </a:solidFill>
                <a:latin typeface="Courier"/>
                <a:cs typeface="Courier"/>
              </a:rPr>
              <a:t>Glass.csv</a:t>
            </a:r>
            <a:r>
              <a:rPr lang="en-US" sz="135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35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35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350" dirty="0">
                <a:solidFill>
                  <a:schemeClr val="bg1"/>
                </a:solidFill>
                <a:latin typeface="Courier"/>
                <a:cs typeface="Courier"/>
              </a:rPr>
              <a:t>head(</a:t>
            </a:r>
            <a:r>
              <a:rPr lang="en-US" sz="135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35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35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350" dirty="0">
                <a:solidFill>
                  <a:srgbClr val="FFFF00"/>
                </a:solidFill>
                <a:latin typeface="Courier"/>
                <a:cs typeface="Courier"/>
              </a:rPr>
              <a:t># Scatter plot:</a:t>
            </a:r>
          </a:p>
          <a:p>
            <a:r>
              <a:rPr lang="en-US" sz="1350" dirty="0">
                <a:solidFill>
                  <a:schemeClr val="bg1"/>
                </a:solidFill>
                <a:latin typeface="Courier"/>
                <a:cs typeface="Courier"/>
              </a:rPr>
              <a:t>plot(</a:t>
            </a:r>
            <a:r>
              <a:rPr lang="en-US" sz="135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350" dirty="0">
                <a:solidFill>
                  <a:schemeClr val="bg1"/>
                </a:solidFill>
                <a:latin typeface="Courier"/>
                <a:cs typeface="Courier"/>
              </a:rPr>
              <a:t>[,1], </a:t>
            </a:r>
            <a:r>
              <a:rPr lang="en-US" sz="135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350" dirty="0">
                <a:solidFill>
                  <a:schemeClr val="bg1"/>
                </a:solidFill>
                <a:latin typeface="Courier"/>
                <a:cs typeface="Courier"/>
              </a:rPr>
              <a:t>[,2])</a:t>
            </a:r>
          </a:p>
          <a:p>
            <a:endParaRPr lang="en-US" sz="1350" dirty="0">
              <a:solidFill>
                <a:schemeClr val="bg1"/>
              </a:solidFill>
              <a:latin typeface="Courier"/>
              <a:cs typeface="Courier"/>
            </a:endParaRPr>
          </a:p>
          <a:p>
            <a:endParaRPr lang="en-US" sz="135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350" dirty="0">
                <a:solidFill>
                  <a:srgbClr val="FFFF00"/>
                </a:solidFill>
                <a:latin typeface="Courier"/>
                <a:cs typeface="Courier"/>
              </a:rPr>
              <a:t># Histogram:</a:t>
            </a:r>
          </a:p>
          <a:p>
            <a:r>
              <a:rPr lang="en-US" sz="1350" dirty="0">
                <a:solidFill>
                  <a:schemeClr val="bg1"/>
                </a:solidFill>
                <a:latin typeface="Courier"/>
                <a:cs typeface="Courier"/>
              </a:rPr>
              <a:t>hist(</a:t>
            </a:r>
            <a:r>
              <a:rPr lang="en-US" sz="135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350" dirty="0">
                <a:solidFill>
                  <a:schemeClr val="bg1"/>
                </a:solidFill>
                <a:latin typeface="Courier"/>
                <a:cs typeface="Courier"/>
              </a:rPr>
              <a:t>[,1])</a:t>
            </a:r>
          </a:p>
          <a:p>
            <a:endParaRPr lang="en-US" sz="1350" dirty="0">
              <a:solidFill>
                <a:schemeClr val="bg1"/>
              </a:solidFill>
              <a:latin typeface="Courier"/>
              <a:cs typeface="Courier"/>
            </a:endParaRPr>
          </a:p>
          <a:p>
            <a:endParaRPr lang="en-US" sz="135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350" dirty="0">
                <a:solidFill>
                  <a:srgbClr val="FFFF00"/>
                </a:solidFill>
                <a:latin typeface="Courier"/>
                <a:cs typeface="Courier"/>
              </a:rPr>
              <a:t># Box and whisker plot:</a:t>
            </a:r>
          </a:p>
          <a:p>
            <a:r>
              <a:rPr lang="en-US" sz="1350" dirty="0">
                <a:solidFill>
                  <a:schemeClr val="bg1"/>
                </a:solidFill>
                <a:latin typeface="Courier"/>
                <a:cs typeface="Courier"/>
              </a:rPr>
              <a:t>boxplot(</a:t>
            </a:r>
            <a:r>
              <a:rPr lang="en-US" sz="135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350" dirty="0">
                <a:solidFill>
                  <a:schemeClr val="bg1"/>
                </a:solidFill>
                <a:latin typeface="Courier"/>
                <a:cs typeface="Courier"/>
              </a:rPr>
              <a:t>[,1], horizontal = 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8E1B04-FE96-620F-EFDA-A66B2C2482CA}"/>
              </a:ext>
            </a:extLst>
          </p:cNvPr>
          <p:cNvSpPr txBox="1"/>
          <p:nvPr/>
        </p:nvSpPr>
        <p:spPr>
          <a:xfrm>
            <a:off x="6858452" y="4566369"/>
            <a:ext cx="170431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basic_plotting.R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F5A500-2C6C-C704-F02A-278AECF269A5}"/>
              </a:ext>
            </a:extLst>
          </p:cNvPr>
          <p:cNvSpPr txBox="1"/>
          <p:nvPr/>
        </p:nvSpPr>
        <p:spPr>
          <a:xfrm>
            <a:off x="605790" y="1539736"/>
            <a:ext cx="433644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plot()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basic 2D plot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hist()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basic histogram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boxplot()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basic box and whiskers plot</a:t>
            </a:r>
          </a:p>
        </p:txBody>
      </p:sp>
    </p:spTree>
    <p:extLst>
      <p:ext uri="{BB962C8B-B14F-4D97-AF65-F5344CB8AC3E}">
        <p14:creationId xmlns:p14="http://schemas.microsoft.com/office/powerpoint/2010/main" val="15640709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DE8BE255-C3FB-3718-FE64-B16EBD485D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More Advanced Plots/Syntax: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68C790-596E-F3AB-EB05-CD24A732C1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F806F8E-F875-92E9-E77F-016E2CF2ADB1}"/>
              </a:ext>
            </a:extLst>
          </p:cNvPr>
          <p:cNvSpPr/>
          <p:nvPr/>
        </p:nvSpPr>
        <p:spPr>
          <a:xfrm>
            <a:off x="115747" y="2892499"/>
            <a:ext cx="8924081" cy="2893100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  <a:latin typeface="Courier"/>
                <a:cs typeface="Courier"/>
              </a:rPr>
              <a:t>library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mlbench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 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Load some sample data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data(</a:t>
            </a:r>
            <a:r>
              <a:rPr lang="en-US" sz="1400" dirty="0">
                <a:solidFill>
                  <a:srgbClr val="00B050"/>
                </a:solidFill>
                <a:latin typeface="Courier"/>
                <a:cs typeface="Courier"/>
              </a:rPr>
              <a:t>"Glass"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 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?Glass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Scatter plots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plot(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Glass$RI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Glass$Na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plot(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Glass$Na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Glass$Si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Strip chart</a:t>
            </a: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stripchart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as.numeric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(Type)~Na, data=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Glass,xlab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=</a:t>
            </a:r>
            <a:r>
              <a:rPr lang="en-US" sz="1400" dirty="0">
                <a:solidFill>
                  <a:srgbClr val="00B050"/>
                </a:solidFill>
                <a:latin typeface="Courier"/>
                <a:cs typeface="Courier"/>
              </a:rPr>
              <a:t>"Glass#"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                    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ylab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=</a:t>
            </a:r>
            <a:r>
              <a:rPr lang="en-US" sz="1400" dirty="0">
                <a:solidFill>
                  <a:srgbClr val="00B050"/>
                </a:solidFill>
                <a:latin typeface="Courier"/>
                <a:cs typeface="Courier"/>
              </a:rPr>
              <a:t>"Na conc."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, vertical=F,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pch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=16)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3266C4-CFFE-74AF-6811-FCF3B04FB895}"/>
              </a:ext>
            </a:extLst>
          </p:cNvPr>
          <p:cNvSpPr txBox="1"/>
          <p:nvPr/>
        </p:nvSpPr>
        <p:spPr>
          <a:xfrm>
            <a:off x="605790" y="1459726"/>
            <a:ext cx="42402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data()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access built in data 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Bring up help page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access named columns or list elements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stripchart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077E49-6097-9103-DC90-2AE196DD3297}"/>
              </a:ext>
            </a:extLst>
          </p:cNvPr>
          <p:cNvSpPr txBox="1"/>
          <p:nvPr/>
        </p:nvSpPr>
        <p:spPr>
          <a:xfrm>
            <a:off x="7130370" y="3429000"/>
            <a:ext cx="126829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stripchart.R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30753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3A05402D-EFB9-4CF2-9FCB-A394F79478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More Advanced Plots/Syntax: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E4C6629-35E9-EFF8-0732-5D3F5ACB55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230F959-A1D9-9B47-4CE5-185EC19D2C6D}"/>
              </a:ext>
            </a:extLst>
          </p:cNvPr>
          <p:cNvSpPr/>
          <p:nvPr/>
        </p:nvSpPr>
        <p:spPr>
          <a:xfrm>
            <a:off x="123453" y="1459726"/>
            <a:ext cx="8450921" cy="4616648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  <a:latin typeface="Courier"/>
                <a:cs typeface="Courier"/>
              </a:rPr>
              <a:t>library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mlbench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 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Load some sample data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data(</a:t>
            </a:r>
            <a:r>
              <a:rPr lang="en-US" sz="1400" dirty="0">
                <a:solidFill>
                  <a:srgbClr val="00B050"/>
                </a:solidFill>
                <a:latin typeface="Courier"/>
                <a:cs typeface="Courier"/>
              </a:rPr>
              <a:t>"Glass"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 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head(Glass)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ele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&lt;- Glass[, 2:8] </a:t>
            </a:r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Slice out columns of elements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dim(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ele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**** Looping ****</a:t>
            </a: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ele.avgs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&lt;- array(-1, c(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ncol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ele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))) </a:t>
            </a:r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Allocate space to hold element averages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for(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i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in 1:ncol(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ele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)) {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ele.avg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    &lt;- mean(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ele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[,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i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]) </a:t>
            </a:r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compute average of element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ele.avgs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[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i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] &lt;-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ele.avg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      </a:t>
            </a:r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store average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}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names(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ele.avgs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 &lt;-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colnames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ele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 </a:t>
            </a:r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Optional: label the elements</a:t>
            </a: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ele.avgs</a:t>
            </a:r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pie(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ele.avgs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 </a:t>
            </a:r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Make a pie chart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DA5C10-95B9-DCE2-36EC-57EC8D129005}"/>
              </a:ext>
            </a:extLst>
          </p:cNvPr>
          <p:cNvSpPr txBox="1"/>
          <p:nvPr/>
        </p:nvSpPr>
        <p:spPr>
          <a:xfrm>
            <a:off x="6082318" y="1849148"/>
            <a:ext cx="174964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loops_and_pie.R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38840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E0034C75-E4FE-A05B-B899-7DEB73585B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317612"/>
            <a:ext cx="8607425" cy="506848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More Advanced Plots/Syntax: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F11C78-0ADB-238D-9EAE-29DF1ADC1F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5A1BDD0-F9CD-F648-CD44-FAB66B3EBD26}"/>
              </a:ext>
            </a:extLst>
          </p:cNvPr>
          <p:cNvSpPr/>
          <p:nvPr/>
        </p:nvSpPr>
        <p:spPr>
          <a:xfrm>
            <a:off x="318323" y="860126"/>
            <a:ext cx="8450921" cy="5940088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chemeClr val="accent2"/>
                </a:solidFill>
                <a:latin typeface="Courier"/>
                <a:cs typeface="Courier"/>
              </a:rPr>
              <a:t>library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mlbench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) </a:t>
            </a:r>
          </a:p>
          <a:p>
            <a:endParaRPr lang="en-US" sz="10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# Load some sample data</a:t>
            </a:r>
          </a:p>
          <a:p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data(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"Glass"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) </a:t>
            </a:r>
          </a:p>
          <a:p>
            <a:endParaRPr lang="en-US" sz="10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# Compute average element abundance for each glass type:</a:t>
            </a:r>
          </a:p>
          <a:p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    &lt;- Glass[, 2:8] </a:t>
            </a:r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# Slice out columns of elements</a:t>
            </a:r>
          </a:p>
          <a:p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lbl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    &lt;- Glass[, 10]  </a:t>
            </a:r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# Slice out the glass type, a set of labels</a:t>
            </a:r>
          </a:p>
          <a:p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lbl.typ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&lt;- levels(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lbl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0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# **** Nested Looping ****</a:t>
            </a:r>
          </a:p>
          <a:p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num.typ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    &lt;- length(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lbl.typ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)                </a:t>
            </a:r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# Number of unique glass type labels</a:t>
            </a:r>
          </a:p>
          <a:p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num.ele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    &lt;-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ncol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)                      </a:t>
            </a:r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# Number of elements</a:t>
            </a:r>
          </a:p>
          <a:p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ele.typ.avg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&lt;- array(-1, c(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num.ele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num.typ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)) </a:t>
            </a:r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# Allocate storage for each element-</a:t>
            </a:r>
            <a:r>
              <a:rPr lang="en-US" sz="1000" dirty="0" err="1">
                <a:solidFill>
                  <a:srgbClr val="FFFF00"/>
                </a:solidFill>
                <a:latin typeface="Courier"/>
                <a:cs typeface="Courier"/>
              </a:rPr>
              <a:t>glasstype</a:t>
            </a:r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 average</a:t>
            </a:r>
          </a:p>
          <a:p>
            <a:endParaRPr lang="en-US" sz="10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for(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i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in 1:num.ele) {</a:t>
            </a:r>
          </a:p>
          <a:p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ele.col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 &lt;-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[,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i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]                  </a:t>
            </a:r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# Slice out an element column</a:t>
            </a:r>
          </a:p>
          <a:p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 for(j in 1:num.typ) {</a:t>
            </a:r>
          </a:p>
          <a:p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   </a:t>
            </a:r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# Now slice out the element abundances for each glass type:</a:t>
            </a:r>
          </a:p>
          <a:p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  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ele.typ.idxs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&lt;- which(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lbl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==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lbl.typ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[j]) </a:t>
            </a:r>
          </a:p>
          <a:p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   </a:t>
            </a:r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# Take the average element abundance for each glass type and store it</a:t>
            </a:r>
          </a:p>
          <a:p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  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ele.typ.avg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[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i,j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] &lt;- mean(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ele.col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[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ele.typ.idxs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])</a:t>
            </a:r>
          </a:p>
          <a:p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 }</a:t>
            </a:r>
          </a:p>
          <a:p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}</a:t>
            </a:r>
          </a:p>
          <a:p>
            <a:endParaRPr lang="en-US" sz="10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# L</a:t>
            </a:r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abel the rows and columns of the element-glass type averages:</a:t>
            </a:r>
          </a:p>
          <a:p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element.names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  &lt;-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colnames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glass.typ.names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&lt;- c(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"bldg.</a:t>
            </a:r>
            <a:r>
              <a:rPr lang="en-US" sz="1000" dirty="0" err="1">
                <a:solidFill>
                  <a:srgbClr val="00B050"/>
                </a:solidFill>
                <a:latin typeface="Courier"/>
                <a:cs typeface="Courier"/>
              </a:rPr>
              <a:t>flot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"bldg.</a:t>
            </a:r>
            <a:r>
              <a:rPr lang="en-US" sz="1000" dirty="0" err="1">
                <a:solidFill>
                  <a:srgbClr val="00B050"/>
                </a:solidFill>
                <a:latin typeface="Courier"/>
                <a:cs typeface="Courier"/>
              </a:rPr>
              <a:t>nflot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"veh.</a:t>
            </a:r>
            <a:r>
              <a:rPr lang="en-US" sz="1000" dirty="0" err="1">
                <a:solidFill>
                  <a:srgbClr val="00B050"/>
                </a:solidFill>
                <a:latin typeface="Courier"/>
                <a:cs typeface="Courier"/>
              </a:rPr>
              <a:t>flot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000" dirty="0" err="1">
                <a:solidFill>
                  <a:srgbClr val="00B050"/>
                </a:solidFill>
                <a:latin typeface="Courier"/>
                <a:cs typeface="Courier"/>
              </a:rPr>
              <a:t>contnr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000" dirty="0" err="1">
                <a:solidFill>
                  <a:srgbClr val="00B050"/>
                </a:solidFill>
                <a:latin typeface="Courier"/>
                <a:cs typeface="Courier"/>
              </a:rPr>
              <a:t>tabwre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000" dirty="0" err="1">
                <a:solidFill>
                  <a:srgbClr val="00B050"/>
                </a:solidFill>
                <a:latin typeface="Courier"/>
                <a:cs typeface="Courier"/>
              </a:rPr>
              <a:t>headlgt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rownames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ele.typ.avg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) &lt;-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element.names</a:t>
            </a:r>
            <a:endParaRPr lang="en-US" sz="10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colnames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ele.typ.avg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) &lt;-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glass.typ.names</a:t>
            </a:r>
            <a:endParaRPr lang="en-US" sz="1000" dirty="0">
              <a:solidFill>
                <a:schemeClr val="bg1"/>
              </a:solidFill>
              <a:latin typeface="Courier"/>
              <a:cs typeface="Courier"/>
            </a:endParaRPr>
          </a:p>
          <a:p>
            <a:endParaRPr lang="en-US" sz="10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# Stacked bar plots:</a:t>
            </a:r>
          </a:p>
          <a:p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barplot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ele.typ.avg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~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element.names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 main=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"Elements in Glass Type"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 col=rainbow(6))</a:t>
            </a:r>
          </a:p>
          <a:p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legend(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000" dirty="0" err="1">
                <a:solidFill>
                  <a:srgbClr val="00B050"/>
                </a:solidFill>
                <a:latin typeface="Courier"/>
                <a:cs typeface="Courier"/>
              </a:rPr>
              <a:t>topright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 legend =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glass.typ.names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 fill = rainbow(6),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cex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=0.75)</a:t>
            </a:r>
          </a:p>
          <a:p>
            <a:endParaRPr lang="en-US" sz="10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barplot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(t(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ele.typ.avg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) ~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glass.typ.names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 main=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"Elements in Glass Type"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 col=rainbow(8))</a:t>
            </a:r>
          </a:p>
          <a:p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legend(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000" dirty="0" err="1">
                <a:solidFill>
                  <a:srgbClr val="00B050"/>
                </a:solidFill>
                <a:latin typeface="Courier"/>
                <a:cs typeface="Courier"/>
              </a:rPr>
              <a:t>topright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 legend =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element.names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 fill = rainbow(8),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cex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=0.5)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035970-9349-20F0-75F0-67F8A6CA147D}"/>
              </a:ext>
            </a:extLst>
          </p:cNvPr>
          <p:cNvSpPr txBox="1"/>
          <p:nvPr/>
        </p:nvSpPr>
        <p:spPr>
          <a:xfrm>
            <a:off x="4825334" y="4240146"/>
            <a:ext cx="371768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nested_loops_and_stackedbar_plots.R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5429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5801</TotalTime>
  <Words>2211</Words>
  <Application>Microsoft Macintosh PowerPoint</Application>
  <PresentationFormat>On-screen Show (4:3)</PresentationFormat>
  <Paragraphs>330</Paragraphs>
  <Slides>26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Arial</vt:lpstr>
      <vt:lpstr>Calibri</vt:lpstr>
      <vt:lpstr>Courier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John Jay College of Criminal Justice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Nicholas Petraco</dc:creator>
  <cp:lastModifiedBy>Nicholas Petraco</cp:lastModifiedBy>
  <cp:revision>62</cp:revision>
  <dcterms:created xsi:type="dcterms:W3CDTF">2014-05-27T04:15:11Z</dcterms:created>
  <dcterms:modified xsi:type="dcterms:W3CDTF">2026-01-08T13:37:54Z</dcterms:modified>
</cp:coreProperties>
</file>