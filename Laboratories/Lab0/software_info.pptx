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98" r:id="rId7"/>
    <p:sldId id="293" r:id="rId8"/>
    <p:sldId id="297" r:id="rId9"/>
    <p:sldId id="294" r:id="rId10"/>
    <p:sldId id="29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5"/>
    <p:restoredTop sz="94718"/>
  </p:normalViewPr>
  <p:slideViewPr>
    <p:cSldViewPr snapToGrid="0">
      <p:cViewPr varScale="1">
        <p:scale>
          <a:sx n="112" d="100"/>
          <a:sy n="112" d="100"/>
        </p:scale>
        <p:origin x="1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D7553-77B4-3E4B-91A9-6D43E437698B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E4EF2-9C2F-9547-895A-4101FC2FE6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93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5"/>
            <a:ext cx="5485158" cy="4114488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E4EF2-9C2F-9547-895A-4101FC2FE6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5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2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4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2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9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7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11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5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28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9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662FA-ECC6-B34E-955F-BC62DCF10FE9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4214D-DDA5-8641-9116-DCD7ED439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6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rstudio.org/" TargetMode="External"/><Relationship Id="rId2" Type="http://schemas.openxmlformats.org/officeDocument/2006/relationships/hyperlink" Target="http://www.r-project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hyperlink" Target="http://cran.r-project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lframcloud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hyperlink" Target="https://www.wolframalpha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hugin.com/hugin-lite/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>
            <a:spLocks noChangeArrowheads="1"/>
          </p:cNvSpPr>
          <p:nvPr/>
        </p:nvSpPr>
        <p:spPr bwMode="auto">
          <a:xfrm>
            <a:off x="14288" y="304800"/>
            <a:ext cx="9104312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Introduction to Software We’ll Use</a:t>
            </a:r>
            <a:endParaRPr lang="en-US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3" cstate="print"/>
          <a:srcRect l="5212"/>
          <a:stretch>
            <a:fillRect/>
          </a:stretch>
        </p:blipFill>
        <p:spPr bwMode="auto">
          <a:xfrm flipH="1">
            <a:off x="6677019" y="4121118"/>
            <a:ext cx="2444458" cy="233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32994" y="4727150"/>
            <a:ext cx="955848" cy="6136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4188" y="6588792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3" name="P 1" descr="IMG_2089.jpeg"/>
          <p:cNvPicPr/>
          <p:nvPr/>
        </p:nvPicPr>
        <p:blipFill>
          <a:blip r:embed="rId6"/>
          <a:srcRect l="36665" t="30724" r="34167" b="20345"/>
          <a:stretch>
            <a:fillRect/>
          </a:stretch>
        </p:blipFill>
        <p:spPr bwMode="auto">
          <a:xfrm rot="10800000">
            <a:off x="295409" y="4279340"/>
            <a:ext cx="1864391" cy="179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6" descr="IJ_3D_primershear_examp.jpg"/>
          <p:cNvPicPr>
            <a:picLocks noChangeAspect="1"/>
          </p:cNvPicPr>
          <p:nvPr/>
        </p:nvPicPr>
        <p:blipFill>
          <a:blip r:embed="rId7"/>
          <a:srcRect l="20551" t="21207" r="23050" b="25744"/>
          <a:stretch>
            <a:fillRect/>
          </a:stretch>
        </p:blipFill>
        <p:spPr>
          <a:xfrm>
            <a:off x="2935502" y="2614485"/>
            <a:ext cx="3101686" cy="1764951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V="1">
            <a:off x="2273933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861836" y="4547682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31775" y="148284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Outline</a:t>
            </a:r>
          </a:p>
        </p:txBody>
      </p:sp>
      <p:sp>
        <p:nvSpPr>
          <p:cNvPr id="7172" name="Rectangle 5"/>
          <p:cNvSpPr>
            <a:spLocks noChangeArrowheads="1"/>
          </p:cNvSpPr>
          <p:nvPr/>
        </p:nvSpPr>
        <p:spPr bwMode="auto">
          <a:xfrm>
            <a:off x="231775" y="1005837"/>
            <a:ext cx="8607425" cy="57180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charset="0"/>
              </a:rPr>
              <a:t>R  : A powerful platform for scientific calculation and data analysis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Why bother learning    R ? 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200" dirty="0">
                <a:latin typeface="Times New Roman"/>
                <a:cs typeface="Times New Roman"/>
              </a:rPr>
              <a:t>Data, data, data, I cannot make bricks without clay </a:t>
            </a:r>
            <a:r>
              <a:rPr lang="en-US" sz="3200" baseline="30000" dirty="0">
                <a:latin typeface="Times New Roman"/>
                <a:cs typeface="Times New Roman"/>
              </a:rPr>
              <a:t>Copper Beeches</a:t>
            </a:r>
            <a:endParaRPr lang="en-GB" sz="3200" baseline="30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A tour of </a:t>
            </a:r>
            <a:r>
              <a:rPr lang="en-GB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RStudio</a:t>
            </a: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. Basic Input and Output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Getting Help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Visualizing with Plots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Loading your data from Excel spreadsheets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/>
                <a:cs typeface="Times New Roman"/>
              </a:rPr>
              <a:t>Basic Plotting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31" y="1107912"/>
            <a:ext cx="620039" cy="471232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130" y="2234195"/>
            <a:ext cx="678018" cy="51529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not a black box!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Codes available for review;  totally transparent!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 maintained by a professional group of statisticians, and computational scientists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From very simple to state-of-the-art procedures available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Very good graphics for exhibits and papers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is extensible (it is a full scripting language)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Coding/syntax similar to Python and MATLAB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Easy to link to C/C++ routines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33" y="1504547"/>
            <a:ext cx="391280" cy="297374"/>
          </a:xfrm>
          <a:prstGeom prst="rect">
            <a:avLst/>
          </a:prstGeom>
        </p:spPr>
      </p:pic>
      <p:pic>
        <p:nvPicPr>
          <p:cNvPr id="8" name="Picture 7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99" y="2626600"/>
            <a:ext cx="391280" cy="297374"/>
          </a:xfrm>
          <a:prstGeom prst="rect">
            <a:avLst/>
          </a:prstGeom>
        </p:spPr>
      </p:pic>
      <p:pic>
        <p:nvPicPr>
          <p:cNvPr id="9" name="Picture 8" descr="R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90" y="4994156"/>
            <a:ext cx="391280" cy="29737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4211"/>
            <a:ext cx="8686800" cy="534837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Where to get information on 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 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2"/>
              </a:rPr>
              <a:t>http://www.r-project.org/</a:t>
            </a: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Just need the </a:t>
            </a: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base</a:t>
            </a:r>
            <a:endParaRPr lang="en-GB" sz="24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3"/>
              </a:rPr>
              <a:t>http://rstudio.org/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 great IDE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Work on all platforms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Sometimes slows down performance…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CRAN: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4"/>
              </a:rPr>
              <a:t>http://cran.r-project.org/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Library repository for R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Click on Search on the left of the website to search for package/info on packages 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3260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      ?</a:t>
            </a:r>
          </a:p>
        </p:txBody>
      </p:sp>
      <p:pic>
        <p:nvPicPr>
          <p:cNvPr id="6" name="Picture 5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699" y="639965"/>
            <a:ext cx="698048" cy="530518"/>
          </a:xfrm>
          <a:prstGeom prst="rect">
            <a:avLst/>
          </a:prstGeom>
        </p:spPr>
      </p:pic>
      <p:pic>
        <p:nvPicPr>
          <p:cNvPr id="7" name="Picture 6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640" y="1495966"/>
            <a:ext cx="391280" cy="297374"/>
          </a:xfrm>
          <a:prstGeom prst="rect">
            <a:avLst/>
          </a:prstGeom>
        </p:spPr>
      </p:pic>
      <p:pic>
        <p:nvPicPr>
          <p:cNvPr id="10" name="Picture 9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613" y="2043063"/>
            <a:ext cx="391280" cy="297374"/>
          </a:xfrm>
          <a:prstGeom prst="rect">
            <a:avLst/>
          </a:prstGeom>
        </p:spPr>
      </p:pic>
      <p:pic>
        <p:nvPicPr>
          <p:cNvPr id="13" name="Picture 12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589" y="3450274"/>
            <a:ext cx="391280" cy="297374"/>
          </a:xfrm>
          <a:prstGeom prst="rect">
            <a:avLst/>
          </a:prstGeom>
        </p:spPr>
      </p:pic>
      <p:pic>
        <p:nvPicPr>
          <p:cNvPr id="14" name="Picture 13" descr="Rlog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92" y="5303672"/>
            <a:ext cx="391280" cy="297374"/>
          </a:xfrm>
          <a:prstGeom prst="rect">
            <a:avLst/>
          </a:prstGeom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89205" y="23821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Finding our way around R/</a:t>
            </a:r>
            <a:r>
              <a:rPr lang="en-GB" sz="4000" dirty="0" err="1">
                <a:solidFill>
                  <a:srgbClr val="000000"/>
                </a:solidFill>
                <a:latin typeface="Times New Roman" pitchFamily="18" charset="0"/>
              </a:rPr>
              <a:t>RStudio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pic>
        <p:nvPicPr>
          <p:cNvPr id="15" name="Picture 14" descr="RStudio_screencap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9" y="1132970"/>
            <a:ext cx="8829724" cy="55712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179731">
            <a:off x="840928" y="2471220"/>
            <a:ext cx="4305498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Script Window</a:t>
            </a:r>
          </a:p>
        </p:txBody>
      </p:sp>
      <p:sp>
        <p:nvSpPr>
          <p:cNvPr id="7" name="TextBox 6"/>
          <p:cNvSpPr txBox="1"/>
          <p:nvPr/>
        </p:nvSpPr>
        <p:spPr>
          <a:xfrm rot="1179731">
            <a:off x="1523377" y="5221976"/>
            <a:ext cx="299478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Command Line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0800000" flipV="1">
            <a:off x="368978" y="5740383"/>
            <a:ext cx="2479874" cy="797991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4071F9-E264-7EC5-D5BD-3F12360A7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" y="218302"/>
            <a:ext cx="8607425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563563" lvl="1" algn="ctr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Bet You Never Heard of This One</a:t>
            </a:r>
            <a:endParaRPr lang="en-GB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9CD77-3656-1180-43CD-76FF16B59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51E5EF-A44F-EB19-BDC1-2D09D36B5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45" y="1877060"/>
            <a:ext cx="3136900" cy="3263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3AB0AB-B747-8C46-7963-3327B0A43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979854"/>
            <a:ext cx="5470678" cy="2801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04FBB-5889-5146-14C5-5BEF989E0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19" y="1108778"/>
            <a:ext cx="5448935" cy="252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43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52400" y="4950352"/>
            <a:ext cx="8854440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Primarily a computer program to do symbolic algebra and calculus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</a:rPr>
              <a:t>Does Plotting, Numerical and Web stuff too.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20345" y="218302"/>
            <a:ext cx="8607425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563563" lvl="1" algn="ctr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What is Mathematica     ?</a:t>
            </a:r>
            <a:endParaRPr lang="en-GB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2955AB3-972B-87A1-7AD6-867703BA4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890" y="5882781"/>
            <a:ext cx="5242560" cy="95235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6363" algn="ctr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600" b="1" i="1" u="sng" dirty="0">
                <a:solidFill>
                  <a:srgbClr val="000000"/>
                </a:solidFill>
                <a:latin typeface="Times New Roman" pitchFamily="18" charset="0"/>
              </a:rPr>
              <a:t>Free to use on the web</a:t>
            </a:r>
            <a:r>
              <a:rPr lang="en-US" sz="2600" dirty="0">
                <a:solidFill>
                  <a:srgbClr val="000000"/>
                </a:solidFill>
                <a:latin typeface="Times New Roman" pitchFamily="18" charset="0"/>
              </a:rPr>
              <a:t> at:</a:t>
            </a:r>
          </a:p>
          <a:p>
            <a:pPr marL="106363" algn="ctr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6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Times New Roman" pitchFamily="18" charset="0"/>
                <a:hlinkClick r:id="rId3"/>
              </a:rPr>
              <a:t>https://www.wolframcloud.com/</a:t>
            </a:r>
            <a:endParaRPr lang="en-US" sz="26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21D544-2A90-686F-D2E7-0A8516E98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" y="1535941"/>
            <a:ext cx="4351655" cy="26152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A166FF-9AB9-E7F6-07E8-6D0AC6603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974" y="1490221"/>
            <a:ext cx="3529965" cy="2822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01F4F-3132-E591-E805-440348577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0486" y="374173"/>
            <a:ext cx="491490" cy="54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2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3F42AB3-FA5C-98A2-C0CE-D03EC2A37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670" y="1012190"/>
            <a:ext cx="8854440" cy="4279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Another web version of Mathematica, with no account needed is:</a:t>
            </a:r>
            <a:endParaRPr lang="en-US" sz="2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3BDA4C6-55D9-0E99-CF88-54691E8C5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45" y="218302"/>
            <a:ext cx="8607425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563563" lvl="1" algn="ctr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What is </a:t>
            </a:r>
            <a:r>
              <a:rPr lang="en-US" sz="3600" dirty="0" err="1">
                <a:latin typeface="Times New Roman"/>
                <a:cs typeface="Times New Roman"/>
              </a:rPr>
              <a:t>Mathematica</a:t>
            </a:r>
            <a:r>
              <a:rPr lang="en-US" sz="3600" dirty="0">
                <a:latin typeface="Times New Roman"/>
                <a:cs typeface="Times New Roman"/>
              </a:rPr>
              <a:t>?</a:t>
            </a:r>
            <a:endParaRPr lang="en-GB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CCBE362-F682-562A-8944-811BBC3FD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356BDE-6381-4157-EAE6-E106643A5869}"/>
              </a:ext>
            </a:extLst>
          </p:cNvPr>
          <p:cNvSpPr txBox="1"/>
          <p:nvPr/>
        </p:nvSpPr>
        <p:spPr>
          <a:xfrm>
            <a:off x="2366010" y="1477635"/>
            <a:ext cx="4617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6363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4"/>
              </a:rPr>
              <a:t>https://www.wolframalpha.com/</a:t>
            </a: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5F9BCF-D139-76C2-7EC5-C7D9BBF15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36458"/>
            <a:ext cx="7772400" cy="406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0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66B52F-4467-F80B-3A41-70D879818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747" y="3108961"/>
            <a:ext cx="5536693" cy="2903220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8A644CCE-7CAF-C0BD-BEAB-473FB3821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382333"/>
            <a:ext cx="8607425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563563" lvl="1" algn="ctr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400" dirty="0">
                <a:latin typeface="Times New Roman"/>
                <a:cs typeface="Times New Roman"/>
              </a:rPr>
              <a:t>Bayesian Network/Graphical Model Software</a:t>
            </a:r>
            <a:endParaRPr lang="en-GB" sz="34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ADBFB2-65E1-6A02-FE97-670D48760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C47283B1-F8E4-12D2-15BF-7414968FD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04821"/>
            <a:ext cx="8854440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Computer programs to deal with certain kinds of probability models that can be represented as special graphs</a:t>
            </a:r>
            <a:endParaRPr lang="en-US" sz="22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B0E5E-B7C7-FE5B-C198-9A7A1FF30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47" y="2255859"/>
            <a:ext cx="7862253" cy="49877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</a:rPr>
              <a:t>These graphical models are becoming popular in forensic science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6488E2-59DD-EB68-17F4-7279B687F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707" y="3166111"/>
            <a:ext cx="2852103" cy="173735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 dirty="0">
                <a:solidFill>
                  <a:srgbClr val="000000"/>
                </a:solidFill>
                <a:latin typeface="Times New Roman" pitchFamily="18" charset="0"/>
              </a:rPr>
              <a:t>A particular type of graphical model with easy to use software is a Bayesian network:</a:t>
            </a:r>
          </a:p>
        </p:txBody>
      </p:sp>
    </p:spTree>
    <p:extLst>
      <p:ext uri="{BB962C8B-B14F-4D97-AF65-F5344CB8AC3E}">
        <p14:creationId xmlns:p14="http://schemas.microsoft.com/office/powerpoint/2010/main" val="2219295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91ECAF-26A1-6EE7-1EF6-3883A3606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361705"/>
            <a:ext cx="4720590" cy="3643349"/>
          </a:xfrm>
          <a:prstGeom prst="rect">
            <a:avLst/>
          </a:prstGeom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CDB8921-1B9E-1E81-E19E-BB34DCC0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450913"/>
            <a:ext cx="8607425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marL="563563" lvl="1" algn="ctr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400" dirty="0">
                <a:latin typeface="Times New Roman"/>
                <a:cs typeface="Times New Roman"/>
              </a:rPr>
              <a:t>Bayesian Network/Graphical Model Software</a:t>
            </a:r>
            <a:endParaRPr lang="en-GB" sz="34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BC70F21-01C2-A7D4-E48D-175EB3C2E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48CD7B-B74D-EE59-75E6-D79EBDB9D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353" y="2250345"/>
            <a:ext cx="3478447" cy="38432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734317-2E29-3652-6B4D-6EF276B4B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" y="1324811"/>
            <a:ext cx="8854440" cy="7938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A simplified but free version of Hugin Bayesian network software is available at: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hlinkClick r:id="rId5"/>
              </a:rPr>
              <a:t>https://www.hugin.com/hugin-lite/</a:t>
            </a:r>
            <a:endParaRPr lang="en-US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06363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22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095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669</TotalTime>
  <Words>366</Words>
  <Application>Microsoft Macintosh PowerPoint</Application>
  <PresentationFormat>On-screen Show (4:3)</PresentationFormat>
  <Paragraphs>51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Petraco</dc:creator>
  <cp:lastModifiedBy>Nicholas Petraco</cp:lastModifiedBy>
  <cp:revision>7</cp:revision>
  <dcterms:created xsi:type="dcterms:W3CDTF">2026-01-06T13:36:04Z</dcterms:created>
  <dcterms:modified xsi:type="dcterms:W3CDTF">2026-01-07T00:45:05Z</dcterms:modified>
</cp:coreProperties>
</file>